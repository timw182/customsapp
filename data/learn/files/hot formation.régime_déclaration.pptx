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8" r:id="rId2"/>
    <p:sldId id="289" r:id="rId3"/>
    <p:sldId id="290" r:id="rId4"/>
    <p:sldId id="259" r:id="rId5"/>
    <p:sldId id="291" r:id="rId6"/>
    <p:sldId id="288" r:id="rId7"/>
    <p:sldId id="293" r:id="rId8"/>
    <p:sldId id="298" r:id="rId9"/>
    <p:sldId id="327" r:id="rId10"/>
    <p:sldId id="294" r:id="rId11"/>
    <p:sldId id="295" r:id="rId12"/>
    <p:sldId id="300" r:id="rId13"/>
    <p:sldId id="296" r:id="rId14"/>
    <p:sldId id="299" r:id="rId15"/>
    <p:sldId id="297" r:id="rId16"/>
    <p:sldId id="319" r:id="rId17"/>
    <p:sldId id="301" r:id="rId18"/>
    <p:sldId id="302" r:id="rId19"/>
    <p:sldId id="305" r:id="rId20"/>
    <p:sldId id="314" r:id="rId21"/>
    <p:sldId id="306" r:id="rId22"/>
    <p:sldId id="307" r:id="rId23"/>
    <p:sldId id="309" r:id="rId24"/>
    <p:sldId id="320" r:id="rId25"/>
    <p:sldId id="308" r:id="rId26"/>
    <p:sldId id="310" r:id="rId27"/>
    <p:sldId id="316" r:id="rId28"/>
    <p:sldId id="311" r:id="rId29"/>
    <p:sldId id="312" r:id="rId30"/>
    <p:sldId id="317" r:id="rId31"/>
    <p:sldId id="322" r:id="rId32"/>
    <p:sldId id="325" r:id="rId33"/>
    <p:sldId id="323" r:id="rId34"/>
    <p:sldId id="321" r:id="rId35"/>
    <p:sldId id="324" r:id="rId36"/>
    <p:sldId id="326" r:id="rId37"/>
    <p:sldId id="286" r:id="rId38"/>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1B515-D64E-4A6D-86DE-D44065EC59AD}" type="datetimeFigureOut">
              <a:rPr lang="lb-LU" smtClean="0"/>
              <a:t>08.10.24</a:t>
            </a:fld>
            <a:endParaRPr lang="lb-LU"/>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08.10.24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08.10.24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08.10.24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08.10.24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08.10.24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08.10.24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08.10.24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08.10.24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08.10.24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08.10.24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smtClean="0"/>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smtClean="0"/>
              <a:t>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uanes.public.lu/fr/services-ligne/edouanes/LUCCS.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lb-LU" dirty="0"/>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endParaRPr lang="lb-LU"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a:t>
            </a:fld>
            <a:endParaRPr lang="lb-LU" dirty="0"/>
          </a:p>
        </p:txBody>
      </p:sp>
      <p:sp>
        <p:nvSpPr>
          <p:cNvPr id="6" name="Titre 1"/>
          <p:cNvSpPr txBox="1">
            <a:spLocks/>
          </p:cNvSpPr>
          <p:nvPr/>
        </p:nvSpPr>
        <p:spPr>
          <a:xfrm>
            <a:off x="918402" y="2867891"/>
            <a:ext cx="10355195" cy="1454728"/>
          </a:xfrm>
          <a:prstGeom prst="rect">
            <a:avLst/>
          </a:prstGeom>
          <a:solidFill>
            <a:schemeClr val="accent5"/>
          </a:solidFill>
          <a:effectLst>
            <a:innerShdw blurRad="63500" dist="50800" dir="13500000">
              <a:prstClr val="black">
                <a:alpha val="50000"/>
              </a:prstClr>
            </a:innerShdw>
            <a:reflection blurRad="6350" stA="50000" endA="300" endPos="55000" dir="5400000" sy="-100000" algn="bl" rotWithShape="0"/>
          </a:effectLst>
          <a:scene3d>
            <a:camera prst="perspectiveContrastingRightFacing"/>
            <a:lightRig rig="threePt" dir="t"/>
          </a:scene3d>
        </p:spPr>
        <p:style>
          <a:lnRef idx="3">
            <a:schemeClr val="lt1"/>
          </a:lnRef>
          <a:fillRef idx="1">
            <a:schemeClr val="accent4"/>
          </a:fillRef>
          <a:effectRef idx="1">
            <a:schemeClr val="accent4"/>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lb-LU" sz="4100" dirty="0" smtClean="0"/>
              <a:t>Placement de marchandises sous un régime douanier</a:t>
            </a:r>
            <a:endParaRPr lang="fr-LU" sz="4100" dirty="0"/>
          </a:p>
        </p:txBody>
      </p:sp>
    </p:spTree>
    <p:extLst>
      <p:ext uri="{BB962C8B-B14F-4D97-AF65-F5344CB8AC3E}">
        <p14:creationId xmlns:p14="http://schemas.microsoft.com/office/powerpoint/2010/main" val="4097868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Introduction des marchandises:</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sym typeface="Wingdings" panose="05000000000000000000" pitchFamily="2" charset="2"/>
              </a:rPr>
              <a:t></a:t>
            </a:r>
            <a:r>
              <a:rPr lang="fr-CH" dirty="0">
                <a:sym typeface="Wingdings" panose="05000000000000000000" pitchFamily="2" charset="2"/>
              </a:rPr>
              <a:t>I</a:t>
            </a:r>
            <a:r>
              <a:rPr lang="fr-CH" dirty="0" smtClean="0"/>
              <a:t>CS</a:t>
            </a:r>
          </a:p>
          <a:p>
            <a:pPr>
              <a:buFont typeface="Wingdings" panose="05000000000000000000" pitchFamily="2" charset="2"/>
              <a:buChar char="à"/>
            </a:pPr>
            <a:r>
              <a:rPr lang="fr-CH" dirty="0" smtClean="0"/>
              <a:t>Acheminent sans délai</a:t>
            </a:r>
          </a:p>
          <a:p>
            <a:pPr marL="0" indent="0">
              <a:buNone/>
            </a:pPr>
            <a:r>
              <a:rPr lang="fr-CH" dirty="0" smtClean="0"/>
              <a:t>	soit </a:t>
            </a:r>
            <a:r>
              <a:rPr lang="fr-CH" dirty="0"/>
              <a:t>au bureau de </a:t>
            </a:r>
            <a:r>
              <a:rPr lang="fr-CH" dirty="0" smtClean="0"/>
              <a:t>douane</a:t>
            </a:r>
          </a:p>
          <a:p>
            <a:pPr marL="0" indent="0">
              <a:buNone/>
            </a:pPr>
            <a:r>
              <a:rPr lang="fr-CH" dirty="0" smtClean="0"/>
              <a:t>	soit </a:t>
            </a:r>
            <a:r>
              <a:rPr lang="fr-CH" dirty="0"/>
              <a:t>en tout autre lieu </a:t>
            </a:r>
            <a:r>
              <a:rPr lang="fr-CH" dirty="0" smtClean="0"/>
              <a:t>agréé </a:t>
            </a:r>
            <a:r>
              <a:rPr lang="fr-CH" dirty="0"/>
              <a:t>par </a:t>
            </a:r>
            <a:r>
              <a:rPr lang="fr-CH" dirty="0" smtClean="0"/>
              <a:t>la douane </a:t>
            </a:r>
          </a:p>
          <a:p>
            <a:pPr marL="0" indent="0">
              <a:buNone/>
            </a:pPr>
            <a:r>
              <a:rPr lang="fr-CH" dirty="0" smtClean="0"/>
              <a:t>	soit dans </a:t>
            </a:r>
            <a:r>
              <a:rPr lang="fr-CH" dirty="0"/>
              <a:t>une zone </a:t>
            </a:r>
            <a:r>
              <a:rPr lang="fr-CH" dirty="0" smtClean="0"/>
              <a:t>franche</a:t>
            </a:r>
          </a:p>
          <a:p>
            <a:pPr marL="0" indent="0">
              <a:buNone/>
            </a:pPr>
            <a:r>
              <a:rPr lang="fr-CH" dirty="0" smtClean="0">
                <a:sym typeface="Wingdings" panose="05000000000000000000" pitchFamily="2" charset="2"/>
              </a:rPr>
              <a:t>Présentation en douane au moment de l’arrivée des marchandises</a:t>
            </a:r>
          </a:p>
          <a:p>
            <a:pPr marL="0" indent="0">
              <a:buNone/>
            </a:pPr>
            <a:r>
              <a:rPr lang="fr-CH" dirty="0" smtClean="0">
                <a:sym typeface="Wingdings" panose="05000000000000000000" pitchFamily="2" charset="2"/>
              </a:rPr>
              <a:t>Déclaration </a:t>
            </a:r>
            <a:r>
              <a:rPr lang="fr-CH" dirty="0">
                <a:sym typeface="Wingdings" panose="05000000000000000000" pitchFamily="2" charset="2"/>
              </a:rPr>
              <a:t>dépôt </a:t>
            </a:r>
            <a:r>
              <a:rPr lang="fr-CH" dirty="0" smtClean="0">
                <a:sym typeface="Wingdings" panose="05000000000000000000" pitchFamily="2" charset="2"/>
              </a:rPr>
              <a:t>temporaire</a:t>
            </a:r>
            <a:endParaRPr lang="fr-CH" dirty="0" smtClean="0"/>
          </a:p>
        </p:txBody>
      </p:sp>
      <p:sp>
        <p:nvSpPr>
          <p:cNvPr id="4" name="Slide Number Placehold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149160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Choix à faire!</a:t>
            </a:r>
            <a:endParaRPr lang="en-US" dirty="0"/>
          </a:p>
        </p:txBody>
      </p:sp>
      <p:sp>
        <p:nvSpPr>
          <p:cNvPr id="3" name="Content Placeholder 2"/>
          <p:cNvSpPr>
            <a:spLocks noGrp="1"/>
          </p:cNvSpPr>
          <p:nvPr>
            <p:ph idx="1"/>
          </p:nvPr>
        </p:nvSpPr>
        <p:spPr/>
        <p:txBody>
          <a:bodyPr>
            <a:normAutofit/>
          </a:bodyPr>
          <a:lstStyle/>
          <a:p>
            <a:pPr marL="0" indent="0">
              <a:buNone/>
            </a:pPr>
            <a:endParaRPr lang="fr-CH" sz="2600" dirty="0"/>
          </a:p>
          <a:p>
            <a:pPr marL="0" indent="0">
              <a:buNone/>
            </a:pPr>
            <a:r>
              <a:rPr lang="fr-CH" sz="2600" dirty="0" smtClean="0"/>
              <a:t>Apurement </a:t>
            </a:r>
            <a:r>
              <a:rPr lang="fr-CH" sz="2600" dirty="0"/>
              <a:t>du dépôt temporaire </a:t>
            </a:r>
            <a:r>
              <a:rPr lang="fr-CH" sz="2600" dirty="0" smtClean="0"/>
              <a:t>:</a:t>
            </a:r>
          </a:p>
          <a:p>
            <a:pPr marL="0" indent="0">
              <a:buNone/>
            </a:pPr>
            <a:endParaRPr lang="fr-CH" sz="2600" dirty="0"/>
          </a:p>
          <a:p>
            <a:pPr marL="0" indent="0">
              <a:buNone/>
            </a:pPr>
            <a:r>
              <a:rPr lang="fr-CH" sz="2600" dirty="0" smtClean="0">
                <a:sym typeface="Wingdings" panose="05000000000000000000" pitchFamily="2" charset="2"/>
              </a:rPr>
              <a:t></a:t>
            </a:r>
            <a:r>
              <a:rPr lang="fr-CH" sz="2600" dirty="0">
                <a:sym typeface="Wingdings" panose="05000000000000000000" pitchFamily="2" charset="2"/>
              </a:rPr>
              <a:t>P</a:t>
            </a:r>
            <a:r>
              <a:rPr lang="fr-CH" sz="2600" dirty="0" smtClean="0"/>
              <a:t>lacement </a:t>
            </a:r>
            <a:r>
              <a:rPr lang="fr-CH" sz="2600" dirty="0"/>
              <a:t>des </a:t>
            </a:r>
            <a:r>
              <a:rPr lang="fr-CH" sz="2600" dirty="0" smtClean="0"/>
              <a:t>marchandises sous un régime </a:t>
            </a:r>
            <a:r>
              <a:rPr lang="fr-CH" sz="2600" dirty="0"/>
              <a:t>douanier </a:t>
            </a:r>
          </a:p>
          <a:p>
            <a:pPr marL="0" indent="0">
              <a:buNone/>
            </a:pPr>
            <a:r>
              <a:rPr lang="fr-CH" sz="2600" dirty="0" smtClean="0"/>
              <a:t>(ou notification de réexportation/déclaration sommaire de sortie)</a:t>
            </a:r>
          </a:p>
          <a:p>
            <a:pPr marL="0" indent="0">
              <a:buNone/>
            </a:pPr>
            <a:r>
              <a:rPr lang="fr-CH" sz="2600" dirty="0" smtClean="0"/>
              <a:t>(ou destruction/abandon)</a:t>
            </a:r>
          </a:p>
          <a:p>
            <a:pPr marL="0" indent="0">
              <a:buNone/>
            </a:pPr>
            <a:endParaRPr lang="fr-CH" sz="2600" dirty="0" smtClean="0"/>
          </a:p>
          <a:p>
            <a:pPr marL="0" indent="0">
              <a:buNone/>
            </a:pPr>
            <a:r>
              <a:rPr lang="fr-CH" sz="2600" dirty="0"/>
              <a:t>→ L’acceptation de la déclaration en douane y relatif marque la fin du dépôt temporaire.</a:t>
            </a:r>
          </a:p>
          <a:p>
            <a:pPr marL="0" indent="0">
              <a:buNone/>
            </a:pPr>
            <a:endParaRPr lang="fr-CH" sz="2600" dirty="0" smtClean="0"/>
          </a:p>
          <a:p>
            <a:pPr marL="0" indent="0">
              <a:buNone/>
            </a:pPr>
            <a:endParaRPr lang="fr-CH" sz="3200" dirty="0" smtClean="0"/>
          </a:p>
          <a:p>
            <a:pPr marL="0" indent="0">
              <a:buNone/>
            </a:pPr>
            <a:endParaRPr lang="fr-CH" sz="2400" dirty="0" smtClean="0"/>
          </a:p>
        </p:txBody>
      </p:sp>
      <p:sp>
        <p:nvSpPr>
          <p:cNvPr id="4" name="Slide Number Placehold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219485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1000"/>
                                        <p:tgtEl>
                                          <p:spTgt spid="3">
                                            <p:txEl>
                                              <p:pRg st="7" end="7"/>
                                            </p:txEl>
                                          </p:spTgt>
                                        </p:tgtEl>
                                      </p:cBhvr>
                                    </p:animEffect>
                                    <p:anim calcmode="lin" valueType="num">
                                      <p:cBhvr>
                                        <p:cTn id="3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765175"/>
          </a:xfrm>
        </p:spPr>
        <p:txBody>
          <a:bodyPr>
            <a:normAutofit fontScale="90000"/>
          </a:bodyPr>
          <a:lstStyle/>
          <a:p>
            <a:r>
              <a:rPr lang="lb-LU" dirty="0" smtClean="0"/>
              <a:t/>
            </a:r>
            <a:br>
              <a:rPr lang="lb-LU" dirty="0" smtClean="0"/>
            </a:br>
            <a:r>
              <a:rPr lang="fr-CH" dirty="0" smtClean="0"/>
              <a:t>Par </a:t>
            </a:r>
            <a:r>
              <a:rPr lang="fr-CH" dirty="0"/>
              <a:t>régime douanier admis, il y a lieu d’entendre </a:t>
            </a:r>
            <a:r>
              <a:rPr lang="fr-CH" dirty="0" smtClean="0"/>
              <a:t>:</a:t>
            </a:r>
            <a:endParaRPr lang="lb-LU" b="0" dirty="0">
              <a:latin typeface="+mn-lt"/>
            </a:endParaRPr>
          </a:p>
        </p:txBody>
      </p:sp>
      <p:sp>
        <p:nvSpPr>
          <p:cNvPr id="3" name="Espace réservé du contenu 2"/>
          <p:cNvSpPr>
            <a:spLocks noGrp="1"/>
          </p:cNvSpPr>
          <p:nvPr>
            <p:ph idx="1"/>
          </p:nvPr>
        </p:nvSpPr>
        <p:spPr/>
        <p:txBody>
          <a:bodyPr>
            <a:normAutofit fontScale="85000" lnSpcReduction="20000"/>
          </a:bodyPr>
          <a:lstStyle/>
          <a:p>
            <a:pPr marL="0" indent="0">
              <a:buNone/>
            </a:pPr>
            <a:endParaRPr lang="lb-LU" dirty="0"/>
          </a:p>
          <a:p>
            <a:r>
              <a:rPr lang="fr-CH" dirty="0" smtClean="0"/>
              <a:t>Placement </a:t>
            </a:r>
            <a:r>
              <a:rPr lang="fr-CH" dirty="0"/>
              <a:t>des marchandises sous le régime de la mise en libre pratique</a:t>
            </a:r>
          </a:p>
          <a:p>
            <a:r>
              <a:rPr lang="fr-CH" dirty="0" smtClean="0"/>
              <a:t>(Ré)Exportation </a:t>
            </a:r>
            <a:r>
              <a:rPr lang="fr-CH" dirty="0"/>
              <a:t>des marchandises hors du territoire douanier de l’UE</a:t>
            </a:r>
          </a:p>
          <a:p>
            <a:pPr marL="0" indent="0">
              <a:buNone/>
            </a:pPr>
            <a:r>
              <a:rPr lang="fr-CH" dirty="0"/>
              <a:t> </a:t>
            </a:r>
            <a:r>
              <a:rPr lang="fr-CH" dirty="0" smtClean="0"/>
              <a:t>   Placement </a:t>
            </a:r>
            <a:r>
              <a:rPr lang="fr-CH" dirty="0"/>
              <a:t>des marchandises sous un régime particulier</a:t>
            </a:r>
            <a:r>
              <a:rPr lang="fr-CH" dirty="0" smtClean="0"/>
              <a:t>, </a:t>
            </a:r>
            <a:r>
              <a:rPr lang="fr-CH" dirty="0"/>
              <a:t>lesquels sont:</a:t>
            </a:r>
          </a:p>
          <a:p>
            <a:pPr marL="801688"/>
            <a:r>
              <a:rPr lang="fr-CH" dirty="0"/>
              <a:t> </a:t>
            </a:r>
            <a:r>
              <a:rPr lang="fr-CH" dirty="0" smtClean="0"/>
              <a:t>le transit,</a:t>
            </a:r>
          </a:p>
          <a:p>
            <a:pPr marL="801688"/>
            <a:r>
              <a:rPr lang="fr-CH" dirty="0"/>
              <a:t> </a:t>
            </a:r>
            <a:r>
              <a:rPr lang="fr-CH" dirty="0" smtClean="0"/>
              <a:t>l’entrepôt </a:t>
            </a:r>
            <a:r>
              <a:rPr lang="fr-CH" dirty="0"/>
              <a:t>douanier, </a:t>
            </a:r>
            <a:endParaRPr lang="fr-CH" dirty="0" smtClean="0"/>
          </a:p>
          <a:p>
            <a:pPr marL="801688"/>
            <a:r>
              <a:rPr lang="fr-CH" dirty="0" smtClean="0"/>
              <a:t> la zone franche,</a:t>
            </a:r>
            <a:endParaRPr lang="fr-CH" dirty="0"/>
          </a:p>
          <a:p>
            <a:pPr marL="801688"/>
            <a:r>
              <a:rPr lang="fr-CH" dirty="0"/>
              <a:t> le perfectionnement </a:t>
            </a:r>
            <a:r>
              <a:rPr lang="fr-CH" dirty="0" smtClean="0"/>
              <a:t>actif </a:t>
            </a:r>
          </a:p>
          <a:p>
            <a:pPr marL="801688"/>
            <a:r>
              <a:rPr lang="fr-CH" dirty="0"/>
              <a:t> </a:t>
            </a:r>
            <a:r>
              <a:rPr lang="fr-CH" dirty="0" smtClean="0"/>
              <a:t>le perfectionnement passif, </a:t>
            </a:r>
            <a:endParaRPr lang="fr-CH" dirty="0"/>
          </a:p>
          <a:p>
            <a:pPr marL="801688"/>
            <a:r>
              <a:rPr lang="fr-CH" dirty="0"/>
              <a:t> l’admission temporaire, </a:t>
            </a:r>
          </a:p>
          <a:p>
            <a:pPr marL="801688"/>
            <a:r>
              <a:rPr lang="fr-CH" dirty="0"/>
              <a:t> la destination </a:t>
            </a:r>
            <a:r>
              <a:rPr lang="fr-CH" dirty="0" smtClean="0"/>
              <a:t>particulière.</a:t>
            </a:r>
            <a:endParaRPr lang="fr-CH" dirty="0"/>
          </a:p>
          <a:p>
            <a:pPr marL="573088"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4</a:t>
            </a:fld>
            <a:endParaRPr lang="lb-LU" dirty="0"/>
          </a:p>
        </p:txBody>
      </p:sp>
    </p:spTree>
    <p:extLst>
      <p:ext uri="{BB962C8B-B14F-4D97-AF65-F5344CB8AC3E}">
        <p14:creationId xmlns:p14="http://schemas.microsoft.com/office/powerpoint/2010/main" val="24531474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1000"/>
                                        <p:tgtEl>
                                          <p:spTgt spid="3">
                                            <p:txEl>
                                              <p:pRg st="6" end="6"/>
                                            </p:txEl>
                                          </p:spTgt>
                                        </p:tgtEl>
                                      </p:cBhvr>
                                    </p:animEffect>
                                    <p:anim calcmode="lin" valueType="num">
                                      <p:cBhvr>
                                        <p:cTn id="4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1000"/>
                                        <p:tgtEl>
                                          <p:spTgt spid="3">
                                            <p:txEl>
                                              <p:pRg st="7" end="7"/>
                                            </p:txEl>
                                          </p:spTgt>
                                        </p:tgtEl>
                                      </p:cBhvr>
                                    </p:animEffect>
                                    <p:anim calcmode="lin" valueType="num">
                                      <p:cBhvr>
                                        <p:cTn id="4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1000"/>
                                        <p:tgtEl>
                                          <p:spTgt spid="3">
                                            <p:txEl>
                                              <p:pRg st="8" end="8"/>
                                            </p:txEl>
                                          </p:spTgt>
                                        </p:tgtEl>
                                      </p:cBhvr>
                                    </p:animEffect>
                                    <p:anim calcmode="lin" valueType="num">
                                      <p:cBhvr>
                                        <p:cTn id="5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Effect transition="in" filter="fade">
                                      <p:cBhvr>
                                        <p:cTn id="68" dur="1000"/>
                                        <p:tgtEl>
                                          <p:spTgt spid="3">
                                            <p:txEl>
                                              <p:pRg st="10" end="10"/>
                                            </p:txEl>
                                          </p:spTgt>
                                        </p:tgtEl>
                                      </p:cBhvr>
                                    </p:animEffect>
                                    <p:anim calcmode="lin" valueType="num">
                                      <p:cBhvr>
                                        <p:cTn id="6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Art 150 CDU: Choix </a:t>
            </a:r>
            <a:r>
              <a:rPr lang="fr-CH" dirty="0"/>
              <a:t>du régime douanier</a:t>
            </a:r>
            <a:br>
              <a:rPr lang="fr-CH" dirty="0"/>
            </a:br>
            <a:endParaRPr lang="en-US" dirty="0"/>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Sauf dispositions contraires, le déclarant est libre de choisir, conformément aux conditions fixées pour ce régime, le régime douanier sous lequel placer les marchandises, quels que soient leur nature, leur quantité, leur pays d'origine, de provenance ou de destination.</a:t>
            </a:r>
          </a:p>
          <a:p>
            <a:pPr marL="0" indent="0">
              <a:buNone/>
            </a:pPr>
            <a:endParaRPr lang="fr-CH" dirty="0"/>
          </a:p>
          <a:p>
            <a:pPr marL="0" indent="0">
              <a:buNone/>
            </a:pPr>
            <a:r>
              <a:rPr lang="fr-CH" dirty="0" smtClean="0"/>
              <a:t>NB: pour certains régimes, il faut une autorisation par la douane </a:t>
            </a:r>
          </a:p>
          <a:p>
            <a:pPr marL="0" indent="0">
              <a:buNone/>
            </a:pPr>
            <a:r>
              <a:rPr lang="fr-CH" dirty="0" smtClean="0"/>
              <a:t>(ou par le gérant / opérateur en </a:t>
            </a:r>
            <a:r>
              <a:rPr lang="fr-CH" dirty="0"/>
              <a:t>z</a:t>
            </a:r>
            <a:r>
              <a:rPr lang="fr-CH" dirty="0" smtClean="0"/>
              <a:t>one </a:t>
            </a:r>
            <a:r>
              <a:rPr lang="fr-CH" dirty="0" smtClean="0"/>
              <a:t>franche )!</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401947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wipe(down)">
                                      <p:cBhvr>
                                        <p:cTn id="14" dur="580">
                                          <p:stCondLst>
                                            <p:cond delay="0"/>
                                          </p:stCondLst>
                                        </p:cTn>
                                        <p:tgtEl>
                                          <p:spTgt spid="3">
                                            <p:txEl>
                                              <p:pRg st="3" end="3"/>
                                            </p:txEl>
                                          </p:spTgt>
                                        </p:tgtEl>
                                      </p:cBhvr>
                                    </p:animEffect>
                                    <p:anim calcmode="lin" valueType="num">
                                      <p:cBhvr>
                                        <p:cTn id="15"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3" end="3"/>
                                            </p:txEl>
                                          </p:spTgt>
                                        </p:tgtEl>
                                      </p:cBhvr>
                                      <p:to x="100000" y="60000"/>
                                    </p:animScale>
                                    <p:animScale>
                                      <p:cBhvr>
                                        <p:cTn id="21" dur="166" decel="50000">
                                          <p:stCondLst>
                                            <p:cond delay="676"/>
                                          </p:stCondLst>
                                        </p:cTn>
                                        <p:tgtEl>
                                          <p:spTgt spid="3">
                                            <p:txEl>
                                              <p:pRg st="3" end="3"/>
                                            </p:txEl>
                                          </p:spTgt>
                                        </p:tgtEl>
                                      </p:cBhvr>
                                      <p:to x="100000" y="100000"/>
                                    </p:animScale>
                                    <p:animScale>
                                      <p:cBhvr>
                                        <p:cTn id="22" dur="26">
                                          <p:stCondLst>
                                            <p:cond delay="1312"/>
                                          </p:stCondLst>
                                        </p:cTn>
                                        <p:tgtEl>
                                          <p:spTgt spid="3">
                                            <p:txEl>
                                              <p:pRg st="3" end="3"/>
                                            </p:txEl>
                                          </p:spTgt>
                                        </p:tgtEl>
                                      </p:cBhvr>
                                      <p:to x="100000" y="80000"/>
                                    </p:animScale>
                                    <p:animScale>
                                      <p:cBhvr>
                                        <p:cTn id="23" dur="166" decel="50000">
                                          <p:stCondLst>
                                            <p:cond delay="1338"/>
                                          </p:stCondLst>
                                        </p:cTn>
                                        <p:tgtEl>
                                          <p:spTgt spid="3">
                                            <p:txEl>
                                              <p:pRg st="3" end="3"/>
                                            </p:txEl>
                                          </p:spTgt>
                                        </p:tgtEl>
                                      </p:cBhvr>
                                      <p:to x="100000" y="100000"/>
                                    </p:animScale>
                                    <p:animScale>
                                      <p:cBhvr>
                                        <p:cTn id="24" dur="26">
                                          <p:stCondLst>
                                            <p:cond delay="1642"/>
                                          </p:stCondLst>
                                        </p:cTn>
                                        <p:tgtEl>
                                          <p:spTgt spid="3">
                                            <p:txEl>
                                              <p:pRg st="3" end="3"/>
                                            </p:txEl>
                                          </p:spTgt>
                                        </p:tgtEl>
                                      </p:cBhvr>
                                      <p:to x="100000" y="90000"/>
                                    </p:animScale>
                                    <p:animScale>
                                      <p:cBhvr>
                                        <p:cTn id="25" dur="166" decel="50000">
                                          <p:stCondLst>
                                            <p:cond delay="1668"/>
                                          </p:stCondLst>
                                        </p:cTn>
                                        <p:tgtEl>
                                          <p:spTgt spid="3">
                                            <p:txEl>
                                              <p:pRg st="3" end="3"/>
                                            </p:txEl>
                                          </p:spTgt>
                                        </p:tgtEl>
                                      </p:cBhvr>
                                      <p:to x="100000" y="100000"/>
                                    </p:animScale>
                                    <p:animScale>
                                      <p:cBhvr>
                                        <p:cTn id="26" dur="26">
                                          <p:stCondLst>
                                            <p:cond delay="1808"/>
                                          </p:stCondLst>
                                        </p:cTn>
                                        <p:tgtEl>
                                          <p:spTgt spid="3">
                                            <p:txEl>
                                              <p:pRg st="3" end="3"/>
                                            </p:txEl>
                                          </p:spTgt>
                                        </p:tgtEl>
                                      </p:cBhvr>
                                      <p:to x="100000" y="95000"/>
                                    </p:animScale>
                                    <p:animScale>
                                      <p:cBhvr>
                                        <p:cTn id="27" dur="166" decel="50000">
                                          <p:stCondLst>
                                            <p:cond delay="1834"/>
                                          </p:stCondLst>
                                        </p:cTn>
                                        <p:tgtEl>
                                          <p:spTgt spid="3">
                                            <p:txEl>
                                              <p:pRg st="3" end="3"/>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156657"/>
          </a:xfrm>
        </p:spPr>
        <p:txBody>
          <a:bodyPr>
            <a:normAutofit/>
          </a:bodyPr>
          <a:lstStyle/>
          <a:p>
            <a:r>
              <a:rPr lang="fr-FR" dirty="0" smtClean="0"/>
              <a:t>Manifestation de l’intention de placer une marchandise sous un régime:</a:t>
            </a: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sym typeface="Wingdings" panose="05000000000000000000" pitchFamily="2" charset="2"/>
            </a:endParaRPr>
          </a:p>
          <a:p>
            <a:pPr marL="0" indent="0">
              <a:buNone/>
            </a:pPr>
            <a:r>
              <a:rPr lang="fr-CH" dirty="0" smtClean="0">
                <a:sym typeface="Wingdings" panose="05000000000000000000" pitchFamily="2" charset="2"/>
              </a:rPr>
              <a:t> Par le dépôt d’une déclaration</a:t>
            </a:r>
            <a:endParaRPr lang="fr-CH" dirty="0" smtClean="0"/>
          </a:p>
          <a:p>
            <a:pPr marL="0" indent="0">
              <a:buNone/>
            </a:pPr>
            <a:r>
              <a:rPr lang="fr-CH" dirty="0" smtClean="0"/>
              <a:t>Art 158 CDU:</a:t>
            </a:r>
          </a:p>
          <a:p>
            <a:pPr marL="0" indent="0">
              <a:buNone/>
            </a:pPr>
            <a:r>
              <a:rPr lang="fr-CH" dirty="0" smtClean="0"/>
              <a:t>Toute </a:t>
            </a:r>
            <a:r>
              <a:rPr lang="fr-CH" dirty="0"/>
              <a:t>marchandise destinée à être placée sous un régime douanier, à l'exclusion du régime de la zone franche, fait l'objet d'une déclaration en douane correspondant au régime </a:t>
            </a:r>
            <a:r>
              <a:rPr lang="fr-CH" dirty="0" smtClean="0"/>
              <a:t>concerné</a:t>
            </a:r>
          </a:p>
          <a:p>
            <a:pPr marL="0" indent="0">
              <a:buNone/>
            </a:pPr>
            <a:endParaRPr lang="fr-CH" dirty="0" smtClean="0"/>
          </a:p>
          <a:p>
            <a:pPr marL="0" indent="0">
              <a:buNone/>
            </a:pPr>
            <a:r>
              <a:rPr lang="fr-CH" dirty="0" smtClean="0"/>
              <a:t>NB: 	une </a:t>
            </a:r>
            <a:r>
              <a:rPr lang="fr-CH" dirty="0"/>
              <a:t>notification à la douane du placement en zone franche est </a:t>
            </a:r>
            <a:r>
              <a:rPr lang="fr-CH" dirty="0" smtClean="0"/>
              <a:t>	cependant obligatoire</a:t>
            </a:r>
          </a:p>
        </p:txBody>
      </p:sp>
      <p:sp>
        <p:nvSpPr>
          <p:cNvPr id="4" name="Slide Number Placehold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341355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Forme de la déclaration:</a:t>
            </a:r>
            <a:endParaRPr lang="en-US" dirty="0"/>
          </a:p>
        </p:txBody>
      </p:sp>
      <p:sp>
        <p:nvSpPr>
          <p:cNvPr id="3" name="Content Placeholder 2"/>
          <p:cNvSpPr>
            <a:spLocks noGrp="1"/>
          </p:cNvSpPr>
          <p:nvPr>
            <p:ph idx="1"/>
          </p:nvPr>
        </p:nvSpPr>
        <p:spPr/>
        <p:txBody>
          <a:bodyPr>
            <a:normAutofit fontScale="92500" lnSpcReduction="10000"/>
          </a:bodyPr>
          <a:lstStyle/>
          <a:p>
            <a:r>
              <a:rPr lang="fr-CH" dirty="0" smtClean="0"/>
              <a:t>Article 6 CDU</a:t>
            </a:r>
          </a:p>
          <a:p>
            <a:pPr marL="0" indent="0">
              <a:buNone/>
            </a:pPr>
            <a:r>
              <a:rPr lang="fr-CH" dirty="0" smtClean="0"/>
              <a:t>Tout </a:t>
            </a:r>
            <a:r>
              <a:rPr lang="fr-CH" dirty="0"/>
              <a:t>échange d'informations telles que des déclarations, </a:t>
            </a:r>
            <a:r>
              <a:rPr lang="fr-CH" dirty="0" smtClean="0"/>
              <a:t>sont </a:t>
            </a:r>
            <a:r>
              <a:rPr lang="fr-CH" dirty="0"/>
              <a:t>effectués en utilisant un procédé informatique de traitement des données</a:t>
            </a:r>
            <a:r>
              <a:rPr lang="fr-CH" dirty="0" smtClean="0"/>
              <a:t>. (</a:t>
            </a:r>
            <a:r>
              <a:rPr lang="fr-CH" dirty="0" err="1" smtClean="0"/>
              <a:t>Paperless</a:t>
            </a:r>
            <a:r>
              <a:rPr lang="fr-CH" dirty="0" smtClean="0"/>
              <a:t>)</a:t>
            </a:r>
          </a:p>
          <a:p>
            <a:pPr marL="0" indent="0">
              <a:buNone/>
            </a:pPr>
            <a:endParaRPr lang="fr-CH" dirty="0"/>
          </a:p>
          <a:p>
            <a:pPr marL="0" indent="0">
              <a:buNone/>
            </a:pPr>
            <a:r>
              <a:rPr lang="fr-CH" dirty="0" smtClean="0"/>
              <a:t>Factures, certificats d’origine..? A disposition? Copies électroniques? Originaux? </a:t>
            </a:r>
          </a:p>
          <a:p>
            <a:r>
              <a:rPr lang="fr-CH" dirty="0" smtClean="0"/>
              <a:t>Article 163 CDU</a:t>
            </a:r>
          </a:p>
          <a:p>
            <a:pPr marL="0" indent="0">
              <a:buNone/>
            </a:pPr>
            <a:r>
              <a:rPr lang="fr-CH" dirty="0" smtClean="0"/>
              <a:t>Les </a:t>
            </a:r>
            <a:r>
              <a:rPr lang="fr-CH" dirty="0"/>
              <a:t>documents d'accompagnement exigés pour l'application des dispositions régissant le régime douanier pour lequel les marchandises sont déclarées sont en la possession du déclarant et à la disposition des autorités douanières au moment du dépôt de la déclaration en douane.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77561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Documents d’accompagnement</a:t>
            </a:r>
            <a:endParaRPr lang="en-US" dirty="0"/>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Des </a:t>
            </a:r>
            <a:r>
              <a:rPr lang="fr-CH" dirty="0"/>
              <a:t>documents d'accompagnement sont fournis aux autorités douanières lorsque </a:t>
            </a:r>
            <a:endParaRPr lang="fr-CH" dirty="0" smtClean="0"/>
          </a:p>
          <a:p>
            <a:pPr marL="0" indent="0">
              <a:buNone/>
            </a:pPr>
            <a:r>
              <a:rPr lang="fr-CH" dirty="0" smtClean="0"/>
              <a:t>cela </a:t>
            </a:r>
            <a:r>
              <a:rPr lang="fr-CH" dirty="0"/>
              <a:t>est exigé par la législation de l'Union </a:t>
            </a:r>
            <a:endParaRPr lang="fr-CH" dirty="0" smtClean="0"/>
          </a:p>
          <a:p>
            <a:pPr marL="0" indent="0">
              <a:buNone/>
            </a:pPr>
            <a:r>
              <a:rPr lang="fr-CH" dirty="0" smtClean="0"/>
              <a:t>ou </a:t>
            </a:r>
          </a:p>
          <a:p>
            <a:pPr marL="0" indent="0">
              <a:buNone/>
            </a:pPr>
            <a:r>
              <a:rPr lang="fr-CH" dirty="0" smtClean="0"/>
              <a:t>que </a:t>
            </a:r>
            <a:r>
              <a:rPr lang="fr-CH" dirty="0"/>
              <a:t>cela est nécessaire aux fins des contrôles douaniers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133596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Documents </a:t>
            </a:r>
            <a:r>
              <a:rPr lang="en-US" dirty="0" err="1"/>
              <a:t>d’accompagnement</a:t>
            </a:r>
            <a:endParaRPr lang="en-US" dirty="0"/>
          </a:p>
        </p:txBody>
      </p:sp>
      <p:sp>
        <p:nvSpPr>
          <p:cNvPr id="3" name="Content Placeholder 2"/>
          <p:cNvSpPr>
            <a:spLocks noGrp="1"/>
          </p:cNvSpPr>
          <p:nvPr>
            <p:ph idx="1"/>
          </p:nvPr>
        </p:nvSpPr>
        <p:spPr/>
        <p:txBody>
          <a:bodyPr/>
          <a:lstStyle/>
          <a:p>
            <a:r>
              <a:rPr lang="fr-FR" dirty="0"/>
              <a:t>Article 15 CDU</a:t>
            </a:r>
          </a:p>
          <a:p>
            <a:endParaRPr lang="fr-FR" dirty="0"/>
          </a:p>
          <a:p>
            <a:r>
              <a:rPr lang="fr-CH" dirty="0"/>
              <a:t>« Toute personne intervenant directement ou indirectement dans l'accomplissement des formalités douanières ou dans les contrôles douaniers fournit aux autorités douanières, à leur demande et dans les délais éventuellement fixés, la totalité des documents ou informations requis, sous une forme appropriée, ainsi que toute l'assistance nécessaire à l'accomplissement des formalités ou des contrôles précités. »</a:t>
            </a:r>
            <a:endParaRPr lang="en-US"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30848042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Procédé </a:t>
            </a:r>
            <a:r>
              <a:rPr lang="fr-CH" dirty="0"/>
              <a:t>informatique de traitement des données</a:t>
            </a:r>
            <a:endParaRPr lang="en-US" dirty="0"/>
          </a:p>
        </p:txBody>
      </p:sp>
      <p:sp>
        <p:nvSpPr>
          <p:cNvPr id="3" name="Content Placeholder 2"/>
          <p:cNvSpPr>
            <a:spLocks noGrp="1"/>
          </p:cNvSpPr>
          <p:nvPr>
            <p:ph idx="1"/>
          </p:nvPr>
        </p:nvSpPr>
        <p:spPr/>
        <p:txBody>
          <a:bodyPr>
            <a:normAutofit/>
          </a:bodyPr>
          <a:lstStyle/>
          <a:p>
            <a:r>
              <a:rPr lang="fr-FR" dirty="0" smtClean="0"/>
              <a:t>Au Luxembourg:</a:t>
            </a:r>
          </a:p>
          <a:p>
            <a:pPr marL="0" indent="0">
              <a:buNone/>
            </a:pPr>
            <a:r>
              <a:rPr lang="fr-CH" dirty="0"/>
              <a:t>L'Administration des douanes et accises (ADA) en collaboration avec le Centre des technologies de l’information de l'État (</a:t>
            </a:r>
            <a:r>
              <a:rPr lang="fr-CH" dirty="0" smtClean="0"/>
              <a:t>CTIE) mettent </a:t>
            </a:r>
            <a:r>
              <a:rPr lang="fr-CH" dirty="0"/>
              <a:t>à la disposition des opérateurs économiques un système de dédouanement électronique appelé système « </a:t>
            </a:r>
            <a:r>
              <a:rPr lang="fr-CH" dirty="0" smtClean="0"/>
              <a:t>LUCCS </a:t>
            </a:r>
            <a:r>
              <a:rPr lang="fr-CH" dirty="0"/>
              <a:t>».</a:t>
            </a:r>
          </a:p>
          <a:p>
            <a:pPr>
              <a:buFont typeface="Wingdings" panose="05000000000000000000" pitchFamily="2" charset="2"/>
              <a:buChar char="à"/>
            </a:pPr>
            <a:r>
              <a:rPr lang="fr-CH" dirty="0" smtClean="0">
                <a:sym typeface="Wingdings" panose="05000000000000000000" pitchFamily="2" charset="2"/>
              </a:rPr>
              <a:t>applications </a:t>
            </a:r>
            <a:r>
              <a:rPr lang="fr-CH" dirty="0">
                <a:sym typeface="Wingdings" panose="05000000000000000000" pitchFamily="2" charset="2"/>
              </a:rPr>
              <a:t>en ligne, </a:t>
            </a:r>
            <a:r>
              <a:rPr lang="fr-CH" dirty="0" smtClean="0">
                <a:sym typeface="Wingdings" panose="05000000000000000000" pitchFamily="2" charset="2"/>
              </a:rPr>
              <a:t>qui nécessitent un enregistrement‎!</a:t>
            </a:r>
          </a:p>
          <a:p>
            <a:pPr marL="0" indent="0">
              <a:buNone/>
            </a:pPr>
            <a:r>
              <a:rPr lang="fr-CH" dirty="0">
                <a:sym typeface="Wingdings" panose="05000000000000000000" pitchFamily="2" charset="2"/>
              </a:rPr>
              <a:t>(</a:t>
            </a:r>
            <a:r>
              <a:rPr lang="fr-CH" dirty="0">
                <a:sym typeface="Wingdings" panose="05000000000000000000" pitchFamily="2" charset="2"/>
                <a:hlinkClick r:id="rId2"/>
              </a:rPr>
              <a:t>https://douanes.public.lu/fr/services-ligne/edouanes/LUCCS.html</a:t>
            </a:r>
            <a:r>
              <a:rPr lang="fr-CH" dirty="0" smtClean="0">
                <a:sym typeface="Wingdings" panose="05000000000000000000" pitchFamily="2" charset="2"/>
              </a:rPr>
              <a:t>)</a:t>
            </a:r>
          </a:p>
          <a:p>
            <a:pPr marL="0" indent="0">
              <a:buNone/>
            </a:pPr>
            <a:r>
              <a:rPr lang="fr-CH" dirty="0" smtClean="0">
                <a:sym typeface="Wingdings" panose="05000000000000000000" pitchFamily="2" charset="2"/>
              </a:rPr>
              <a:t>Aussi possibilité d’un B2G</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93859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CH" dirty="0"/>
              <a:t>Contenu d'une déclaration en douane </a:t>
            </a:r>
            <a:r>
              <a:rPr lang="fr-CH" dirty="0" smtClean="0"/>
              <a:t>normale</a:t>
            </a:r>
            <a:endParaRPr lang="en-US" dirty="0"/>
          </a:p>
        </p:txBody>
      </p:sp>
      <p:sp>
        <p:nvSpPr>
          <p:cNvPr id="3" name="Content Placeholder 2"/>
          <p:cNvSpPr>
            <a:spLocks noGrp="1"/>
          </p:cNvSpPr>
          <p:nvPr>
            <p:ph idx="1"/>
          </p:nvPr>
        </p:nvSpPr>
        <p:spPr/>
        <p:txBody>
          <a:bodyPr/>
          <a:lstStyle/>
          <a:p>
            <a:r>
              <a:rPr lang="fr-CH" dirty="0"/>
              <a:t>Article </a:t>
            </a:r>
            <a:r>
              <a:rPr lang="fr-CH" dirty="0" smtClean="0"/>
              <a:t>162 CDU</a:t>
            </a:r>
            <a:endParaRPr lang="fr-CH" dirty="0"/>
          </a:p>
          <a:p>
            <a:pPr marL="0" indent="0">
              <a:buNone/>
            </a:pPr>
            <a:r>
              <a:rPr lang="fr-CH" dirty="0" smtClean="0"/>
              <a:t>Les </a:t>
            </a:r>
            <a:r>
              <a:rPr lang="fr-CH" dirty="0"/>
              <a:t>déclarations en douane normales comportent toutes les énonciations nécessaires à l'application des dispositions régissant le régime douanier pour lequel les marchandises sont déclarées.</a:t>
            </a:r>
            <a:endParaRPr lang="fr-FR" dirty="0" smtClean="0"/>
          </a:p>
          <a:p>
            <a:pPr marL="0" indent="0">
              <a:buNone/>
            </a:pPr>
            <a:r>
              <a:rPr lang="fr-FR" dirty="0" smtClean="0"/>
              <a:t>≠ déclarations simplifiées</a:t>
            </a:r>
          </a:p>
          <a:p>
            <a:pPr marL="0" indent="0">
              <a:buNone/>
            </a:pPr>
            <a:endParaRPr lang="fr-FR" dirty="0"/>
          </a:p>
          <a:p>
            <a:r>
              <a:rPr lang="fr-FR" dirty="0" smtClean="0"/>
              <a:t>Data </a:t>
            </a:r>
            <a:r>
              <a:rPr lang="fr-FR" dirty="0" err="1" smtClean="0"/>
              <a:t>elements</a:t>
            </a:r>
            <a:r>
              <a:rPr lang="fr-FR" dirty="0" smtClean="0"/>
              <a:t> </a:t>
            </a:r>
          </a:p>
          <a:p>
            <a:r>
              <a:rPr lang="pt-BR" dirty="0"/>
              <a:t>EU Customs Data Model (EUCDM</a:t>
            </a:r>
            <a:r>
              <a:rPr lang="pt-BR" dirty="0" smtClean="0"/>
              <a:t>) </a:t>
            </a:r>
            <a:r>
              <a:rPr lang="en-US" dirty="0">
                <a:hlinkClick r:id="rId2"/>
              </a:rPr>
              <a:t>EUCDM 7d (v .1.00) (softdev.eu.com)</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120919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p:cTn id="26"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7"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8"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29" dur="10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p:cTn id="34"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5"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6"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3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t>
            </a:r>
            <a:r>
              <a:rPr lang="en-US" dirty="0" err="1" smtClean="0"/>
              <a:t>lusieurs</a:t>
            </a:r>
            <a:r>
              <a:rPr lang="en-US" dirty="0" smtClean="0"/>
              <a:t> </a:t>
            </a:r>
            <a:r>
              <a:rPr lang="en-US" dirty="0"/>
              <a:t>articles de </a:t>
            </a:r>
            <a:r>
              <a:rPr lang="en-US" dirty="0" err="1" smtClean="0"/>
              <a:t>marchandises</a:t>
            </a:r>
            <a:r>
              <a:rPr lang="en-US" dirty="0" smtClean="0"/>
              <a:t> </a:t>
            </a:r>
            <a:r>
              <a:rPr lang="en-US" dirty="0" err="1" smtClean="0"/>
              <a:t>dans</a:t>
            </a:r>
            <a:r>
              <a:rPr lang="en-US" dirty="0" smtClean="0"/>
              <a:t> </a:t>
            </a:r>
            <a:r>
              <a:rPr lang="en-US" dirty="0" err="1" smtClean="0"/>
              <a:t>une</a:t>
            </a:r>
            <a:r>
              <a:rPr lang="en-US" dirty="0" smtClean="0"/>
              <a:t> </a:t>
            </a:r>
            <a:r>
              <a:rPr lang="en-US" dirty="0" err="1" smtClean="0"/>
              <a:t>déclaration</a:t>
            </a:r>
            <a:endParaRPr lang="en-US" dirty="0"/>
          </a:p>
        </p:txBody>
      </p:sp>
      <p:sp>
        <p:nvSpPr>
          <p:cNvPr id="3" name="Content Placeholder 2"/>
          <p:cNvSpPr>
            <a:spLocks noGrp="1"/>
          </p:cNvSpPr>
          <p:nvPr>
            <p:ph idx="1"/>
          </p:nvPr>
        </p:nvSpPr>
        <p:spPr/>
        <p:txBody>
          <a:bodyPr/>
          <a:lstStyle/>
          <a:p>
            <a:endParaRPr lang="fr-CH" dirty="0" smtClean="0"/>
          </a:p>
          <a:p>
            <a:r>
              <a:rPr lang="fr-CH" dirty="0" smtClean="0"/>
              <a:t>Lorsqu’une </a:t>
            </a:r>
            <a:r>
              <a:rPr lang="fr-CH" dirty="0"/>
              <a:t>déclaration en douane comporte plusieurs articles de marchandises avec différents codes ‎tarifaires, les énonciations relatives à chaque article figurant dans ladite déclaration sont considérées ‎comme constituant une déclaration en douane séparée.‎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74010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Forme de la déclaration: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a:t>Dans des cas bien précis, le dépôt de la déclaration en douane </a:t>
            </a:r>
            <a:r>
              <a:rPr lang="fr-CH" dirty="0" smtClean="0"/>
              <a:t>peut se </a:t>
            </a:r>
            <a:r>
              <a:rPr lang="fr-CH" dirty="0"/>
              <a:t>faire par des moyens autres ‎‎que des procédés informatiques de </a:t>
            </a:r>
            <a:r>
              <a:rPr lang="fr-CH" dirty="0" smtClean="0"/>
              <a:t>traitement </a:t>
            </a:r>
            <a:r>
              <a:rPr lang="fr-CH" dirty="0"/>
              <a:t>des données, à savoir: </a:t>
            </a:r>
            <a:r>
              <a:rPr lang="fr-CH" dirty="0" smtClean="0"/>
              <a:t>‎</a:t>
            </a:r>
          </a:p>
          <a:p>
            <a:r>
              <a:rPr lang="fr-CH" dirty="0" smtClean="0"/>
              <a:t>Éventuellement par </a:t>
            </a:r>
            <a:r>
              <a:rPr lang="fr-CH" dirty="0"/>
              <a:t>écrit, en utilisant un document administratif </a:t>
            </a:r>
            <a:r>
              <a:rPr lang="fr-CH" dirty="0" smtClean="0"/>
              <a:t>unique (DAU</a:t>
            </a:r>
            <a:r>
              <a:rPr lang="fr-CH" dirty="0"/>
              <a:t>) </a:t>
            </a:r>
            <a:r>
              <a:rPr lang="fr-CH" dirty="0" smtClean="0"/>
              <a:t>‎                              (en </a:t>
            </a:r>
            <a:r>
              <a:rPr lang="fr-CH" dirty="0"/>
              <a:t>cas d’indisponibilité ‎du système informatisé)‎</a:t>
            </a:r>
          </a:p>
          <a:p>
            <a:r>
              <a:rPr lang="fr-CH" dirty="0" smtClean="0"/>
              <a:t>par </a:t>
            </a:r>
            <a:r>
              <a:rPr lang="fr-CH" dirty="0"/>
              <a:t>déclaration verbale ou par tout autre acte remplaçant une déclaration en douane. </a:t>
            </a:r>
            <a:endParaRPr lang="fr-CH" dirty="0" smtClean="0"/>
          </a:p>
          <a:p>
            <a:pPr marL="0" indent="0">
              <a:buNone/>
            </a:pPr>
            <a:r>
              <a:rPr lang="fr-CH" dirty="0"/>
              <a:t>	</a:t>
            </a:r>
            <a:r>
              <a:rPr lang="fr-CH" dirty="0" smtClean="0"/>
              <a:t>p.ex</a:t>
            </a:r>
            <a:r>
              <a:rPr lang="fr-CH" dirty="0"/>
              <a:t>.: </a:t>
            </a:r>
            <a:r>
              <a:rPr lang="fr-CH" dirty="0" smtClean="0"/>
              <a:t>‎ 	- dans </a:t>
            </a:r>
            <a:r>
              <a:rPr lang="fr-CH" dirty="0"/>
              <a:t>le cas des voyageurs ‎‎(pour leurs bagages personnels et </a:t>
            </a:r>
            <a:r>
              <a:rPr lang="fr-CH" dirty="0" smtClean="0"/>
              <a:t>			  moyens </a:t>
            </a:r>
            <a:r>
              <a:rPr lang="fr-CH" dirty="0"/>
              <a:t>de </a:t>
            </a:r>
            <a:r>
              <a:rPr lang="fr-CH" dirty="0" smtClean="0"/>
              <a:t>transport)</a:t>
            </a:r>
          </a:p>
          <a:p>
            <a:pPr marL="0" indent="0">
              <a:buNone/>
            </a:pPr>
            <a:r>
              <a:rPr lang="fr-CH" dirty="0"/>
              <a:t>	</a:t>
            </a:r>
            <a:r>
              <a:rPr lang="fr-CH" dirty="0" smtClean="0"/>
              <a:t>	- les </a:t>
            </a:r>
            <a:r>
              <a:rPr lang="fr-CH" dirty="0"/>
              <a:t>marchandises de caractère commercial, pour autant </a:t>
            </a:r>
            <a:r>
              <a:rPr lang="fr-CH" dirty="0" smtClean="0"/>
              <a:t>				  qu’elles </a:t>
            </a:r>
            <a:r>
              <a:rPr lang="fr-CH" dirty="0"/>
              <a:t>ne dépassent pas 1 000 EUR en valeur </a:t>
            </a:r>
            <a:r>
              <a:rPr lang="fr-CH" dirty="0" smtClean="0"/>
              <a:t>ou </a:t>
            </a:r>
            <a:r>
              <a:rPr lang="fr-CH" dirty="0"/>
              <a:t>1 000 kg en </a:t>
            </a:r>
            <a:r>
              <a:rPr lang="fr-CH" dirty="0" smtClean="0"/>
              <a:t>			  masse nette et lesquelles sont déclarés pour l’exportation</a:t>
            </a:r>
            <a:endParaRPr lang="fr-CH" dirty="0"/>
          </a:p>
          <a:p>
            <a:pPr marL="0" indent="0">
              <a:buNone/>
            </a:pPr>
            <a:r>
              <a:rPr lang="fr-CH" dirty="0" smtClean="0"/>
              <a:t>		</a:t>
            </a:r>
            <a:r>
              <a:rPr lang="fr-CH" dirty="0"/>
              <a:t> </a:t>
            </a:r>
            <a:r>
              <a:rPr lang="fr-CH" dirty="0" smtClean="0"/>
              <a:t>-passage </a:t>
            </a:r>
            <a:r>
              <a:rPr lang="fr-CH" dirty="0"/>
              <a:t>par le circuit vert ou couloir intitulé «rien à déclarer»</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7124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Personne </a:t>
            </a:r>
            <a:r>
              <a:rPr lang="fr-CH" dirty="0"/>
              <a:t>à déposer la déclaration en douane </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smtClean="0"/>
              <a:t>En </a:t>
            </a:r>
            <a:r>
              <a:rPr lang="fr-CH" dirty="0"/>
              <a:t>règle </a:t>
            </a:r>
            <a:r>
              <a:rPr lang="fr-CH" dirty="0" smtClean="0"/>
              <a:t>générale:</a:t>
            </a:r>
          </a:p>
          <a:p>
            <a:r>
              <a:rPr lang="fr-CH" dirty="0"/>
              <a:t>la personne sous le contrôle de qui sont placées les marchandises et qui est en mesure de fournir toutes les informations ‎nécessaires pour permettre ‎l'application des ‎dispositions régissant le régime douanier pour lequel les marchandises ‎sont déclarées. ‎Cette ‎personne est également en mesure de présenter ou de faire présenter les marchandises en ‎‎question ‎en douane .</a:t>
            </a:r>
          </a:p>
          <a:p>
            <a:pPr marL="0" indent="0">
              <a:buNone/>
            </a:pPr>
            <a:r>
              <a:rPr lang="fr-CH" dirty="0" smtClean="0"/>
              <a:t>Normalement, il s’agit:</a:t>
            </a:r>
          </a:p>
          <a:p>
            <a:r>
              <a:rPr lang="fr-CH" dirty="0" smtClean="0"/>
              <a:t>du propriétaire </a:t>
            </a:r>
            <a:r>
              <a:rPr lang="fr-CH" dirty="0"/>
              <a:t>des marchandises ou </a:t>
            </a:r>
            <a:endParaRPr lang="fr-CH" dirty="0" smtClean="0"/>
          </a:p>
          <a:p>
            <a:r>
              <a:rPr lang="fr-CH" dirty="0"/>
              <a:t>d</a:t>
            </a:r>
            <a:r>
              <a:rPr lang="fr-CH" dirty="0" smtClean="0"/>
              <a:t>’une </a:t>
            </a:r>
            <a:r>
              <a:rPr lang="fr-CH" dirty="0"/>
              <a:t>personne agissant en son nom (son ‎</a:t>
            </a:r>
            <a:r>
              <a:rPr lang="fr-CH" dirty="0" smtClean="0"/>
              <a:t>représentant</a:t>
            </a:r>
            <a:r>
              <a:rPr lang="fr-CH" dirty="0"/>
              <a:t>) </a:t>
            </a:r>
            <a:endParaRPr lang="fr-CH" dirty="0" smtClean="0"/>
          </a:p>
          <a:p>
            <a:pPr marL="0" indent="0">
              <a:buNone/>
            </a:pPr>
            <a:r>
              <a:rPr lang="fr-CH" dirty="0" smtClean="0"/>
              <a:t>N.B.: </a:t>
            </a:r>
            <a:r>
              <a:rPr lang="fr-CH" dirty="0"/>
              <a:t>En principe, ces ‎personnes doivent être établies dans l’Union européenne.‎</a:t>
            </a:r>
          </a:p>
          <a:p>
            <a:pPr marL="0" indent="0">
              <a:buNone/>
            </a:pPr>
            <a:r>
              <a:rPr lang="fr-CH" dirty="0" smtClean="0"/>
              <a:t>Attention: Lorsque </a:t>
            </a:r>
            <a:r>
              <a:rPr lang="fr-CH" dirty="0"/>
              <a:t>l'acceptation d'une déclaration en douane entraîne des obligations particulières ‎pour une ‎personne déterminée, cette déclaration est déposée par cette personne ou par son ‎représentant. </a:t>
            </a:r>
            <a:r>
              <a:rPr lang="fr-CH" dirty="0" smtClean="0"/>
              <a:t>‎(p.ex. autorisation entrepôt)</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14</a:t>
            </a:fld>
            <a:endParaRPr lang="lb-LU"/>
          </a:p>
        </p:txBody>
      </p:sp>
    </p:spTree>
    <p:extLst>
      <p:ext uri="{BB962C8B-B14F-4D97-AF65-F5344CB8AC3E}">
        <p14:creationId xmlns:p14="http://schemas.microsoft.com/office/powerpoint/2010/main" val="168714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arn(inVertic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arn(inVertic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wipe(down)">
                                      <p:cBhvr>
                                        <p:cTn id="41" dur="580">
                                          <p:stCondLst>
                                            <p:cond delay="0"/>
                                          </p:stCondLst>
                                        </p:cTn>
                                        <p:tgtEl>
                                          <p:spTgt spid="3">
                                            <p:txEl>
                                              <p:pRg st="6" end="6"/>
                                            </p:txEl>
                                          </p:spTgt>
                                        </p:tgtEl>
                                      </p:cBhvr>
                                    </p:animEffect>
                                    <p:anim calcmode="lin" valueType="num">
                                      <p:cBhvr>
                                        <p:cTn id="4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6" end="6"/>
                                            </p:txEl>
                                          </p:spTgt>
                                        </p:tgtEl>
                                      </p:cBhvr>
                                      <p:to x="100000" y="60000"/>
                                    </p:animScale>
                                    <p:animScale>
                                      <p:cBhvr>
                                        <p:cTn id="48" dur="166" decel="50000">
                                          <p:stCondLst>
                                            <p:cond delay="676"/>
                                          </p:stCondLst>
                                        </p:cTn>
                                        <p:tgtEl>
                                          <p:spTgt spid="3">
                                            <p:txEl>
                                              <p:pRg st="6" end="6"/>
                                            </p:txEl>
                                          </p:spTgt>
                                        </p:tgtEl>
                                      </p:cBhvr>
                                      <p:to x="100000" y="100000"/>
                                    </p:animScale>
                                    <p:animScale>
                                      <p:cBhvr>
                                        <p:cTn id="49" dur="26">
                                          <p:stCondLst>
                                            <p:cond delay="1312"/>
                                          </p:stCondLst>
                                        </p:cTn>
                                        <p:tgtEl>
                                          <p:spTgt spid="3">
                                            <p:txEl>
                                              <p:pRg st="6" end="6"/>
                                            </p:txEl>
                                          </p:spTgt>
                                        </p:tgtEl>
                                      </p:cBhvr>
                                      <p:to x="100000" y="80000"/>
                                    </p:animScale>
                                    <p:animScale>
                                      <p:cBhvr>
                                        <p:cTn id="50" dur="166" decel="50000">
                                          <p:stCondLst>
                                            <p:cond delay="1338"/>
                                          </p:stCondLst>
                                        </p:cTn>
                                        <p:tgtEl>
                                          <p:spTgt spid="3">
                                            <p:txEl>
                                              <p:pRg st="6" end="6"/>
                                            </p:txEl>
                                          </p:spTgt>
                                        </p:tgtEl>
                                      </p:cBhvr>
                                      <p:to x="100000" y="100000"/>
                                    </p:animScale>
                                    <p:animScale>
                                      <p:cBhvr>
                                        <p:cTn id="51" dur="26">
                                          <p:stCondLst>
                                            <p:cond delay="1642"/>
                                          </p:stCondLst>
                                        </p:cTn>
                                        <p:tgtEl>
                                          <p:spTgt spid="3">
                                            <p:txEl>
                                              <p:pRg st="6" end="6"/>
                                            </p:txEl>
                                          </p:spTgt>
                                        </p:tgtEl>
                                      </p:cBhvr>
                                      <p:to x="100000" y="90000"/>
                                    </p:animScale>
                                    <p:animScale>
                                      <p:cBhvr>
                                        <p:cTn id="52" dur="166" decel="50000">
                                          <p:stCondLst>
                                            <p:cond delay="1668"/>
                                          </p:stCondLst>
                                        </p:cTn>
                                        <p:tgtEl>
                                          <p:spTgt spid="3">
                                            <p:txEl>
                                              <p:pRg st="6" end="6"/>
                                            </p:txEl>
                                          </p:spTgt>
                                        </p:tgtEl>
                                      </p:cBhvr>
                                      <p:to x="100000" y="100000"/>
                                    </p:animScale>
                                    <p:animScale>
                                      <p:cBhvr>
                                        <p:cTn id="53" dur="26">
                                          <p:stCondLst>
                                            <p:cond delay="1808"/>
                                          </p:stCondLst>
                                        </p:cTn>
                                        <p:tgtEl>
                                          <p:spTgt spid="3">
                                            <p:txEl>
                                              <p:pRg st="6" end="6"/>
                                            </p:txEl>
                                          </p:spTgt>
                                        </p:tgtEl>
                                      </p:cBhvr>
                                      <p:to x="100000" y="95000"/>
                                    </p:animScale>
                                    <p:animScale>
                                      <p:cBhvr>
                                        <p:cTn id="54"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Rappel: (art. 15 CDU)</a:t>
            </a:r>
            <a:endParaRPr lang="en-US" dirty="0"/>
          </a:p>
        </p:txBody>
      </p:sp>
      <p:sp>
        <p:nvSpPr>
          <p:cNvPr id="3" name="Content Placeholder 2"/>
          <p:cNvSpPr>
            <a:spLocks noGrp="1"/>
          </p:cNvSpPr>
          <p:nvPr>
            <p:ph idx="1"/>
          </p:nvPr>
        </p:nvSpPr>
        <p:spPr>
          <a:xfrm>
            <a:off x="688571" y="1722637"/>
            <a:ext cx="10515600" cy="4351338"/>
          </a:xfrm>
        </p:spPr>
        <p:txBody>
          <a:bodyPr>
            <a:normAutofit/>
          </a:bodyPr>
          <a:lstStyle/>
          <a:p>
            <a:pPr marL="0" indent="0">
              <a:buNone/>
            </a:pPr>
            <a:r>
              <a:rPr lang="fr-CH" dirty="0"/>
              <a:t>Le dépôt d'une déclaration en douane, </a:t>
            </a:r>
            <a:r>
              <a:rPr lang="fr-CH" dirty="0" smtClean="0"/>
              <a:t>par </a:t>
            </a:r>
            <a:r>
              <a:rPr lang="fr-CH" dirty="0"/>
              <a:t>une personne aux autorités </a:t>
            </a:r>
            <a:r>
              <a:rPr lang="fr-CH" dirty="0" smtClean="0"/>
              <a:t>douanières, </a:t>
            </a:r>
            <a:r>
              <a:rPr lang="fr-CH" dirty="0"/>
              <a:t>rend la personne concernée responsable de tout ce qui suit:</a:t>
            </a:r>
          </a:p>
          <a:p>
            <a:r>
              <a:rPr lang="fr-CH" dirty="0"/>
              <a:t>a) de l'exactitude et du caractère complet des renseignements fournis dans la déclaration, la notification ou la demande;</a:t>
            </a:r>
          </a:p>
          <a:p>
            <a:r>
              <a:rPr lang="fr-CH" dirty="0"/>
              <a:t>b) de l'authenticité, de l'exactitude et de la validité des documents accompagnant la déclaration, la notification ou la demande;</a:t>
            </a:r>
          </a:p>
          <a:p>
            <a:r>
              <a:rPr lang="fr-CH" dirty="0"/>
              <a:t>c) le cas échéant, de la conformité à l'ensemble des obligations se rapportant au placement des marchandises en question sous le régime douanier en cause, ou à l'exécution des opérations autorisées.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15</a:t>
            </a:fld>
            <a:endParaRPr lang="lb-LU"/>
          </a:p>
        </p:txBody>
      </p:sp>
    </p:spTree>
    <p:extLst>
      <p:ext uri="{BB962C8B-B14F-4D97-AF65-F5344CB8AC3E}">
        <p14:creationId xmlns:p14="http://schemas.microsoft.com/office/powerpoint/2010/main" val="395611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T</a:t>
            </a:r>
            <a:r>
              <a:rPr lang="en-US" dirty="0" err="1" smtClean="0"/>
              <a:t>itulaire</a:t>
            </a:r>
            <a:r>
              <a:rPr lang="en-US" dirty="0" smtClean="0"/>
              <a:t> </a:t>
            </a:r>
            <a:r>
              <a:rPr lang="en-US" dirty="0"/>
              <a:t>du régime</a:t>
            </a:r>
          </a:p>
        </p:txBody>
      </p:sp>
      <p:sp>
        <p:nvSpPr>
          <p:cNvPr id="3" name="Content Placeholder 2"/>
          <p:cNvSpPr>
            <a:spLocks noGrp="1"/>
          </p:cNvSpPr>
          <p:nvPr>
            <p:ph idx="1"/>
          </p:nvPr>
        </p:nvSpPr>
        <p:spPr>
          <a:xfrm>
            <a:off x="688571" y="1722637"/>
            <a:ext cx="10515600" cy="4351338"/>
          </a:xfrm>
        </p:spPr>
        <p:txBody>
          <a:bodyPr>
            <a:normAutofit/>
          </a:bodyPr>
          <a:lstStyle/>
          <a:p>
            <a:pPr marL="0" indent="0">
              <a:buNone/>
            </a:pPr>
            <a:endParaRPr lang="en-US" dirty="0"/>
          </a:p>
          <a:p>
            <a:r>
              <a:rPr lang="fr-CH" dirty="0" smtClean="0"/>
              <a:t>la </a:t>
            </a:r>
            <a:r>
              <a:rPr lang="fr-CH" dirty="0"/>
              <a:t>personne qui dépose la déclaration en douane ou celle au nom de laquelle ladite déclaration est déposée; ou </a:t>
            </a:r>
          </a:p>
          <a:p>
            <a:r>
              <a:rPr lang="fr-CH" dirty="0" smtClean="0"/>
              <a:t>la </a:t>
            </a:r>
            <a:r>
              <a:rPr lang="fr-CH" dirty="0"/>
              <a:t>personne à qui les droits et les obligations relatifs à un régime douanier ont été transférés;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16</a:t>
            </a:fld>
            <a:endParaRPr lang="lb-LU"/>
          </a:p>
        </p:txBody>
      </p:sp>
    </p:spTree>
    <p:extLst>
      <p:ext uri="{BB962C8B-B14F-4D97-AF65-F5344CB8AC3E}">
        <p14:creationId xmlns:p14="http://schemas.microsoft.com/office/powerpoint/2010/main" val="161718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Bureaux de douane compétents pour la déclaration </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smtClean="0"/>
              <a:t>En </a:t>
            </a:r>
            <a:r>
              <a:rPr lang="fr-CH" dirty="0"/>
              <a:t>général, le bureau de douane compétent pour le placement de marchandises sous un régime ‎douanier est le bureau de douane compétent pour le lieu où les marchandises sont présentées en ‎douane. </a:t>
            </a:r>
            <a:r>
              <a:rPr lang="fr-CH" dirty="0" smtClean="0"/>
              <a:t>‎</a:t>
            </a:r>
          </a:p>
          <a:p>
            <a:pPr marL="0" indent="0">
              <a:buNone/>
            </a:pPr>
            <a:r>
              <a:rPr lang="fr-CH" dirty="0" smtClean="0"/>
              <a:t>Exceptions: </a:t>
            </a:r>
          </a:p>
          <a:p>
            <a:r>
              <a:rPr lang="fr-CH" dirty="0" smtClean="0"/>
              <a:t>Envois </a:t>
            </a:r>
            <a:r>
              <a:rPr lang="fr-CH" dirty="0"/>
              <a:t>&lt;150 € (e-commerce) (non- IOSS</a:t>
            </a:r>
            <a:r>
              <a:rPr lang="fr-CH" dirty="0" smtClean="0"/>
              <a:t>)</a:t>
            </a:r>
          </a:p>
          <a:p>
            <a:r>
              <a:rPr lang="fr-CH" dirty="0" smtClean="0"/>
              <a:t>Dédouanement centralisé: Il </a:t>
            </a:r>
            <a:r>
              <a:rPr lang="fr-CH" dirty="0"/>
              <a:t>permet de déposer les ‎déclarations en douane toujours dans un seul et même bureau de douane compétent pour le lieu où ‎l’opérateur est établi. Le dédouanement centralisé doit être autorisé par les autorités douanières. </a:t>
            </a:r>
            <a:endParaRPr lang="fr-CH" dirty="0" smtClean="0"/>
          </a:p>
          <a:p>
            <a:r>
              <a:rPr lang="fr-CH" dirty="0" smtClean="0"/>
              <a:t>Dans </a:t>
            </a:r>
            <a:r>
              <a:rPr lang="fr-CH" dirty="0"/>
              <a:t>le cadre d’une autorisation d’un régime particulier (p.ex. Perfectionnement actif), cette ‎autorisation peut définir, dans quel(s) bureau(x) les marchandises doivent être placées sous ce ‎régime, c.-à-d. auprès de quel bureau la déclaration doit être </a:t>
            </a:r>
            <a:r>
              <a:rPr lang="fr-CH" dirty="0" smtClean="0"/>
              <a:t>déposée.</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17</a:t>
            </a:fld>
            <a:endParaRPr lang="lb-LU"/>
          </a:p>
        </p:txBody>
      </p:sp>
    </p:spTree>
    <p:extLst>
      <p:ext uri="{BB962C8B-B14F-4D97-AF65-F5344CB8AC3E}">
        <p14:creationId xmlns:p14="http://schemas.microsoft.com/office/powerpoint/2010/main" val="40683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Bureaux de douane compétents pour la déclaration </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fr-CH" dirty="0" smtClean="0"/>
              <a:t>En </a:t>
            </a:r>
            <a:r>
              <a:rPr lang="fr-CH" dirty="0"/>
              <a:t>ce qui concerne le régime de l’exportation, les bureaux de douane suivants sont compétents pour ‎le placement des marchandises sous le régime de l’exportation:‎</a:t>
            </a:r>
          </a:p>
          <a:p>
            <a:r>
              <a:rPr lang="fr-CH" dirty="0" smtClean="0"/>
              <a:t>le </a:t>
            </a:r>
            <a:r>
              <a:rPr lang="fr-CH" dirty="0"/>
              <a:t>bureau de douane compétent pour le lieu d’établissement de l’exportateur;‎</a:t>
            </a:r>
          </a:p>
          <a:p>
            <a:r>
              <a:rPr lang="fr-CH" dirty="0" smtClean="0"/>
              <a:t>le </a:t>
            </a:r>
            <a:r>
              <a:rPr lang="fr-CH" dirty="0"/>
              <a:t>bureau de douane compétent pour le lieu de conditionnement ou de chargement des ‎marchandises en vue de leur exportation; ‎</a:t>
            </a:r>
          </a:p>
          <a:p>
            <a:r>
              <a:rPr lang="fr-CH" dirty="0" smtClean="0"/>
              <a:t>tout </a:t>
            </a:r>
            <a:r>
              <a:rPr lang="fr-CH" dirty="0"/>
              <a:t>autre bureau de douane de l’État membre concerné qui, pour des raisons d’organisation ‎administrative, est compétent pour l’opération considérée.‎</a:t>
            </a:r>
          </a:p>
          <a:p>
            <a:pPr marL="0" indent="0">
              <a:buNone/>
            </a:pPr>
            <a:r>
              <a:rPr lang="fr-CH" dirty="0" smtClean="0"/>
              <a:t>PS: Lorsque </a:t>
            </a:r>
            <a:r>
              <a:rPr lang="fr-CH" dirty="0"/>
              <a:t>les marchandises ont une valeur par envoi et par déclarant ne dépassant pas 3 000 EUR et ‎qu’elles ne font pas l’objet de mesures de prohibition ou de restriction, le bureau de douane ‎compétent pour le lieu de sortie des marchandises du territoire douanier de l’Union est également ‎compétent pour le placement des marchandises sous le régime de l’exportation. </a:t>
            </a:r>
            <a:r>
              <a:rPr lang="fr-CH" dirty="0" smtClean="0"/>
              <a:t>‎ </a:t>
            </a:r>
            <a:r>
              <a:rPr lang="fr-CH" dirty="0"/>
              <a:t>‎</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18</a:t>
            </a:fld>
            <a:endParaRPr lang="lb-LU"/>
          </a:p>
        </p:txBody>
      </p:sp>
    </p:spTree>
    <p:extLst>
      <p:ext uri="{BB962C8B-B14F-4D97-AF65-F5344CB8AC3E}">
        <p14:creationId xmlns:p14="http://schemas.microsoft.com/office/powerpoint/2010/main" val="217547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Bureaux de douane compétents pour la déclaration </a:t>
            </a:r>
            <a:endParaRPr lang="en-US" dirty="0"/>
          </a:p>
        </p:txBody>
      </p:sp>
      <p:sp>
        <p:nvSpPr>
          <p:cNvPr id="3" name="Content Placeholder 2"/>
          <p:cNvSpPr>
            <a:spLocks noGrp="1"/>
          </p:cNvSpPr>
          <p:nvPr>
            <p:ph idx="1"/>
          </p:nvPr>
        </p:nvSpPr>
        <p:spPr/>
        <p:txBody>
          <a:bodyPr>
            <a:normAutofit/>
          </a:bodyPr>
          <a:lstStyle/>
          <a:p>
            <a:endParaRPr lang="fr-CH" dirty="0" smtClean="0"/>
          </a:p>
          <a:p>
            <a:r>
              <a:rPr lang="fr-CH" dirty="0" smtClean="0"/>
              <a:t>Les </a:t>
            </a:r>
            <a:r>
              <a:rPr lang="fr-CH" dirty="0"/>
              <a:t>déclarations en douane verbales d’exportation et de réexportation sont effectuées auprès du ‎bureau de douane compétent pour le lieu de sortie des marchandises. </a:t>
            </a:r>
            <a:r>
              <a:rPr lang="fr-CH" dirty="0" smtClean="0"/>
              <a:t>‎</a:t>
            </a:r>
          </a:p>
          <a:p>
            <a:endParaRPr lang="fr-CH" dirty="0"/>
          </a:p>
          <a:p>
            <a:pPr marL="0" indent="0">
              <a:buNone/>
            </a:pPr>
            <a:r>
              <a:rPr lang="fr-CH" dirty="0" smtClean="0"/>
              <a:t>(p.ex</a:t>
            </a:r>
            <a:r>
              <a:rPr lang="fr-CH" dirty="0"/>
              <a:t>. les biens dépourvus de tout caractère </a:t>
            </a:r>
            <a:r>
              <a:rPr lang="fr-CH" dirty="0" smtClean="0"/>
              <a:t>commercial)</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19</a:t>
            </a:fld>
            <a:endParaRPr lang="lb-LU"/>
          </a:p>
        </p:txBody>
      </p:sp>
    </p:spTree>
    <p:extLst>
      <p:ext uri="{BB962C8B-B14F-4D97-AF65-F5344CB8AC3E}">
        <p14:creationId xmlns:p14="http://schemas.microsoft.com/office/powerpoint/2010/main" val="32871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Examen préalable (inventaire)</a:t>
            </a:r>
            <a:endParaRPr lang="en-US" dirty="0"/>
          </a:p>
        </p:txBody>
      </p:sp>
      <p:sp>
        <p:nvSpPr>
          <p:cNvPr id="3" name="Content Placeholder 2"/>
          <p:cNvSpPr>
            <a:spLocks noGrp="1"/>
          </p:cNvSpPr>
          <p:nvPr>
            <p:ph idx="1"/>
          </p:nvPr>
        </p:nvSpPr>
        <p:spPr/>
        <p:txBody>
          <a:bodyPr/>
          <a:lstStyle/>
          <a:p>
            <a:endParaRPr lang="fr-FR" dirty="0" smtClean="0"/>
          </a:p>
          <a:p>
            <a:pPr marL="0" indent="0">
              <a:buNone/>
            </a:pPr>
            <a:r>
              <a:rPr lang="fr-FR" dirty="0" smtClean="0"/>
              <a:t>Avant d’établir la déclaration:</a:t>
            </a:r>
          </a:p>
          <a:p>
            <a:pPr marL="0" indent="0">
              <a:buNone/>
            </a:pPr>
            <a:endParaRPr lang="fr-FR" dirty="0" smtClean="0"/>
          </a:p>
          <a:p>
            <a:pPr lvl="2">
              <a:buFont typeface="Wingdings" panose="05000000000000000000" pitchFamily="2" charset="2"/>
              <a:buChar char="à"/>
            </a:pPr>
            <a:r>
              <a:rPr lang="fr-FR" sz="2800" dirty="0" smtClean="0">
                <a:sym typeface="Wingdings" panose="05000000000000000000" pitchFamily="2" charset="2"/>
              </a:rPr>
              <a:t>Possibilité d’examen des marchandises par le détenteur des marchandises,</a:t>
            </a:r>
            <a:r>
              <a:rPr lang="fr-CH" sz="2800" dirty="0" smtClean="0">
                <a:sym typeface="Wingdings" panose="05000000000000000000" pitchFamily="2" charset="2"/>
              </a:rPr>
              <a:t>avec </a:t>
            </a:r>
            <a:r>
              <a:rPr lang="fr-CH" sz="2800" dirty="0">
                <a:sym typeface="Wingdings" panose="05000000000000000000" pitchFamily="2" charset="2"/>
              </a:rPr>
              <a:t>l'autorisation des autorités </a:t>
            </a:r>
            <a:r>
              <a:rPr lang="fr-CH" sz="2800" dirty="0" smtClean="0">
                <a:sym typeface="Wingdings" panose="05000000000000000000" pitchFamily="2" charset="2"/>
              </a:rPr>
              <a:t>douanières, </a:t>
            </a:r>
          </a:p>
          <a:p>
            <a:pPr lvl="2">
              <a:buFont typeface="Wingdings" panose="05000000000000000000" pitchFamily="2" charset="2"/>
              <a:buChar char="à"/>
            </a:pPr>
            <a:r>
              <a:rPr lang="fr-CH" sz="2800" dirty="0" smtClean="0">
                <a:sym typeface="Wingdings" panose="05000000000000000000" pitchFamily="2" charset="2"/>
              </a:rPr>
              <a:t>notamment </a:t>
            </a:r>
            <a:r>
              <a:rPr lang="fr-CH" sz="2800" dirty="0">
                <a:sym typeface="Wingdings" panose="05000000000000000000" pitchFamily="2" charset="2"/>
              </a:rPr>
              <a:t>afin d'en déterminer le classement tarifaire, la valeur en douane ou le statut douanier.</a:t>
            </a:r>
            <a:endParaRPr lang="en-US" sz="2800" dirty="0"/>
          </a:p>
        </p:txBody>
      </p:sp>
      <p:sp>
        <p:nvSpPr>
          <p:cNvPr id="4" name="Slide Number Placeholder 3"/>
          <p:cNvSpPr>
            <a:spLocks noGrp="1"/>
          </p:cNvSpPr>
          <p:nvPr>
            <p:ph type="sldNum" sz="quarter" idx="12"/>
          </p:nvPr>
        </p:nvSpPr>
        <p:spPr/>
        <p:txBody>
          <a:bodyPr/>
          <a:lstStyle/>
          <a:p>
            <a:fld id="{C58F520E-0D3C-4C73-96DF-B271C0F692B0}" type="slidenum">
              <a:rPr lang="lb-LU" smtClean="0"/>
              <a:t>20</a:t>
            </a:fld>
            <a:endParaRPr lang="lb-LU"/>
          </a:p>
        </p:txBody>
      </p:sp>
    </p:spTree>
    <p:extLst>
      <p:ext uri="{BB962C8B-B14F-4D97-AF65-F5344CB8AC3E}">
        <p14:creationId xmlns:p14="http://schemas.microsoft.com/office/powerpoint/2010/main" val="258032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 moment du dépôt de la déclaration en douane </a:t>
            </a:r>
            <a:r>
              <a:rPr lang="fr-CH" dirty="0" smtClean="0"/>
              <a:t>‎:</a:t>
            </a:r>
            <a:endParaRPr lang="en-US" dirty="0"/>
          </a:p>
        </p:txBody>
      </p:sp>
      <p:sp>
        <p:nvSpPr>
          <p:cNvPr id="3" name="Content Placeholder 2"/>
          <p:cNvSpPr>
            <a:spLocks noGrp="1"/>
          </p:cNvSpPr>
          <p:nvPr>
            <p:ph idx="1"/>
          </p:nvPr>
        </p:nvSpPr>
        <p:spPr/>
        <p:txBody>
          <a:bodyPr>
            <a:normAutofit/>
          </a:bodyPr>
          <a:lstStyle/>
          <a:p>
            <a:pPr marL="0" indent="0">
              <a:buNone/>
            </a:pPr>
            <a:r>
              <a:rPr lang="fr-CH" dirty="0"/>
              <a:t>La déclaration en douane peut être déposée :‎</a:t>
            </a:r>
          </a:p>
          <a:p>
            <a:r>
              <a:rPr lang="fr-CH" dirty="0" smtClean="0"/>
              <a:t>au </a:t>
            </a:r>
            <a:r>
              <a:rPr lang="fr-CH" dirty="0"/>
              <a:t>moment de la présentation en douane des marchandises au bureau de douane ‎compétent ;</a:t>
            </a:r>
            <a:r>
              <a:rPr lang="fr-CH" dirty="0" smtClean="0"/>
              <a:t>‎</a:t>
            </a:r>
            <a:r>
              <a:rPr lang="fr-FR" dirty="0"/>
              <a:t> </a:t>
            </a:r>
            <a:endParaRPr lang="fr-FR" dirty="0" smtClean="0"/>
          </a:p>
          <a:p>
            <a:r>
              <a:rPr lang="fr-FR" dirty="0" smtClean="0"/>
              <a:t>durant </a:t>
            </a:r>
            <a:r>
              <a:rPr lang="fr-FR" dirty="0"/>
              <a:t>le séjour en dépôt </a:t>
            </a:r>
            <a:r>
              <a:rPr lang="fr-FR" dirty="0" smtClean="0"/>
              <a:t>temporaire;</a:t>
            </a:r>
            <a:endParaRPr lang="fr-CH" dirty="0"/>
          </a:p>
          <a:p>
            <a:r>
              <a:rPr lang="fr-CH" dirty="0" smtClean="0"/>
              <a:t>ou </a:t>
            </a:r>
            <a:r>
              <a:rPr lang="fr-CH" dirty="0"/>
              <a:t>jusqu’à 30 jours avant la présentation en douane des marchandises au bureau de douane ‎compétent (déclaration en douane anticipée</a:t>
            </a:r>
            <a:r>
              <a:rPr lang="fr-CH" dirty="0" smtClean="0"/>
              <a:t>)‎</a:t>
            </a:r>
            <a:endParaRPr lang="fr-CH" dirty="0"/>
          </a:p>
          <a:p>
            <a:pPr marL="0" indent="0">
              <a:buNone/>
            </a:pPr>
            <a:r>
              <a:rPr lang="fr-FR" dirty="0" smtClean="0"/>
              <a:t>   - Avantage</a:t>
            </a:r>
            <a:r>
              <a:rPr lang="fr-FR" dirty="0"/>
              <a:t>: pas de déclaration dépôt temporaire </a:t>
            </a:r>
            <a:r>
              <a:rPr lang="fr-FR" dirty="0" smtClean="0"/>
              <a:t>nécessaire</a:t>
            </a:r>
            <a:endParaRPr lang="fr-FR" dirty="0" smtClean="0"/>
          </a:p>
          <a:p>
            <a:pPr marL="0" indent="0">
              <a:buNone/>
            </a:pPr>
            <a:r>
              <a:rPr lang="fr-FR" dirty="0"/>
              <a:t> </a:t>
            </a:r>
            <a:r>
              <a:rPr lang="fr-FR" dirty="0" smtClean="0"/>
              <a:t>  </a:t>
            </a:r>
            <a:r>
              <a:rPr lang="fr-FR" dirty="0" smtClean="0"/>
              <a:t>- NB</a:t>
            </a:r>
            <a:r>
              <a:rPr lang="fr-FR" dirty="0" smtClean="0"/>
              <a:t>: </a:t>
            </a:r>
            <a:r>
              <a:rPr lang="fr-FR" dirty="0" smtClean="0"/>
              <a:t>réception </a:t>
            </a:r>
            <a:r>
              <a:rPr lang="fr-FR" dirty="0" smtClean="0"/>
              <a:t>de la déclaration ≠ acceptation de la </a:t>
            </a:r>
            <a:r>
              <a:rPr lang="fr-FR" dirty="0" smtClean="0"/>
              <a:t>déclaration</a:t>
            </a:r>
          </a:p>
        </p:txBody>
      </p:sp>
      <p:sp>
        <p:nvSpPr>
          <p:cNvPr id="4" name="Slide Number Placeholder 3"/>
          <p:cNvSpPr>
            <a:spLocks noGrp="1"/>
          </p:cNvSpPr>
          <p:nvPr>
            <p:ph type="sldNum" sz="quarter" idx="12"/>
          </p:nvPr>
        </p:nvSpPr>
        <p:spPr/>
        <p:txBody>
          <a:bodyPr/>
          <a:lstStyle/>
          <a:p>
            <a:fld id="{C58F520E-0D3C-4C73-96DF-B271C0F692B0}" type="slidenum">
              <a:rPr lang="lb-LU" smtClean="0"/>
              <a:t>21</a:t>
            </a:fld>
            <a:endParaRPr lang="lb-LU"/>
          </a:p>
        </p:txBody>
      </p:sp>
    </p:spTree>
    <p:extLst>
      <p:ext uri="{BB962C8B-B14F-4D97-AF65-F5344CB8AC3E}">
        <p14:creationId xmlns:p14="http://schemas.microsoft.com/office/powerpoint/2010/main" val="115124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Acceptation de la déclaration</a:t>
            </a: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marL="0" indent="0">
              <a:buNone/>
            </a:pPr>
            <a:r>
              <a:rPr lang="fr-CH" dirty="0" smtClean="0"/>
              <a:t>Les </a:t>
            </a:r>
            <a:r>
              <a:rPr lang="fr-CH" dirty="0"/>
              <a:t>déclarations en douane qui répondent aux conditions fixées sont immédiatement acceptées par ‎les autorités douanières, pour autant que les marchandises auxquelles elles se rapportent </a:t>
            </a:r>
            <a:r>
              <a:rPr lang="fr-CH" dirty="0" smtClean="0"/>
              <a:t>aient été </a:t>
            </a:r>
            <a:r>
              <a:rPr lang="fr-CH" dirty="0"/>
              <a:t>‎présentées en douane.‎</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22</a:t>
            </a:fld>
            <a:endParaRPr lang="lb-LU"/>
          </a:p>
        </p:txBody>
      </p:sp>
    </p:spTree>
    <p:extLst>
      <p:ext uri="{BB962C8B-B14F-4D97-AF65-F5344CB8AC3E}">
        <p14:creationId xmlns:p14="http://schemas.microsoft.com/office/powerpoint/2010/main" val="379388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Acceptation de la déclaration</a:t>
            </a: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marL="0" indent="0">
              <a:buNone/>
            </a:pPr>
            <a:r>
              <a:rPr lang="fr-CH" dirty="0" smtClean="0"/>
              <a:t>En général, la </a:t>
            </a:r>
            <a:r>
              <a:rPr lang="fr-CH" dirty="0"/>
              <a:t>date d'acceptation de la déclaration en douane par les autorités douanières </a:t>
            </a:r>
            <a:r>
              <a:rPr lang="fr-CH" dirty="0" smtClean="0"/>
              <a:t>est </a:t>
            </a:r>
            <a:r>
              <a:rPr lang="fr-CH" dirty="0"/>
              <a:t>la date à prendre en considération pour l'application des dispositions régissant le régime ‎douanier pour lequel les marchandises sont déclarées. </a:t>
            </a:r>
            <a:r>
              <a:rPr lang="fr-CH" dirty="0" smtClean="0"/>
              <a:t>‎</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23</a:t>
            </a:fld>
            <a:endParaRPr lang="lb-LU"/>
          </a:p>
        </p:txBody>
      </p:sp>
    </p:spTree>
    <p:extLst>
      <p:ext uri="{BB962C8B-B14F-4D97-AF65-F5344CB8AC3E}">
        <p14:creationId xmlns:p14="http://schemas.microsoft.com/office/powerpoint/2010/main" val="35372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Naissance d’une dette douanière</a:t>
            </a: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marL="0" indent="0">
              <a:buNone/>
            </a:pPr>
            <a:r>
              <a:rPr lang="fr-CH" dirty="0"/>
              <a:t>Une dette douanière </a:t>
            </a:r>
            <a:r>
              <a:rPr lang="fr-CH" dirty="0" smtClean="0"/>
              <a:t>à l'importation naît </a:t>
            </a:r>
            <a:r>
              <a:rPr lang="fr-CH" dirty="0"/>
              <a:t>par suite du placement de marchandises non Union soumises aux droits à l'importation sous l'un des régimes douaniers </a:t>
            </a:r>
            <a:r>
              <a:rPr lang="fr-CH" dirty="0" smtClean="0"/>
              <a:t>suivants:</a:t>
            </a:r>
          </a:p>
          <a:p>
            <a:pPr marL="0" indent="0">
              <a:buNone/>
            </a:pPr>
            <a:endParaRPr lang="fr-CH" dirty="0"/>
          </a:p>
          <a:p>
            <a:pPr marL="0" indent="0">
              <a:buNone/>
            </a:pPr>
            <a:r>
              <a:rPr lang="fr-CH" dirty="0" smtClean="0"/>
              <a:t>Mise en libre pratique</a:t>
            </a:r>
          </a:p>
          <a:p>
            <a:pPr marL="0" indent="0">
              <a:buNone/>
            </a:pPr>
            <a:r>
              <a:rPr lang="fr-CH" dirty="0" smtClean="0"/>
              <a:t>Admission </a:t>
            </a:r>
            <a:r>
              <a:rPr lang="fr-CH" dirty="0"/>
              <a:t>temporaire</a:t>
            </a:r>
            <a:r>
              <a:rPr lang="fr-CH" dirty="0" smtClean="0"/>
              <a:t>‎ en </a:t>
            </a:r>
            <a:r>
              <a:rPr lang="fr-CH" dirty="0"/>
              <a:t>exonération partielle des droits à </a:t>
            </a:r>
            <a:r>
              <a:rPr lang="fr-CH" dirty="0" smtClean="0"/>
              <a:t>l'importation</a:t>
            </a:r>
          </a:p>
          <a:p>
            <a:pPr marL="0" indent="0">
              <a:buNone/>
            </a:pPr>
            <a:r>
              <a:rPr lang="fr-CH" dirty="0" smtClean="0"/>
              <a:t>(Exportation de marchandises </a:t>
            </a:r>
            <a:r>
              <a:rPr lang="fr-CH" dirty="0"/>
              <a:t>passibles de droits </a:t>
            </a:r>
            <a:r>
              <a:rPr lang="fr-CH" dirty="0" smtClean="0"/>
              <a:t>à l’exportation)</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24</a:t>
            </a:fld>
            <a:endParaRPr lang="lb-LU"/>
          </a:p>
        </p:txBody>
      </p:sp>
    </p:spTree>
    <p:extLst>
      <p:ext uri="{BB962C8B-B14F-4D97-AF65-F5344CB8AC3E}">
        <p14:creationId xmlns:p14="http://schemas.microsoft.com/office/powerpoint/2010/main" val="272468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Acceptation de la déclaration</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a:t>
            </a:r>
            <a:endParaRPr lang="fr-CH" dirty="0"/>
          </a:p>
          <a:p>
            <a:pPr marL="0" indent="0">
              <a:buNone/>
            </a:pPr>
            <a:r>
              <a:rPr lang="fr-CH" dirty="0" smtClean="0"/>
              <a:t>Les </a:t>
            </a:r>
            <a:r>
              <a:rPr lang="fr-CH" dirty="0"/>
              <a:t>autorités douanières notifient au déclarant l’acceptation de ‎‎la déclaration en douane et lui communiquent un MRN (Numéro de référence maître) pour cette ‎déclaration ainsi que la date ‎d’acceptation de celle-ci.‎</a:t>
            </a:r>
          </a:p>
          <a:p>
            <a:pPr marL="0" indent="0">
              <a:buNone/>
            </a:pPr>
            <a:endParaRPr lang="fr-CH" dirty="0" smtClean="0"/>
          </a:p>
          <a:p>
            <a:pPr marL="0" indent="0">
              <a:buNone/>
            </a:pPr>
            <a:r>
              <a:rPr lang="fr-CH" dirty="0" smtClean="0"/>
              <a:t>(Exception: cas </a:t>
            </a:r>
            <a:r>
              <a:rPr lang="fr-CH" dirty="0"/>
              <a:t>dans lesquels la déclaration en douane est déposée verbalement ou par un acte réputé ‎‎constituer une déclaration en </a:t>
            </a:r>
            <a:r>
              <a:rPr lang="fr-CH" dirty="0" smtClean="0"/>
              <a:t>douane) </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25</a:t>
            </a:fld>
            <a:endParaRPr lang="lb-LU"/>
          </a:p>
        </p:txBody>
      </p:sp>
    </p:spTree>
    <p:extLst>
      <p:ext uri="{BB962C8B-B14F-4D97-AF65-F5344CB8AC3E}">
        <p14:creationId xmlns:p14="http://schemas.microsoft.com/office/powerpoint/2010/main" val="405529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smtClean="0"/>
              <a:t>Contrôle douanier de la déclaration :</a:t>
            </a:r>
            <a:endParaRPr lang="en-US" dirty="0"/>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Analyse de risque:</a:t>
            </a:r>
            <a:endParaRPr lang="fr-CH" dirty="0"/>
          </a:p>
          <a:p>
            <a:pPr marL="0" indent="0">
              <a:buNone/>
            </a:pPr>
            <a:endParaRPr lang="fr-CH" dirty="0" smtClean="0"/>
          </a:p>
          <a:p>
            <a:pPr marL="0" indent="0">
              <a:buNone/>
            </a:pPr>
            <a:r>
              <a:rPr lang="fr-CH" dirty="0" smtClean="0"/>
              <a:t>Vérification </a:t>
            </a:r>
            <a:r>
              <a:rPr lang="fr-CH" dirty="0"/>
              <a:t>de l'exactitude des énonciations contenues dans une déclaration en </a:t>
            </a:r>
            <a:r>
              <a:rPr lang="fr-CH" dirty="0" smtClean="0"/>
              <a:t>douane.</a:t>
            </a:r>
          </a:p>
          <a:p>
            <a:pPr marL="0" indent="0">
              <a:buNone/>
            </a:pPr>
            <a:r>
              <a:rPr lang="fr-CH" dirty="0" smtClean="0">
                <a:sym typeface="Wingdings" panose="05000000000000000000" pitchFamily="2" charset="2"/>
              </a:rPr>
              <a:t></a:t>
            </a:r>
            <a:r>
              <a:rPr lang="fr-CH" dirty="0">
                <a:sym typeface="Wingdings" panose="05000000000000000000" pitchFamily="2" charset="2"/>
              </a:rPr>
              <a:t>É</a:t>
            </a:r>
            <a:r>
              <a:rPr lang="fr-CH" dirty="0" smtClean="0"/>
              <a:t>ventuellement vérification physique / prise d’échantillons </a:t>
            </a:r>
          </a:p>
          <a:p>
            <a:pPr marL="0" indent="0">
              <a:buNone/>
            </a:pPr>
            <a:r>
              <a:rPr lang="fr-CH" dirty="0" smtClean="0"/>
              <a:t>(Contrôle a posteriori: 3 ans)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26</a:t>
            </a:fld>
            <a:endParaRPr lang="lb-LU"/>
          </a:p>
        </p:txBody>
      </p:sp>
    </p:spTree>
    <p:extLst>
      <p:ext uri="{BB962C8B-B14F-4D97-AF65-F5344CB8AC3E}">
        <p14:creationId xmlns:p14="http://schemas.microsoft.com/office/powerpoint/2010/main" val="317196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Rectification </a:t>
            </a:r>
            <a:r>
              <a:rPr lang="fr-CH" dirty="0"/>
              <a:t>d'une déclaration en douane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marL="0" indent="0">
              <a:buNone/>
            </a:pPr>
            <a:r>
              <a:rPr lang="fr-CH" dirty="0" smtClean="0"/>
              <a:t>Le </a:t>
            </a:r>
            <a:r>
              <a:rPr lang="fr-CH" dirty="0"/>
              <a:t>déclarant est autorisé, sur demande, à rectifier une ou plusieurs des énonciations de la déclaration ‎en douane après son acceptation par les autorités douanières. </a:t>
            </a:r>
            <a:endParaRPr lang="fr-CH" dirty="0" smtClean="0"/>
          </a:p>
          <a:p>
            <a:pPr marL="0" indent="0">
              <a:buNone/>
            </a:pPr>
            <a:endParaRPr lang="fr-CH" dirty="0" smtClean="0"/>
          </a:p>
          <a:p>
            <a:pPr marL="0" indent="0">
              <a:buNone/>
            </a:pPr>
            <a:r>
              <a:rPr lang="fr-CH" dirty="0" smtClean="0"/>
              <a:t>Attention: la </a:t>
            </a:r>
            <a:r>
              <a:rPr lang="fr-CH" dirty="0"/>
              <a:t>rectification n'a pas pour ‎effet de faire porter la déclaration en douane sur des marchandises autres que celles qui en ont fait ‎initialement l'objet. </a:t>
            </a:r>
            <a:r>
              <a:rPr lang="fr-CH" dirty="0" smtClean="0"/>
              <a:t>‎</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27</a:t>
            </a:fld>
            <a:endParaRPr lang="lb-LU"/>
          </a:p>
        </p:txBody>
      </p:sp>
    </p:spTree>
    <p:extLst>
      <p:ext uri="{BB962C8B-B14F-4D97-AF65-F5344CB8AC3E}">
        <p14:creationId xmlns:p14="http://schemas.microsoft.com/office/powerpoint/2010/main" val="224564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Rectification </a:t>
            </a:r>
            <a:r>
              <a:rPr lang="fr-CH" dirty="0"/>
              <a:t>d'une déclaration en douane :‎</a:t>
            </a:r>
            <a:br>
              <a:rPr lang="fr-CH" dirty="0"/>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smtClean="0"/>
              <a:t>Une </a:t>
            </a:r>
            <a:r>
              <a:rPr lang="fr-CH" dirty="0"/>
              <a:t>telle rectification ne peut pas être autorisée si elle est demandée après que les autorités ‎douanières:‎</a:t>
            </a:r>
          </a:p>
          <a:p>
            <a:r>
              <a:rPr lang="fr-CH" dirty="0" smtClean="0"/>
              <a:t>ont </a:t>
            </a:r>
            <a:r>
              <a:rPr lang="fr-CH" dirty="0"/>
              <a:t>informé le déclarant de leur intention de procéder à un examen des marchandises;‎</a:t>
            </a:r>
          </a:p>
          <a:p>
            <a:r>
              <a:rPr lang="fr-CH" dirty="0" smtClean="0"/>
              <a:t>ont </a:t>
            </a:r>
            <a:r>
              <a:rPr lang="fr-CH" dirty="0"/>
              <a:t>constaté l'inexactitude des énonciations de la déclaration en douane;‎</a:t>
            </a:r>
          </a:p>
          <a:p>
            <a:r>
              <a:rPr lang="fr-CH" dirty="0" smtClean="0"/>
              <a:t>ont </a:t>
            </a:r>
            <a:r>
              <a:rPr lang="fr-CH" dirty="0"/>
              <a:t>octroyé la mainlevée aux marchandises.‎</a:t>
            </a:r>
          </a:p>
          <a:p>
            <a:r>
              <a:rPr lang="fr-CH" dirty="0"/>
              <a:t>À la demande du déclarant, dans un délai de trois ans à compter de la date d'acceptation de la ‎déclaration en douane, la rectification de la déclaration en douane peut être autorisée après la ‎mainlevée des marchandises pour permettre au déclarant de satisfaire à ses obligations relatives au ‎placement des marchandises sous le régime douanier concerné.‎</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28</a:t>
            </a:fld>
            <a:endParaRPr lang="lb-LU"/>
          </a:p>
        </p:txBody>
      </p:sp>
    </p:spTree>
    <p:extLst>
      <p:ext uri="{BB962C8B-B14F-4D97-AF65-F5344CB8AC3E}">
        <p14:creationId xmlns:p14="http://schemas.microsoft.com/office/powerpoint/2010/main" val="425002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Invalidation d'une </a:t>
            </a:r>
            <a:r>
              <a:rPr lang="fr-CH" dirty="0"/>
              <a:t>déclaration en douane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À </a:t>
            </a:r>
            <a:r>
              <a:rPr lang="fr-CH" dirty="0"/>
              <a:t>la demande du déclarant, les autorités douanières invalident une déclaration en douane déjà ‎acceptée dans l'un des cas suivants:‎</a:t>
            </a:r>
          </a:p>
          <a:p>
            <a:pPr marL="0" indent="0">
              <a:buNone/>
            </a:pPr>
            <a:r>
              <a:rPr lang="fr-CH" dirty="0"/>
              <a:t>a) lorsqu'elles sont assurées que les marchandises sont placées immédiatement sous un autre régime ‎douanier;‎</a:t>
            </a:r>
          </a:p>
          <a:p>
            <a:pPr marL="0" indent="0">
              <a:buNone/>
            </a:pPr>
            <a:r>
              <a:rPr lang="fr-CH" dirty="0"/>
              <a:t>b) lorsqu'elles sont assurées que, par suite de circonstances particulières, le placement des ‎marchandises sous le régime douanier pour lequel elles ont été déclarées ne se justifie plus.‎</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29</a:t>
            </a:fld>
            <a:endParaRPr lang="lb-LU"/>
          </a:p>
        </p:txBody>
      </p:sp>
    </p:spTree>
    <p:extLst>
      <p:ext uri="{BB962C8B-B14F-4D97-AF65-F5344CB8AC3E}">
        <p14:creationId xmlns:p14="http://schemas.microsoft.com/office/powerpoint/2010/main" val="401968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Invalidation d'une </a:t>
            </a:r>
            <a:r>
              <a:rPr lang="fr-CH" dirty="0"/>
              <a:t>déclaration en douane :‎</a:t>
            </a:r>
            <a:br>
              <a:rPr lang="fr-CH" dirty="0"/>
            </a:br>
            <a:endParaRPr lang="en-US" dirty="0"/>
          </a:p>
        </p:txBody>
      </p:sp>
      <p:sp>
        <p:nvSpPr>
          <p:cNvPr id="3" name="Content Placeholder 2"/>
          <p:cNvSpPr>
            <a:spLocks noGrp="1"/>
          </p:cNvSpPr>
          <p:nvPr>
            <p:ph idx="1"/>
          </p:nvPr>
        </p:nvSpPr>
        <p:spPr/>
        <p:txBody>
          <a:bodyPr>
            <a:normAutofit fontScale="92500" lnSpcReduction="10000"/>
          </a:bodyPr>
          <a:lstStyle/>
          <a:p>
            <a:r>
              <a:rPr lang="fr-CH" dirty="0" smtClean="0"/>
              <a:t>Toutefois</a:t>
            </a:r>
            <a:r>
              <a:rPr lang="fr-CH" dirty="0"/>
              <a:t>, lorsque les autorités douanières ont informé le déclarant de leur intention de procéder à un ‎examen des marchandises, la demande d'invalidation de la déclaration en douane ne peut être ‎acceptée avant que cet examen n'ait eu lieu.‎</a:t>
            </a:r>
          </a:p>
          <a:p>
            <a:r>
              <a:rPr lang="fr-CH" dirty="0"/>
              <a:t>En général, la déclaration en douane ne peut être invalidée après octroi de la mainlevée des ‎marchandises. </a:t>
            </a:r>
            <a:endParaRPr lang="fr-CH" dirty="0" smtClean="0"/>
          </a:p>
          <a:p>
            <a:pPr marL="0" indent="0">
              <a:buNone/>
            </a:pPr>
            <a:r>
              <a:rPr lang="fr-CH" dirty="0" smtClean="0"/>
              <a:t>(</a:t>
            </a:r>
            <a:r>
              <a:rPr lang="fr-CH" dirty="0"/>
              <a:t>Exceptions p.ex.: lorsque les marchandises ont été déclarées par erreur dans plus ‎d’une déclaration en douane ou </a:t>
            </a:r>
            <a:r>
              <a:rPr lang="fr-CH" dirty="0" smtClean="0"/>
              <a:t>‎lorsque </a:t>
            </a:r>
            <a:r>
              <a:rPr lang="fr-CH" dirty="0"/>
              <a:t>les marchandises bénéficiant de la mainlevée pour ‎l’exportation, la réexportation ou ‎le perfectionnement passif n’ont pas quitté le territoire douanier de ‎l’Union.)</a:t>
            </a:r>
            <a:r>
              <a:rPr lang="fr-CH" dirty="0" smtClean="0"/>
              <a:t>‎</a:t>
            </a:r>
          </a:p>
          <a:p>
            <a:r>
              <a:rPr lang="fr-CH" dirty="0" smtClean="0"/>
              <a:t>Lors d’une saisie par les autorités douanières: La déclaration est invalidée automatiquement. </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30</a:t>
            </a:fld>
            <a:endParaRPr lang="lb-LU"/>
          </a:p>
        </p:txBody>
      </p:sp>
    </p:spTree>
    <p:extLst>
      <p:ext uri="{BB962C8B-B14F-4D97-AF65-F5344CB8AC3E}">
        <p14:creationId xmlns:p14="http://schemas.microsoft.com/office/powerpoint/2010/main" val="335168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838200" y="3037430"/>
            <a:ext cx="10515600" cy="1927728"/>
          </a:xfrm>
          <a:prstGeom prst="rect">
            <a:avLst/>
          </a:prstGeom>
        </p:spPr>
      </p:pic>
      <p:sp>
        <p:nvSpPr>
          <p:cNvPr id="4" name="Slide Number Placeholder 3"/>
          <p:cNvSpPr>
            <a:spLocks noGrp="1"/>
          </p:cNvSpPr>
          <p:nvPr>
            <p:ph type="sldNum" sz="quarter" idx="12"/>
          </p:nvPr>
        </p:nvSpPr>
        <p:spPr/>
        <p:txBody>
          <a:bodyPr/>
          <a:lstStyle/>
          <a:p>
            <a:fld id="{C58F520E-0D3C-4C73-96DF-B271C0F692B0}" type="slidenum">
              <a:rPr lang="lb-LU" smtClean="0"/>
              <a:t>31</a:t>
            </a:fld>
            <a:endParaRPr lang="lb-LU"/>
          </a:p>
        </p:txBody>
      </p:sp>
    </p:spTree>
    <p:extLst>
      <p:ext uri="{BB962C8B-B14F-4D97-AF65-F5344CB8AC3E}">
        <p14:creationId xmlns:p14="http://schemas.microsoft.com/office/powerpoint/2010/main" val="28114685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Définition:‎ mainlevée </a:t>
            </a:r>
            <a:r>
              <a:rPr lang="fr-CH" dirty="0"/>
              <a:t>d'une </a:t>
            </a:r>
            <a:r>
              <a:rPr lang="fr-CH" dirty="0" smtClean="0"/>
              <a:t>marchandise (CDU art.5) : </a:t>
            </a:r>
            <a:r>
              <a:rPr lang="fr-CH" dirty="0"/>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r>
              <a:rPr lang="fr-CH" dirty="0" smtClean="0"/>
              <a:t>l'acte </a:t>
            </a:r>
            <a:r>
              <a:rPr lang="fr-CH" dirty="0"/>
              <a:t>par lequel les autorités douanières mettent à </a:t>
            </a:r>
            <a:r>
              <a:rPr lang="fr-CH" dirty="0" smtClean="0"/>
              <a:t>disposition une   marchandise </a:t>
            </a:r>
            <a:r>
              <a:rPr lang="fr-CH" dirty="0"/>
              <a:t>aux fins prévues par le régime douanier sous </a:t>
            </a:r>
            <a:r>
              <a:rPr lang="fr-CH" dirty="0" smtClean="0"/>
              <a:t>lequel </a:t>
            </a:r>
            <a:r>
              <a:rPr lang="fr-CH" dirty="0"/>
              <a:t>elle est placée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32</a:t>
            </a:fld>
            <a:endParaRPr lang="lb-LU"/>
          </a:p>
        </p:txBody>
      </p:sp>
    </p:spTree>
    <p:extLst>
      <p:ext uri="{BB962C8B-B14F-4D97-AF65-F5344CB8AC3E}">
        <p14:creationId xmlns:p14="http://schemas.microsoft.com/office/powerpoint/2010/main" val="198701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Mainlevée</a:t>
            </a:r>
            <a:endParaRPr lang="en-US" dirty="0"/>
          </a:p>
        </p:txBody>
      </p:sp>
      <p:sp>
        <p:nvSpPr>
          <p:cNvPr id="3" name="Content Placeholder 2"/>
          <p:cNvSpPr>
            <a:spLocks noGrp="1"/>
          </p:cNvSpPr>
          <p:nvPr>
            <p:ph idx="1"/>
          </p:nvPr>
        </p:nvSpPr>
        <p:spPr/>
        <p:txBody>
          <a:bodyPr/>
          <a:lstStyle/>
          <a:p>
            <a:r>
              <a:rPr lang="fr-CH" dirty="0"/>
              <a:t>Si les résultats des contrôles sont satisfaisants, les marchandises bénéficient de </a:t>
            </a:r>
            <a:r>
              <a:rPr lang="fr-CH" dirty="0" smtClean="0"/>
              <a:t>la mainlevée </a:t>
            </a:r>
            <a:r>
              <a:rPr lang="fr-CH" dirty="0"/>
              <a:t>pour le régime en douane conformément à la déclaration en douane. Si </a:t>
            </a:r>
            <a:r>
              <a:rPr lang="fr-CH" dirty="0" smtClean="0"/>
              <a:t>une dette </a:t>
            </a:r>
            <a:r>
              <a:rPr lang="fr-CH" dirty="0"/>
              <a:t>douanière naît, les droits de douane doivent être payés ou couverts par </a:t>
            </a:r>
            <a:r>
              <a:rPr lang="fr-CH" dirty="0" smtClean="0"/>
              <a:t>une garantie</a:t>
            </a:r>
            <a:r>
              <a:rPr lang="fr-CH" dirty="0"/>
              <a:t>.</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33</a:t>
            </a:fld>
            <a:endParaRPr lang="lb-LU"/>
          </a:p>
        </p:txBody>
      </p:sp>
    </p:spTree>
    <p:extLst>
      <p:ext uri="{BB962C8B-B14F-4D97-AF65-F5344CB8AC3E}">
        <p14:creationId xmlns:p14="http://schemas.microsoft.com/office/powerpoint/2010/main" val="16020255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a:t>Apurement d'un régime </a:t>
            </a:r>
            <a:r>
              <a:rPr lang="fr-CH" dirty="0" smtClean="0"/>
              <a:t>particulier</a:t>
            </a:r>
            <a:endParaRPr lang="en-US" dirty="0"/>
          </a:p>
        </p:txBody>
      </p:sp>
      <p:sp>
        <p:nvSpPr>
          <p:cNvPr id="3" name="Content Placeholder 2"/>
          <p:cNvSpPr>
            <a:spLocks noGrp="1"/>
          </p:cNvSpPr>
          <p:nvPr>
            <p:ph idx="1"/>
          </p:nvPr>
        </p:nvSpPr>
        <p:spPr/>
        <p:txBody>
          <a:bodyPr>
            <a:normAutofit fontScale="92500" lnSpcReduction="10000"/>
          </a:bodyPr>
          <a:lstStyle/>
          <a:p>
            <a:endParaRPr lang="fr-CH" dirty="0"/>
          </a:p>
          <a:p>
            <a:r>
              <a:rPr lang="fr-CH" dirty="0" smtClean="0"/>
              <a:t>Dans </a:t>
            </a:r>
            <a:r>
              <a:rPr lang="fr-CH" dirty="0"/>
              <a:t>les cas autres que le régime du transit </a:t>
            </a:r>
            <a:r>
              <a:rPr lang="fr-CH" dirty="0" smtClean="0"/>
              <a:t>et de la destination particulière, </a:t>
            </a:r>
            <a:r>
              <a:rPr lang="fr-CH" dirty="0"/>
              <a:t>un régime particulier est </a:t>
            </a:r>
            <a:r>
              <a:rPr lang="fr-CH" dirty="0" smtClean="0"/>
              <a:t>apuré:</a:t>
            </a:r>
          </a:p>
          <a:p>
            <a:r>
              <a:rPr lang="fr-CH" dirty="0" smtClean="0"/>
              <a:t>lorsque </a:t>
            </a:r>
            <a:r>
              <a:rPr lang="fr-CH" dirty="0"/>
              <a:t>les marchandises admises sous ce régime ou les produits transformés sont placés sous un nouveau régime </a:t>
            </a:r>
            <a:r>
              <a:rPr lang="fr-CH" dirty="0" smtClean="0"/>
              <a:t>douanier ou </a:t>
            </a:r>
          </a:p>
          <a:p>
            <a:r>
              <a:rPr lang="fr-CH" dirty="0" smtClean="0"/>
              <a:t>sont </a:t>
            </a:r>
            <a:r>
              <a:rPr lang="fr-CH" dirty="0"/>
              <a:t>sortis du territoire douanier de </a:t>
            </a:r>
            <a:r>
              <a:rPr lang="fr-CH" dirty="0" smtClean="0"/>
              <a:t>l'Union</a:t>
            </a:r>
            <a:r>
              <a:rPr lang="fr-CH" dirty="0"/>
              <a:t> </a:t>
            </a:r>
            <a:r>
              <a:rPr lang="fr-CH" dirty="0" smtClean="0"/>
              <a:t>ou</a:t>
            </a:r>
          </a:p>
          <a:p>
            <a:r>
              <a:rPr lang="fr-CH" dirty="0" smtClean="0"/>
              <a:t>ont </a:t>
            </a:r>
            <a:r>
              <a:rPr lang="fr-CH" dirty="0"/>
              <a:t>été détruits sans laisser de déchets ou </a:t>
            </a:r>
            <a:endParaRPr lang="fr-CH" dirty="0" smtClean="0"/>
          </a:p>
          <a:p>
            <a:r>
              <a:rPr lang="fr-CH" dirty="0" smtClean="0"/>
              <a:t>sont </a:t>
            </a:r>
            <a:r>
              <a:rPr lang="fr-CH" dirty="0"/>
              <a:t>abandonnés à </a:t>
            </a:r>
            <a:r>
              <a:rPr lang="fr-CH" dirty="0" smtClean="0"/>
              <a:t>l'État.</a:t>
            </a:r>
          </a:p>
          <a:p>
            <a:pPr marL="0" indent="0">
              <a:buNone/>
            </a:pPr>
            <a:r>
              <a:rPr lang="fr-CH" dirty="0" smtClean="0"/>
              <a:t>		</a:t>
            </a:r>
            <a:r>
              <a:rPr lang="fr-CH" dirty="0" smtClean="0">
                <a:sym typeface="Wingdings" panose="05000000000000000000" pitchFamily="2" charset="2"/>
              </a:rPr>
              <a:t> </a:t>
            </a:r>
            <a:r>
              <a:rPr lang="fr-CH" dirty="0" smtClean="0"/>
              <a:t>Délais</a:t>
            </a:r>
          </a:p>
          <a:p>
            <a:pPr marL="0" indent="0">
              <a:buNone/>
            </a:pPr>
            <a:r>
              <a:rPr lang="fr-CH" dirty="0" smtClean="0"/>
              <a:t>		</a:t>
            </a:r>
            <a:r>
              <a:rPr lang="fr-CH" dirty="0" smtClean="0">
                <a:sym typeface="Wingdings" panose="05000000000000000000" pitchFamily="2" charset="2"/>
              </a:rPr>
              <a:t> </a:t>
            </a:r>
            <a:r>
              <a:rPr lang="fr-CH" dirty="0" smtClean="0"/>
              <a:t>Surveillance douanière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34</a:t>
            </a:fld>
            <a:endParaRPr lang="lb-LU"/>
          </a:p>
        </p:txBody>
      </p:sp>
    </p:spTree>
    <p:extLst>
      <p:ext uri="{BB962C8B-B14F-4D97-AF65-F5344CB8AC3E}">
        <p14:creationId xmlns:p14="http://schemas.microsoft.com/office/powerpoint/2010/main" val="364806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6"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wipe(down)">
                                      <p:cBhvr>
                                        <p:cTn id="42" dur="580">
                                          <p:stCondLst>
                                            <p:cond delay="0"/>
                                          </p:stCondLst>
                                        </p:cTn>
                                        <p:tgtEl>
                                          <p:spTgt spid="3">
                                            <p:txEl>
                                              <p:pRg st="6" end="6"/>
                                            </p:txEl>
                                          </p:spTgt>
                                        </p:tgtEl>
                                      </p:cBhvr>
                                    </p:animEffect>
                                    <p:anim calcmode="lin" valueType="num">
                                      <p:cBhvr>
                                        <p:cTn id="43"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8" dur="26">
                                          <p:stCondLst>
                                            <p:cond delay="650"/>
                                          </p:stCondLst>
                                        </p:cTn>
                                        <p:tgtEl>
                                          <p:spTgt spid="3">
                                            <p:txEl>
                                              <p:pRg st="6" end="6"/>
                                            </p:txEl>
                                          </p:spTgt>
                                        </p:tgtEl>
                                      </p:cBhvr>
                                      <p:to x="100000" y="60000"/>
                                    </p:animScale>
                                    <p:animScale>
                                      <p:cBhvr>
                                        <p:cTn id="49" dur="166" decel="50000">
                                          <p:stCondLst>
                                            <p:cond delay="676"/>
                                          </p:stCondLst>
                                        </p:cTn>
                                        <p:tgtEl>
                                          <p:spTgt spid="3">
                                            <p:txEl>
                                              <p:pRg st="6" end="6"/>
                                            </p:txEl>
                                          </p:spTgt>
                                        </p:tgtEl>
                                      </p:cBhvr>
                                      <p:to x="100000" y="100000"/>
                                    </p:animScale>
                                    <p:animScale>
                                      <p:cBhvr>
                                        <p:cTn id="50" dur="26">
                                          <p:stCondLst>
                                            <p:cond delay="1312"/>
                                          </p:stCondLst>
                                        </p:cTn>
                                        <p:tgtEl>
                                          <p:spTgt spid="3">
                                            <p:txEl>
                                              <p:pRg st="6" end="6"/>
                                            </p:txEl>
                                          </p:spTgt>
                                        </p:tgtEl>
                                      </p:cBhvr>
                                      <p:to x="100000" y="80000"/>
                                    </p:animScale>
                                    <p:animScale>
                                      <p:cBhvr>
                                        <p:cTn id="51" dur="166" decel="50000">
                                          <p:stCondLst>
                                            <p:cond delay="1338"/>
                                          </p:stCondLst>
                                        </p:cTn>
                                        <p:tgtEl>
                                          <p:spTgt spid="3">
                                            <p:txEl>
                                              <p:pRg st="6" end="6"/>
                                            </p:txEl>
                                          </p:spTgt>
                                        </p:tgtEl>
                                      </p:cBhvr>
                                      <p:to x="100000" y="100000"/>
                                    </p:animScale>
                                    <p:animScale>
                                      <p:cBhvr>
                                        <p:cTn id="52" dur="26">
                                          <p:stCondLst>
                                            <p:cond delay="1642"/>
                                          </p:stCondLst>
                                        </p:cTn>
                                        <p:tgtEl>
                                          <p:spTgt spid="3">
                                            <p:txEl>
                                              <p:pRg st="6" end="6"/>
                                            </p:txEl>
                                          </p:spTgt>
                                        </p:tgtEl>
                                      </p:cBhvr>
                                      <p:to x="100000" y="90000"/>
                                    </p:animScale>
                                    <p:animScale>
                                      <p:cBhvr>
                                        <p:cTn id="53" dur="166" decel="50000">
                                          <p:stCondLst>
                                            <p:cond delay="1668"/>
                                          </p:stCondLst>
                                        </p:cTn>
                                        <p:tgtEl>
                                          <p:spTgt spid="3">
                                            <p:txEl>
                                              <p:pRg st="6" end="6"/>
                                            </p:txEl>
                                          </p:spTgt>
                                        </p:tgtEl>
                                      </p:cBhvr>
                                      <p:to x="100000" y="100000"/>
                                    </p:animScale>
                                    <p:animScale>
                                      <p:cBhvr>
                                        <p:cTn id="54" dur="26">
                                          <p:stCondLst>
                                            <p:cond delay="1808"/>
                                          </p:stCondLst>
                                        </p:cTn>
                                        <p:tgtEl>
                                          <p:spTgt spid="3">
                                            <p:txEl>
                                              <p:pRg st="6" end="6"/>
                                            </p:txEl>
                                          </p:spTgt>
                                        </p:tgtEl>
                                      </p:cBhvr>
                                      <p:to x="100000" y="95000"/>
                                    </p:animScale>
                                    <p:animScale>
                                      <p:cBhvr>
                                        <p:cTn id="55" dur="166" decel="50000">
                                          <p:stCondLst>
                                            <p:cond delay="1834"/>
                                          </p:stCondLst>
                                        </p:cTn>
                                        <p:tgtEl>
                                          <p:spTgt spid="3">
                                            <p:txEl>
                                              <p:pRg st="6" end="6"/>
                                            </p:txEl>
                                          </p:spTgt>
                                        </p:tgtEl>
                                      </p:cBhvr>
                                      <p:to x="100000" y="100000"/>
                                    </p:animScale>
                                  </p:childTnLst>
                                </p:cTn>
                              </p:par>
                            </p:childTnLst>
                          </p:cTn>
                        </p:par>
                      </p:childTnLst>
                    </p:cTn>
                  </p:par>
                  <p:par>
                    <p:cTn id="56" fill="hold">
                      <p:stCondLst>
                        <p:cond delay="indefinite"/>
                      </p:stCondLst>
                      <p:childTnLst>
                        <p:par>
                          <p:cTn id="57" fill="hold">
                            <p:stCondLst>
                              <p:cond delay="0"/>
                            </p:stCondLst>
                            <p:childTnLst>
                              <p:par>
                                <p:cTn id="58" presetID="26" presetClass="entr" presetSubtype="0" fill="hold" nodeType="clickEffect">
                                  <p:stCondLst>
                                    <p:cond delay="0"/>
                                  </p:stCondLst>
                                  <p:childTnLst>
                                    <p:set>
                                      <p:cBhvr>
                                        <p:cTn id="59" dur="1" fill="hold">
                                          <p:stCondLst>
                                            <p:cond delay="0"/>
                                          </p:stCondLst>
                                        </p:cTn>
                                        <p:tgtEl>
                                          <p:spTgt spid="3">
                                            <p:txEl>
                                              <p:pRg st="7" end="7"/>
                                            </p:txEl>
                                          </p:spTgt>
                                        </p:tgtEl>
                                        <p:attrNameLst>
                                          <p:attrName>style.visibility</p:attrName>
                                        </p:attrNameLst>
                                      </p:cBhvr>
                                      <p:to>
                                        <p:strVal val="visible"/>
                                      </p:to>
                                    </p:set>
                                    <p:animEffect transition="in" filter="wipe(down)">
                                      <p:cBhvr>
                                        <p:cTn id="60" dur="580">
                                          <p:stCondLst>
                                            <p:cond delay="0"/>
                                          </p:stCondLst>
                                        </p:cTn>
                                        <p:tgtEl>
                                          <p:spTgt spid="3">
                                            <p:txEl>
                                              <p:pRg st="7" end="7"/>
                                            </p:txEl>
                                          </p:spTgt>
                                        </p:tgtEl>
                                      </p:cBhvr>
                                    </p:animEffect>
                                    <p:anim calcmode="lin" valueType="num">
                                      <p:cBhvr>
                                        <p:cTn id="61"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62"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63"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64"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65"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66" dur="26">
                                          <p:stCondLst>
                                            <p:cond delay="650"/>
                                          </p:stCondLst>
                                        </p:cTn>
                                        <p:tgtEl>
                                          <p:spTgt spid="3">
                                            <p:txEl>
                                              <p:pRg st="7" end="7"/>
                                            </p:txEl>
                                          </p:spTgt>
                                        </p:tgtEl>
                                      </p:cBhvr>
                                      <p:to x="100000" y="60000"/>
                                    </p:animScale>
                                    <p:animScale>
                                      <p:cBhvr>
                                        <p:cTn id="67" dur="166" decel="50000">
                                          <p:stCondLst>
                                            <p:cond delay="676"/>
                                          </p:stCondLst>
                                        </p:cTn>
                                        <p:tgtEl>
                                          <p:spTgt spid="3">
                                            <p:txEl>
                                              <p:pRg st="7" end="7"/>
                                            </p:txEl>
                                          </p:spTgt>
                                        </p:tgtEl>
                                      </p:cBhvr>
                                      <p:to x="100000" y="100000"/>
                                    </p:animScale>
                                    <p:animScale>
                                      <p:cBhvr>
                                        <p:cTn id="68" dur="26">
                                          <p:stCondLst>
                                            <p:cond delay="1312"/>
                                          </p:stCondLst>
                                        </p:cTn>
                                        <p:tgtEl>
                                          <p:spTgt spid="3">
                                            <p:txEl>
                                              <p:pRg st="7" end="7"/>
                                            </p:txEl>
                                          </p:spTgt>
                                        </p:tgtEl>
                                      </p:cBhvr>
                                      <p:to x="100000" y="80000"/>
                                    </p:animScale>
                                    <p:animScale>
                                      <p:cBhvr>
                                        <p:cTn id="69" dur="166" decel="50000">
                                          <p:stCondLst>
                                            <p:cond delay="1338"/>
                                          </p:stCondLst>
                                        </p:cTn>
                                        <p:tgtEl>
                                          <p:spTgt spid="3">
                                            <p:txEl>
                                              <p:pRg st="7" end="7"/>
                                            </p:txEl>
                                          </p:spTgt>
                                        </p:tgtEl>
                                      </p:cBhvr>
                                      <p:to x="100000" y="100000"/>
                                    </p:animScale>
                                    <p:animScale>
                                      <p:cBhvr>
                                        <p:cTn id="70" dur="26">
                                          <p:stCondLst>
                                            <p:cond delay="1642"/>
                                          </p:stCondLst>
                                        </p:cTn>
                                        <p:tgtEl>
                                          <p:spTgt spid="3">
                                            <p:txEl>
                                              <p:pRg st="7" end="7"/>
                                            </p:txEl>
                                          </p:spTgt>
                                        </p:tgtEl>
                                      </p:cBhvr>
                                      <p:to x="100000" y="90000"/>
                                    </p:animScale>
                                    <p:animScale>
                                      <p:cBhvr>
                                        <p:cTn id="71" dur="166" decel="50000">
                                          <p:stCondLst>
                                            <p:cond delay="1668"/>
                                          </p:stCondLst>
                                        </p:cTn>
                                        <p:tgtEl>
                                          <p:spTgt spid="3">
                                            <p:txEl>
                                              <p:pRg st="7" end="7"/>
                                            </p:txEl>
                                          </p:spTgt>
                                        </p:tgtEl>
                                      </p:cBhvr>
                                      <p:to x="100000" y="100000"/>
                                    </p:animScale>
                                    <p:animScale>
                                      <p:cBhvr>
                                        <p:cTn id="72" dur="26">
                                          <p:stCondLst>
                                            <p:cond delay="1808"/>
                                          </p:stCondLst>
                                        </p:cTn>
                                        <p:tgtEl>
                                          <p:spTgt spid="3">
                                            <p:txEl>
                                              <p:pRg st="7" end="7"/>
                                            </p:txEl>
                                          </p:spTgt>
                                        </p:tgtEl>
                                      </p:cBhvr>
                                      <p:to x="100000" y="95000"/>
                                    </p:animScale>
                                    <p:animScale>
                                      <p:cBhvr>
                                        <p:cTn id="73"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Régime </a:t>
            </a:r>
            <a:r>
              <a:rPr lang="en-US" dirty="0" err="1" smtClean="0"/>
              <a:t>précédent</a:t>
            </a:r>
            <a:endParaRPr lang="en-US" dirty="0"/>
          </a:p>
        </p:txBody>
      </p:sp>
      <p:sp>
        <p:nvSpPr>
          <p:cNvPr id="3" name="Content Placeholder 2"/>
          <p:cNvSpPr>
            <a:spLocks noGrp="1"/>
          </p:cNvSpPr>
          <p:nvPr>
            <p:ph idx="1"/>
          </p:nvPr>
        </p:nvSpPr>
        <p:spPr/>
        <p:txBody>
          <a:bodyPr/>
          <a:lstStyle/>
          <a:p>
            <a:pPr marL="0" indent="0">
              <a:buNone/>
            </a:pPr>
            <a:r>
              <a:rPr lang="en-US" dirty="0" err="1" smtClean="0"/>
              <a:t>Élément</a:t>
            </a:r>
            <a:r>
              <a:rPr lang="en-US" dirty="0" smtClean="0"/>
              <a:t> de </a:t>
            </a:r>
            <a:r>
              <a:rPr lang="en-US" dirty="0" err="1" smtClean="0"/>
              <a:t>données</a:t>
            </a:r>
            <a:r>
              <a:rPr lang="en-US" dirty="0" smtClean="0"/>
              <a:t>: régime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35</a:t>
            </a:fld>
            <a:endParaRPr lang="lb-LU"/>
          </a:p>
        </p:txBody>
      </p:sp>
      <p:pic>
        <p:nvPicPr>
          <p:cNvPr id="5" name="Picture 4"/>
          <p:cNvPicPr>
            <a:picLocks noChangeAspect="1"/>
          </p:cNvPicPr>
          <p:nvPr/>
        </p:nvPicPr>
        <p:blipFill>
          <a:blip r:embed="rId2"/>
          <a:stretch>
            <a:fillRect/>
          </a:stretch>
        </p:blipFill>
        <p:spPr>
          <a:xfrm>
            <a:off x="500332" y="2890593"/>
            <a:ext cx="10063026" cy="2221401"/>
          </a:xfrm>
          <a:prstGeom prst="rect">
            <a:avLst/>
          </a:prstGeom>
        </p:spPr>
      </p:pic>
    </p:spTree>
    <p:extLst>
      <p:ext uri="{BB962C8B-B14F-4D97-AF65-F5344CB8AC3E}">
        <p14:creationId xmlns:p14="http://schemas.microsoft.com/office/powerpoint/2010/main" val="30305434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Flux </a:t>
            </a:r>
            <a:r>
              <a:rPr lang="en-US" dirty="0" err="1" smtClean="0"/>
              <a:t>possibles</a:t>
            </a:r>
            <a:r>
              <a:rPr lang="en-US" dirty="0" smtClean="0"/>
              <a: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36</a:t>
            </a:fld>
            <a:endParaRPr lang="lb-LU"/>
          </a:p>
        </p:txBody>
      </p:sp>
    </p:spTree>
    <p:extLst>
      <p:ext uri="{BB962C8B-B14F-4D97-AF65-F5344CB8AC3E}">
        <p14:creationId xmlns:p14="http://schemas.microsoft.com/office/powerpoint/2010/main" val="4706709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3370"/>
            <a:ext cx="10515600" cy="1449994"/>
          </a:xfrm>
        </p:spPr>
        <p:txBody>
          <a:bodyPr>
            <a:normAutofit/>
          </a:bodyPr>
          <a:lstStyle/>
          <a:p>
            <a:r>
              <a:rPr lang="fr-FR" dirty="0" smtClean="0"/>
              <a:t/>
            </a:r>
            <a:br>
              <a:rPr lang="fr-FR" dirty="0" smtClean="0"/>
            </a:br>
            <a:r>
              <a:rPr lang="fr-FR" dirty="0" smtClean="0"/>
              <a:t>Merci pour votre attention</a:t>
            </a:r>
            <a:endParaRPr lang="en-US" dirty="0"/>
          </a:p>
        </p:txBody>
      </p:sp>
      <p:sp>
        <p:nvSpPr>
          <p:cNvPr id="3" name="Content Placeholder 2"/>
          <p:cNvSpPr>
            <a:spLocks noGrp="1"/>
          </p:cNvSpPr>
          <p:nvPr>
            <p:ph idx="1"/>
          </p:nvPr>
        </p:nvSpPr>
        <p:spPr>
          <a:xfrm>
            <a:off x="838200" y="1487978"/>
            <a:ext cx="10515600" cy="4688985"/>
          </a:xfrm>
        </p:spPr>
        <p:txBody>
          <a:bodyPr/>
          <a:lstStyle/>
          <a:p>
            <a:pPr marL="0" indent="0">
              <a:buNone/>
            </a:pPr>
            <a:endParaRPr lang="fr-FR" dirty="0" smtClean="0"/>
          </a:p>
          <a:p>
            <a:pPr marL="0" indent="0">
              <a:buNone/>
            </a:pPr>
            <a:endParaRPr lang="fr-FR" dirty="0"/>
          </a:p>
          <a:p>
            <a:pPr marL="0" indent="0">
              <a:buNone/>
            </a:pPr>
            <a:endParaRPr lang="fr-FR" dirty="0" smtClean="0"/>
          </a:p>
          <a:p>
            <a:pPr marL="0" indent="0">
              <a:buNone/>
            </a:pPr>
            <a:r>
              <a:rPr lang="fr-FR" sz="3200" dirty="0" smtClean="0"/>
              <a:t>Questions ?</a:t>
            </a:r>
            <a:endParaRPr lang="en-US" sz="3200" dirty="0"/>
          </a:p>
        </p:txBody>
      </p:sp>
      <p:sp>
        <p:nvSpPr>
          <p:cNvPr id="4" name="Slide Number Placeholder 3"/>
          <p:cNvSpPr>
            <a:spLocks noGrp="1"/>
          </p:cNvSpPr>
          <p:nvPr>
            <p:ph type="sldNum" sz="quarter" idx="12"/>
          </p:nvPr>
        </p:nvSpPr>
        <p:spPr/>
        <p:txBody>
          <a:bodyPr/>
          <a:lstStyle/>
          <a:p>
            <a:fld id="{C58F520E-0D3C-4C73-96DF-B271C0F692B0}" type="slidenum">
              <a:rPr lang="lb-LU" smtClean="0"/>
              <a:t>37</a:t>
            </a:fld>
            <a:endParaRPr lang="lb-LU"/>
          </a:p>
        </p:txBody>
      </p:sp>
    </p:spTree>
    <p:extLst>
      <p:ext uri="{BB962C8B-B14F-4D97-AF65-F5344CB8AC3E}">
        <p14:creationId xmlns:p14="http://schemas.microsoft.com/office/powerpoint/2010/main" val="191342270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2507</Words>
  <Application>Microsoft Office PowerPoint</Application>
  <PresentationFormat>Widescreen</PresentationFormat>
  <Paragraphs>235</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Wingdings</vt:lpstr>
      <vt:lpstr>Thème Office</vt:lpstr>
      <vt:lpstr>PowerPoint Presentation</vt:lpstr>
      <vt:lpstr>Introduction des marchandises:</vt:lpstr>
      <vt:lpstr>Choix à faire!</vt:lpstr>
      <vt:lpstr> Par régime douanier admis, il y a lieu d’entendre :</vt:lpstr>
      <vt:lpstr> Art 150 CDU: Choix du régime douanier </vt:lpstr>
      <vt:lpstr>Manifestation de l’intention de placer une marchandise sous un régime:</vt:lpstr>
      <vt:lpstr>Forme de la déclaration:</vt:lpstr>
      <vt:lpstr>Documents d’accompagnement</vt:lpstr>
      <vt:lpstr>Documents d’accompagnement</vt:lpstr>
      <vt:lpstr>Procédé informatique de traitement des données</vt:lpstr>
      <vt:lpstr>Contenu d'une déclaration en douane normale</vt:lpstr>
      <vt:lpstr>Plusieurs articles de marchandises dans une déclaration</vt:lpstr>
      <vt:lpstr>Forme de la déclaration:</vt:lpstr>
      <vt:lpstr>Personne à déposer la déclaration en douane </vt:lpstr>
      <vt:lpstr>Rappel: (art. 15 CDU)</vt:lpstr>
      <vt:lpstr>Titulaire du régime</vt:lpstr>
      <vt:lpstr>Bureaux de douane compétents pour la déclaration </vt:lpstr>
      <vt:lpstr>Bureaux de douane compétents pour la déclaration </vt:lpstr>
      <vt:lpstr>Bureaux de douane compétents pour la déclaration </vt:lpstr>
      <vt:lpstr>Examen préalable (inventaire)</vt:lpstr>
      <vt:lpstr>Le moment du dépôt de la déclaration en douane ‎:</vt:lpstr>
      <vt:lpstr>Acceptation de la déclaration</vt:lpstr>
      <vt:lpstr>Acceptation de la déclaration</vt:lpstr>
      <vt:lpstr>Naissance d’une dette douanière</vt:lpstr>
      <vt:lpstr>Acceptation de la déclaration</vt:lpstr>
      <vt:lpstr>Contrôle douanier de la déclaration :</vt:lpstr>
      <vt:lpstr> Rectification d'une déclaration en douane :‎ </vt:lpstr>
      <vt:lpstr> Rectification d'une déclaration en douane :‎ </vt:lpstr>
      <vt:lpstr> Invalidation d'une déclaration en douane :‎ </vt:lpstr>
      <vt:lpstr> Invalidation d'une déclaration en douane :‎ </vt:lpstr>
      <vt:lpstr>PowerPoint Presentation</vt:lpstr>
      <vt:lpstr> Définition:‎ mainlevée d'une marchandise (CDU art.5) :  </vt:lpstr>
      <vt:lpstr>Mainlevée</vt:lpstr>
      <vt:lpstr> Apurement d'un régime particulier</vt:lpstr>
      <vt:lpstr>Régime précédent</vt:lpstr>
      <vt:lpstr>Flux possibles:</vt:lpstr>
      <vt:lpstr> Merci pour votre attention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bofferdingd</cp:lastModifiedBy>
  <cp:revision>175</cp:revision>
  <dcterms:created xsi:type="dcterms:W3CDTF">2018-09-26T09:04:10Z</dcterms:created>
  <dcterms:modified xsi:type="dcterms:W3CDTF">2024-10-08T14:56:37Z</dcterms:modified>
</cp:coreProperties>
</file>