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45"/>
  </p:notesMasterIdLst>
  <p:handoutMasterIdLst>
    <p:handoutMasterId r:id="rId46"/>
  </p:handoutMasterIdLst>
  <p:sldIdLst>
    <p:sldId id="256" r:id="rId2"/>
    <p:sldId id="258" r:id="rId3"/>
    <p:sldId id="259" r:id="rId4"/>
    <p:sldId id="260" r:id="rId5"/>
    <p:sldId id="261" r:id="rId6"/>
    <p:sldId id="262"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1" r:id="rId44"/>
  </p:sldIdLst>
  <p:sldSz cx="12192000" cy="6858000"/>
  <p:notesSz cx="6797675"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schlink" initials="m" lastIdx="2" clrIdx="0">
    <p:extLst>
      <p:ext uri="{19B8F6BF-5375-455C-9EA6-DF929625EA0E}">
        <p15:presenceInfo xmlns:p15="http://schemas.microsoft.com/office/powerpoint/2012/main" userId="mschlin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5A5A"/>
    <a:srgbClr val="A5DC69"/>
    <a:srgbClr val="78D2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ittlere Formatvorlage 4 - Akz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51" autoAdjust="0"/>
    <p:restoredTop sz="75030" autoAdjust="0"/>
  </p:normalViewPr>
  <p:slideViewPr>
    <p:cSldViewPr snapToGrid="0">
      <p:cViewPr varScale="1">
        <p:scale>
          <a:sx n="101" d="100"/>
          <a:sy n="101" d="100"/>
        </p:scale>
        <p:origin x="126" y="33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fr-CH"/>
          </a:p>
        </p:txBody>
      </p:sp>
      <p:sp>
        <p:nvSpPr>
          <p:cNvPr id="3" name="Datumsplatzhalt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6AB039E8-4792-4DE3-AA83-F7516F3B65D7}" type="datetimeFigureOut">
              <a:rPr lang="fr-CH" smtClean="0"/>
              <a:t>09.10.2024</a:t>
            </a:fld>
            <a:endParaRPr lang="fr-CH"/>
          </a:p>
        </p:txBody>
      </p:sp>
      <p:sp>
        <p:nvSpPr>
          <p:cNvPr id="4" name="Fußzeilenplatzhalt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fr-CH"/>
          </a:p>
        </p:txBody>
      </p:sp>
      <p:sp>
        <p:nvSpPr>
          <p:cNvPr id="5" name="Foliennummernplatzhalt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3207A034-ED28-44E1-8859-77E415D3450D}" type="slidenum">
              <a:rPr lang="fr-CH" smtClean="0"/>
              <a:t>‹#›</a:t>
            </a:fld>
            <a:endParaRPr lang="fr-CH"/>
          </a:p>
        </p:txBody>
      </p:sp>
    </p:spTree>
    <p:extLst>
      <p:ext uri="{BB962C8B-B14F-4D97-AF65-F5344CB8AC3E}">
        <p14:creationId xmlns:p14="http://schemas.microsoft.com/office/powerpoint/2010/main" val="20169117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C70131AE-DEF8-44F8-9B6A-3167C94D6B57}" type="datetimeFigureOut">
              <a:rPr lang="en-US" smtClean="0"/>
              <a:t>10/9/2024</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EC2D5BD5-BCCF-4892-A47B-1366A1D542C7}" type="slidenum">
              <a:rPr lang="en-US" smtClean="0"/>
              <a:t>‹#›</a:t>
            </a:fld>
            <a:endParaRPr lang="en-US"/>
          </a:p>
        </p:txBody>
      </p:sp>
    </p:spTree>
    <p:extLst>
      <p:ext uri="{BB962C8B-B14F-4D97-AF65-F5344CB8AC3E}">
        <p14:creationId xmlns:p14="http://schemas.microsoft.com/office/powerpoint/2010/main" val="1975919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fr-FR" b="1" dirty="0" smtClean="0"/>
              <a:t>Den sujet / </a:t>
            </a:r>
            <a:r>
              <a:rPr lang="fr-FR" b="1" dirty="0" err="1" smtClean="0"/>
              <a:t>probléme</a:t>
            </a:r>
            <a:r>
              <a:rPr lang="fr-FR" b="1" dirty="0" smtClean="0"/>
              <a:t> </a:t>
            </a:r>
          </a:p>
          <a:p>
            <a:pPr marL="0" indent="0">
              <a:buFontTx/>
              <a:buNone/>
            </a:pPr>
            <a:r>
              <a:rPr lang="fr-FR" b="0" dirty="0" smtClean="0"/>
              <a:t>Lies den sujet </a:t>
            </a:r>
            <a:r>
              <a:rPr lang="fr-FR" b="0" dirty="0" err="1" smtClean="0"/>
              <a:t>eemol</a:t>
            </a:r>
            <a:r>
              <a:rPr lang="fr-FR" b="0" dirty="0" smtClean="0"/>
              <a:t> fier</a:t>
            </a:r>
          </a:p>
          <a:p>
            <a:pPr marL="0" indent="0">
              <a:buFontTx/>
              <a:buNone/>
            </a:pPr>
            <a:r>
              <a:rPr lang="fr-FR" baseline="0" dirty="0" err="1" smtClean="0"/>
              <a:t>ech</a:t>
            </a:r>
            <a:r>
              <a:rPr lang="fr-FR" baseline="0" dirty="0" smtClean="0"/>
              <a:t> </a:t>
            </a:r>
            <a:r>
              <a:rPr lang="fr-FR" baseline="0" dirty="0" err="1" smtClean="0"/>
              <a:t>hunn</a:t>
            </a:r>
            <a:r>
              <a:rPr lang="fr-FR" baseline="0" dirty="0" smtClean="0"/>
              <a:t> </a:t>
            </a:r>
            <a:r>
              <a:rPr lang="fr-FR" baseline="0" dirty="0" err="1" smtClean="0"/>
              <a:t>am</a:t>
            </a:r>
            <a:r>
              <a:rPr lang="fr-FR" baseline="0" dirty="0" smtClean="0"/>
              <a:t> mémoire op 2 </a:t>
            </a:r>
            <a:r>
              <a:rPr lang="fr-FR" baseline="0" dirty="0" err="1" smtClean="0"/>
              <a:t>froen</a:t>
            </a:r>
            <a:r>
              <a:rPr lang="fr-FR" baseline="0" dirty="0" smtClean="0"/>
              <a:t> </a:t>
            </a:r>
            <a:r>
              <a:rPr lang="fr-FR" baseline="0" dirty="0" err="1" smtClean="0"/>
              <a:t>opgedeelt</a:t>
            </a:r>
            <a:r>
              <a:rPr lang="fr-FR" baseline="0" dirty="0" smtClean="0"/>
              <a:t>, </a:t>
            </a:r>
            <a:r>
              <a:rPr lang="fr-FR" baseline="0" dirty="0" err="1" smtClean="0"/>
              <a:t>wou</a:t>
            </a:r>
            <a:r>
              <a:rPr lang="fr-FR" baseline="0" dirty="0" smtClean="0"/>
              <a:t> </a:t>
            </a:r>
            <a:r>
              <a:rPr lang="fr-FR" baseline="0" dirty="0" err="1" smtClean="0"/>
              <a:t>ech</a:t>
            </a:r>
            <a:r>
              <a:rPr lang="fr-FR" baseline="0" dirty="0" smtClean="0"/>
              <a:t> </a:t>
            </a:r>
            <a:r>
              <a:rPr lang="fr-FR" baseline="0" dirty="0" err="1" smtClean="0"/>
              <a:t>dann</a:t>
            </a:r>
            <a:r>
              <a:rPr lang="fr-FR" baseline="0" dirty="0" smtClean="0"/>
              <a:t> </a:t>
            </a:r>
            <a:r>
              <a:rPr lang="fr-FR" baseline="0" dirty="0" err="1" smtClean="0"/>
              <a:t>probéiert</a:t>
            </a:r>
            <a:r>
              <a:rPr lang="fr-FR" baseline="0" dirty="0" smtClean="0"/>
              <a:t> </a:t>
            </a:r>
            <a:r>
              <a:rPr lang="fr-FR" baseline="0" dirty="0" err="1" smtClean="0"/>
              <a:t>hunn</a:t>
            </a:r>
            <a:r>
              <a:rPr lang="fr-FR" baseline="0" dirty="0" smtClean="0"/>
              <a:t> </a:t>
            </a:r>
            <a:r>
              <a:rPr lang="fr-FR" baseline="0" dirty="0" err="1" smtClean="0"/>
              <a:t>méiglescht</a:t>
            </a:r>
            <a:r>
              <a:rPr lang="fr-FR" baseline="0" dirty="0" smtClean="0"/>
              <a:t> </a:t>
            </a:r>
            <a:r>
              <a:rPr lang="fr-FR" baseline="0" dirty="0" err="1" smtClean="0"/>
              <a:t>gudd</a:t>
            </a:r>
            <a:r>
              <a:rPr lang="fr-FR" baseline="0" dirty="0" smtClean="0"/>
              <a:t> an </a:t>
            </a:r>
            <a:r>
              <a:rPr lang="fr-FR" baseline="0" dirty="0" err="1" smtClean="0"/>
              <a:t>komplet</a:t>
            </a:r>
            <a:r>
              <a:rPr lang="fr-FR" baseline="0" dirty="0" smtClean="0"/>
              <a:t> drop </a:t>
            </a:r>
            <a:r>
              <a:rPr lang="fr-FR" baseline="0" dirty="0" err="1" smtClean="0"/>
              <a:t>zeenferen</a:t>
            </a:r>
            <a:r>
              <a:rPr lang="fr-FR" baseline="0" dirty="0" smtClean="0"/>
              <a:t>.</a:t>
            </a:r>
          </a:p>
          <a:p>
            <a:pPr marL="0" indent="0">
              <a:buFontTx/>
              <a:buNone/>
            </a:pPr>
            <a:r>
              <a:rPr lang="fr-FR" baseline="0" dirty="0" smtClean="0"/>
              <a:t>D’</a:t>
            </a:r>
            <a:r>
              <a:rPr lang="fr-FR" baseline="0" dirty="0" err="1" smtClean="0"/>
              <a:t>fro</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opgeddelt</a:t>
            </a:r>
            <a:r>
              <a:rPr lang="fr-FR" baseline="0" dirty="0" smtClean="0"/>
              <a:t> an </a:t>
            </a:r>
            <a:r>
              <a:rPr lang="fr-FR" baseline="0" dirty="0" err="1" smtClean="0"/>
              <a:t>deems</a:t>
            </a:r>
            <a:r>
              <a:rPr lang="fr-FR" baseline="0" dirty="0" smtClean="0"/>
              <a:t> </a:t>
            </a:r>
            <a:r>
              <a:rPr lang="fr-FR" baseline="0" dirty="0" err="1" smtClean="0"/>
              <a:t>ech</a:t>
            </a:r>
            <a:r>
              <a:rPr lang="fr-FR" baseline="0" dirty="0" smtClean="0"/>
              <a:t> </a:t>
            </a:r>
            <a:r>
              <a:rPr lang="fr-FR" baseline="0" dirty="0" err="1" smtClean="0"/>
              <a:t>eemmol</a:t>
            </a:r>
            <a:r>
              <a:rPr lang="fr-FR" baseline="0" dirty="0" smtClean="0"/>
              <a:t> op d’organisation </a:t>
            </a:r>
            <a:r>
              <a:rPr lang="fr-FR" baseline="0" dirty="0" err="1" smtClean="0"/>
              <a:t>vum</a:t>
            </a:r>
            <a:r>
              <a:rPr lang="fr-FR" baseline="0" dirty="0" smtClean="0"/>
              <a:t> OEA an </a:t>
            </a:r>
            <a:r>
              <a:rPr lang="fr-FR" baseline="0" dirty="0" err="1" smtClean="0"/>
              <a:t>gangen</a:t>
            </a:r>
            <a:r>
              <a:rPr lang="fr-FR" baseline="0" dirty="0" smtClean="0"/>
              <a:t> </a:t>
            </a:r>
            <a:r>
              <a:rPr lang="fr-FR" baseline="0" dirty="0" err="1" smtClean="0"/>
              <a:t>sinn</a:t>
            </a:r>
            <a:r>
              <a:rPr lang="fr-FR" baseline="0" dirty="0" smtClean="0"/>
              <a:t> </a:t>
            </a:r>
            <a:r>
              <a:rPr lang="fr-FR" baseline="0" dirty="0" err="1" smtClean="0"/>
              <a:t>also</a:t>
            </a:r>
            <a:r>
              <a:rPr lang="fr-FR" baseline="0" dirty="0" smtClean="0"/>
              <a:t> «  </a:t>
            </a:r>
            <a:r>
              <a:rPr lang="fr-FR" baseline="0" dirty="0" err="1" smtClean="0"/>
              <a:t>wéi</a:t>
            </a:r>
            <a:r>
              <a:rPr lang="fr-FR" baseline="0" dirty="0" smtClean="0"/>
              <a:t> </a:t>
            </a:r>
            <a:r>
              <a:rPr lang="fr-FR" baseline="0" dirty="0" err="1" smtClean="0"/>
              <a:t>kann</a:t>
            </a:r>
            <a:r>
              <a:rPr lang="fr-FR" baseline="0" dirty="0" smtClean="0"/>
              <a:t> den audit douanier </a:t>
            </a:r>
            <a:r>
              <a:rPr lang="fr-FR" baseline="0" dirty="0" err="1" smtClean="0"/>
              <a:t>organiséiert</a:t>
            </a:r>
            <a:r>
              <a:rPr lang="fr-FR" baseline="0" dirty="0" smtClean="0"/>
              <a:t> </a:t>
            </a:r>
            <a:r>
              <a:rPr lang="fr-FR" baseline="0" dirty="0" err="1" smtClean="0"/>
              <a:t>ginn</a:t>
            </a:r>
            <a:r>
              <a:rPr lang="fr-FR" baseline="0" dirty="0" smtClean="0"/>
              <a:t> </a:t>
            </a:r>
            <a:r>
              <a:rPr lang="fr-FR" baseline="0" dirty="0" err="1" smtClean="0"/>
              <a:t>fir</a:t>
            </a:r>
            <a:r>
              <a:rPr lang="fr-FR" baseline="0" dirty="0" smtClean="0"/>
              <a:t> d’ </a:t>
            </a:r>
            <a:r>
              <a:rPr lang="fr-FR" baseline="0" dirty="0" err="1" smtClean="0"/>
              <a:t>risikoen</a:t>
            </a:r>
            <a:r>
              <a:rPr lang="fr-FR" baseline="0" dirty="0" smtClean="0"/>
              <a:t> </a:t>
            </a:r>
            <a:r>
              <a:rPr lang="fr-FR" baseline="0" dirty="0" err="1" smtClean="0"/>
              <a:t>ze</a:t>
            </a:r>
            <a:r>
              <a:rPr lang="fr-FR" baseline="0" dirty="0" smtClean="0"/>
              <a:t> </a:t>
            </a:r>
            <a:r>
              <a:rPr lang="fr-FR" baseline="0" dirty="0" err="1" smtClean="0"/>
              <a:t>minimiséieren</a:t>
            </a:r>
            <a:r>
              <a:rPr lang="fr-FR" baseline="0" dirty="0" smtClean="0"/>
              <a:t> » an « 2tens d’</a:t>
            </a:r>
            <a:r>
              <a:rPr lang="fr-FR" baseline="0" dirty="0" err="1" smtClean="0"/>
              <a:t>opstellen</a:t>
            </a:r>
            <a:r>
              <a:rPr lang="fr-FR" baseline="0" dirty="0" smtClean="0"/>
              <a:t> </a:t>
            </a:r>
            <a:r>
              <a:rPr lang="fr-FR" baseline="0" dirty="0" err="1" smtClean="0"/>
              <a:t>vun</a:t>
            </a:r>
            <a:r>
              <a:rPr lang="fr-FR" baseline="0" dirty="0" smtClean="0"/>
              <a:t> enger procédure écrite ». </a:t>
            </a:r>
          </a:p>
          <a:p>
            <a:pPr marL="0" indent="0">
              <a:buFontTx/>
              <a:buNone/>
            </a:pPr>
            <a:r>
              <a:rPr lang="fr-FR" baseline="0" dirty="0" err="1" smtClean="0"/>
              <a:t>Wéi</a:t>
            </a:r>
            <a:r>
              <a:rPr lang="fr-FR" baseline="0" dirty="0" smtClean="0"/>
              <a:t> </a:t>
            </a:r>
            <a:r>
              <a:rPr lang="fr-FR" baseline="0" dirty="0" err="1" smtClean="0"/>
              <a:t>dir</a:t>
            </a:r>
            <a:r>
              <a:rPr lang="fr-FR" baseline="0" dirty="0" smtClean="0"/>
              <a:t> </a:t>
            </a:r>
            <a:r>
              <a:rPr lang="fr-FR" baseline="0" dirty="0" err="1" smtClean="0"/>
              <a:t>vielleicht</a:t>
            </a:r>
            <a:r>
              <a:rPr lang="fr-FR" baseline="0" dirty="0" smtClean="0"/>
              <a:t> </a:t>
            </a:r>
            <a:r>
              <a:rPr lang="fr-FR" baseline="0" dirty="0" err="1" smtClean="0"/>
              <a:t>schon</a:t>
            </a:r>
            <a:r>
              <a:rPr lang="fr-FR" baseline="0" dirty="0" smtClean="0"/>
              <a:t> </a:t>
            </a:r>
            <a:r>
              <a:rPr lang="fr-FR" baseline="0" dirty="0" err="1" smtClean="0"/>
              <a:t>gelies</a:t>
            </a:r>
            <a:r>
              <a:rPr lang="fr-FR" baseline="0" dirty="0" smtClean="0"/>
              <a:t> </a:t>
            </a:r>
            <a:r>
              <a:rPr lang="fr-FR" baseline="0" dirty="0" err="1" smtClean="0"/>
              <a:t>hudd</a:t>
            </a:r>
            <a:r>
              <a:rPr lang="fr-FR" baseline="0" dirty="0" smtClean="0"/>
              <a:t>, gouf et </a:t>
            </a:r>
            <a:r>
              <a:rPr lang="fr-FR" baseline="0" dirty="0" err="1" smtClean="0"/>
              <a:t>schon</a:t>
            </a:r>
            <a:r>
              <a:rPr lang="fr-FR" baseline="0" dirty="0" smtClean="0"/>
              <a:t> </a:t>
            </a:r>
            <a:r>
              <a:rPr lang="fr-FR" baseline="0" dirty="0" err="1" smtClean="0"/>
              <a:t>eng</a:t>
            </a:r>
            <a:r>
              <a:rPr lang="fr-FR" baseline="0" dirty="0" smtClean="0"/>
              <a:t> procédure écrite </a:t>
            </a:r>
          </a:p>
          <a:p>
            <a:pPr marL="0" indent="0">
              <a:buFontTx/>
              <a:buNone/>
            </a:pPr>
            <a:endParaRPr lang="fr-FR" baseline="0" dirty="0" smtClean="0"/>
          </a:p>
          <a:p>
            <a:pPr marL="171450" indent="-171450">
              <a:buFontTx/>
              <a:buChar char="-"/>
            </a:pPr>
            <a:r>
              <a:rPr lang="fr-FR" b="1" baseline="0" dirty="0" err="1" smtClean="0"/>
              <a:t>Wéi</a:t>
            </a:r>
            <a:r>
              <a:rPr lang="fr-FR" b="1" baseline="0" dirty="0" smtClean="0"/>
              <a:t> </a:t>
            </a:r>
            <a:r>
              <a:rPr lang="fr-FR" b="1" baseline="0" dirty="0" err="1" smtClean="0"/>
              <a:t>hunn</a:t>
            </a:r>
            <a:r>
              <a:rPr lang="fr-FR" b="1" baseline="0" dirty="0" smtClean="0"/>
              <a:t> </a:t>
            </a:r>
            <a:r>
              <a:rPr lang="fr-FR" b="1" baseline="0" dirty="0" err="1" smtClean="0"/>
              <a:t>ech</a:t>
            </a:r>
            <a:r>
              <a:rPr lang="fr-FR" b="1" baseline="0" dirty="0" smtClean="0"/>
              <a:t> op problématique </a:t>
            </a:r>
            <a:r>
              <a:rPr lang="fr-FR" b="1" baseline="0" dirty="0" err="1" smtClean="0"/>
              <a:t>geenfert</a:t>
            </a:r>
            <a:r>
              <a:rPr lang="fr-FR" b="1" baseline="0" dirty="0" smtClean="0"/>
              <a:t>?</a:t>
            </a:r>
          </a:p>
          <a:p>
            <a:pPr marL="0" indent="0">
              <a:buFontTx/>
              <a:buNone/>
            </a:pPr>
            <a:r>
              <a:rPr lang="fr-FR" baseline="0" dirty="0" err="1" smtClean="0"/>
              <a:t>Ech</a:t>
            </a:r>
            <a:r>
              <a:rPr lang="fr-FR" baseline="0" dirty="0" smtClean="0"/>
              <a:t> </a:t>
            </a:r>
            <a:r>
              <a:rPr lang="fr-FR" baseline="0" dirty="0" err="1" smtClean="0"/>
              <a:t>hunn</a:t>
            </a:r>
            <a:r>
              <a:rPr lang="fr-FR" baseline="0" dirty="0" smtClean="0"/>
              <a:t> </a:t>
            </a:r>
            <a:r>
              <a:rPr lang="fr-FR" baseline="0" dirty="0" err="1" smtClean="0"/>
              <a:t>probéiert</a:t>
            </a:r>
            <a:r>
              <a:rPr lang="fr-FR" baseline="0" dirty="0" smtClean="0"/>
              <a:t> </a:t>
            </a:r>
            <a:r>
              <a:rPr lang="fr-FR" baseline="0" dirty="0" err="1" smtClean="0"/>
              <a:t>esou</a:t>
            </a:r>
            <a:r>
              <a:rPr lang="fr-FR" baseline="0" dirty="0" smtClean="0"/>
              <a:t> </a:t>
            </a:r>
            <a:r>
              <a:rPr lang="fr-FR" baseline="0" dirty="0" err="1" smtClean="0"/>
              <a:t>firzegoen</a:t>
            </a:r>
            <a:r>
              <a:rPr lang="fr-FR" baseline="0" dirty="0" smtClean="0"/>
              <a:t> </a:t>
            </a:r>
            <a:r>
              <a:rPr lang="fr-FR" baseline="0" dirty="0" err="1" smtClean="0"/>
              <a:t>dass</a:t>
            </a:r>
            <a:r>
              <a:rPr lang="fr-FR" baseline="0" dirty="0" smtClean="0"/>
              <a:t> </a:t>
            </a:r>
            <a:r>
              <a:rPr lang="fr-FR" baseline="0" dirty="0" err="1" smtClean="0"/>
              <a:t>och</a:t>
            </a:r>
            <a:r>
              <a:rPr lang="fr-FR" baseline="0" dirty="0" smtClean="0"/>
              <a:t> </a:t>
            </a:r>
            <a:r>
              <a:rPr lang="fr-FR" baseline="0" dirty="0" err="1" smtClean="0"/>
              <a:t>eng</a:t>
            </a:r>
            <a:r>
              <a:rPr lang="fr-FR" baseline="0" dirty="0" smtClean="0"/>
              <a:t> </a:t>
            </a:r>
            <a:r>
              <a:rPr lang="fr-FR" baseline="0" dirty="0" err="1" smtClean="0"/>
              <a:t>Persoun</a:t>
            </a:r>
            <a:r>
              <a:rPr lang="fr-FR" baseline="0" dirty="0" smtClean="0"/>
              <a:t> </a:t>
            </a:r>
            <a:r>
              <a:rPr lang="fr-FR" baseline="0" dirty="0" err="1" smtClean="0"/>
              <a:t>wou</a:t>
            </a:r>
            <a:r>
              <a:rPr lang="fr-FR" baseline="0" dirty="0" smtClean="0"/>
              <a:t> </a:t>
            </a:r>
            <a:r>
              <a:rPr lang="fr-FR" baseline="0" dirty="0" err="1" smtClean="0"/>
              <a:t>naicht</a:t>
            </a:r>
            <a:r>
              <a:rPr lang="fr-FR" baseline="0" dirty="0" smtClean="0"/>
              <a:t> mat der Douanes matière </a:t>
            </a:r>
            <a:r>
              <a:rPr lang="fr-FR" baseline="0" dirty="0" err="1" smtClean="0"/>
              <a:t>zedinn</a:t>
            </a:r>
            <a:r>
              <a:rPr lang="fr-FR" baseline="0" dirty="0" smtClean="0"/>
              <a:t> </a:t>
            </a:r>
            <a:r>
              <a:rPr lang="fr-FR" baseline="0" dirty="0" err="1" smtClean="0"/>
              <a:t>huet</a:t>
            </a:r>
            <a:r>
              <a:rPr lang="fr-FR" baseline="0" dirty="0" smtClean="0"/>
              <a:t>, den sujet </a:t>
            </a:r>
            <a:r>
              <a:rPr lang="fr-FR" baseline="0" dirty="0" err="1" smtClean="0"/>
              <a:t>respektiv</a:t>
            </a:r>
            <a:r>
              <a:rPr lang="fr-FR" baseline="0" dirty="0" smtClean="0"/>
              <a:t> den Dossier </a:t>
            </a:r>
            <a:r>
              <a:rPr lang="fr-FR" baseline="0" dirty="0" err="1" smtClean="0"/>
              <a:t>kann</a:t>
            </a:r>
            <a:r>
              <a:rPr lang="fr-FR" baseline="0" dirty="0" smtClean="0"/>
              <a:t> </a:t>
            </a:r>
            <a:r>
              <a:rPr lang="fr-FR" baseline="0" dirty="0" err="1" smtClean="0"/>
              <a:t>verstoen</a:t>
            </a:r>
            <a:r>
              <a:rPr lang="fr-FR" baseline="0" dirty="0" smtClean="0"/>
              <a:t>. Vue </a:t>
            </a:r>
            <a:r>
              <a:rPr lang="fr-FR" baseline="0" dirty="0" err="1" smtClean="0"/>
              <a:t>dass</a:t>
            </a:r>
            <a:r>
              <a:rPr lang="fr-FR" baseline="0" dirty="0" smtClean="0"/>
              <a:t> </a:t>
            </a:r>
            <a:r>
              <a:rPr lang="fr-FR" baseline="0" dirty="0" err="1" smtClean="0"/>
              <a:t>ech</a:t>
            </a:r>
            <a:r>
              <a:rPr lang="fr-FR" baseline="0" dirty="0" smtClean="0"/>
              <a:t> </a:t>
            </a:r>
            <a:r>
              <a:rPr lang="fr-FR" baseline="0" dirty="0" err="1" smtClean="0"/>
              <a:t>mech</a:t>
            </a:r>
            <a:r>
              <a:rPr lang="fr-FR" baseline="0" dirty="0" smtClean="0"/>
              <a:t> </a:t>
            </a:r>
            <a:r>
              <a:rPr lang="fr-FR" baseline="0" dirty="0" err="1" smtClean="0"/>
              <a:t>selwer</a:t>
            </a:r>
            <a:r>
              <a:rPr lang="fr-FR" baseline="0" dirty="0" smtClean="0"/>
              <a:t> </a:t>
            </a:r>
            <a:r>
              <a:rPr lang="fr-FR" baseline="0" dirty="0" err="1" smtClean="0"/>
              <a:t>hunn</a:t>
            </a:r>
            <a:r>
              <a:rPr lang="fr-FR" baseline="0" dirty="0" smtClean="0"/>
              <a:t> </a:t>
            </a:r>
            <a:r>
              <a:rPr lang="fr-FR" baseline="0" dirty="0" err="1" smtClean="0"/>
              <a:t>misten</a:t>
            </a:r>
            <a:r>
              <a:rPr lang="fr-FR" baseline="0" dirty="0" smtClean="0"/>
              <a:t> mat </a:t>
            </a:r>
            <a:r>
              <a:rPr lang="fr-FR" baseline="0" dirty="0" err="1" smtClean="0"/>
              <a:t>dem</a:t>
            </a:r>
            <a:r>
              <a:rPr lang="fr-FR" baseline="0" dirty="0" smtClean="0"/>
              <a:t> </a:t>
            </a:r>
            <a:r>
              <a:rPr lang="fr-FR" baseline="0" dirty="0" err="1" smtClean="0"/>
              <a:t>thema</a:t>
            </a:r>
            <a:r>
              <a:rPr lang="fr-FR" baseline="0" dirty="0" smtClean="0"/>
              <a:t> </a:t>
            </a:r>
            <a:r>
              <a:rPr lang="fr-FR" baseline="0" dirty="0" err="1" smtClean="0"/>
              <a:t>auserneen</a:t>
            </a:r>
            <a:r>
              <a:rPr lang="fr-FR" baseline="0" dirty="0" smtClean="0"/>
              <a:t> </a:t>
            </a:r>
            <a:r>
              <a:rPr lang="fr-FR" baseline="0" dirty="0" err="1" smtClean="0"/>
              <a:t>setzen</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dovuner</a:t>
            </a:r>
            <a:r>
              <a:rPr lang="fr-FR" baseline="0" dirty="0" smtClean="0"/>
              <a:t> </a:t>
            </a:r>
            <a:r>
              <a:rPr lang="fr-FR" baseline="0" dirty="0" err="1" smtClean="0"/>
              <a:t>profitéiert</a:t>
            </a:r>
            <a:r>
              <a:rPr lang="fr-FR" baseline="0" dirty="0" smtClean="0"/>
              <a:t> </a:t>
            </a:r>
            <a:r>
              <a:rPr lang="fr-FR" baseline="0" dirty="0" err="1" smtClean="0"/>
              <a:t>dass</a:t>
            </a:r>
            <a:r>
              <a:rPr lang="fr-FR" baseline="0" dirty="0" smtClean="0"/>
              <a:t> </a:t>
            </a:r>
            <a:r>
              <a:rPr lang="fr-FR" baseline="0" dirty="0" err="1" smtClean="0"/>
              <a:t>och</a:t>
            </a:r>
            <a:r>
              <a:rPr lang="fr-FR" baseline="0" dirty="0" smtClean="0"/>
              <a:t> </a:t>
            </a:r>
            <a:r>
              <a:rPr lang="fr-FR" baseline="0" dirty="0" err="1" smtClean="0"/>
              <a:t>ech</a:t>
            </a:r>
            <a:r>
              <a:rPr lang="fr-FR" baseline="0" dirty="0" smtClean="0"/>
              <a:t> </a:t>
            </a:r>
            <a:r>
              <a:rPr lang="fr-FR" baseline="0" dirty="0" err="1" smtClean="0"/>
              <a:t>bei</a:t>
            </a:r>
            <a:r>
              <a:rPr lang="fr-FR" baseline="0" dirty="0" smtClean="0"/>
              <a:t> soit disant 0 </a:t>
            </a:r>
            <a:r>
              <a:rPr lang="fr-FR" baseline="0" dirty="0" err="1" smtClean="0"/>
              <a:t>ugefangen</a:t>
            </a:r>
            <a:r>
              <a:rPr lang="fr-FR" baseline="0" dirty="0" smtClean="0"/>
              <a:t> </a:t>
            </a:r>
            <a:r>
              <a:rPr lang="fr-FR" baseline="0" dirty="0" err="1" smtClean="0"/>
              <a:t>hunn</a:t>
            </a:r>
            <a:r>
              <a:rPr lang="fr-FR" baseline="0" dirty="0" smtClean="0"/>
              <a:t>. </a:t>
            </a:r>
          </a:p>
          <a:p>
            <a:pPr marL="0" indent="0">
              <a:buFontTx/>
              <a:buNone/>
            </a:pPr>
            <a:r>
              <a:rPr lang="fr-FR" baseline="0" dirty="0" err="1" smtClean="0"/>
              <a:t>Amufank</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mech</a:t>
            </a:r>
            <a:r>
              <a:rPr lang="fr-FR" baseline="0" dirty="0" smtClean="0"/>
              <a:t> </a:t>
            </a:r>
            <a:r>
              <a:rPr lang="fr-FR" baseline="0" dirty="0" err="1" smtClean="0"/>
              <a:t>also</a:t>
            </a:r>
            <a:r>
              <a:rPr lang="fr-FR" baseline="0" dirty="0" smtClean="0"/>
              <a:t> mat der autorisation </a:t>
            </a:r>
            <a:r>
              <a:rPr lang="fr-FR" baseline="0" dirty="0" err="1" smtClean="0"/>
              <a:t>auserneen</a:t>
            </a:r>
            <a:r>
              <a:rPr lang="fr-FR" baseline="0" dirty="0" smtClean="0"/>
              <a:t> </a:t>
            </a:r>
            <a:r>
              <a:rPr lang="fr-FR" baseline="0" dirty="0" err="1" smtClean="0"/>
              <a:t>gesat</a:t>
            </a:r>
            <a:r>
              <a:rPr lang="fr-FR" baseline="0" dirty="0" smtClean="0"/>
              <a:t>, </a:t>
            </a:r>
            <a:r>
              <a:rPr lang="fr-FR" baseline="0" dirty="0" err="1" smtClean="0"/>
              <a:t>wat</a:t>
            </a:r>
            <a:r>
              <a:rPr lang="fr-FR" baseline="0" dirty="0" smtClean="0"/>
              <a:t> </a:t>
            </a:r>
            <a:r>
              <a:rPr lang="fr-FR" baseline="0" dirty="0" err="1" smtClean="0"/>
              <a:t>sinn</a:t>
            </a:r>
            <a:r>
              <a:rPr lang="fr-FR" baseline="0" dirty="0" smtClean="0"/>
              <a:t> </a:t>
            </a:r>
            <a:r>
              <a:rPr lang="fr-FR" baseline="0" dirty="0" err="1" smtClean="0"/>
              <a:t>critèren</a:t>
            </a:r>
            <a:r>
              <a:rPr lang="fr-FR" baseline="0" dirty="0" smtClean="0"/>
              <a:t> </a:t>
            </a:r>
            <a:r>
              <a:rPr lang="fr-FR" baseline="0" dirty="0" err="1" smtClean="0"/>
              <a:t>wat</a:t>
            </a:r>
            <a:r>
              <a:rPr lang="fr-FR" baseline="0" dirty="0" smtClean="0"/>
              <a:t> sin </a:t>
            </a:r>
            <a:r>
              <a:rPr lang="fr-FR" baseline="0" dirty="0" err="1" smtClean="0"/>
              <a:t>avantagen</a:t>
            </a:r>
            <a:r>
              <a:rPr lang="fr-FR" baseline="0" dirty="0" smtClean="0"/>
              <a:t> an sou </a:t>
            </a:r>
            <a:r>
              <a:rPr lang="fr-FR" baseline="0" dirty="0" err="1" smtClean="0"/>
              <a:t>weider</a:t>
            </a:r>
            <a:r>
              <a:rPr lang="fr-FR" baseline="0" dirty="0" smtClean="0"/>
              <a:t>, </a:t>
            </a:r>
            <a:r>
              <a:rPr lang="fr-FR" baseline="0" dirty="0" err="1" smtClean="0"/>
              <a:t>nemen</a:t>
            </a:r>
            <a:r>
              <a:rPr lang="fr-FR" baseline="0" dirty="0" smtClean="0"/>
              <a:t> </a:t>
            </a:r>
            <a:r>
              <a:rPr lang="fr-FR" baseline="0" dirty="0" err="1" smtClean="0"/>
              <a:t>andeems</a:t>
            </a:r>
            <a:r>
              <a:rPr lang="fr-FR" baseline="0" dirty="0" smtClean="0"/>
              <a:t> </a:t>
            </a:r>
            <a:r>
              <a:rPr lang="fr-FR" baseline="0" dirty="0" err="1" smtClean="0"/>
              <a:t>wou</a:t>
            </a:r>
            <a:r>
              <a:rPr lang="fr-FR" baseline="0" dirty="0" smtClean="0"/>
              <a:t> </a:t>
            </a:r>
            <a:r>
              <a:rPr lang="fr-FR" baseline="0" dirty="0" err="1" smtClean="0"/>
              <a:t>een</a:t>
            </a:r>
            <a:r>
              <a:rPr lang="fr-FR" baseline="0" dirty="0" smtClean="0"/>
              <a:t> base </a:t>
            </a:r>
            <a:r>
              <a:rPr lang="fr-FR" baseline="0" dirty="0" err="1" smtClean="0"/>
              <a:t>versteht</a:t>
            </a:r>
            <a:r>
              <a:rPr lang="fr-FR" baseline="0" dirty="0" smtClean="0"/>
              <a:t> </a:t>
            </a:r>
            <a:r>
              <a:rPr lang="fr-FR" baseline="0" dirty="0" err="1" smtClean="0"/>
              <a:t>kann</a:t>
            </a:r>
            <a:r>
              <a:rPr lang="fr-FR" baseline="0" dirty="0" smtClean="0"/>
              <a:t> </a:t>
            </a:r>
            <a:r>
              <a:rPr lang="fr-FR" baseline="0" dirty="0" err="1" smtClean="0"/>
              <a:t>een</a:t>
            </a:r>
            <a:r>
              <a:rPr lang="fr-FR" baseline="0" dirty="0" smtClean="0"/>
              <a:t> </a:t>
            </a:r>
            <a:r>
              <a:rPr lang="fr-FR" baseline="0" dirty="0" err="1" smtClean="0"/>
              <a:t>och</a:t>
            </a:r>
            <a:r>
              <a:rPr lang="fr-FR" baseline="0" dirty="0" smtClean="0"/>
              <a:t> </a:t>
            </a:r>
            <a:r>
              <a:rPr lang="fr-FR" baseline="0" dirty="0" err="1" smtClean="0"/>
              <a:t>déi</a:t>
            </a:r>
            <a:r>
              <a:rPr lang="fr-FR" baseline="0" dirty="0" smtClean="0"/>
              <a:t> </a:t>
            </a:r>
            <a:r>
              <a:rPr lang="fr-FR" baseline="0" dirty="0" err="1" smtClean="0"/>
              <a:t>liéiert</a:t>
            </a:r>
            <a:r>
              <a:rPr lang="fr-FR" baseline="0" dirty="0" smtClean="0"/>
              <a:t> </a:t>
            </a:r>
            <a:r>
              <a:rPr lang="fr-FR" baseline="0" dirty="0" err="1" smtClean="0"/>
              <a:t>risiken</a:t>
            </a:r>
            <a:r>
              <a:rPr lang="fr-FR" baseline="0" dirty="0" smtClean="0"/>
              <a:t> </a:t>
            </a:r>
            <a:r>
              <a:rPr lang="fr-FR" baseline="0" dirty="0" err="1" smtClean="0"/>
              <a:t>verstoen</a:t>
            </a:r>
            <a:r>
              <a:rPr lang="fr-FR" baseline="0" dirty="0" smtClean="0"/>
              <a:t>. </a:t>
            </a:r>
            <a:br>
              <a:rPr lang="fr-FR" baseline="0" dirty="0" smtClean="0"/>
            </a:br>
            <a:r>
              <a:rPr lang="fr-FR" baseline="0" dirty="0" smtClean="0"/>
              <a:t>2tens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eemol</a:t>
            </a:r>
            <a:r>
              <a:rPr lang="fr-FR" baseline="0" dirty="0" smtClean="0"/>
              <a:t> den audit </a:t>
            </a:r>
            <a:r>
              <a:rPr lang="fr-FR" baseline="0" dirty="0" err="1" smtClean="0"/>
              <a:t>firgestallt</a:t>
            </a:r>
            <a:r>
              <a:rPr lang="fr-FR" baseline="0" dirty="0" smtClean="0"/>
              <a:t>, </a:t>
            </a:r>
            <a:r>
              <a:rPr lang="fr-FR" baseline="0" dirty="0" err="1" smtClean="0"/>
              <a:t>zumols</a:t>
            </a:r>
            <a:r>
              <a:rPr lang="fr-FR" baseline="0" dirty="0" smtClean="0"/>
              <a:t> den déroulement </a:t>
            </a:r>
            <a:r>
              <a:rPr lang="fr-FR" baseline="0" dirty="0" err="1" smtClean="0"/>
              <a:t>vun</a:t>
            </a:r>
            <a:r>
              <a:rPr lang="fr-FR" baseline="0" dirty="0" smtClean="0"/>
              <a:t> </a:t>
            </a:r>
            <a:r>
              <a:rPr lang="fr-FR" baseline="0" dirty="0" err="1" smtClean="0"/>
              <a:t>engemn</a:t>
            </a:r>
            <a:r>
              <a:rPr lang="fr-FR" baseline="0" dirty="0" smtClean="0"/>
              <a:t> audit </a:t>
            </a:r>
            <a:r>
              <a:rPr lang="fr-FR" baseline="0" dirty="0" err="1" smtClean="0"/>
              <a:t>ass</a:t>
            </a:r>
            <a:r>
              <a:rPr lang="fr-FR" baseline="0" dirty="0" smtClean="0"/>
              <a:t> </a:t>
            </a:r>
            <a:r>
              <a:rPr lang="fr-FR" baseline="0" dirty="0" err="1" smtClean="0"/>
              <a:t>intressant</a:t>
            </a:r>
            <a:r>
              <a:rPr lang="fr-FR" baseline="0" dirty="0" smtClean="0"/>
              <a:t> </a:t>
            </a:r>
            <a:r>
              <a:rPr lang="fr-FR" baseline="0" dirty="0" err="1" smtClean="0"/>
              <a:t>fir</a:t>
            </a:r>
            <a:r>
              <a:rPr lang="fr-FR" baseline="0" dirty="0" smtClean="0"/>
              <a:t> d’</a:t>
            </a:r>
            <a:r>
              <a:rPr lang="fr-FR" baseline="0" dirty="0" err="1" smtClean="0"/>
              <a:t>problèmatique</a:t>
            </a:r>
            <a:r>
              <a:rPr lang="fr-FR" baseline="0" dirty="0" smtClean="0"/>
              <a:t>, an </a:t>
            </a:r>
            <a:r>
              <a:rPr lang="fr-FR" baseline="0" dirty="0" err="1" smtClean="0"/>
              <a:t>och</a:t>
            </a:r>
            <a:r>
              <a:rPr lang="fr-FR" baseline="0" dirty="0" smtClean="0"/>
              <a:t> </a:t>
            </a:r>
            <a:r>
              <a:rPr lang="fr-FR" baseline="0" dirty="0" err="1" smtClean="0"/>
              <a:t>wichteg</a:t>
            </a:r>
            <a:r>
              <a:rPr lang="fr-FR" baseline="0" dirty="0" smtClean="0"/>
              <a:t> </a:t>
            </a:r>
            <a:r>
              <a:rPr lang="fr-FR" baseline="0" dirty="0" err="1" smtClean="0"/>
              <a:t>fir</a:t>
            </a:r>
            <a:r>
              <a:rPr lang="fr-FR" baseline="0" dirty="0" smtClean="0"/>
              <a:t> </a:t>
            </a:r>
            <a:r>
              <a:rPr lang="fr-FR" baseline="0" dirty="0" err="1" smtClean="0"/>
              <a:t>dass</a:t>
            </a:r>
            <a:r>
              <a:rPr lang="fr-FR" baseline="0" dirty="0" smtClean="0"/>
              <a:t> den Lecteur </a:t>
            </a:r>
            <a:r>
              <a:rPr lang="fr-FR" baseline="0" dirty="0" err="1" smtClean="0"/>
              <a:t>eng</a:t>
            </a:r>
            <a:r>
              <a:rPr lang="fr-FR" baseline="0" dirty="0" smtClean="0"/>
              <a:t> </a:t>
            </a:r>
            <a:r>
              <a:rPr lang="fr-FR" baseline="0" dirty="0" err="1" smtClean="0"/>
              <a:t>idee</a:t>
            </a:r>
            <a:r>
              <a:rPr lang="fr-FR" baseline="0" dirty="0" smtClean="0"/>
              <a:t> </a:t>
            </a:r>
            <a:r>
              <a:rPr lang="fr-FR" baseline="0" dirty="0" err="1" smtClean="0"/>
              <a:t>vum</a:t>
            </a:r>
            <a:r>
              <a:rPr lang="fr-FR" baseline="0" dirty="0" smtClean="0"/>
              <a:t> Audit </a:t>
            </a:r>
            <a:r>
              <a:rPr lang="fr-FR" baseline="0" dirty="0" err="1" smtClean="0"/>
              <a:t>krit</a:t>
            </a:r>
            <a:r>
              <a:rPr lang="fr-FR" baseline="0" dirty="0" smtClean="0"/>
              <a:t>. </a:t>
            </a:r>
            <a:br>
              <a:rPr lang="fr-FR" baseline="0" dirty="0" smtClean="0"/>
            </a:br>
            <a:r>
              <a:rPr lang="fr-FR" baseline="0" dirty="0" err="1" smtClean="0"/>
              <a:t>Wou</a:t>
            </a:r>
            <a:r>
              <a:rPr lang="fr-FR" baseline="0" dirty="0" smtClean="0"/>
              <a:t> </a:t>
            </a:r>
            <a:r>
              <a:rPr lang="fr-FR" baseline="0" dirty="0" err="1" smtClean="0"/>
              <a:t>ech</a:t>
            </a:r>
            <a:r>
              <a:rPr lang="fr-FR" baseline="0" dirty="0" smtClean="0"/>
              <a:t> bis </a:t>
            </a:r>
            <a:r>
              <a:rPr lang="fr-FR" baseline="0" dirty="0" err="1" smtClean="0"/>
              <a:t>eng</a:t>
            </a:r>
            <a:r>
              <a:rPr lang="fr-FR" baseline="0" dirty="0" smtClean="0"/>
              <a:t> </a:t>
            </a:r>
            <a:r>
              <a:rPr lang="fr-FR" baseline="0" dirty="0" err="1" smtClean="0"/>
              <a:t>idee</a:t>
            </a:r>
            <a:r>
              <a:rPr lang="fr-FR" baseline="0" dirty="0" smtClean="0"/>
              <a:t> </a:t>
            </a:r>
            <a:r>
              <a:rPr lang="fr-FR" baseline="0" dirty="0" err="1" smtClean="0"/>
              <a:t>iwer</a:t>
            </a:r>
            <a:r>
              <a:rPr lang="fr-FR" baseline="0" dirty="0" smtClean="0"/>
              <a:t> den sujet </a:t>
            </a:r>
            <a:r>
              <a:rPr lang="fr-FR" baseline="0" dirty="0" err="1" smtClean="0"/>
              <a:t>gesammlt</a:t>
            </a:r>
            <a:r>
              <a:rPr lang="fr-FR" baseline="0" dirty="0" smtClean="0"/>
              <a:t> </a:t>
            </a:r>
            <a:r>
              <a:rPr lang="fr-FR" baseline="0" dirty="0" err="1" smtClean="0"/>
              <a:t>hat</a:t>
            </a:r>
            <a:r>
              <a:rPr lang="fr-FR" baseline="0" dirty="0" smtClean="0"/>
              <a:t> an +/- </a:t>
            </a:r>
            <a:r>
              <a:rPr lang="fr-FR" baseline="0" dirty="0" err="1" smtClean="0"/>
              <a:t>verstan</a:t>
            </a:r>
            <a:r>
              <a:rPr lang="fr-FR" baseline="0" dirty="0" smtClean="0"/>
              <a:t> </a:t>
            </a:r>
            <a:r>
              <a:rPr lang="fr-FR" baseline="0" dirty="0" err="1" smtClean="0"/>
              <a:t>hunn</a:t>
            </a:r>
            <a:r>
              <a:rPr lang="fr-FR" baseline="0" dirty="0" smtClean="0"/>
              <a:t> </a:t>
            </a:r>
            <a:r>
              <a:rPr lang="fr-FR" baseline="0" dirty="0" err="1" smtClean="0"/>
              <a:t>wéi</a:t>
            </a:r>
            <a:r>
              <a:rPr lang="fr-FR" baseline="0" dirty="0" smtClean="0"/>
              <a:t> den audit </a:t>
            </a:r>
            <a:r>
              <a:rPr lang="fr-FR" baseline="0" dirty="0" err="1" smtClean="0"/>
              <a:t>vun</a:t>
            </a:r>
            <a:r>
              <a:rPr lang="fr-FR" baseline="0" dirty="0" smtClean="0"/>
              <a:t> </a:t>
            </a:r>
            <a:r>
              <a:rPr lang="fr-FR" baseline="0" dirty="0" err="1" smtClean="0"/>
              <a:t>engem</a:t>
            </a:r>
            <a:r>
              <a:rPr lang="fr-FR" baseline="0" dirty="0" smtClean="0"/>
              <a:t> OEA </a:t>
            </a:r>
            <a:r>
              <a:rPr lang="fr-FR" baseline="0" dirty="0" err="1" smtClean="0"/>
              <a:t>soll</a:t>
            </a:r>
            <a:r>
              <a:rPr lang="fr-FR" baseline="0" dirty="0" smtClean="0"/>
              <a:t> </a:t>
            </a:r>
            <a:r>
              <a:rPr lang="fr-FR" baseline="0" dirty="0" err="1" smtClean="0"/>
              <a:t>vun</a:t>
            </a:r>
            <a:r>
              <a:rPr lang="fr-FR" baseline="0" dirty="0" smtClean="0"/>
              <a:t> </a:t>
            </a:r>
            <a:r>
              <a:rPr lang="fr-FR" baseline="0" dirty="0" err="1" smtClean="0"/>
              <a:t>statten</a:t>
            </a:r>
            <a:r>
              <a:rPr lang="fr-FR" baseline="0" dirty="0" smtClean="0"/>
              <a:t> </a:t>
            </a:r>
            <a:r>
              <a:rPr lang="fr-FR" baseline="0" dirty="0" err="1" smtClean="0"/>
              <a:t>goen</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mer </a:t>
            </a:r>
            <a:r>
              <a:rPr lang="fr-FR" baseline="0" dirty="0" err="1" smtClean="0"/>
              <a:t>erklären</a:t>
            </a:r>
            <a:r>
              <a:rPr lang="fr-FR" baseline="0" dirty="0" smtClean="0"/>
              <a:t> </a:t>
            </a:r>
            <a:r>
              <a:rPr lang="fr-FR" baseline="0" dirty="0" err="1" smtClean="0"/>
              <a:t>gelos</a:t>
            </a:r>
            <a:r>
              <a:rPr lang="fr-FR" baseline="0" dirty="0" smtClean="0"/>
              <a:t> </a:t>
            </a:r>
            <a:r>
              <a:rPr lang="fr-FR" baseline="0" dirty="0" err="1" smtClean="0"/>
              <a:t>wéi</a:t>
            </a:r>
            <a:r>
              <a:rPr lang="fr-FR" baseline="0" dirty="0" smtClean="0"/>
              <a:t> den Audit et actuelle </a:t>
            </a:r>
            <a:r>
              <a:rPr lang="fr-FR" baseline="0" dirty="0" err="1" smtClean="0"/>
              <a:t>mescht</a:t>
            </a:r>
            <a:r>
              <a:rPr lang="fr-FR" baseline="0" dirty="0" smtClean="0"/>
              <a:t>. </a:t>
            </a:r>
          </a:p>
          <a:p>
            <a:pPr marL="0" indent="0">
              <a:buFontTx/>
              <a:buNone/>
            </a:pPr>
            <a:r>
              <a:rPr lang="fr-FR" baseline="0" dirty="0" err="1" smtClean="0"/>
              <a:t>Desweideren</a:t>
            </a:r>
            <a:r>
              <a:rPr lang="fr-FR" baseline="0" dirty="0" smtClean="0"/>
              <a:t> </a:t>
            </a:r>
            <a:r>
              <a:rPr lang="fr-FR" baseline="0" dirty="0" err="1" smtClean="0"/>
              <a:t>krut</a:t>
            </a:r>
            <a:r>
              <a:rPr lang="fr-FR" baseline="0" dirty="0" smtClean="0"/>
              <a:t> </a:t>
            </a:r>
            <a:r>
              <a:rPr lang="fr-FR" baseline="0" dirty="0" err="1" smtClean="0"/>
              <a:t>ech</a:t>
            </a:r>
            <a:r>
              <a:rPr lang="fr-FR" baseline="0" dirty="0" smtClean="0"/>
              <a:t> procédure écrite actuelle </a:t>
            </a:r>
            <a:r>
              <a:rPr lang="fr-FR" baseline="0" dirty="0" err="1" smtClean="0"/>
              <a:t>vum</a:t>
            </a:r>
            <a:r>
              <a:rPr lang="fr-FR" baseline="0" dirty="0" smtClean="0"/>
              <a:t> IDA, </a:t>
            </a:r>
            <a:r>
              <a:rPr lang="fr-FR" baseline="0" dirty="0" err="1" smtClean="0"/>
              <a:t>dodrop</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mech</a:t>
            </a:r>
            <a:r>
              <a:rPr lang="fr-FR" baseline="0" dirty="0" smtClean="0"/>
              <a:t> </a:t>
            </a:r>
            <a:r>
              <a:rPr lang="fr-FR" baseline="0" dirty="0" err="1" smtClean="0"/>
              <a:t>dono</a:t>
            </a:r>
            <a:r>
              <a:rPr lang="fr-FR" baseline="0" dirty="0" smtClean="0"/>
              <a:t> </a:t>
            </a:r>
            <a:r>
              <a:rPr lang="fr-FR" baseline="0" dirty="0" err="1" smtClean="0"/>
              <a:t>baséiert</a:t>
            </a:r>
            <a:r>
              <a:rPr lang="fr-FR" baseline="0" dirty="0" smtClean="0"/>
              <a:t> an net « </a:t>
            </a:r>
            <a:r>
              <a:rPr lang="fr-FR" baseline="0" dirty="0" err="1" smtClean="0"/>
              <a:t>vun</a:t>
            </a:r>
            <a:r>
              <a:rPr lang="fr-FR" baseline="0" dirty="0" smtClean="0"/>
              <a:t> scratch » </a:t>
            </a:r>
            <a:r>
              <a:rPr lang="fr-FR" baseline="0" dirty="0" err="1" smtClean="0"/>
              <a:t>ugefangen</a:t>
            </a:r>
            <a:r>
              <a:rPr lang="fr-FR" baseline="0" dirty="0" smtClean="0"/>
              <a:t>.</a:t>
            </a:r>
          </a:p>
          <a:p>
            <a:pPr marL="0" indent="0">
              <a:buFontTx/>
              <a:buNone/>
            </a:pPr>
            <a:r>
              <a:rPr lang="fr-FR" baseline="0" dirty="0" smtClean="0"/>
              <a:t>An </a:t>
            </a:r>
            <a:r>
              <a:rPr lang="fr-FR" baseline="0" dirty="0" err="1" smtClean="0"/>
              <a:t>deems</a:t>
            </a:r>
            <a:r>
              <a:rPr lang="fr-FR" baseline="0" dirty="0" smtClean="0"/>
              <a:t> </a:t>
            </a:r>
            <a:r>
              <a:rPr lang="fr-FR" baseline="0" dirty="0" err="1" smtClean="0"/>
              <a:t>wou</a:t>
            </a:r>
            <a:r>
              <a:rPr lang="fr-FR" baseline="0" dirty="0" smtClean="0"/>
              <a:t> </a:t>
            </a:r>
            <a:r>
              <a:rPr lang="fr-FR" baseline="0" dirty="0" err="1" smtClean="0"/>
              <a:t>ech</a:t>
            </a:r>
            <a:r>
              <a:rPr lang="fr-FR" baseline="0" dirty="0" smtClean="0"/>
              <a:t> den déroulement actuel </a:t>
            </a:r>
            <a:r>
              <a:rPr lang="fr-FR" baseline="0" dirty="0" err="1" smtClean="0"/>
              <a:t>hai</a:t>
            </a:r>
            <a:r>
              <a:rPr lang="fr-FR" baseline="0" dirty="0" smtClean="0"/>
              <a:t> </a:t>
            </a:r>
            <a:r>
              <a:rPr lang="fr-FR" baseline="0" dirty="0" err="1" smtClean="0"/>
              <a:t>am</a:t>
            </a:r>
            <a:r>
              <a:rPr lang="fr-FR" baseline="0" dirty="0" smtClean="0"/>
              <a:t> Land, mat </a:t>
            </a:r>
            <a:r>
              <a:rPr lang="fr-FR" baseline="0" dirty="0" err="1" smtClean="0"/>
              <a:t>dem</a:t>
            </a:r>
            <a:r>
              <a:rPr lang="fr-FR" baseline="0" dirty="0" smtClean="0"/>
              <a:t> déroulement </a:t>
            </a:r>
            <a:r>
              <a:rPr lang="fr-FR" baseline="0" dirty="0" err="1" smtClean="0"/>
              <a:t>am</a:t>
            </a:r>
            <a:r>
              <a:rPr lang="fr-FR" baseline="0" dirty="0" smtClean="0"/>
              <a:t> </a:t>
            </a:r>
            <a:r>
              <a:rPr lang="fr-FR" baseline="0" dirty="0" err="1" smtClean="0"/>
              <a:t>Ausland</a:t>
            </a:r>
            <a:r>
              <a:rPr lang="fr-FR" baseline="0" dirty="0" smtClean="0"/>
              <a:t> </a:t>
            </a:r>
            <a:r>
              <a:rPr lang="fr-FR" baseline="0" dirty="0" err="1" smtClean="0"/>
              <a:t>respektiv</a:t>
            </a:r>
            <a:r>
              <a:rPr lang="fr-FR" baseline="0" dirty="0" smtClean="0"/>
              <a:t> mat den lignes directrices </a:t>
            </a:r>
            <a:r>
              <a:rPr lang="fr-FR" baseline="0" dirty="0" err="1" smtClean="0"/>
              <a:t>verglach</a:t>
            </a:r>
            <a:r>
              <a:rPr lang="fr-FR" baseline="0" dirty="0" smtClean="0"/>
              <a:t> </a:t>
            </a:r>
            <a:r>
              <a:rPr lang="fr-FR" baseline="0" dirty="0" err="1" smtClean="0"/>
              <a:t>hunn</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meng</a:t>
            </a:r>
            <a:r>
              <a:rPr lang="fr-FR" baseline="0" dirty="0" smtClean="0"/>
              <a:t> </a:t>
            </a:r>
            <a:r>
              <a:rPr lang="fr-FR" baseline="0" dirty="0" err="1" smtClean="0"/>
              <a:t>recommandationen</a:t>
            </a:r>
            <a:r>
              <a:rPr lang="fr-FR" baseline="0" dirty="0" smtClean="0"/>
              <a:t> </a:t>
            </a:r>
            <a:r>
              <a:rPr lang="fr-FR" baseline="0" dirty="0" err="1" smtClean="0"/>
              <a:t>opgestallt</a:t>
            </a:r>
            <a:r>
              <a:rPr lang="fr-FR" baseline="0" dirty="0" smtClean="0"/>
              <a:t>. </a:t>
            </a:r>
          </a:p>
          <a:p>
            <a:pPr marL="0" indent="0">
              <a:buFontTx/>
              <a:buNone/>
            </a:pPr>
            <a:endParaRPr lang="fr-FR" baseline="0" dirty="0" smtClean="0"/>
          </a:p>
          <a:p>
            <a:pPr marL="0" indent="0">
              <a:buFontTx/>
              <a:buNone/>
            </a:pPr>
            <a:endParaRPr lang="fr-FR" baseline="0" dirty="0" smtClean="0"/>
          </a:p>
          <a:p>
            <a:pPr marL="171450" indent="-171450">
              <a:buFontTx/>
              <a:buChar char="-"/>
            </a:pPr>
            <a:r>
              <a:rPr lang="fr-FR" b="1" dirty="0" smtClean="0"/>
              <a:t>Présentation </a:t>
            </a:r>
            <a:r>
              <a:rPr lang="fr-FR" b="1" dirty="0" err="1" smtClean="0"/>
              <a:t>vum</a:t>
            </a:r>
            <a:r>
              <a:rPr lang="fr-FR" b="1" dirty="0" smtClean="0"/>
              <a:t> Sommaire </a:t>
            </a:r>
            <a:r>
              <a:rPr lang="fr-FR" b="1" dirty="0" err="1" smtClean="0"/>
              <a:t>vun</a:t>
            </a:r>
            <a:r>
              <a:rPr lang="fr-FR" b="1" dirty="0" smtClean="0"/>
              <a:t> der Présentation:</a:t>
            </a:r>
          </a:p>
          <a:p>
            <a:r>
              <a:rPr lang="fr-FR" dirty="0" smtClean="0"/>
              <a:t>	Le sujet</a:t>
            </a:r>
          </a:p>
          <a:p>
            <a:r>
              <a:rPr lang="fr-FR" dirty="0" smtClean="0"/>
              <a:t>	L’OEA</a:t>
            </a:r>
          </a:p>
          <a:p>
            <a:r>
              <a:rPr lang="fr-FR" dirty="0" smtClean="0"/>
              <a:t>	L’audit en général</a:t>
            </a:r>
          </a:p>
          <a:p>
            <a:r>
              <a:rPr lang="fr-FR" dirty="0" smtClean="0"/>
              <a:t>	Le déroulement d’un audit d’un OEA au Luxembourg</a:t>
            </a:r>
          </a:p>
          <a:p>
            <a:r>
              <a:rPr lang="fr-FR" dirty="0" smtClean="0"/>
              <a:t>	Les recommandations</a:t>
            </a:r>
          </a:p>
          <a:p>
            <a:r>
              <a:rPr lang="fr-FR" dirty="0" smtClean="0"/>
              <a:t>	La conclusion</a:t>
            </a:r>
          </a:p>
          <a:p>
            <a:endParaRPr lang="fr-FR"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fr-FR" baseline="0" dirty="0" err="1" smtClean="0"/>
              <a:t>Also</a:t>
            </a:r>
            <a:r>
              <a:rPr lang="fr-FR" baseline="0" dirty="0" smtClean="0"/>
              <a:t> </a:t>
            </a:r>
            <a:r>
              <a:rPr lang="fr-FR" baseline="0" dirty="0" err="1" smtClean="0"/>
              <a:t>déi</a:t>
            </a:r>
            <a:r>
              <a:rPr lang="fr-FR" baseline="0" dirty="0" smtClean="0"/>
              <a:t> </a:t>
            </a:r>
            <a:r>
              <a:rPr lang="fr-FR" baseline="0" dirty="0" err="1" smtClean="0"/>
              <a:t>grous</a:t>
            </a:r>
            <a:r>
              <a:rPr lang="fr-FR" baseline="0" dirty="0" smtClean="0"/>
              <a:t> </a:t>
            </a:r>
            <a:r>
              <a:rPr lang="fr-FR" baseline="0" dirty="0" err="1" smtClean="0"/>
              <a:t>fro</a:t>
            </a:r>
            <a:r>
              <a:rPr lang="fr-FR" baseline="0" dirty="0" smtClean="0"/>
              <a:t>, </a:t>
            </a:r>
            <a:r>
              <a:rPr lang="fr-FR" baseline="0" dirty="0" err="1" smtClean="0"/>
              <a:t>wat</a:t>
            </a:r>
            <a:r>
              <a:rPr lang="fr-FR" baseline="0" dirty="0" smtClean="0"/>
              <a:t> </a:t>
            </a:r>
            <a:r>
              <a:rPr lang="fr-FR" baseline="0" dirty="0" err="1" smtClean="0"/>
              <a:t>stellen</a:t>
            </a:r>
            <a:r>
              <a:rPr lang="fr-FR" baseline="0" dirty="0" smtClean="0"/>
              <a:t> </a:t>
            </a:r>
            <a:r>
              <a:rPr lang="fr-FR" baseline="0" dirty="0" err="1" smtClean="0"/>
              <a:t>ech</a:t>
            </a:r>
            <a:r>
              <a:rPr lang="fr-FR" baseline="0" dirty="0" smtClean="0"/>
              <a:t> </a:t>
            </a:r>
            <a:r>
              <a:rPr lang="fr-FR" baseline="0" dirty="0" err="1" smtClean="0"/>
              <a:t>eech</a:t>
            </a:r>
            <a:r>
              <a:rPr lang="fr-FR" baseline="0" dirty="0" smtClean="0"/>
              <a:t> haut </a:t>
            </a:r>
            <a:r>
              <a:rPr lang="fr-FR" baseline="0" dirty="0" err="1" smtClean="0"/>
              <a:t>fir</a:t>
            </a:r>
            <a:r>
              <a:rPr lang="fr-FR" baseline="0" dirty="0" smtClean="0"/>
              <a:t>? Den Sommaire </a:t>
            </a:r>
            <a:r>
              <a:rPr lang="fr-FR" baseline="0" dirty="0" err="1" smtClean="0"/>
              <a:t>gesait</a:t>
            </a:r>
            <a:r>
              <a:rPr lang="fr-FR" baseline="0" dirty="0" smtClean="0"/>
              <a:t> fier </a:t>
            </a:r>
            <a:r>
              <a:rPr lang="fr-FR" baseline="0" dirty="0" err="1" smtClean="0"/>
              <a:t>dass</a:t>
            </a:r>
            <a:r>
              <a:rPr lang="fr-FR" baseline="0" dirty="0" smtClean="0"/>
              <a:t> </a:t>
            </a:r>
            <a:r>
              <a:rPr lang="fr-FR" baseline="0" dirty="0" err="1" smtClean="0"/>
              <a:t>ech</a:t>
            </a:r>
            <a:r>
              <a:rPr lang="fr-FR" baseline="0" dirty="0" smtClean="0"/>
              <a:t> </a:t>
            </a:r>
            <a:r>
              <a:rPr lang="fr-FR" baseline="0" dirty="0" err="1" smtClean="0"/>
              <a:t>Eech</a:t>
            </a:r>
            <a:r>
              <a:rPr lang="fr-FR" baseline="0" dirty="0" smtClean="0"/>
              <a:t> </a:t>
            </a:r>
            <a:r>
              <a:rPr lang="fr-FR" baseline="0" dirty="0" err="1" smtClean="0"/>
              <a:t>fir</a:t>
            </a:r>
            <a:r>
              <a:rPr lang="fr-FR" baseline="0" dirty="0" smtClean="0"/>
              <a:t> d’</a:t>
            </a:r>
            <a:r>
              <a:rPr lang="fr-FR" baseline="0" dirty="0" err="1" smtClean="0"/>
              <a:t>éicht</a:t>
            </a:r>
            <a:r>
              <a:rPr lang="fr-FR" baseline="0" dirty="0" smtClean="0"/>
              <a:t> </a:t>
            </a:r>
            <a:r>
              <a:rPr lang="fr-FR" baseline="0" dirty="0" err="1" smtClean="0"/>
              <a:t>eemol</a:t>
            </a:r>
            <a:r>
              <a:rPr lang="fr-FR" baseline="0" dirty="0" smtClean="0"/>
              <a:t> den OEA </a:t>
            </a:r>
            <a:r>
              <a:rPr lang="fr-FR" baseline="0" dirty="0" err="1" smtClean="0"/>
              <a:t>méi</a:t>
            </a:r>
            <a:r>
              <a:rPr lang="fr-FR" baseline="0" dirty="0" smtClean="0"/>
              <a:t> no </a:t>
            </a:r>
            <a:r>
              <a:rPr lang="fr-FR" baseline="0" dirty="0" err="1" smtClean="0"/>
              <a:t>brengen</a:t>
            </a:r>
            <a:r>
              <a:rPr lang="fr-FR" baseline="0" dirty="0" smtClean="0"/>
              <a:t>, </a:t>
            </a:r>
            <a:r>
              <a:rPr lang="fr-FR" baseline="0" dirty="0" err="1" smtClean="0"/>
              <a:t>eemol</a:t>
            </a:r>
            <a:r>
              <a:rPr lang="fr-FR" baseline="0" dirty="0" smtClean="0"/>
              <a:t> </a:t>
            </a:r>
            <a:r>
              <a:rPr lang="fr-FR" baseline="0" dirty="0" err="1" smtClean="0"/>
              <a:t>kuerz</a:t>
            </a:r>
            <a:r>
              <a:rPr lang="fr-FR" baseline="0" dirty="0" smtClean="0"/>
              <a:t> </a:t>
            </a:r>
            <a:r>
              <a:rPr lang="fr-FR" baseline="0" dirty="0" err="1" smtClean="0"/>
              <a:t>iwer</a:t>
            </a:r>
            <a:r>
              <a:rPr lang="fr-FR" baseline="0" dirty="0" smtClean="0"/>
              <a:t> den audit </a:t>
            </a:r>
            <a:r>
              <a:rPr lang="fr-FR" baseline="0" dirty="0" err="1" smtClean="0"/>
              <a:t>schwetzen</a:t>
            </a:r>
            <a:r>
              <a:rPr lang="fr-FR" baseline="0" dirty="0" smtClean="0"/>
              <a:t>, den déroulement  </a:t>
            </a:r>
            <a:r>
              <a:rPr lang="fr-FR" baseline="0" dirty="0" err="1" smtClean="0"/>
              <a:t>vum</a:t>
            </a:r>
            <a:r>
              <a:rPr lang="fr-FR" baseline="0" dirty="0" smtClean="0"/>
              <a:t> audit </a:t>
            </a:r>
            <a:r>
              <a:rPr lang="fr-FR" baseline="0" dirty="0" err="1" smtClean="0"/>
              <a:t>vun</a:t>
            </a:r>
            <a:r>
              <a:rPr lang="fr-FR" baseline="0" dirty="0" smtClean="0"/>
              <a:t> </a:t>
            </a:r>
            <a:r>
              <a:rPr lang="fr-FR" baseline="0" dirty="0" err="1" smtClean="0"/>
              <a:t>engem</a:t>
            </a:r>
            <a:r>
              <a:rPr lang="fr-FR" baseline="0" dirty="0" smtClean="0"/>
              <a:t> OEA an </a:t>
            </a:r>
            <a:r>
              <a:rPr lang="fr-FR" baseline="0" dirty="0" err="1" smtClean="0"/>
              <a:t>Letzebuerg</a:t>
            </a:r>
            <a:r>
              <a:rPr lang="fr-FR" baseline="0" dirty="0" smtClean="0"/>
              <a:t> </a:t>
            </a:r>
            <a:r>
              <a:rPr lang="fr-FR" baseline="0" dirty="0" err="1" smtClean="0"/>
              <a:t>présentéieren</a:t>
            </a:r>
            <a:r>
              <a:rPr lang="fr-FR" baseline="0" dirty="0" smtClean="0"/>
              <a:t>, </a:t>
            </a:r>
            <a:r>
              <a:rPr lang="fr-FR" baseline="0" dirty="0" err="1" smtClean="0"/>
              <a:t>dann</a:t>
            </a:r>
            <a:r>
              <a:rPr lang="fr-FR" baseline="0" dirty="0" smtClean="0"/>
              <a:t> </a:t>
            </a:r>
            <a:r>
              <a:rPr lang="fr-FR" baseline="0" dirty="0" err="1" smtClean="0"/>
              <a:t>kommen</a:t>
            </a:r>
            <a:r>
              <a:rPr lang="fr-FR" baseline="0" dirty="0" smtClean="0"/>
              <a:t> mer </a:t>
            </a:r>
            <a:r>
              <a:rPr lang="fr-FR" baseline="0" dirty="0" err="1" smtClean="0"/>
              <a:t>och</a:t>
            </a:r>
            <a:r>
              <a:rPr lang="fr-FR" baseline="0" dirty="0" smtClean="0"/>
              <a:t> </a:t>
            </a:r>
            <a:r>
              <a:rPr lang="fr-FR" baseline="0" dirty="0" err="1" smtClean="0"/>
              <a:t>schon</a:t>
            </a:r>
            <a:r>
              <a:rPr lang="fr-FR" baseline="0" dirty="0" smtClean="0"/>
              <a:t> </a:t>
            </a:r>
            <a:r>
              <a:rPr lang="fr-FR" baseline="0" dirty="0" err="1" smtClean="0"/>
              <a:t>zu</a:t>
            </a:r>
            <a:r>
              <a:rPr lang="fr-FR" baseline="0" dirty="0" smtClean="0"/>
              <a:t> den </a:t>
            </a:r>
            <a:r>
              <a:rPr lang="fr-FR" baseline="0" dirty="0" err="1" smtClean="0"/>
              <a:t>recommandationen</a:t>
            </a:r>
            <a:r>
              <a:rPr lang="fr-FR" baseline="0" dirty="0" smtClean="0"/>
              <a:t> an </a:t>
            </a:r>
            <a:r>
              <a:rPr lang="fr-FR" baseline="0" dirty="0" err="1" smtClean="0"/>
              <a:t>zum</a:t>
            </a:r>
            <a:r>
              <a:rPr lang="fr-FR" baseline="0" dirty="0" smtClean="0"/>
              <a:t> </a:t>
            </a:r>
            <a:r>
              <a:rPr lang="fr-FR" baseline="0" dirty="0" err="1" smtClean="0"/>
              <a:t>schluss</a:t>
            </a:r>
            <a:r>
              <a:rPr lang="fr-FR" baseline="0" dirty="0" smtClean="0"/>
              <a:t> </a:t>
            </a:r>
            <a:r>
              <a:rPr lang="fr-FR" baseline="0" dirty="0" err="1" smtClean="0"/>
              <a:t>nach</a:t>
            </a:r>
            <a:r>
              <a:rPr lang="fr-FR" baseline="0" dirty="0" smtClean="0"/>
              <a:t> </a:t>
            </a:r>
            <a:r>
              <a:rPr lang="fr-FR" baseline="0" dirty="0" err="1" smtClean="0"/>
              <a:t>eng</a:t>
            </a:r>
            <a:r>
              <a:rPr lang="fr-FR" baseline="0" dirty="0" smtClean="0"/>
              <a:t> </a:t>
            </a:r>
            <a:r>
              <a:rPr lang="fr-FR" baseline="0" dirty="0" err="1" smtClean="0"/>
              <a:t>kleng</a:t>
            </a:r>
            <a:r>
              <a:rPr lang="fr-FR" baseline="0" dirty="0" smtClean="0"/>
              <a:t> conclusion. </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EC2D5BD5-BCCF-4892-A47B-1366A1D542C7}" type="slidenum">
              <a:rPr lang="en-US" smtClean="0"/>
              <a:t>2</a:t>
            </a:fld>
            <a:endParaRPr lang="en-US"/>
          </a:p>
        </p:txBody>
      </p:sp>
    </p:spTree>
    <p:extLst>
      <p:ext uri="{BB962C8B-B14F-4D97-AF65-F5344CB8AC3E}">
        <p14:creationId xmlns:p14="http://schemas.microsoft.com/office/powerpoint/2010/main" val="3416571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smtClean="0"/>
              <a:t>Titelmasterformat durch Klicken bearbeiten</a:t>
            </a:r>
            <a:endParaRPr lang="fr-CH"/>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smtClean="0"/>
              <a:t>Formatvorlage des Untertitelmasters durch Klicken bearbeiten</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09.10.2024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2990715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Inhaltsplatzhalter 2"/>
          <p:cNvSpPr>
            <a:spLocks noGrp="1"/>
          </p:cNvSpPr>
          <p:nvPr>
            <p:ph idx="1"/>
          </p:nvPr>
        </p:nvSpPr>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09.10.2024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690607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smtClean="0"/>
              <a:t>Titelmasterformat durch Klicken bearbeiten</a:t>
            </a:r>
            <a:endParaRPr lang="fr-CH"/>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smtClean="0"/>
              <a:t>Formatvorlagen des Textmasters bearbeiten</a:t>
            </a:r>
          </a:p>
        </p:txBody>
      </p:sp>
      <p:sp>
        <p:nvSpPr>
          <p:cNvPr id="4" name="Datumsplatzhalter 3"/>
          <p:cNvSpPr>
            <a:spLocks noGrp="1"/>
          </p:cNvSpPr>
          <p:nvPr>
            <p:ph type="dt" sz="half" idx="10"/>
          </p:nvPr>
        </p:nvSpPr>
        <p:spPr/>
        <p:txBody>
          <a:bodyPr/>
          <a:lstStyle/>
          <a:p>
            <a:fld id="{5AFC1B58-A5CB-4888-98D1-673EE0D4D308}" type="datetimeFigureOut">
              <a:rPr lang="fr-CH" smtClean="0"/>
              <a:t>09.10.2024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993807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Inhaltsplatzhalter 2"/>
          <p:cNvSpPr>
            <a:spLocks noGrp="1"/>
          </p:cNvSpPr>
          <p:nvPr>
            <p:ph sz="half" idx="1"/>
          </p:nvPr>
        </p:nvSpPr>
        <p:spPr>
          <a:xfrm>
            <a:off x="838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Inhaltsplatzhalter 3"/>
          <p:cNvSpPr>
            <a:spLocks noGrp="1"/>
          </p:cNvSpPr>
          <p:nvPr>
            <p:ph sz="half" idx="2"/>
          </p:nvPr>
        </p:nvSpPr>
        <p:spPr>
          <a:xfrm>
            <a:off x="6172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5" name="Datumsplatzhalter 4"/>
          <p:cNvSpPr>
            <a:spLocks noGrp="1"/>
          </p:cNvSpPr>
          <p:nvPr>
            <p:ph type="dt" sz="half" idx="10"/>
          </p:nvPr>
        </p:nvSpPr>
        <p:spPr/>
        <p:txBody>
          <a:bodyPr/>
          <a:lstStyle/>
          <a:p>
            <a:fld id="{5AFC1B58-A5CB-4888-98D1-673EE0D4D308}" type="datetimeFigureOut">
              <a:rPr lang="fr-CH" smtClean="0"/>
              <a:t>09.10.2024</a:t>
            </a:fld>
            <a:endParaRPr lang="fr-CH"/>
          </a:p>
        </p:txBody>
      </p:sp>
      <p:sp>
        <p:nvSpPr>
          <p:cNvPr id="6" name="Fußzeilenplatzhalter 5"/>
          <p:cNvSpPr>
            <a:spLocks noGrp="1"/>
          </p:cNvSpPr>
          <p:nvPr>
            <p:ph type="ftr" sz="quarter" idx="11"/>
          </p:nvPr>
        </p:nvSpPr>
        <p:spPr/>
        <p:txBody>
          <a:bodyPr/>
          <a:lstStyle/>
          <a:p>
            <a:endParaRPr lang="fr-CH"/>
          </a:p>
        </p:txBody>
      </p:sp>
      <p:sp>
        <p:nvSpPr>
          <p:cNvPr id="7" name="Foliennummernplatzhalter 6"/>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2838195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smtClean="0"/>
              <a:t>Titelmasterformat durch Klicken bearbeiten</a:t>
            </a:r>
            <a:endParaRPr lang="fr-CH"/>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7" name="Datumsplatzhalter 6"/>
          <p:cNvSpPr>
            <a:spLocks noGrp="1"/>
          </p:cNvSpPr>
          <p:nvPr>
            <p:ph type="dt" sz="half" idx="10"/>
          </p:nvPr>
        </p:nvSpPr>
        <p:spPr/>
        <p:txBody>
          <a:bodyPr/>
          <a:lstStyle/>
          <a:p>
            <a:fld id="{5AFC1B58-A5CB-4888-98D1-673EE0D4D308}" type="datetimeFigureOut">
              <a:rPr lang="fr-CH" smtClean="0"/>
              <a:t>09.10.2024</a:t>
            </a:fld>
            <a:endParaRPr lang="fr-CH"/>
          </a:p>
        </p:txBody>
      </p:sp>
      <p:sp>
        <p:nvSpPr>
          <p:cNvPr id="8" name="Fußzeilenplatzhalter 7"/>
          <p:cNvSpPr>
            <a:spLocks noGrp="1"/>
          </p:cNvSpPr>
          <p:nvPr>
            <p:ph type="ftr" sz="quarter" idx="11"/>
          </p:nvPr>
        </p:nvSpPr>
        <p:spPr/>
        <p:txBody>
          <a:bodyPr/>
          <a:lstStyle/>
          <a:p>
            <a:endParaRPr lang="fr-CH"/>
          </a:p>
        </p:txBody>
      </p:sp>
      <p:sp>
        <p:nvSpPr>
          <p:cNvPr id="9" name="Foliennummernplatzhalter 8"/>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691721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Datumsplatzhalter 2"/>
          <p:cNvSpPr>
            <a:spLocks noGrp="1"/>
          </p:cNvSpPr>
          <p:nvPr>
            <p:ph type="dt" sz="half" idx="10"/>
          </p:nvPr>
        </p:nvSpPr>
        <p:spPr/>
        <p:txBody>
          <a:bodyPr/>
          <a:lstStyle/>
          <a:p>
            <a:fld id="{5AFC1B58-A5CB-4888-98D1-673EE0D4D308}" type="datetimeFigureOut">
              <a:rPr lang="fr-CH" smtClean="0"/>
              <a:t>09.10.2024</a:t>
            </a:fld>
            <a:endParaRPr lang="fr-CH"/>
          </a:p>
        </p:txBody>
      </p:sp>
      <p:sp>
        <p:nvSpPr>
          <p:cNvPr id="4" name="Fußzeilenplatzhalter 3"/>
          <p:cNvSpPr>
            <a:spLocks noGrp="1"/>
          </p:cNvSpPr>
          <p:nvPr>
            <p:ph type="ftr" sz="quarter" idx="11"/>
          </p:nvPr>
        </p:nvSpPr>
        <p:spPr/>
        <p:txBody>
          <a:bodyPr/>
          <a:lstStyle/>
          <a:p>
            <a:endParaRPr lang="fr-CH"/>
          </a:p>
        </p:txBody>
      </p:sp>
      <p:sp>
        <p:nvSpPr>
          <p:cNvPr id="5" name="Foliennummernplatzhalter 4"/>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682351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FC1B58-A5CB-4888-98D1-673EE0D4D308}" type="datetimeFigureOut">
              <a:rPr lang="fr-CH" smtClean="0"/>
              <a:t>09.10.2024</a:t>
            </a:fld>
            <a:endParaRPr lang="fr-CH"/>
          </a:p>
        </p:txBody>
      </p:sp>
      <p:sp>
        <p:nvSpPr>
          <p:cNvPr id="3" name="Fußzeilenplatzhalter 2"/>
          <p:cNvSpPr>
            <a:spLocks noGrp="1"/>
          </p:cNvSpPr>
          <p:nvPr>
            <p:ph type="ftr" sz="quarter" idx="11"/>
          </p:nvPr>
        </p:nvSpPr>
        <p:spPr/>
        <p:txBody>
          <a:bodyPr/>
          <a:lstStyle/>
          <a:p>
            <a:endParaRPr lang="fr-CH"/>
          </a:p>
        </p:txBody>
      </p:sp>
      <p:sp>
        <p:nvSpPr>
          <p:cNvPr id="4" name="Foliennummernplatzhalter 3"/>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3182519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fr-CH"/>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5AFC1B58-A5CB-4888-98D1-673EE0D4D308}" type="datetimeFigureOut">
              <a:rPr lang="fr-CH" smtClean="0"/>
              <a:t>09.10.2024</a:t>
            </a:fld>
            <a:endParaRPr lang="fr-CH"/>
          </a:p>
        </p:txBody>
      </p:sp>
      <p:sp>
        <p:nvSpPr>
          <p:cNvPr id="6" name="Fußzeilenplatzhalter 5"/>
          <p:cNvSpPr>
            <a:spLocks noGrp="1"/>
          </p:cNvSpPr>
          <p:nvPr>
            <p:ph type="ftr" sz="quarter" idx="11"/>
          </p:nvPr>
        </p:nvSpPr>
        <p:spPr/>
        <p:txBody>
          <a:bodyPr/>
          <a:lstStyle/>
          <a:p>
            <a:endParaRPr lang="fr-CH"/>
          </a:p>
        </p:txBody>
      </p:sp>
      <p:sp>
        <p:nvSpPr>
          <p:cNvPr id="7" name="Foliennummernplatzhalter 6"/>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3192002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fr-CH"/>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H"/>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5AFC1B58-A5CB-4888-98D1-673EE0D4D308}" type="datetimeFigureOut">
              <a:rPr lang="fr-CH" smtClean="0"/>
              <a:t>09.10.2024</a:t>
            </a:fld>
            <a:endParaRPr lang="fr-CH"/>
          </a:p>
        </p:txBody>
      </p:sp>
      <p:sp>
        <p:nvSpPr>
          <p:cNvPr id="6" name="Fußzeilenplatzhalter 5"/>
          <p:cNvSpPr>
            <a:spLocks noGrp="1"/>
          </p:cNvSpPr>
          <p:nvPr>
            <p:ph type="ftr" sz="quarter" idx="11"/>
          </p:nvPr>
        </p:nvSpPr>
        <p:spPr/>
        <p:txBody>
          <a:bodyPr/>
          <a:lstStyle/>
          <a:p>
            <a:endParaRPr lang="fr-CH"/>
          </a:p>
        </p:txBody>
      </p:sp>
      <p:sp>
        <p:nvSpPr>
          <p:cNvPr id="7" name="Foliennummernplatzhalter 6"/>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282775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Vertikaler Textplatzhalter 2"/>
          <p:cNvSpPr>
            <a:spLocks noGrp="1"/>
          </p:cNvSpPr>
          <p:nvPr>
            <p:ph type="body" orient="vert" idx="1"/>
          </p:nvPr>
        </p:nvSpPr>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09.10.2024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701861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smtClean="0"/>
              <a:t>Titelmasterformat durch Klicken bearbeiten</a:t>
            </a:r>
            <a:endParaRPr lang="fr-CH"/>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09.10.2024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3952568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2000" b="-12000"/>
          </a:stretch>
        </a:blip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fr-CH"/>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FC1B58-A5CB-4888-98D1-673EE0D4D308}" type="datetimeFigureOut">
              <a:rPr lang="fr-CH" smtClean="0"/>
              <a:t>09.10.2024</a:t>
            </a:fld>
            <a:endParaRPr lang="fr-CH"/>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H"/>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11F01A-B187-4E96-A42F-7B20626A13B5}" type="slidenum">
              <a:rPr lang="fr-CH" smtClean="0"/>
              <a:t>‹#›</a:t>
            </a:fld>
            <a:endParaRPr lang="fr-CH"/>
          </a:p>
        </p:txBody>
      </p:sp>
    </p:spTree>
    <p:extLst>
      <p:ext uri="{BB962C8B-B14F-4D97-AF65-F5344CB8AC3E}">
        <p14:creationId xmlns:p14="http://schemas.microsoft.com/office/powerpoint/2010/main" val="2775136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644770" y="1626958"/>
            <a:ext cx="10769600" cy="2716442"/>
          </a:xfrm>
        </p:spPr>
        <p:txBody>
          <a:bodyPr>
            <a:normAutofit/>
          </a:bodyPr>
          <a:lstStyle/>
          <a:p>
            <a:r>
              <a:rPr lang="fr-LU" sz="5400" b="1" dirty="0" smtClean="0">
                <a:ln w="9525">
                  <a:solidFill>
                    <a:schemeClr val="accent1"/>
                  </a:solidFill>
                  <a:prstDash val="solid"/>
                </a:ln>
                <a:effectLst>
                  <a:outerShdw blurRad="12700" dist="38100" dir="2700000" algn="tl" rotWithShape="0">
                    <a:schemeClr val="bg1">
                      <a:lumMod val="50000"/>
                    </a:schemeClr>
                  </a:outerShdw>
                </a:effectLst>
              </a:rPr>
              <a:t/>
            </a:r>
            <a:br>
              <a:rPr lang="fr-LU" sz="5400" b="1" dirty="0" smtClean="0">
                <a:ln w="9525">
                  <a:solidFill>
                    <a:schemeClr val="accent1"/>
                  </a:solidFill>
                  <a:prstDash val="solid"/>
                </a:ln>
                <a:effectLst>
                  <a:outerShdw blurRad="12700" dist="38100" dir="2700000" algn="tl" rotWithShape="0">
                    <a:schemeClr val="bg1">
                      <a:lumMod val="50000"/>
                    </a:schemeClr>
                  </a:outerShdw>
                </a:effectLst>
              </a:rPr>
            </a:br>
            <a:endParaRPr lang="fr-CH" sz="5400" b="1" dirty="0">
              <a:ln w="9525">
                <a:solidFill>
                  <a:schemeClr val="accent1"/>
                </a:solidFill>
                <a:prstDash val="solid"/>
              </a:ln>
              <a:effectLst>
                <a:outerShdw blurRad="12700" dist="38100" dir="2700000" algn="tl" rotWithShape="0">
                  <a:schemeClr val="bg1">
                    <a:lumMod val="50000"/>
                  </a:schemeClr>
                </a:outerShdw>
              </a:effectLst>
            </a:endParaRPr>
          </a:p>
        </p:txBody>
      </p:sp>
      <p:pic>
        <p:nvPicPr>
          <p:cNvPr id="5" name="Grafik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064" y="219138"/>
            <a:ext cx="3031402" cy="818232"/>
          </a:xfrm>
          <a:prstGeom prst="rect">
            <a:avLst/>
          </a:prstGeom>
        </p:spPr>
      </p:pic>
      <p:sp>
        <p:nvSpPr>
          <p:cNvPr id="7" name="Titel 3"/>
          <p:cNvSpPr txBox="1">
            <a:spLocks/>
          </p:cNvSpPr>
          <p:nvPr/>
        </p:nvSpPr>
        <p:spPr>
          <a:xfrm>
            <a:off x="644770" y="5003800"/>
            <a:ext cx="11547230" cy="1295400"/>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fr-CH" sz="2800" b="1" dirty="0"/>
          </a:p>
        </p:txBody>
      </p:sp>
      <p:sp>
        <p:nvSpPr>
          <p:cNvPr id="6" name="Title 1"/>
          <p:cNvSpPr txBox="1">
            <a:spLocks/>
          </p:cNvSpPr>
          <p:nvPr/>
        </p:nvSpPr>
        <p:spPr>
          <a:xfrm>
            <a:off x="914400" y="1122363"/>
            <a:ext cx="103632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sp>
        <p:nvSpPr>
          <p:cNvPr id="8" name="Subtitle 2"/>
          <p:cNvSpPr>
            <a:spLocks noGrp="1"/>
          </p:cNvSpPr>
          <p:nvPr>
            <p:ph type="subTitle" idx="1"/>
          </p:nvPr>
        </p:nvSpPr>
        <p:spPr>
          <a:xfrm>
            <a:off x="1524000" y="3602038"/>
            <a:ext cx="9144000" cy="1655762"/>
          </a:xfrm>
        </p:spPr>
        <p:txBody>
          <a:bodyPr/>
          <a:lstStyle/>
          <a:p>
            <a:r>
              <a:rPr lang="en-US" dirty="0" err="1" smtClean="0"/>
              <a:t>Partie</a:t>
            </a:r>
            <a:r>
              <a:rPr lang="en-US" dirty="0" smtClean="0"/>
              <a:t> </a:t>
            </a:r>
            <a:r>
              <a:rPr lang="en-US" dirty="0" err="1"/>
              <a:t>P</a:t>
            </a:r>
            <a:r>
              <a:rPr lang="en-US" dirty="0" err="1" smtClean="0"/>
              <a:t>ratique</a:t>
            </a:r>
            <a:r>
              <a:rPr lang="en-US" dirty="0" smtClean="0"/>
              <a:t> AEO </a:t>
            </a:r>
            <a:endParaRPr lang="en-US" dirty="0"/>
          </a:p>
        </p:txBody>
      </p:sp>
    </p:spTree>
    <p:extLst>
      <p:ext uri="{BB962C8B-B14F-4D97-AF65-F5344CB8AC3E}">
        <p14:creationId xmlns:p14="http://schemas.microsoft.com/office/powerpoint/2010/main" val="41203002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r-CH" dirty="0"/>
              <a:t>Procédure pour l’obtention du </a:t>
            </a:r>
            <a:r>
              <a:rPr lang="fr-CH" dirty="0" smtClean="0"/>
              <a:t>statut </a:t>
            </a:r>
            <a:r>
              <a:rPr lang="fr-CH" dirty="0"/>
              <a:t>de l’ AEO</a:t>
            </a:r>
            <a:br>
              <a:rPr lang="fr-CH" dirty="0"/>
            </a:br>
            <a:endParaRPr lang="en-US" dirty="0"/>
          </a:p>
        </p:txBody>
      </p:sp>
      <p:sp>
        <p:nvSpPr>
          <p:cNvPr id="3" name="Inhaltsplatzhalter 2"/>
          <p:cNvSpPr>
            <a:spLocks noGrp="1"/>
          </p:cNvSpPr>
          <p:nvPr>
            <p:ph idx="1"/>
          </p:nvPr>
        </p:nvSpPr>
        <p:spPr/>
        <p:txBody>
          <a:bodyPr>
            <a:normAutofit/>
          </a:bodyPr>
          <a:lstStyle/>
          <a:p>
            <a:pPr lvl="1" algn="just"/>
            <a:endParaRPr lang="en-US" dirty="0"/>
          </a:p>
          <a:p>
            <a:r>
              <a:rPr lang="en-US" dirty="0" err="1" smtClean="0"/>
              <a:t>Généralités</a:t>
            </a:r>
            <a:r>
              <a:rPr lang="en-US" dirty="0" smtClean="0"/>
              <a:t> ( </a:t>
            </a:r>
            <a:r>
              <a:rPr lang="en-US" dirty="0" err="1" smtClean="0"/>
              <a:t>différents</a:t>
            </a:r>
            <a:r>
              <a:rPr lang="en-US" dirty="0" smtClean="0"/>
              <a:t> types d’ AEO )</a:t>
            </a:r>
          </a:p>
          <a:p>
            <a:r>
              <a:rPr lang="en-US" dirty="0"/>
              <a:t>Le champ </a:t>
            </a:r>
            <a:r>
              <a:rPr lang="en-US" dirty="0" err="1" smtClean="0"/>
              <a:t>d’application</a:t>
            </a:r>
            <a:r>
              <a:rPr lang="en-US" dirty="0" smtClean="0"/>
              <a:t> ( </a:t>
            </a:r>
            <a:r>
              <a:rPr lang="en-US" dirty="0" err="1" smtClean="0"/>
              <a:t>quelles</a:t>
            </a:r>
            <a:r>
              <a:rPr lang="en-US" dirty="0" smtClean="0"/>
              <a:t> </a:t>
            </a:r>
            <a:r>
              <a:rPr lang="en-US" dirty="0" err="1" smtClean="0"/>
              <a:t>sont</a:t>
            </a:r>
            <a:r>
              <a:rPr lang="en-US" dirty="0" smtClean="0"/>
              <a:t> les </a:t>
            </a:r>
            <a:r>
              <a:rPr lang="en-US" dirty="0" err="1" smtClean="0"/>
              <a:t>personnes</a:t>
            </a:r>
            <a:r>
              <a:rPr lang="en-US" dirty="0" smtClean="0"/>
              <a:t> </a:t>
            </a:r>
            <a:r>
              <a:rPr lang="en-US" dirty="0" err="1" smtClean="0"/>
              <a:t>visées</a:t>
            </a:r>
            <a:r>
              <a:rPr lang="en-US" dirty="0" smtClean="0"/>
              <a:t> )</a:t>
            </a:r>
          </a:p>
          <a:p>
            <a:r>
              <a:rPr lang="en-US" dirty="0" err="1"/>
              <a:t>L’examen</a:t>
            </a:r>
            <a:r>
              <a:rPr lang="en-US" dirty="0"/>
              <a:t> des </a:t>
            </a:r>
            <a:r>
              <a:rPr lang="en-US" dirty="0" smtClean="0"/>
              <a:t>conditions</a:t>
            </a:r>
          </a:p>
          <a:p>
            <a:r>
              <a:rPr lang="fr-CH" dirty="0"/>
              <a:t>La fréquence de contrôle des questionnaires </a:t>
            </a:r>
            <a:r>
              <a:rPr lang="fr-CH" dirty="0" smtClean="0"/>
              <a:t>d’auto-évaluation</a:t>
            </a:r>
          </a:p>
          <a:p>
            <a:r>
              <a:rPr lang="fr-CH" dirty="0" smtClean="0"/>
              <a:t>Le questionnaire d’auto-évaluation</a:t>
            </a:r>
          </a:p>
          <a:p>
            <a:r>
              <a:rPr lang="fr-CH" dirty="0" smtClean="0"/>
              <a:t>Conseils utiles pour les futurs demandeurs </a:t>
            </a:r>
          </a:p>
          <a:p>
            <a:endParaRPr lang="fr-CH" dirty="0"/>
          </a:p>
        </p:txBody>
      </p:sp>
    </p:spTree>
    <p:extLst>
      <p:ext uri="{BB962C8B-B14F-4D97-AF65-F5344CB8AC3E}">
        <p14:creationId xmlns:p14="http://schemas.microsoft.com/office/powerpoint/2010/main" val="1676613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Généralités</a:t>
            </a:r>
            <a:endParaRPr lang="en-US" dirty="0"/>
          </a:p>
        </p:txBody>
      </p:sp>
      <p:sp>
        <p:nvSpPr>
          <p:cNvPr id="3" name="Content Placeholder 2"/>
          <p:cNvSpPr>
            <a:spLocks noGrp="1"/>
          </p:cNvSpPr>
          <p:nvPr>
            <p:ph idx="1"/>
          </p:nvPr>
        </p:nvSpPr>
        <p:spPr/>
        <p:txBody>
          <a:bodyPr/>
          <a:lstStyle/>
          <a:p>
            <a:r>
              <a:rPr lang="fr-CH" dirty="0"/>
              <a:t>Il existe 3 types de certification AEO :</a:t>
            </a:r>
          </a:p>
          <a:p>
            <a:r>
              <a:rPr lang="fr-CH" dirty="0"/>
              <a:t>AEO C : opérateur économique agréé en matière de simplification en matière douanière (les chapitres 1, 2, 3, 4, 5 du questionnaire d’auto-évaluation doivent être remplis) ;</a:t>
            </a:r>
          </a:p>
          <a:p>
            <a:r>
              <a:rPr lang="fr-CH" dirty="0"/>
              <a:t>AEO S : opérateur économique agréé en matière de sécurité et sûreté (les chapitres 1, 2, 3, 4, 6 du questionnaire d’auto-évaluations doivent être remplis) et</a:t>
            </a:r>
          </a:p>
          <a:p>
            <a:r>
              <a:rPr lang="fr-CH" dirty="0"/>
              <a:t>AEO C/S ou F : est le résultat d’une combinaison entre AEO C et AEO S (tous les chapitres du questionnaire d’auto-évaluation doivent être remplis).</a:t>
            </a:r>
          </a:p>
          <a:p>
            <a:endParaRPr lang="en-US" dirty="0"/>
          </a:p>
        </p:txBody>
      </p:sp>
    </p:spTree>
    <p:extLst>
      <p:ext uri="{BB962C8B-B14F-4D97-AF65-F5344CB8AC3E}">
        <p14:creationId xmlns:p14="http://schemas.microsoft.com/office/powerpoint/2010/main" val="40651351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AEO C</a:t>
            </a:r>
          </a:p>
        </p:txBody>
      </p:sp>
      <p:sp>
        <p:nvSpPr>
          <p:cNvPr id="3" name="Content Placeholder 2"/>
          <p:cNvSpPr>
            <a:spLocks noGrp="1"/>
          </p:cNvSpPr>
          <p:nvPr>
            <p:ph idx="1"/>
          </p:nvPr>
        </p:nvSpPr>
        <p:spPr/>
        <p:txBody>
          <a:bodyPr>
            <a:normAutofit fontScale="55000" lnSpcReduction="20000"/>
          </a:bodyPr>
          <a:lstStyle/>
          <a:p>
            <a:r>
              <a:rPr lang="fr-CH" dirty="0"/>
              <a:t>La partie C reprend la partie simplifications douanières (Customs).</a:t>
            </a:r>
          </a:p>
          <a:p>
            <a:r>
              <a:rPr lang="fr-CH" dirty="0"/>
              <a:t>L’opérateur doit remplir les chapitres 1, 2, 3, 4 et 5 du questionnaire d’auto-évaluation reprenant les informations suivantes :</a:t>
            </a:r>
          </a:p>
          <a:p>
            <a:r>
              <a:rPr lang="fr-CH" dirty="0"/>
              <a:t>l’opérateur doit remettre à l’autorité douanière compétente une vue d’ensemble de </a:t>
            </a:r>
            <a:r>
              <a:rPr lang="fr-CH" dirty="0" smtClean="0"/>
              <a:t>l’entreprise et </a:t>
            </a:r>
            <a:r>
              <a:rPr lang="fr-CH" dirty="0"/>
              <a:t>préciser s’il effectue lui-même ses activités douanières ou s’il a recours à un tiers ;</a:t>
            </a:r>
          </a:p>
          <a:p>
            <a:r>
              <a:rPr lang="fr-CH" dirty="0"/>
              <a:t>l’opérateur ne doit pas avoir commis d’infractions au cours des 3 dernières années </a:t>
            </a:r>
            <a:r>
              <a:rPr lang="fr-CH" dirty="0" smtClean="0"/>
              <a:t>;</a:t>
            </a:r>
          </a:p>
          <a:p>
            <a:r>
              <a:rPr lang="fr-CH" dirty="0" smtClean="0"/>
              <a:t> </a:t>
            </a:r>
            <a:r>
              <a:rPr lang="fr-CH" dirty="0"/>
              <a:t>l’opérateur doit remettre certaines informations informatiques aux autorités compétentes </a:t>
            </a:r>
            <a:r>
              <a:rPr lang="fr-CH" dirty="0" smtClean="0"/>
              <a:t>;</a:t>
            </a:r>
          </a:p>
          <a:p>
            <a:r>
              <a:rPr lang="fr-CH" dirty="0" smtClean="0"/>
              <a:t> </a:t>
            </a:r>
            <a:r>
              <a:rPr lang="fr-CH" dirty="0"/>
              <a:t>l’opérateur doit remettre ses bilans comptables des 3 dernières années pour contrôler si son ratio de solvabilité est positif ou non et</a:t>
            </a:r>
          </a:p>
          <a:p>
            <a:r>
              <a:rPr lang="fr-CH" dirty="0"/>
              <a:t>la personne en charge des questions douanières doit remettre une sorte de CV prouvant un minimum de 3 ans d’expérience en matière douanière et/ou un certificat mentionnant la réussite d’une formation en matière douanière.</a:t>
            </a:r>
          </a:p>
          <a:p>
            <a:pPr marL="0" indent="0">
              <a:buNone/>
            </a:pPr>
            <a:r>
              <a:rPr lang="fr-CH" dirty="0"/>
              <a:t>La certification AEO C est adaptée aux besoins spécifiques des entreprises qui effectuent des formalités douanières pour leur propre compte et/ou qui effectuent ces formalités pour le compte d’autrui (p.ex.: agences en douane).</a:t>
            </a:r>
          </a:p>
          <a:p>
            <a:pPr marL="0" indent="0">
              <a:buNone/>
            </a:pPr>
            <a:r>
              <a:rPr lang="fr-CH" dirty="0"/>
              <a:t>Une certification AEO C garantit aux clients que les déclarations douanières (tarification douanière, calcul de la valeur en douane) sont réalisées de manière appropriée (procédure de vérification, rapport d’audit des résultats, etc.).</a:t>
            </a:r>
          </a:p>
          <a:p>
            <a:endParaRPr lang="en-US" dirty="0"/>
          </a:p>
        </p:txBody>
      </p:sp>
    </p:spTree>
    <p:extLst>
      <p:ext uri="{BB962C8B-B14F-4D97-AF65-F5344CB8AC3E}">
        <p14:creationId xmlns:p14="http://schemas.microsoft.com/office/powerpoint/2010/main" val="41400012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AEO S</a:t>
            </a:r>
          </a:p>
        </p:txBody>
      </p:sp>
      <p:sp>
        <p:nvSpPr>
          <p:cNvPr id="3" name="Content Placeholder 2"/>
          <p:cNvSpPr>
            <a:spLocks noGrp="1"/>
          </p:cNvSpPr>
          <p:nvPr>
            <p:ph idx="1"/>
          </p:nvPr>
        </p:nvSpPr>
        <p:spPr/>
        <p:txBody>
          <a:bodyPr>
            <a:normAutofit fontScale="62500" lnSpcReduction="20000"/>
          </a:bodyPr>
          <a:lstStyle/>
          <a:p>
            <a:r>
              <a:rPr lang="fr-CH" dirty="0"/>
              <a:t>La partie S comprend la partie sécurité et sûreté (Security and </a:t>
            </a:r>
            <a:r>
              <a:rPr lang="fr-CH" dirty="0" err="1"/>
              <a:t>Safety</a:t>
            </a:r>
            <a:r>
              <a:rPr lang="fr-CH" dirty="0"/>
              <a:t>).</a:t>
            </a:r>
          </a:p>
          <a:p>
            <a:r>
              <a:rPr lang="fr-CH" dirty="0"/>
              <a:t>L’opérateur doit remplir les chapitres 1, 2, 3, 4 et 6 du questionnaire d’auto-évaluation reprenant les informations suivantes :</a:t>
            </a:r>
          </a:p>
          <a:p>
            <a:r>
              <a:rPr lang="fr-CH" dirty="0"/>
              <a:t>l’opérateur doit remettre à l’autorité douanière compétente une vue d’ensemble de l’entreprise ; </a:t>
            </a:r>
            <a:endParaRPr lang="fr-CH" dirty="0" smtClean="0"/>
          </a:p>
          <a:p>
            <a:r>
              <a:rPr lang="fr-CH" dirty="0" smtClean="0"/>
              <a:t>l’opérateur </a:t>
            </a:r>
            <a:r>
              <a:rPr lang="fr-CH" dirty="0"/>
              <a:t>ne doit pas avoir commis d’infractions au cours des 3 dernières années </a:t>
            </a:r>
            <a:r>
              <a:rPr lang="fr-CH" dirty="0" smtClean="0"/>
              <a:t>;</a:t>
            </a:r>
          </a:p>
          <a:p>
            <a:r>
              <a:rPr lang="fr-CH" dirty="0" smtClean="0"/>
              <a:t> </a:t>
            </a:r>
            <a:r>
              <a:rPr lang="fr-CH" dirty="0"/>
              <a:t>l’opérateur doit remettre certaines informations informatiques aux autorités compétentes ;</a:t>
            </a:r>
          </a:p>
          <a:p>
            <a:r>
              <a:rPr lang="fr-CH" dirty="0" smtClean="0"/>
              <a:t>l’opérateur </a:t>
            </a:r>
            <a:r>
              <a:rPr lang="fr-CH" dirty="0"/>
              <a:t>doit remettre ses bilans comptables au cours des 3 dernières années pour contrôler si son ratio de solvabilité est positif ou non et</a:t>
            </a:r>
          </a:p>
          <a:p>
            <a:r>
              <a:rPr lang="fr-CH" dirty="0"/>
              <a:t>l’opérateur doit faire preuve d’un niveau élevé de sensibilisation aux questions de sécurité et de sûreté non seulement en interne mais également dans ses relations avec les clients, les fournisseurs et les prestataires de services externes, compte tenu du rôle dans la chaîne logistique.</a:t>
            </a:r>
          </a:p>
          <a:p>
            <a:pPr marL="0" indent="0">
              <a:buNone/>
            </a:pPr>
            <a:r>
              <a:rPr lang="fr-CH" dirty="0"/>
              <a:t>La certification AEO S est adaptée aux besoins spécifiques des entreprises qui offrent des missions de la logistique (transport, production, stockage de marchandises, etc.).</a:t>
            </a:r>
          </a:p>
          <a:p>
            <a:pPr marL="0" indent="0">
              <a:buNone/>
            </a:pPr>
            <a:r>
              <a:rPr lang="fr-CH" dirty="0"/>
              <a:t>La certification AEO S offre une certaine garantie aux clients concernant les missions de la </a:t>
            </a:r>
            <a:r>
              <a:rPr lang="fr-CH" dirty="0" smtClean="0"/>
              <a:t>logistique</a:t>
            </a:r>
            <a:r>
              <a:rPr lang="en-US" dirty="0" smtClean="0"/>
              <a:t> Certification </a:t>
            </a:r>
            <a:r>
              <a:rPr lang="en-US" dirty="0"/>
              <a:t>TAPA TSR)</a:t>
            </a:r>
            <a:endParaRPr lang="fr-CH" dirty="0"/>
          </a:p>
          <a:p>
            <a:endParaRPr lang="en-US" dirty="0"/>
          </a:p>
        </p:txBody>
      </p:sp>
    </p:spTree>
    <p:extLst>
      <p:ext uri="{BB962C8B-B14F-4D97-AF65-F5344CB8AC3E}">
        <p14:creationId xmlns:p14="http://schemas.microsoft.com/office/powerpoint/2010/main" val="11061794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AEO C/S </a:t>
            </a:r>
            <a:r>
              <a:rPr lang="en-US" dirty="0" err="1"/>
              <a:t>ou</a:t>
            </a:r>
            <a:r>
              <a:rPr lang="en-US" dirty="0"/>
              <a:t> F</a:t>
            </a:r>
          </a:p>
        </p:txBody>
      </p:sp>
      <p:sp>
        <p:nvSpPr>
          <p:cNvPr id="3" name="Content Placeholder 2"/>
          <p:cNvSpPr>
            <a:spLocks noGrp="1"/>
          </p:cNvSpPr>
          <p:nvPr>
            <p:ph idx="1"/>
          </p:nvPr>
        </p:nvSpPr>
        <p:spPr/>
        <p:txBody>
          <a:bodyPr>
            <a:normAutofit fontScale="55000" lnSpcReduction="20000"/>
          </a:bodyPr>
          <a:lstStyle/>
          <a:p>
            <a:r>
              <a:rPr lang="fr-CH" dirty="0"/>
              <a:t>La partie C/S ou F (full) reprend les deux certifications, la partie AEO C et la partie AEO S. Partant, elle offre tous les avantages décrits ci-dessus. En contrepartie, le titulaire doit également respecter toutes obligations y relatives.</a:t>
            </a:r>
          </a:p>
          <a:p>
            <a:r>
              <a:rPr lang="fr-CH" dirty="0"/>
              <a:t>L’opérateur doit remplir les chapitres 1 à 6 du questionnaire d’auto–évaluation reprenant les informations suivantes :</a:t>
            </a:r>
          </a:p>
          <a:p>
            <a:r>
              <a:rPr lang="fr-CH" dirty="0"/>
              <a:t>une vue d’ensemble de l’entreprise et préciser s’il effectue lui-même ses activités douanières ou s’il a recours à un tiers ;</a:t>
            </a:r>
          </a:p>
          <a:p>
            <a:r>
              <a:rPr lang="fr-CH" dirty="0"/>
              <a:t>de ne pas avoir commis d’infractions au cours des 3 dernières années ; certaines informations informatiques à transmettre aux autorités compétentes </a:t>
            </a:r>
            <a:r>
              <a:rPr lang="fr-CH" dirty="0" smtClean="0"/>
              <a:t>;</a:t>
            </a:r>
          </a:p>
          <a:p>
            <a:r>
              <a:rPr lang="fr-CH" dirty="0" smtClean="0"/>
              <a:t> </a:t>
            </a:r>
            <a:r>
              <a:rPr lang="fr-CH" dirty="0"/>
              <a:t>les bilans comptables des 3 dernières années pour contrôler si son ratio de solvabilité est positif ou non ;</a:t>
            </a:r>
          </a:p>
          <a:p>
            <a:r>
              <a:rPr lang="fr-CH" dirty="0"/>
              <a:t>la personne en charge des questions douanières doit remettre un CV prouvant un minimum de 3 ans d’expérience en matière douanière et/ou un certificat mentionnant la réussite d’une formation en matière douanière et</a:t>
            </a:r>
          </a:p>
          <a:p>
            <a:r>
              <a:rPr lang="fr-CH" dirty="0"/>
              <a:t>faire preuve d’un niveau élevé de sensibilisation aux questions de sécurité et de sûreté, non seulement en interne, mais également dans ses relations avec les clients, les fournisseurs et les prestataires de services externes, compte tenu du rôle dans la chaîne logistique.</a:t>
            </a:r>
          </a:p>
          <a:p>
            <a:pPr marL="0" indent="0">
              <a:buNone/>
            </a:pPr>
            <a:r>
              <a:rPr lang="fr-CH" dirty="0"/>
              <a:t>La certification AEO C/S est adaptée aux besoins spécifiques des entreprises qui effectuent aussi bien des formalités douanières que des missions de la logistique (transport, manipulation, stockage de marchandise, etc.).</a:t>
            </a:r>
          </a:p>
          <a:p>
            <a:pPr marL="0" indent="0">
              <a:buNone/>
            </a:pPr>
            <a:r>
              <a:rPr lang="fr-CH" dirty="0"/>
              <a:t>Une certification AEO C/S garantit aux clients que les déclarations douanières (tarification douanière, calcul de la valeur en douane) sont réalisées de manière appropriée (procédure de vérification, rapport d’audit des résultats, etc.) et assure un niveau de sécurité élevé en ce qui concerne les missions de la logistique (Certification TAPA TSR).</a:t>
            </a:r>
          </a:p>
          <a:p>
            <a:endParaRPr lang="en-US" dirty="0"/>
          </a:p>
        </p:txBody>
      </p:sp>
    </p:spTree>
    <p:extLst>
      <p:ext uri="{BB962C8B-B14F-4D97-AF65-F5344CB8AC3E}">
        <p14:creationId xmlns:p14="http://schemas.microsoft.com/office/powerpoint/2010/main" val="15953648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 champ </a:t>
            </a:r>
            <a:r>
              <a:rPr lang="en-US" dirty="0" err="1"/>
              <a:t>d’application</a:t>
            </a:r>
            <a:endParaRPr lang="en-US" dirty="0"/>
          </a:p>
        </p:txBody>
      </p:sp>
      <p:sp>
        <p:nvSpPr>
          <p:cNvPr id="3" name="Content Placeholder 2"/>
          <p:cNvSpPr>
            <a:spLocks noGrp="1"/>
          </p:cNvSpPr>
          <p:nvPr>
            <p:ph idx="1"/>
          </p:nvPr>
        </p:nvSpPr>
        <p:spPr/>
        <p:txBody>
          <a:bodyPr>
            <a:normAutofit fontScale="85000" lnSpcReduction="20000"/>
          </a:bodyPr>
          <a:lstStyle/>
          <a:p>
            <a:r>
              <a:rPr lang="fr-CH" dirty="0"/>
              <a:t>L’autorisation de l’AEO est octroyée à toute personne qui exerce des activités douanières (art 5 CDU) dans le cadre de son activité professionnelle, et qui remplit les critères fixés à l’article 39 chiffres a) à e) du CDU. Il s’agit notamment :</a:t>
            </a:r>
          </a:p>
          <a:p>
            <a:r>
              <a:rPr lang="fr-CH" dirty="0"/>
              <a:t>de l’absence de condamnation pénale pour infraction grave liée à l’activité du demandeur ou des personnes chargées du dédouanement et de la logistique ;</a:t>
            </a:r>
          </a:p>
          <a:p>
            <a:r>
              <a:rPr lang="fr-CH" dirty="0"/>
              <a:t>de disposer d’antécédents satisfaisants en ce qui concerne le respect des exigences douanières ; </a:t>
            </a:r>
            <a:endParaRPr lang="fr-CH" dirty="0" smtClean="0"/>
          </a:p>
          <a:p>
            <a:r>
              <a:rPr lang="fr-CH" dirty="0" smtClean="0"/>
              <a:t>de </a:t>
            </a:r>
            <a:r>
              <a:rPr lang="fr-CH" dirty="0"/>
              <a:t>disposer de compétences ou de qualifications professionnelles en matière de douane </a:t>
            </a:r>
            <a:r>
              <a:rPr lang="fr-CH" dirty="0" smtClean="0"/>
              <a:t>;</a:t>
            </a:r>
          </a:p>
          <a:p>
            <a:r>
              <a:rPr lang="fr-CH" dirty="0" smtClean="0"/>
              <a:t> </a:t>
            </a:r>
            <a:r>
              <a:rPr lang="fr-CH" dirty="0"/>
              <a:t>de permettre une accessibilité aux écritures douanières et de transport répondant aux </a:t>
            </a:r>
            <a:r>
              <a:rPr lang="fr-CH" dirty="0" smtClean="0"/>
              <a:t>exigences des </a:t>
            </a:r>
            <a:r>
              <a:rPr lang="fr-CH" dirty="0"/>
              <a:t>autorités douanières ;</a:t>
            </a:r>
          </a:p>
          <a:p>
            <a:r>
              <a:rPr lang="fr-CH" dirty="0"/>
              <a:t>de disposer d’une solvabilité financière et </a:t>
            </a:r>
            <a:endParaRPr lang="fr-CH" dirty="0" smtClean="0"/>
          </a:p>
          <a:p>
            <a:r>
              <a:rPr lang="fr-CH" dirty="0" smtClean="0"/>
              <a:t>d’offrir </a:t>
            </a:r>
            <a:r>
              <a:rPr lang="fr-CH" dirty="0"/>
              <a:t>les mesures de sécurité et de sûreté requises.</a:t>
            </a:r>
          </a:p>
          <a:p>
            <a:endParaRPr lang="en-US" dirty="0"/>
          </a:p>
        </p:txBody>
      </p:sp>
    </p:spTree>
    <p:extLst>
      <p:ext uri="{BB962C8B-B14F-4D97-AF65-F5344CB8AC3E}">
        <p14:creationId xmlns:p14="http://schemas.microsoft.com/office/powerpoint/2010/main" val="4374251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L’examen</a:t>
            </a:r>
            <a:r>
              <a:rPr lang="en-US" dirty="0"/>
              <a:t> des conditions</a:t>
            </a:r>
          </a:p>
        </p:txBody>
      </p:sp>
      <p:sp>
        <p:nvSpPr>
          <p:cNvPr id="3" name="Content Placeholder 2"/>
          <p:cNvSpPr>
            <a:spLocks noGrp="1"/>
          </p:cNvSpPr>
          <p:nvPr>
            <p:ph idx="1"/>
          </p:nvPr>
        </p:nvSpPr>
        <p:spPr/>
        <p:txBody>
          <a:bodyPr>
            <a:normAutofit fontScale="92500" lnSpcReduction="10000"/>
          </a:bodyPr>
          <a:lstStyle/>
          <a:p>
            <a:pPr marL="0" indent="0">
              <a:buNone/>
            </a:pPr>
            <a:r>
              <a:rPr lang="fr-CH" dirty="0"/>
              <a:t>Pour pouvoir bénéficier du statut d’AEO, une enquête est menée par les autorités compétentes pour contrôler le respect des conditions prescrites</a:t>
            </a:r>
            <a:r>
              <a:rPr lang="fr-CH" dirty="0" smtClean="0"/>
              <a:t>.</a:t>
            </a:r>
            <a:endParaRPr lang="fr-CH" dirty="0"/>
          </a:p>
          <a:p>
            <a:pPr marL="0" indent="0">
              <a:buNone/>
            </a:pPr>
            <a:r>
              <a:rPr lang="fr-CH" dirty="0"/>
              <a:t>Cette enquête est effectuée en tenant compte du questionnaire d’auto-évaluation.</a:t>
            </a:r>
          </a:p>
          <a:p>
            <a:pPr marL="0" indent="0">
              <a:buNone/>
            </a:pPr>
            <a:r>
              <a:rPr lang="fr-CH" dirty="0"/>
              <a:t>Les agents en charge du contrôle :</a:t>
            </a:r>
          </a:p>
          <a:p>
            <a:r>
              <a:rPr lang="fr-CH" dirty="0"/>
              <a:t>veillent à ce que toutes les conditions soient remplies et qu’elles soient en concordance avec la réglementation en vigueur ;</a:t>
            </a:r>
          </a:p>
          <a:p>
            <a:r>
              <a:rPr lang="fr-CH" dirty="0"/>
              <a:t>veillent à ce que chaque réponse soit justifiée par des instructions et/ou procédures, le fait de répondre par oui ou non ne suffit pas et</a:t>
            </a:r>
          </a:p>
          <a:p>
            <a:r>
              <a:rPr lang="fr-CH" dirty="0"/>
              <a:t>apprécient une dispense éventuelle de répondre à certains sous-chapitres du questionnaire</a:t>
            </a:r>
            <a:r>
              <a:rPr lang="fr-CH" dirty="0" smtClean="0"/>
              <a:t>.</a:t>
            </a:r>
          </a:p>
          <a:p>
            <a:endParaRPr lang="fr-CH" dirty="0" smtClean="0"/>
          </a:p>
          <a:p>
            <a:endParaRPr lang="fr-CH" dirty="0"/>
          </a:p>
          <a:p>
            <a:endParaRPr lang="en-US" dirty="0"/>
          </a:p>
        </p:txBody>
      </p:sp>
    </p:spTree>
    <p:extLst>
      <p:ext uri="{BB962C8B-B14F-4D97-AF65-F5344CB8AC3E}">
        <p14:creationId xmlns:p14="http://schemas.microsoft.com/office/powerpoint/2010/main" val="16216228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 </a:t>
            </a:r>
            <a:r>
              <a:rPr lang="en-US" dirty="0" err="1" smtClean="0"/>
              <a:t>fréquence</a:t>
            </a:r>
            <a:r>
              <a:rPr lang="en-US" dirty="0" smtClean="0"/>
              <a:t> de </a:t>
            </a:r>
            <a:r>
              <a:rPr lang="en-US" dirty="0" err="1" smtClean="0"/>
              <a:t>contrôle</a:t>
            </a:r>
            <a:r>
              <a:rPr lang="en-US" dirty="0" smtClean="0"/>
              <a:t> des questionnaires </a:t>
            </a:r>
            <a:r>
              <a:rPr lang="en-US" dirty="0" err="1" smtClean="0"/>
              <a:t>d’auto-évaluation</a:t>
            </a:r>
            <a:r>
              <a:rPr lang="en-US" dirty="0" smtClean="0"/>
              <a:t> </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fr-CH" dirty="0"/>
              <a:t>Les questionnaires d’auto-évaluation sont contrôlés, respectivement revus, par les autorités compétentes lors :</a:t>
            </a:r>
          </a:p>
          <a:p>
            <a:r>
              <a:rPr lang="fr-CH" dirty="0"/>
              <a:t>de l’établissement d’une nouvelle autorisation </a:t>
            </a:r>
            <a:r>
              <a:rPr lang="fr-CH" dirty="0" smtClean="0"/>
              <a:t>;</a:t>
            </a:r>
          </a:p>
          <a:p>
            <a:r>
              <a:rPr lang="fr-CH" dirty="0" smtClean="0"/>
              <a:t>lors </a:t>
            </a:r>
            <a:r>
              <a:rPr lang="fr-CH" dirty="0"/>
              <a:t>d’un monitoring qui a lieu tous les 3 ans. Le questionnaire d’auto-évaluation est revu pour tenir compte d’éventuels </a:t>
            </a:r>
            <a:r>
              <a:rPr lang="fr-CH" dirty="0" smtClean="0"/>
              <a:t>changements</a:t>
            </a:r>
            <a:endParaRPr lang="fr-CH" dirty="0"/>
          </a:p>
          <a:p>
            <a:r>
              <a:rPr lang="fr-CH" dirty="0"/>
              <a:t>d’un changement qui a un impact direct sur l’autorisation. Un réexamen des différents critères doit être effectué (p.ex.: déménagement de l’opérateur, ajout d’un entrepôt de stockage, changements au niveau administratif, etc.).</a:t>
            </a:r>
          </a:p>
          <a:p>
            <a:pPr marL="0" indent="0">
              <a:buNone/>
            </a:pPr>
            <a:r>
              <a:rPr lang="fr-CH" dirty="0"/>
              <a:t>Pour des modifications ou changements importants, l’opérateur doit remplir un nouveau questionnaire d’auto-évaluation.</a:t>
            </a:r>
          </a:p>
          <a:p>
            <a:endParaRPr lang="en-US" dirty="0"/>
          </a:p>
        </p:txBody>
      </p:sp>
    </p:spTree>
    <p:extLst>
      <p:ext uri="{BB962C8B-B14F-4D97-AF65-F5344CB8AC3E}">
        <p14:creationId xmlns:p14="http://schemas.microsoft.com/office/powerpoint/2010/main" val="1999091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 questionnaire </a:t>
            </a:r>
            <a:r>
              <a:rPr lang="en-US" dirty="0" err="1"/>
              <a:t>d’auto-évaluation</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smtClean="0"/>
              <a:t>C’ </a:t>
            </a:r>
            <a:r>
              <a:rPr lang="en-US" dirty="0" err="1" smtClean="0"/>
              <a:t>est</a:t>
            </a:r>
            <a:r>
              <a:rPr lang="en-US" dirty="0" smtClean="0"/>
              <a:t> un questionnaire qui </a:t>
            </a:r>
            <a:r>
              <a:rPr lang="en-US" dirty="0" err="1" smtClean="0"/>
              <a:t>permet</a:t>
            </a:r>
            <a:r>
              <a:rPr lang="en-US" dirty="0" smtClean="0"/>
              <a:t> de </a:t>
            </a:r>
            <a:r>
              <a:rPr lang="en-US" dirty="0" err="1" smtClean="0"/>
              <a:t>contrôler</a:t>
            </a:r>
            <a:r>
              <a:rPr lang="en-US" dirty="0" smtClean="0"/>
              <a:t> </a:t>
            </a:r>
            <a:r>
              <a:rPr lang="en-US" dirty="0" err="1" smtClean="0"/>
              <a:t>si</a:t>
            </a:r>
            <a:r>
              <a:rPr lang="en-US" dirty="0" smtClean="0"/>
              <a:t> le </a:t>
            </a:r>
            <a:r>
              <a:rPr lang="en-US" dirty="0" err="1" smtClean="0"/>
              <a:t>demandeur</a:t>
            </a:r>
            <a:r>
              <a:rPr lang="en-US" dirty="0" smtClean="0"/>
              <a:t> </a:t>
            </a:r>
            <a:r>
              <a:rPr lang="en-US" dirty="0" err="1" smtClean="0"/>
              <a:t>respecte</a:t>
            </a:r>
            <a:r>
              <a:rPr lang="en-US" dirty="0" smtClean="0"/>
              <a:t> </a:t>
            </a:r>
            <a:r>
              <a:rPr lang="en-US" dirty="0" err="1" smtClean="0"/>
              <a:t>bien</a:t>
            </a:r>
            <a:r>
              <a:rPr lang="en-US" dirty="0" smtClean="0"/>
              <a:t> les conditions </a:t>
            </a:r>
            <a:r>
              <a:rPr lang="en-US" dirty="0" err="1" smtClean="0"/>
              <a:t>préalables</a:t>
            </a:r>
            <a:r>
              <a:rPr lang="en-US" dirty="0" smtClean="0"/>
              <a:t> pour </a:t>
            </a:r>
            <a:r>
              <a:rPr lang="en-US" dirty="0" err="1" smtClean="0"/>
              <a:t>pouvoir</a:t>
            </a:r>
            <a:r>
              <a:rPr lang="en-US" dirty="0" smtClean="0"/>
              <a:t> </a:t>
            </a:r>
            <a:r>
              <a:rPr lang="en-US" dirty="0" err="1" smtClean="0"/>
              <a:t>obtenir</a:t>
            </a:r>
            <a:r>
              <a:rPr lang="en-US" dirty="0" smtClean="0"/>
              <a:t> l’ </a:t>
            </a:r>
            <a:r>
              <a:rPr lang="en-US" dirty="0" err="1" smtClean="0"/>
              <a:t>autorisation</a:t>
            </a:r>
            <a:r>
              <a:rPr lang="en-US" dirty="0" smtClean="0"/>
              <a:t> AEO </a:t>
            </a:r>
            <a:r>
              <a:rPr lang="en-US" dirty="0" err="1" smtClean="0"/>
              <a:t>demandée</a:t>
            </a:r>
            <a:endParaRPr lang="en-US" dirty="0" smtClean="0"/>
          </a:p>
          <a:p>
            <a:pPr marL="0" indent="0">
              <a:buNone/>
            </a:pPr>
            <a:r>
              <a:rPr lang="fr-CH" dirty="0"/>
              <a:t>Le questionnaire d’auto-évaluation comprend 6 chapitres à savoir : </a:t>
            </a:r>
            <a:endParaRPr lang="fr-CH" dirty="0" smtClean="0"/>
          </a:p>
          <a:p>
            <a:r>
              <a:rPr lang="fr-CH" dirty="0" smtClean="0"/>
              <a:t>les </a:t>
            </a:r>
            <a:r>
              <a:rPr lang="fr-CH" dirty="0"/>
              <a:t>informations relatives à l’entreprise ; </a:t>
            </a:r>
            <a:endParaRPr lang="fr-CH" dirty="0" smtClean="0"/>
          </a:p>
          <a:p>
            <a:r>
              <a:rPr lang="fr-CH" dirty="0" smtClean="0"/>
              <a:t>les </a:t>
            </a:r>
            <a:r>
              <a:rPr lang="fr-CH" dirty="0"/>
              <a:t>antécédents en matière de respect de la réglementation </a:t>
            </a:r>
            <a:r>
              <a:rPr lang="fr-CH" dirty="0" smtClean="0"/>
              <a:t>;</a:t>
            </a:r>
          </a:p>
          <a:p>
            <a:r>
              <a:rPr lang="fr-CH" dirty="0" smtClean="0"/>
              <a:t>le </a:t>
            </a:r>
            <a:r>
              <a:rPr lang="fr-CH" dirty="0"/>
              <a:t>système comptable et logistique ; </a:t>
            </a:r>
            <a:endParaRPr lang="fr-CH" dirty="0" smtClean="0"/>
          </a:p>
          <a:p>
            <a:r>
              <a:rPr lang="fr-CH" dirty="0" smtClean="0"/>
              <a:t>la </a:t>
            </a:r>
            <a:r>
              <a:rPr lang="fr-CH" dirty="0"/>
              <a:t>solvabilité financière </a:t>
            </a:r>
            <a:r>
              <a:rPr lang="fr-CH" dirty="0" smtClean="0"/>
              <a:t>;</a:t>
            </a:r>
          </a:p>
          <a:p>
            <a:r>
              <a:rPr lang="fr-CH" dirty="0" smtClean="0"/>
              <a:t>les </a:t>
            </a:r>
            <a:r>
              <a:rPr lang="fr-CH" dirty="0"/>
              <a:t>normes pratiques en matière de compétences ou de qualifications </a:t>
            </a:r>
            <a:r>
              <a:rPr lang="fr-CH" dirty="0" smtClean="0"/>
              <a:t>professionnelles</a:t>
            </a:r>
          </a:p>
          <a:p>
            <a:r>
              <a:rPr lang="fr-CH" dirty="0" smtClean="0"/>
              <a:t>les </a:t>
            </a:r>
            <a:r>
              <a:rPr lang="fr-CH" dirty="0"/>
              <a:t>exigences en matière de sécurité et de sûreté</a:t>
            </a:r>
            <a:endParaRPr lang="en-US" dirty="0" smtClean="0"/>
          </a:p>
          <a:p>
            <a:endParaRPr lang="en-US" dirty="0"/>
          </a:p>
        </p:txBody>
      </p:sp>
    </p:spTree>
    <p:extLst>
      <p:ext uri="{BB962C8B-B14F-4D97-AF65-F5344CB8AC3E}">
        <p14:creationId xmlns:p14="http://schemas.microsoft.com/office/powerpoint/2010/main" val="17360410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Chapitre</a:t>
            </a:r>
            <a:r>
              <a:rPr lang="en-US" dirty="0" smtClean="0"/>
              <a:t> 1 :</a:t>
            </a:r>
            <a:r>
              <a:rPr lang="en-US" dirty="0" err="1" smtClean="0"/>
              <a:t>Informations</a:t>
            </a:r>
            <a:r>
              <a:rPr lang="en-US" dirty="0" smtClean="0"/>
              <a:t> </a:t>
            </a:r>
            <a:r>
              <a:rPr lang="en-US" dirty="0"/>
              <a:t>relatives à </a:t>
            </a:r>
            <a:r>
              <a:rPr lang="en-US" dirty="0" err="1"/>
              <a:t>l’entreprise</a:t>
            </a:r>
            <a:endParaRPr lang="en-US" dirty="0"/>
          </a:p>
        </p:txBody>
      </p:sp>
      <p:sp>
        <p:nvSpPr>
          <p:cNvPr id="3" name="Content Placeholder 2"/>
          <p:cNvSpPr>
            <a:spLocks noGrp="1"/>
          </p:cNvSpPr>
          <p:nvPr>
            <p:ph idx="1"/>
          </p:nvPr>
        </p:nvSpPr>
        <p:spPr/>
        <p:txBody>
          <a:bodyPr/>
          <a:lstStyle/>
          <a:p>
            <a:r>
              <a:rPr lang="fr-CH" dirty="0"/>
              <a:t>Cette section a pour but de donner à l’autorité douanière une vue d’ensemble de l’entreprise, elle est subdivisée en 3 sous-chapitres, à savoir :</a:t>
            </a:r>
          </a:p>
          <a:p>
            <a:r>
              <a:rPr lang="fr-CH" dirty="0"/>
              <a:t>les indications générales concernant l’entreprise </a:t>
            </a:r>
            <a:r>
              <a:rPr lang="fr-CH" dirty="0" smtClean="0"/>
              <a:t>;</a:t>
            </a:r>
          </a:p>
          <a:p>
            <a:r>
              <a:rPr lang="fr-CH" dirty="0" smtClean="0"/>
              <a:t> </a:t>
            </a:r>
            <a:r>
              <a:rPr lang="fr-CH" dirty="0"/>
              <a:t>le volume d’activité </a:t>
            </a:r>
            <a:r>
              <a:rPr lang="fr-CH" dirty="0" smtClean="0"/>
              <a:t>;</a:t>
            </a:r>
            <a:endParaRPr lang="fr-CH" dirty="0"/>
          </a:p>
          <a:p>
            <a:r>
              <a:rPr lang="fr-CH" dirty="0" smtClean="0"/>
              <a:t> </a:t>
            </a:r>
            <a:r>
              <a:rPr lang="fr-CH" dirty="0"/>
              <a:t>les informations et statistiques douanières.</a:t>
            </a:r>
          </a:p>
          <a:p>
            <a:endParaRPr lang="en-US" dirty="0"/>
          </a:p>
        </p:txBody>
      </p:sp>
    </p:spTree>
    <p:extLst>
      <p:ext uri="{BB962C8B-B14F-4D97-AF65-F5344CB8AC3E}">
        <p14:creationId xmlns:p14="http://schemas.microsoft.com/office/powerpoint/2010/main" val="35268295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Indications </a:t>
            </a:r>
            <a:r>
              <a:rPr lang="en-US" dirty="0" err="1"/>
              <a:t>générales</a:t>
            </a:r>
            <a:r>
              <a:rPr lang="en-US" dirty="0"/>
              <a:t> </a:t>
            </a:r>
            <a:r>
              <a:rPr lang="en-US" dirty="0" err="1"/>
              <a:t>concernant</a:t>
            </a:r>
            <a:r>
              <a:rPr lang="en-US" dirty="0"/>
              <a:t> </a:t>
            </a:r>
            <a:r>
              <a:rPr lang="en-US" dirty="0" err="1"/>
              <a:t>l’entreprise</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fr-CH" dirty="0"/>
              <a:t>Il appartient au demandeur de remettre aux autorités compétentes les éléments suivants :</a:t>
            </a:r>
          </a:p>
          <a:p>
            <a:r>
              <a:rPr lang="fr-CH" dirty="0"/>
              <a:t>un extrait du casier judiciaire du demandeur (personne physique ou morale), du/des représentant(s) légal(légaux) du demandeur (personne morale) et de la personne responsable des aspects douaniers ;</a:t>
            </a:r>
          </a:p>
          <a:p>
            <a:r>
              <a:rPr lang="fr-CH" dirty="0"/>
              <a:t>la structure organisationnelle de la société ; </a:t>
            </a:r>
            <a:endParaRPr lang="fr-CH" dirty="0" smtClean="0"/>
          </a:p>
          <a:p>
            <a:r>
              <a:rPr lang="fr-CH" dirty="0" smtClean="0"/>
              <a:t>les </a:t>
            </a:r>
            <a:r>
              <a:rPr lang="fr-CH" dirty="0"/>
              <a:t>adresses des bâtiments qui font partie de la certification AEO </a:t>
            </a:r>
            <a:r>
              <a:rPr lang="fr-CH" dirty="0" smtClean="0"/>
              <a:t>;</a:t>
            </a:r>
          </a:p>
          <a:p>
            <a:r>
              <a:rPr lang="fr-CH" dirty="0" smtClean="0"/>
              <a:t>la </a:t>
            </a:r>
            <a:r>
              <a:rPr lang="fr-CH" dirty="0"/>
              <a:t>taille de </a:t>
            </a:r>
            <a:r>
              <a:rPr lang="fr-CH" dirty="0" smtClean="0"/>
              <a:t>l’entreprise ;</a:t>
            </a:r>
          </a:p>
          <a:p>
            <a:r>
              <a:rPr lang="fr-CH" dirty="0" smtClean="0"/>
              <a:t>une </a:t>
            </a:r>
            <a:r>
              <a:rPr lang="fr-CH" dirty="0"/>
              <a:t>description des opérations de l’entreprise.</a:t>
            </a:r>
          </a:p>
          <a:p>
            <a:endParaRPr lang="en-US" dirty="0"/>
          </a:p>
        </p:txBody>
      </p:sp>
    </p:spTree>
    <p:extLst>
      <p:ext uri="{BB962C8B-B14F-4D97-AF65-F5344CB8AC3E}">
        <p14:creationId xmlns:p14="http://schemas.microsoft.com/office/powerpoint/2010/main" val="27062410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Volume </a:t>
            </a:r>
            <a:r>
              <a:rPr lang="en-US" dirty="0" err="1"/>
              <a:t>d’activité</a:t>
            </a:r>
            <a:endParaRPr lang="en-US" dirty="0"/>
          </a:p>
        </p:txBody>
      </p:sp>
      <p:sp>
        <p:nvSpPr>
          <p:cNvPr id="3" name="Content Placeholder 2"/>
          <p:cNvSpPr>
            <a:spLocks noGrp="1"/>
          </p:cNvSpPr>
          <p:nvPr>
            <p:ph idx="1"/>
          </p:nvPr>
        </p:nvSpPr>
        <p:spPr/>
        <p:txBody>
          <a:bodyPr/>
          <a:lstStyle/>
          <a:p>
            <a:pPr marL="0" indent="0">
              <a:buNone/>
            </a:pPr>
            <a:r>
              <a:rPr lang="fr-CH" dirty="0"/>
              <a:t>Il appartient au demandeur de remettre aux autorités compétentes les éléments suivants : </a:t>
            </a:r>
            <a:endParaRPr lang="fr-CH" dirty="0" smtClean="0"/>
          </a:p>
          <a:p>
            <a:r>
              <a:rPr lang="fr-CH" dirty="0" smtClean="0"/>
              <a:t>le </a:t>
            </a:r>
            <a:r>
              <a:rPr lang="fr-CH" dirty="0"/>
              <a:t>chiffre d’affaire annuel des 3 dernières années ; </a:t>
            </a:r>
            <a:endParaRPr lang="fr-CH" dirty="0" smtClean="0"/>
          </a:p>
          <a:p>
            <a:r>
              <a:rPr lang="fr-CH" dirty="0" smtClean="0"/>
              <a:t>une </a:t>
            </a:r>
            <a:r>
              <a:rPr lang="fr-CH" dirty="0"/>
              <a:t>estimation du nombre et de la valeur des déclarations des 3 dernières </a:t>
            </a:r>
            <a:r>
              <a:rPr lang="fr-CH" dirty="0" smtClean="0"/>
              <a:t>années</a:t>
            </a:r>
          </a:p>
          <a:p>
            <a:r>
              <a:rPr lang="fr-CH" dirty="0" smtClean="0"/>
              <a:t>une </a:t>
            </a:r>
            <a:r>
              <a:rPr lang="fr-CH" dirty="0"/>
              <a:t>estimation des montants de TVA, des droits de douane et droits d’accises versés au cours </a:t>
            </a:r>
            <a:r>
              <a:rPr lang="fr-CH" dirty="0" smtClean="0"/>
              <a:t>des </a:t>
            </a:r>
            <a:r>
              <a:rPr lang="en-US" dirty="0"/>
              <a:t>3 </a:t>
            </a:r>
            <a:r>
              <a:rPr lang="en-US" dirty="0" err="1"/>
              <a:t>dernières</a:t>
            </a:r>
            <a:r>
              <a:rPr lang="en-US" dirty="0"/>
              <a:t> </a:t>
            </a:r>
            <a:r>
              <a:rPr lang="en-US" dirty="0" err="1"/>
              <a:t>années</a:t>
            </a:r>
            <a:r>
              <a:rPr lang="en-US" dirty="0"/>
              <a:t>.</a:t>
            </a:r>
          </a:p>
        </p:txBody>
      </p:sp>
    </p:spTree>
    <p:extLst>
      <p:ext uri="{BB962C8B-B14F-4D97-AF65-F5344CB8AC3E}">
        <p14:creationId xmlns:p14="http://schemas.microsoft.com/office/powerpoint/2010/main" val="2632711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Informations</a:t>
            </a:r>
            <a:r>
              <a:rPr lang="en-US" dirty="0"/>
              <a:t> et </a:t>
            </a:r>
            <a:r>
              <a:rPr lang="en-US" dirty="0" err="1"/>
              <a:t>statistiques</a:t>
            </a:r>
            <a:r>
              <a:rPr lang="en-US" dirty="0"/>
              <a:t> </a:t>
            </a:r>
            <a:r>
              <a:rPr lang="en-US" dirty="0" err="1"/>
              <a:t>douanières</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fr-CH" dirty="0"/>
              <a:t>Il appartient au demandeur de remettre aux autorités compétentes les éléments suivants :</a:t>
            </a:r>
          </a:p>
          <a:p>
            <a:r>
              <a:rPr lang="fr-CH" dirty="0"/>
              <a:t>lorsque les formalités douanières sont effectuées pour le compte du demandeur, il faut </a:t>
            </a:r>
            <a:r>
              <a:rPr lang="fr-CH" dirty="0" smtClean="0"/>
              <a:t>indiquer les </a:t>
            </a:r>
            <a:r>
              <a:rPr lang="fr-CH" dirty="0"/>
              <a:t>coordonnées de la personne responsable de la gestion des questions douanières</a:t>
            </a:r>
          </a:p>
          <a:p>
            <a:r>
              <a:rPr lang="fr-CH" dirty="0"/>
              <a:t>lorsque les formalités douanières sont effectuées pour le compte d’autrui il faut indiquer les </a:t>
            </a:r>
            <a:r>
              <a:rPr lang="fr-CH" dirty="0" smtClean="0"/>
              <a:t>noms des </a:t>
            </a:r>
            <a:r>
              <a:rPr lang="fr-CH" dirty="0"/>
              <a:t>sociétés pour lesquelles les formalités douanières sont effectuées ;</a:t>
            </a:r>
          </a:p>
          <a:p>
            <a:r>
              <a:rPr lang="fr-CH" dirty="0"/>
              <a:t>les procédures relatives à la vérification de la conformité de la classification tarifaire ; les procédures relatives à la vérification de la conformité du calcul de la valeur en douane et les procédures relatives à la vérification sur la conformité de l’origine </a:t>
            </a:r>
            <a:r>
              <a:rPr lang="fr-CH" dirty="0" smtClean="0"/>
              <a:t>préférentielle </a:t>
            </a:r>
            <a:r>
              <a:rPr lang="en-US" dirty="0" smtClean="0"/>
              <a:t>des</a:t>
            </a:r>
            <a:r>
              <a:rPr lang="en-US" dirty="0"/>
              <a:t> </a:t>
            </a:r>
            <a:r>
              <a:rPr lang="en-US" dirty="0" err="1" smtClean="0"/>
              <a:t>marchandises</a:t>
            </a:r>
            <a:r>
              <a:rPr lang="en-US" dirty="0"/>
              <a:t>.</a:t>
            </a:r>
          </a:p>
          <a:p>
            <a:endParaRPr lang="fr-CH" dirty="0"/>
          </a:p>
          <a:p>
            <a:endParaRPr lang="en-US" dirty="0"/>
          </a:p>
        </p:txBody>
      </p:sp>
    </p:spTree>
    <p:extLst>
      <p:ext uri="{BB962C8B-B14F-4D97-AF65-F5344CB8AC3E}">
        <p14:creationId xmlns:p14="http://schemas.microsoft.com/office/powerpoint/2010/main" val="34997245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Chapitre</a:t>
            </a:r>
            <a:r>
              <a:rPr lang="en-US" dirty="0" smtClean="0"/>
              <a:t> 2 : </a:t>
            </a:r>
            <a:r>
              <a:rPr lang="fr-CH" dirty="0"/>
              <a:t>Antécédents en matière du respect de la réglementation</a:t>
            </a:r>
            <a:endParaRPr lang="en-US" dirty="0"/>
          </a:p>
        </p:txBody>
      </p:sp>
      <p:sp>
        <p:nvSpPr>
          <p:cNvPr id="3" name="Content Placeholder 2"/>
          <p:cNvSpPr>
            <a:spLocks noGrp="1"/>
          </p:cNvSpPr>
          <p:nvPr>
            <p:ph idx="1"/>
          </p:nvPr>
        </p:nvSpPr>
        <p:spPr/>
        <p:txBody>
          <a:bodyPr>
            <a:normAutofit fontScale="92500"/>
          </a:bodyPr>
          <a:lstStyle/>
          <a:p>
            <a:pPr marL="0" indent="0">
              <a:buNone/>
            </a:pPr>
            <a:r>
              <a:rPr lang="fr-CH" dirty="0"/>
              <a:t>Ce chapitre comprend les infractions qui ont été commises par le demandeur lors des 3 dernières années.</a:t>
            </a:r>
          </a:p>
          <a:p>
            <a:pPr marL="0" indent="0">
              <a:buNone/>
            </a:pPr>
            <a:r>
              <a:rPr lang="fr-CH" dirty="0"/>
              <a:t>L’opérateur doit remettre aux autorités compétentes les éléments suivants :</a:t>
            </a:r>
          </a:p>
          <a:p>
            <a:r>
              <a:rPr lang="fr-CH" dirty="0"/>
              <a:t>toute information relative aux infractions fiscales et/ou douanières encourues au cours des 3 dernières années et</a:t>
            </a:r>
          </a:p>
          <a:p>
            <a:r>
              <a:rPr lang="fr-CH" dirty="0"/>
              <a:t>les différentes autorisations douanières dont l’opérateur est le titulaire.</a:t>
            </a:r>
          </a:p>
          <a:p>
            <a:pPr marL="0" indent="0">
              <a:buNone/>
            </a:pPr>
            <a:r>
              <a:rPr lang="fr-CH" dirty="0"/>
              <a:t>Les autorités douanières compétentes demandent aux bureaux de recette si des infractions douanières et/ou fiscales ont été commises par le demandeur au cours des 3 dernières années.</a:t>
            </a:r>
          </a:p>
          <a:p>
            <a:endParaRPr lang="en-US" dirty="0"/>
          </a:p>
        </p:txBody>
      </p:sp>
    </p:spTree>
    <p:extLst>
      <p:ext uri="{BB962C8B-B14F-4D97-AF65-F5344CB8AC3E}">
        <p14:creationId xmlns:p14="http://schemas.microsoft.com/office/powerpoint/2010/main" val="1228752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Chapitre</a:t>
            </a:r>
            <a:r>
              <a:rPr lang="en-US" dirty="0" smtClean="0"/>
              <a:t> 3 : </a:t>
            </a:r>
            <a:r>
              <a:rPr lang="en-US" dirty="0" err="1" smtClean="0"/>
              <a:t>Système</a:t>
            </a:r>
            <a:r>
              <a:rPr lang="en-US" dirty="0" smtClean="0"/>
              <a:t> </a:t>
            </a:r>
            <a:r>
              <a:rPr lang="en-US" dirty="0" err="1"/>
              <a:t>comptable</a:t>
            </a:r>
            <a:r>
              <a:rPr lang="en-US" dirty="0"/>
              <a:t> et </a:t>
            </a:r>
            <a:r>
              <a:rPr lang="en-US" dirty="0" err="1"/>
              <a:t>logistique</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fr-CH" dirty="0"/>
              <a:t>Ce chapitre comprend les informations relatives aux systèmes informatiques utilisés par l’opérateur et précise notamment les logiciels </a:t>
            </a:r>
            <a:r>
              <a:rPr lang="fr-CH" dirty="0" smtClean="0"/>
              <a:t>de </a:t>
            </a:r>
            <a:r>
              <a:rPr lang="fr-CH" dirty="0"/>
              <a:t>protection utilisés</a:t>
            </a:r>
            <a:r>
              <a:rPr lang="fr-CH" dirty="0" smtClean="0"/>
              <a:t>.</a:t>
            </a:r>
          </a:p>
          <a:p>
            <a:pPr marL="0" indent="0">
              <a:buNone/>
            </a:pPr>
            <a:r>
              <a:rPr lang="fr-CH" dirty="0"/>
              <a:t>Le chapitre est divisé en 8 sous-chapitres, à savoir :</a:t>
            </a:r>
          </a:p>
          <a:p>
            <a:r>
              <a:rPr lang="fr-CH" dirty="0"/>
              <a:t>la piste d’audit ; </a:t>
            </a:r>
            <a:endParaRPr lang="fr-CH" dirty="0" smtClean="0"/>
          </a:p>
          <a:p>
            <a:r>
              <a:rPr lang="fr-CH" dirty="0" smtClean="0"/>
              <a:t>le </a:t>
            </a:r>
            <a:r>
              <a:rPr lang="fr-CH" dirty="0"/>
              <a:t>système comptable et logistique </a:t>
            </a:r>
            <a:r>
              <a:rPr lang="fr-CH" dirty="0" smtClean="0"/>
              <a:t>;</a:t>
            </a:r>
          </a:p>
          <a:p>
            <a:r>
              <a:rPr lang="fr-CH" dirty="0" smtClean="0"/>
              <a:t> </a:t>
            </a:r>
            <a:r>
              <a:rPr lang="fr-CH" dirty="0"/>
              <a:t>le système de contrôle interne ; </a:t>
            </a:r>
            <a:endParaRPr lang="fr-CH" dirty="0" smtClean="0"/>
          </a:p>
          <a:p>
            <a:r>
              <a:rPr lang="fr-CH" dirty="0" smtClean="0"/>
              <a:t>le </a:t>
            </a:r>
            <a:r>
              <a:rPr lang="fr-CH" dirty="0"/>
              <a:t>flux de marchandises ; </a:t>
            </a:r>
            <a:endParaRPr lang="fr-CH" dirty="0" smtClean="0"/>
          </a:p>
          <a:p>
            <a:r>
              <a:rPr lang="fr-CH" dirty="0" smtClean="0"/>
              <a:t>les </a:t>
            </a:r>
            <a:r>
              <a:rPr lang="fr-CH" dirty="0"/>
              <a:t>procédures douanières ; </a:t>
            </a:r>
            <a:endParaRPr lang="fr-CH" dirty="0" smtClean="0"/>
          </a:p>
          <a:p>
            <a:r>
              <a:rPr lang="fr-CH" dirty="0" smtClean="0"/>
              <a:t>les </a:t>
            </a:r>
            <a:r>
              <a:rPr lang="fr-CH" dirty="0"/>
              <a:t>procédures de sauvegarde, de secours et d’archivage </a:t>
            </a:r>
            <a:r>
              <a:rPr lang="fr-CH" dirty="0" smtClean="0"/>
              <a:t>;</a:t>
            </a:r>
          </a:p>
          <a:p>
            <a:r>
              <a:rPr lang="fr-CH" dirty="0" smtClean="0"/>
              <a:t> </a:t>
            </a:r>
            <a:r>
              <a:rPr lang="fr-CH" dirty="0"/>
              <a:t>la protection des systèmes informatiques </a:t>
            </a:r>
            <a:endParaRPr lang="fr-CH" dirty="0" smtClean="0"/>
          </a:p>
          <a:p>
            <a:r>
              <a:rPr lang="fr-CH" dirty="0" smtClean="0"/>
              <a:t>la </a:t>
            </a:r>
            <a:r>
              <a:rPr lang="fr-CH" dirty="0"/>
              <a:t>sécurité de la documentation.</a:t>
            </a:r>
          </a:p>
          <a:p>
            <a:pPr marL="0" indent="0">
              <a:buNone/>
            </a:pPr>
            <a:endParaRPr lang="en-US" dirty="0"/>
          </a:p>
        </p:txBody>
      </p:sp>
    </p:spTree>
    <p:extLst>
      <p:ext uri="{BB962C8B-B14F-4D97-AF65-F5344CB8AC3E}">
        <p14:creationId xmlns:p14="http://schemas.microsoft.com/office/powerpoint/2010/main" val="2919816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Piste</a:t>
            </a:r>
            <a:r>
              <a:rPr lang="en-US" dirty="0"/>
              <a:t> </a:t>
            </a:r>
            <a:r>
              <a:rPr lang="en-US" dirty="0" err="1"/>
              <a:t>d’audit</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fr-CH" dirty="0"/>
              <a:t>Un grand nombre d’entreprises et d’organisations ont besoin d’une piste d’audit dans leurs systèmes automatisés pour des raisons de sécurité. Une piste d’audit est un processus qui renvoie chaque écriture à sa source afin de vérifier l’exactitude. Une piste d’audit complète permettra de retracer les activités opérationnelles, liées au flux de marchandises et de produits entrants, en cours de traitement et quittant l’entreprise. Une piste d’audit complète conserve également un historique des données qui permet de les retracer depuis leur </a:t>
            </a:r>
            <a:r>
              <a:rPr lang="fr-CH" dirty="0" smtClean="0"/>
              <a:t>entrée </a:t>
            </a:r>
            <a:r>
              <a:rPr lang="fr-CH" dirty="0"/>
              <a:t>dans le fichier et jusqu’à leur sortie</a:t>
            </a:r>
            <a:r>
              <a:rPr lang="fr-CH" dirty="0" smtClean="0"/>
              <a:t>.</a:t>
            </a:r>
          </a:p>
          <a:p>
            <a:pPr marL="0" indent="0">
              <a:buNone/>
            </a:pPr>
            <a:r>
              <a:rPr lang="fr-CH" dirty="0"/>
              <a:t>Il appartient du demandeur de démontrer qu’il existe une traçabilité et un lien entre les éléments suivants :</a:t>
            </a:r>
          </a:p>
          <a:p>
            <a:r>
              <a:rPr lang="fr-CH" dirty="0"/>
              <a:t>les activités douanières </a:t>
            </a:r>
            <a:r>
              <a:rPr lang="fr-CH" dirty="0" smtClean="0"/>
              <a:t>;</a:t>
            </a:r>
          </a:p>
          <a:p>
            <a:r>
              <a:rPr lang="fr-CH" dirty="0" smtClean="0"/>
              <a:t> </a:t>
            </a:r>
            <a:r>
              <a:rPr lang="fr-CH" dirty="0"/>
              <a:t>les mouvements de </a:t>
            </a:r>
            <a:r>
              <a:rPr lang="fr-CH" dirty="0" smtClean="0"/>
              <a:t>marchandises</a:t>
            </a:r>
          </a:p>
          <a:p>
            <a:r>
              <a:rPr lang="fr-CH" dirty="0" smtClean="0"/>
              <a:t> </a:t>
            </a:r>
            <a:r>
              <a:rPr lang="fr-CH" dirty="0"/>
              <a:t>les écritures comptables.</a:t>
            </a:r>
          </a:p>
          <a:p>
            <a:pPr marL="0" indent="0">
              <a:buNone/>
            </a:pPr>
            <a:r>
              <a:rPr lang="fr-CH" dirty="0"/>
              <a:t>Cette traçabilité doit être démontrée au moyen d’exemples concrets.</a:t>
            </a:r>
          </a:p>
          <a:p>
            <a:pPr marL="0" indent="0">
              <a:buNone/>
            </a:pPr>
            <a:endParaRPr lang="en-US" dirty="0"/>
          </a:p>
        </p:txBody>
      </p:sp>
    </p:spTree>
    <p:extLst>
      <p:ext uri="{BB962C8B-B14F-4D97-AF65-F5344CB8AC3E}">
        <p14:creationId xmlns:p14="http://schemas.microsoft.com/office/powerpoint/2010/main" val="1840687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Système</a:t>
            </a:r>
            <a:r>
              <a:rPr lang="en-US" dirty="0"/>
              <a:t> </a:t>
            </a:r>
            <a:r>
              <a:rPr lang="en-US" dirty="0" err="1"/>
              <a:t>comptable</a:t>
            </a:r>
            <a:r>
              <a:rPr lang="en-US" dirty="0"/>
              <a:t> et </a:t>
            </a:r>
            <a:r>
              <a:rPr lang="en-US" dirty="0" err="1"/>
              <a:t>logistique</a:t>
            </a:r>
            <a:endParaRPr lang="en-US" dirty="0"/>
          </a:p>
        </p:txBody>
      </p:sp>
      <p:sp>
        <p:nvSpPr>
          <p:cNvPr id="3" name="Content Placeholder 2"/>
          <p:cNvSpPr>
            <a:spLocks noGrp="1"/>
          </p:cNvSpPr>
          <p:nvPr>
            <p:ph idx="1"/>
          </p:nvPr>
        </p:nvSpPr>
        <p:spPr/>
        <p:txBody>
          <a:bodyPr/>
          <a:lstStyle/>
          <a:p>
            <a:pPr marL="0" indent="0">
              <a:buNone/>
            </a:pPr>
            <a:r>
              <a:rPr lang="fr-CH" dirty="0"/>
              <a:t>Il appartient à l’opérateur de fournir les éléments suivants :</a:t>
            </a:r>
          </a:p>
          <a:p>
            <a:r>
              <a:rPr lang="fr-CH" dirty="0"/>
              <a:t>préciser le système informatique (logiciel et matériel) utilisé pour les activités en général ainsi que pour la gestion des procédures douanières ;</a:t>
            </a:r>
          </a:p>
          <a:p>
            <a:r>
              <a:rPr lang="fr-CH" dirty="0"/>
              <a:t>préciser si le système informatique utilisé est capable de distinguer entre les marchandises Union et non-Union et</a:t>
            </a:r>
          </a:p>
          <a:p>
            <a:r>
              <a:rPr lang="fr-CH" dirty="0"/>
              <a:t>si les activités informatiques sont délocalisées, indiquer le lieu de stockage.</a:t>
            </a:r>
          </a:p>
          <a:p>
            <a:endParaRPr lang="en-US" dirty="0"/>
          </a:p>
        </p:txBody>
      </p:sp>
    </p:spTree>
    <p:extLst>
      <p:ext uri="{BB962C8B-B14F-4D97-AF65-F5344CB8AC3E}">
        <p14:creationId xmlns:p14="http://schemas.microsoft.com/office/powerpoint/2010/main" val="491767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Système</a:t>
            </a:r>
            <a:r>
              <a:rPr lang="en-US" dirty="0"/>
              <a:t> de </a:t>
            </a:r>
            <a:r>
              <a:rPr lang="en-US" dirty="0" err="1"/>
              <a:t>contrôle</a:t>
            </a:r>
            <a:r>
              <a:rPr lang="en-US" dirty="0"/>
              <a:t> interne</a:t>
            </a:r>
          </a:p>
        </p:txBody>
      </p:sp>
      <p:sp>
        <p:nvSpPr>
          <p:cNvPr id="3" name="Content Placeholder 2"/>
          <p:cNvSpPr>
            <a:spLocks noGrp="1"/>
          </p:cNvSpPr>
          <p:nvPr>
            <p:ph idx="1"/>
          </p:nvPr>
        </p:nvSpPr>
        <p:spPr/>
        <p:txBody>
          <a:bodyPr>
            <a:normAutofit/>
          </a:bodyPr>
          <a:lstStyle/>
          <a:p>
            <a:pPr marL="0" indent="0">
              <a:buNone/>
            </a:pPr>
            <a:r>
              <a:rPr lang="fr-CH" dirty="0"/>
              <a:t>L’organisation administrative doit correspondre au type et à la taille de l’entreprise et doit être adaptée à la gestion des flux de marchandises. Le système de contrôle interne doit être conçu de façon à identifier, prévenir et déceler les transactions illégales ou irrégulières.</a:t>
            </a:r>
          </a:p>
          <a:p>
            <a:pPr marL="0" indent="0">
              <a:buNone/>
            </a:pPr>
            <a:r>
              <a:rPr lang="fr-CH" dirty="0"/>
              <a:t>Il appartient au demandeur de fournir :</a:t>
            </a:r>
          </a:p>
          <a:p>
            <a:r>
              <a:rPr lang="fr-CH" dirty="0"/>
              <a:t>les procédures concernant le contrôle interne des différents services (p.ex.: services </a:t>
            </a:r>
            <a:r>
              <a:rPr lang="fr-CH" dirty="0" smtClean="0"/>
              <a:t>douanier, service </a:t>
            </a:r>
            <a:r>
              <a:rPr lang="fr-CH" dirty="0"/>
              <a:t>comptable, etc.) ;</a:t>
            </a:r>
          </a:p>
          <a:p>
            <a:r>
              <a:rPr lang="fr-CH" dirty="0"/>
              <a:t>les rapports d’audit relatifs aux contrôles internes des différents services et les procédures en place pour contrôler les fichiers informatiques.</a:t>
            </a:r>
          </a:p>
          <a:p>
            <a:endParaRPr lang="en-US" dirty="0"/>
          </a:p>
        </p:txBody>
      </p:sp>
    </p:spTree>
    <p:extLst>
      <p:ext uri="{BB962C8B-B14F-4D97-AF65-F5344CB8AC3E}">
        <p14:creationId xmlns:p14="http://schemas.microsoft.com/office/powerpoint/2010/main" val="3154544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Flux de </a:t>
            </a:r>
            <a:r>
              <a:rPr lang="en-US" dirty="0" err="1"/>
              <a:t>marchandises</a:t>
            </a:r>
            <a:endParaRPr lang="en-US" dirty="0"/>
          </a:p>
        </p:txBody>
      </p:sp>
      <p:sp>
        <p:nvSpPr>
          <p:cNvPr id="3" name="Content Placeholder 2"/>
          <p:cNvSpPr>
            <a:spLocks noGrp="1"/>
          </p:cNvSpPr>
          <p:nvPr>
            <p:ph idx="1"/>
          </p:nvPr>
        </p:nvSpPr>
        <p:spPr/>
        <p:txBody>
          <a:bodyPr/>
          <a:lstStyle/>
          <a:p>
            <a:pPr marL="0" indent="0">
              <a:buNone/>
            </a:pPr>
            <a:r>
              <a:rPr lang="fr-CH" dirty="0"/>
              <a:t>L’opérateur doit remettre aux autorités compétentes les éléments suivants :</a:t>
            </a:r>
          </a:p>
          <a:p>
            <a:r>
              <a:rPr lang="fr-CH" dirty="0"/>
              <a:t>les procédures d’enregistrement qui permettent le contrôle des marchandises </a:t>
            </a:r>
            <a:endParaRPr lang="fr-CH" dirty="0" smtClean="0"/>
          </a:p>
          <a:p>
            <a:r>
              <a:rPr lang="fr-CH" dirty="0" smtClean="0"/>
              <a:t>les </a:t>
            </a:r>
            <a:r>
              <a:rPr lang="fr-CH" dirty="0"/>
              <a:t>procédures concernant le contrôle des stocks.</a:t>
            </a:r>
          </a:p>
          <a:p>
            <a:endParaRPr lang="en-US" dirty="0"/>
          </a:p>
        </p:txBody>
      </p:sp>
    </p:spTree>
    <p:extLst>
      <p:ext uri="{BB962C8B-B14F-4D97-AF65-F5344CB8AC3E}">
        <p14:creationId xmlns:p14="http://schemas.microsoft.com/office/powerpoint/2010/main" val="3716671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Procédures</a:t>
            </a:r>
            <a:r>
              <a:rPr lang="en-US" dirty="0"/>
              <a:t> </a:t>
            </a:r>
            <a:r>
              <a:rPr lang="en-US" dirty="0" err="1"/>
              <a:t>douanières</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fr-CH" dirty="0"/>
              <a:t>Le personnel concerné doit avoir pour instruction d’informer immédiatement les autorités douanières en cas de difficulté à se conformer aux exigences requises. Des procédures permettant d’informer les autorités douanières doivent être mises en place.</a:t>
            </a:r>
          </a:p>
          <a:p>
            <a:pPr marL="0" indent="0">
              <a:buNone/>
            </a:pPr>
            <a:r>
              <a:rPr lang="fr-CH" dirty="0"/>
              <a:t>Il appartient au demandeur :</a:t>
            </a:r>
          </a:p>
          <a:p>
            <a:r>
              <a:rPr lang="fr-CH" dirty="0"/>
              <a:t>de remettre les procédures pour vérifier l’exactitude des déclarations en douane ; </a:t>
            </a:r>
            <a:endParaRPr lang="fr-CH" dirty="0" smtClean="0"/>
          </a:p>
          <a:p>
            <a:r>
              <a:rPr lang="fr-CH" dirty="0" smtClean="0"/>
              <a:t>de </a:t>
            </a:r>
            <a:r>
              <a:rPr lang="fr-CH" dirty="0"/>
              <a:t>remettre les procédures concernant la notification des irrégularités aux autorités </a:t>
            </a:r>
            <a:r>
              <a:rPr lang="fr-CH" dirty="0" smtClean="0"/>
              <a:t>compétentes(p.ex</a:t>
            </a:r>
            <a:r>
              <a:rPr lang="fr-CH" dirty="0"/>
              <a:t>. : notification en cas de vol de marchandises sous surveillance douanière, etc.) </a:t>
            </a:r>
            <a:r>
              <a:rPr lang="fr-CH" dirty="0" smtClean="0"/>
              <a:t>e</a:t>
            </a:r>
          </a:p>
          <a:p>
            <a:r>
              <a:rPr lang="fr-CH" dirty="0"/>
              <a:t>de prévoir une procédure qui permet de coordonner les licences sur les importations et/ou exportations de marchandises soumises à des licences (biens à double usage, mesures de prohibition et ou de restrictions, produits textile, etc.). Pour les biens à double usage et les marchandises soumises à des mesures de prohibition, des procédures écrites sont à prévoir</a:t>
            </a:r>
          </a:p>
          <a:p>
            <a:endParaRPr lang="en-US" dirty="0"/>
          </a:p>
        </p:txBody>
      </p:sp>
    </p:spTree>
    <p:extLst>
      <p:ext uri="{BB962C8B-B14F-4D97-AF65-F5344CB8AC3E}">
        <p14:creationId xmlns:p14="http://schemas.microsoft.com/office/powerpoint/2010/main" val="10292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Procédure de sauvegarde, de restauration, de secours et d’archivage</a:t>
            </a:r>
            <a:endParaRPr lang="en-US" dirty="0"/>
          </a:p>
        </p:txBody>
      </p:sp>
      <p:sp>
        <p:nvSpPr>
          <p:cNvPr id="3" name="Content Placeholder 2"/>
          <p:cNvSpPr>
            <a:spLocks noGrp="1"/>
          </p:cNvSpPr>
          <p:nvPr>
            <p:ph idx="1"/>
          </p:nvPr>
        </p:nvSpPr>
        <p:spPr/>
        <p:txBody>
          <a:bodyPr/>
          <a:lstStyle/>
          <a:p>
            <a:pPr marL="0" indent="0">
              <a:buNone/>
            </a:pPr>
            <a:r>
              <a:rPr lang="fr-CH" dirty="0"/>
              <a:t>Mettre en place des procédures satisfaisantes concernant l’archivage des écritures et des informations et de protection contre la perte de ces données.</a:t>
            </a:r>
          </a:p>
          <a:p>
            <a:pPr marL="0" indent="0">
              <a:buNone/>
            </a:pPr>
            <a:r>
              <a:rPr lang="fr-CH" dirty="0"/>
              <a:t>Il appartient au demandeur :</a:t>
            </a:r>
          </a:p>
          <a:p>
            <a:r>
              <a:rPr lang="fr-CH" dirty="0"/>
              <a:t>de décrire les procédures de sauvegarde, de restauration, de secours et d’archivage et </a:t>
            </a:r>
            <a:r>
              <a:rPr lang="fr-CH" dirty="0" smtClean="0"/>
              <a:t>de récupération </a:t>
            </a:r>
            <a:r>
              <a:rPr lang="fr-CH" dirty="0"/>
              <a:t>des écritures de l’entreprise ;</a:t>
            </a:r>
          </a:p>
          <a:p>
            <a:r>
              <a:rPr lang="fr-CH" dirty="0"/>
              <a:t>d’indiquer la durée de sauvegarde et </a:t>
            </a:r>
            <a:r>
              <a:rPr lang="fr-CH" dirty="0" smtClean="0"/>
              <a:t>d’archivage</a:t>
            </a:r>
          </a:p>
          <a:p>
            <a:r>
              <a:rPr lang="fr-CH" dirty="0" smtClean="0"/>
              <a:t>de </a:t>
            </a:r>
            <a:r>
              <a:rPr lang="fr-CH" dirty="0"/>
              <a:t>remettre un plan de sécurité en cas de panne ou de défaillance des systèmes.</a:t>
            </a:r>
          </a:p>
          <a:p>
            <a:endParaRPr lang="en-US" dirty="0"/>
          </a:p>
        </p:txBody>
      </p:sp>
    </p:spTree>
    <p:extLst>
      <p:ext uri="{BB962C8B-B14F-4D97-AF65-F5344CB8AC3E}">
        <p14:creationId xmlns:p14="http://schemas.microsoft.com/office/powerpoint/2010/main" val="2897218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Protection des </a:t>
            </a:r>
            <a:r>
              <a:rPr lang="en-US" dirty="0" err="1"/>
              <a:t>systèmes</a:t>
            </a:r>
            <a:r>
              <a:rPr lang="en-US" dirty="0"/>
              <a:t> </a:t>
            </a:r>
            <a:r>
              <a:rPr lang="en-US" dirty="0" err="1"/>
              <a:t>informatique</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fr-CH" dirty="0"/>
              <a:t>Des mesures de sécurité adaptées doivent être mises en place pour protéger les systèmes informatiques contre toute intrusion non autorisée et pour sécuriser toute documentation.</a:t>
            </a:r>
          </a:p>
          <a:p>
            <a:pPr marL="0" indent="0">
              <a:buNone/>
            </a:pPr>
            <a:r>
              <a:rPr lang="fr-CH" dirty="0"/>
              <a:t>Il appartient au demandeur :</a:t>
            </a:r>
          </a:p>
          <a:p>
            <a:r>
              <a:rPr lang="fr-CH" dirty="0"/>
              <a:t>de remettre des procédures permettant de protéger le système informatique contre toute intrusion non autorisée (p.ex.: logiciel anti-virus, pare-feu, etc.) ;</a:t>
            </a:r>
          </a:p>
          <a:p>
            <a:r>
              <a:rPr lang="fr-CH" dirty="0"/>
              <a:t>le cas échéant de remettre les résultats d’un test d’intrusion et les mesures correctrices qui en découlent ;</a:t>
            </a:r>
          </a:p>
          <a:p>
            <a:r>
              <a:rPr lang="fr-CH" dirty="0"/>
              <a:t>d’indiquer le lieu d’installation des serveurs informatiques et remettre les </a:t>
            </a:r>
            <a:r>
              <a:rPr lang="fr-CH" dirty="0" smtClean="0"/>
              <a:t>mesures/instructions de </a:t>
            </a:r>
            <a:r>
              <a:rPr lang="fr-CH" dirty="0"/>
              <a:t>protection ;</a:t>
            </a:r>
          </a:p>
          <a:p>
            <a:r>
              <a:rPr lang="fr-CH" dirty="0"/>
              <a:t>de décrire l’attribution des droits d’accès aux systèmes informatiques ; de désigner la personne responsable des systèmes informatiques ; </a:t>
            </a:r>
            <a:endParaRPr lang="fr-CH" dirty="0" smtClean="0"/>
          </a:p>
          <a:p>
            <a:r>
              <a:rPr lang="fr-CH" dirty="0" smtClean="0"/>
              <a:t>de </a:t>
            </a:r>
            <a:r>
              <a:rPr lang="fr-CH" dirty="0"/>
              <a:t>remettre les procédures écrites et/ou instructions concernant la sécurité informatique du personnel (p. ex.: Clean Desk) </a:t>
            </a:r>
          </a:p>
          <a:p>
            <a:r>
              <a:rPr lang="fr-CH" dirty="0" smtClean="0"/>
              <a:t> </a:t>
            </a:r>
            <a:r>
              <a:rPr lang="fr-CH" dirty="0"/>
              <a:t>fournir les rapports d’audits concernant l’application correcte des mesures en matière </a:t>
            </a:r>
            <a:r>
              <a:rPr lang="fr-CH" dirty="0" smtClean="0"/>
              <a:t>de </a:t>
            </a:r>
            <a:r>
              <a:rPr lang="en-US" dirty="0" err="1" smtClean="0"/>
              <a:t>sécurité</a:t>
            </a:r>
            <a:r>
              <a:rPr lang="en-US" dirty="0" smtClean="0"/>
              <a:t> </a:t>
            </a:r>
            <a:r>
              <a:rPr lang="en-US" dirty="0" err="1"/>
              <a:t>informatique</a:t>
            </a:r>
            <a:r>
              <a:rPr lang="en-US" dirty="0"/>
              <a:t>.</a:t>
            </a:r>
            <a:endParaRPr lang="fr-CH" dirty="0"/>
          </a:p>
          <a:p>
            <a:endParaRPr lang="en-US" dirty="0"/>
          </a:p>
        </p:txBody>
      </p:sp>
    </p:spTree>
    <p:extLst>
      <p:ext uri="{BB962C8B-B14F-4D97-AF65-F5344CB8AC3E}">
        <p14:creationId xmlns:p14="http://schemas.microsoft.com/office/powerpoint/2010/main" val="537408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Sécurité</a:t>
            </a:r>
            <a:r>
              <a:rPr lang="en-US" dirty="0"/>
              <a:t> de la documentation</a:t>
            </a:r>
          </a:p>
        </p:txBody>
      </p:sp>
      <p:sp>
        <p:nvSpPr>
          <p:cNvPr id="3" name="Content Placeholder 2"/>
          <p:cNvSpPr>
            <a:spLocks noGrp="1"/>
          </p:cNvSpPr>
          <p:nvPr>
            <p:ph idx="1"/>
          </p:nvPr>
        </p:nvSpPr>
        <p:spPr/>
        <p:txBody>
          <a:bodyPr>
            <a:normAutofit fontScale="92500" lnSpcReduction="20000"/>
          </a:bodyPr>
          <a:lstStyle/>
          <a:p>
            <a:pPr marL="0" indent="0">
              <a:buNone/>
            </a:pPr>
            <a:r>
              <a:rPr lang="fr-CH" dirty="0" smtClean="0"/>
              <a:t>il </a:t>
            </a:r>
            <a:r>
              <a:rPr lang="fr-CH" dirty="0"/>
              <a:t>appartient au demandeur :</a:t>
            </a:r>
          </a:p>
          <a:p>
            <a:r>
              <a:rPr lang="fr-CH" dirty="0"/>
              <a:t>de remettre les procédures écrites concernant la protection des informations/données pour protéger contre tout accès non autorisé, contre tout abus ainsi que toute destruction délibérée ou perte (p.ex.: droit d’accès restreint, sauvegarde électronique) </a:t>
            </a:r>
            <a:r>
              <a:rPr lang="fr-CH" dirty="0" smtClean="0"/>
              <a:t>;</a:t>
            </a:r>
          </a:p>
          <a:p>
            <a:r>
              <a:rPr lang="fr-CH" dirty="0" smtClean="0"/>
              <a:t>de </a:t>
            </a:r>
            <a:r>
              <a:rPr lang="fr-CH" dirty="0"/>
              <a:t>préciser si des accès non autorisés ont été observés, dans l’affirmative, il faut remettre </a:t>
            </a:r>
            <a:r>
              <a:rPr lang="fr-CH" dirty="0" smtClean="0"/>
              <a:t>le rapport </a:t>
            </a:r>
            <a:r>
              <a:rPr lang="fr-CH" dirty="0"/>
              <a:t>des faits et les mesures correctrices y relatives </a:t>
            </a:r>
            <a:r>
              <a:rPr lang="fr-CH" dirty="0" smtClean="0"/>
              <a:t>;</a:t>
            </a:r>
          </a:p>
          <a:p>
            <a:r>
              <a:rPr lang="fr-CH" dirty="0"/>
              <a:t>de préciser quelle catégorie d’employés dispose d’un accès pour lire les données détaillées concernant le flux des marchandises et quelle catégorie dispose d’un accès pour modifier ces données et</a:t>
            </a:r>
          </a:p>
          <a:p>
            <a:r>
              <a:rPr lang="fr-CH" dirty="0"/>
              <a:t>de décrire les exigences en matière de sécurité et de sûreté envers les partenaires </a:t>
            </a:r>
            <a:r>
              <a:rPr lang="fr-CH" dirty="0" smtClean="0"/>
              <a:t>commerciaux et </a:t>
            </a:r>
            <a:r>
              <a:rPr lang="fr-CH" dirty="0"/>
              <a:t>les personnes de contact.</a:t>
            </a:r>
          </a:p>
          <a:p>
            <a:endParaRPr lang="fr-CH" dirty="0"/>
          </a:p>
          <a:p>
            <a:endParaRPr lang="en-US" dirty="0"/>
          </a:p>
        </p:txBody>
      </p:sp>
    </p:spTree>
    <p:extLst>
      <p:ext uri="{BB962C8B-B14F-4D97-AF65-F5344CB8AC3E}">
        <p14:creationId xmlns:p14="http://schemas.microsoft.com/office/powerpoint/2010/main" val="2663062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Chapitre</a:t>
            </a:r>
            <a:r>
              <a:rPr lang="en-US" dirty="0" smtClean="0"/>
              <a:t> 4: </a:t>
            </a:r>
            <a:r>
              <a:rPr lang="en-US" dirty="0" err="1" smtClean="0"/>
              <a:t>Solvabilité</a:t>
            </a:r>
            <a:r>
              <a:rPr lang="en-US" dirty="0" smtClean="0"/>
              <a:t> </a:t>
            </a:r>
            <a:r>
              <a:rPr lang="en-US" dirty="0" err="1"/>
              <a:t>financière</a:t>
            </a:r>
            <a:endParaRPr lang="en-US" dirty="0"/>
          </a:p>
        </p:txBody>
      </p:sp>
      <p:sp>
        <p:nvSpPr>
          <p:cNvPr id="3" name="Content Placeholder 2"/>
          <p:cNvSpPr>
            <a:spLocks noGrp="1"/>
          </p:cNvSpPr>
          <p:nvPr>
            <p:ph idx="1"/>
          </p:nvPr>
        </p:nvSpPr>
        <p:spPr/>
        <p:txBody>
          <a:bodyPr>
            <a:normAutofit fontScale="92500"/>
          </a:bodyPr>
          <a:lstStyle/>
          <a:p>
            <a:pPr marL="0" indent="0">
              <a:buNone/>
            </a:pPr>
            <a:r>
              <a:rPr lang="fr-CH" dirty="0"/>
              <a:t>On entend par solvabilité, une situation financière saine, suffisante pour permettre de satisfaire aux obligations compte tenu de l’activité commerciale.</a:t>
            </a:r>
          </a:p>
          <a:p>
            <a:pPr marL="0" indent="0">
              <a:buNone/>
            </a:pPr>
            <a:r>
              <a:rPr lang="fr-CH" dirty="0"/>
              <a:t>En principe, la solvabilité financière est évaluée sur les trois dernières années. Toutefois, pour les demandeurs, qui sont établis depuis moins de trois ans, elle est jugée sur base des écritures et informations disponibles.</a:t>
            </a:r>
          </a:p>
          <a:p>
            <a:pPr marL="0" indent="0">
              <a:buNone/>
            </a:pPr>
            <a:r>
              <a:rPr lang="fr-CH" dirty="0"/>
              <a:t>Il appartient au demandeur :</a:t>
            </a:r>
          </a:p>
          <a:p>
            <a:r>
              <a:rPr lang="fr-CH" dirty="0"/>
              <a:t>de prouver la situation financière l’entreprise </a:t>
            </a:r>
            <a:r>
              <a:rPr lang="fr-CH" dirty="0" smtClean="0"/>
              <a:t>et</a:t>
            </a:r>
          </a:p>
          <a:p>
            <a:r>
              <a:rPr lang="fr-CH" dirty="0"/>
              <a:t>d</a:t>
            </a:r>
            <a:r>
              <a:rPr lang="fr-CH" dirty="0" smtClean="0"/>
              <a:t>e </a:t>
            </a:r>
            <a:r>
              <a:rPr lang="fr-CH" dirty="0"/>
              <a:t>fournir aux autorités compétentes les bilans comptables des 3 dernières années, si possible.</a:t>
            </a:r>
          </a:p>
          <a:p>
            <a:endParaRPr lang="en-US" dirty="0"/>
          </a:p>
        </p:txBody>
      </p:sp>
    </p:spTree>
    <p:extLst>
      <p:ext uri="{BB962C8B-B14F-4D97-AF65-F5344CB8AC3E}">
        <p14:creationId xmlns:p14="http://schemas.microsoft.com/office/powerpoint/2010/main" val="617704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Chapitre 5: Normes </a:t>
            </a:r>
            <a:r>
              <a:rPr lang="fr-CH" dirty="0"/>
              <a:t>pratiques en matière de compétences ou de qualifications professionnelles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fr-CH" dirty="0"/>
              <a:t>La personne responsable des questions douanières doit, soit disposer d’une expérience pratique attestée d’une durée minimale de trois ans dans le domaine douanier, soit appliquer une norme de qualité en matière douanière adoptée par un organisme européen de normalisation.</a:t>
            </a:r>
          </a:p>
          <a:p>
            <a:pPr marL="0" indent="0">
              <a:buNone/>
            </a:pPr>
            <a:r>
              <a:rPr lang="fr-CH" dirty="0"/>
              <a:t>Il appartient au demandeur :</a:t>
            </a:r>
          </a:p>
          <a:p>
            <a:r>
              <a:rPr lang="fr-CH" dirty="0"/>
              <a:t>de nommer la personne responsable des questions douanières et de préciser si cette personne dispose d’une expérience professionnelle de minimum 3 ans en la matière et</a:t>
            </a:r>
          </a:p>
          <a:p>
            <a:r>
              <a:rPr lang="fr-CH" dirty="0"/>
              <a:t>de remettre le cas échéant, une copie d’une pièce certifiant un suivi avec succès d’une </a:t>
            </a:r>
            <a:r>
              <a:rPr lang="fr-CH" dirty="0" smtClean="0"/>
              <a:t>formation en </a:t>
            </a:r>
            <a:r>
              <a:rPr lang="fr-CH" dirty="0"/>
              <a:t>matière de législation douanière.</a:t>
            </a:r>
          </a:p>
          <a:p>
            <a:endParaRPr lang="en-US" dirty="0"/>
          </a:p>
        </p:txBody>
      </p:sp>
    </p:spTree>
    <p:extLst>
      <p:ext uri="{BB962C8B-B14F-4D97-AF65-F5344CB8AC3E}">
        <p14:creationId xmlns:p14="http://schemas.microsoft.com/office/powerpoint/2010/main" val="3536077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smtClean="0"/>
              <a:t>Chapitre 6: Exigence </a:t>
            </a:r>
            <a:r>
              <a:rPr lang="fr-CH" dirty="0"/>
              <a:t>en matière de sécurité</a:t>
            </a:r>
            <a:endParaRPr lang="en-US" dirty="0"/>
          </a:p>
        </p:txBody>
      </p:sp>
      <p:sp>
        <p:nvSpPr>
          <p:cNvPr id="3" name="Content Placeholder 2"/>
          <p:cNvSpPr>
            <a:spLocks noGrp="1"/>
          </p:cNvSpPr>
          <p:nvPr>
            <p:ph idx="1"/>
          </p:nvPr>
        </p:nvSpPr>
        <p:spPr/>
        <p:txBody>
          <a:bodyPr>
            <a:normAutofit fontScale="55000" lnSpcReduction="20000"/>
          </a:bodyPr>
          <a:lstStyle/>
          <a:p>
            <a:pPr marL="0" indent="0">
              <a:buNone/>
            </a:pPr>
            <a:r>
              <a:rPr lang="fr-CH" dirty="0"/>
              <a:t>L’opérateur doit faire preuve d’un niveau élevé de sensibilisation aux questions de sécurité et de sûreté, sur le plan interne et dans le cadre de ses activités commerciales avec les clients, les fournisseurs et les prestataires de services externes, compte tenu de son rôle dans la chaîne d’approvisionnement internationale.</a:t>
            </a:r>
          </a:p>
          <a:p>
            <a:pPr marL="0" indent="0">
              <a:buNone/>
            </a:pPr>
            <a:r>
              <a:rPr lang="fr-CH" dirty="0"/>
              <a:t>Ce chapitre comprend 12 sous-chapitres à savoir:</a:t>
            </a:r>
          </a:p>
          <a:p>
            <a:r>
              <a:rPr lang="fr-CH" dirty="0"/>
              <a:t>les informations générales à la sécurité et à la sureté </a:t>
            </a:r>
            <a:r>
              <a:rPr lang="fr-CH" dirty="0" smtClean="0"/>
              <a:t>;</a:t>
            </a:r>
          </a:p>
          <a:p>
            <a:r>
              <a:rPr lang="fr-CH" dirty="0" smtClean="0"/>
              <a:t>la </a:t>
            </a:r>
            <a:r>
              <a:rPr lang="fr-CH" dirty="0"/>
              <a:t>sécurité des bâtiments </a:t>
            </a:r>
            <a:r>
              <a:rPr lang="fr-CH" dirty="0" smtClean="0"/>
              <a:t>;</a:t>
            </a:r>
          </a:p>
          <a:p>
            <a:r>
              <a:rPr lang="fr-CH" dirty="0" smtClean="0"/>
              <a:t>l’accès </a:t>
            </a:r>
            <a:r>
              <a:rPr lang="fr-CH" dirty="0"/>
              <a:t>aux installations </a:t>
            </a:r>
            <a:r>
              <a:rPr lang="fr-CH" dirty="0" smtClean="0"/>
              <a:t>;</a:t>
            </a:r>
          </a:p>
          <a:p>
            <a:r>
              <a:rPr lang="fr-CH" dirty="0" smtClean="0"/>
              <a:t>les </a:t>
            </a:r>
            <a:r>
              <a:rPr lang="fr-CH" dirty="0"/>
              <a:t>unités de fret </a:t>
            </a:r>
            <a:r>
              <a:rPr lang="fr-CH" dirty="0" smtClean="0"/>
              <a:t>;</a:t>
            </a:r>
          </a:p>
          <a:p>
            <a:r>
              <a:rPr lang="fr-CH" dirty="0" smtClean="0"/>
              <a:t>les </a:t>
            </a:r>
            <a:r>
              <a:rPr lang="fr-CH" dirty="0"/>
              <a:t>processus logistiques </a:t>
            </a:r>
            <a:r>
              <a:rPr lang="fr-CH" dirty="0" smtClean="0"/>
              <a:t>;</a:t>
            </a:r>
          </a:p>
          <a:p>
            <a:r>
              <a:rPr lang="fr-CH" dirty="0" smtClean="0"/>
              <a:t>les </a:t>
            </a:r>
            <a:r>
              <a:rPr lang="fr-CH" dirty="0"/>
              <a:t>marchandises entrante</a:t>
            </a:r>
          </a:p>
          <a:p>
            <a:r>
              <a:rPr lang="fr-CH" dirty="0" smtClean="0"/>
              <a:t>le </a:t>
            </a:r>
            <a:r>
              <a:rPr lang="fr-CH" dirty="0"/>
              <a:t>stockage des marchandises </a:t>
            </a:r>
            <a:r>
              <a:rPr lang="fr-CH" dirty="0" smtClean="0"/>
              <a:t>;</a:t>
            </a:r>
          </a:p>
          <a:p>
            <a:r>
              <a:rPr lang="fr-CH" dirty="0" smtClean="0"/>
              <a:t>la </a:t>
            </a:r>
            <a:r>
              <a:rPr lang="fr-CH" dirty="0"/>
              <a:t>production des marchandises ; </a:t>
            </a:r>
            <a:endParaRPr lang="fr-CH" dirty="0" smtClean="0"/>
          </a:p>
          <a:p>
            <a:r>
              <a:rPr lang="fr-CH" dirty="0" smtClean="0"/>
              <a:t>le </a:t>
            </a:r>
            <a:r>
              <a:rPr lang="fr-CH" dirty="0"/>
              <a:t>chargement des marchandises ; </a:t>
            </a:r>
            <a:endParaRPr lang="fr-CH" dirty="0" smtClean="0"/>
          </a:p>
          <a:p>
            <a:r>
              <a:rPr lang="fr-CH" dirty="0" smtClean="0"/>
              <a:t>les </a:t>
            </a:r>
            <a:r>
              <a:rPr lang="fr-CH" dirty="0"/>
              <a:t>exigences de sécurité imposées aux partenaires commerciaux </a:t>
            </a:r>
            <a:r>
              <a:rPr lang="fr-CH" dirty="0" smtClean="0"/>
              <a:t>;</a:t>
            </a:r>
          </a:p>
          <a:p>
            <a:r>
              <a:rPr lang="fr-CH" dirty="0" smtClean="0"/>
              <a:t>la </a:t>
            </a:r>
            <a:r>
              <a:rPr lang="fr-CH" dirty="0"/>
              <a:t>sécurité du personnel et les services extérieurs.</a:t>
            </a:r>
          </a:p>
          <a:p>
            <a:endParaRPr lang="en-US" dirty="0"/>
          </a:p>
        </p:txBody>
      </p:sp>
    </p:spTree>
    <p:extLst>
      <p:ext uri="{BB962C8B-B14F-4D97-AF65-F5344CB8AC3E}">
        <p14:creationId xmlns:p14="http://schemas.microsoft.com/office/powerpoint/2010/main" val="2460323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Informations générales sur la sécurité et la sureté</a:t>
            </a:r>
            <a:endParaRPr lang="en-US" dirty="0"/>
          </a:p>
        </p:txBody>
      </p:sp>
      <p:sp>
        <p:nvSpPr>
          <p:cNvPr id="3" name="Content Placeholder 2"/>
          <p:cNvSpPr>
            <a:spLocks noGrp="1"/>
          </p:cNvSpPr>
          <p:nvPr>
            <p:ph idx="1"/>
          </p:nvPr>
        </p:nvSpPr>
        <p:spPr/>
        <p:txBody>
          <a:bodyPr>
            <a:normAutofit fontScale="62500" lnSpcReduction="20000"/>
          </a:bodyPr>
          <a:lstStyle/>
          <a:p>
            <a:pPr marL="0" indent="0">
              <a:buNone/>
            </a:pPr>
            <a:r>
              <a:rPr lang="fr-CH" dirty="0"/>
              <a:t>Ce sous-chapitre comprend diverses obligations pour le demandeur.</a:t>
            </a:r>
          </a:p>
          <a:p>
            <a:pPr marL="0" indent="0">
              <a:buNone/>
            </a:pPr>
            <a:r>
              <a:rPr lang="fr-CH" dirty="0"/>
              <a:t>Il appartient au demandeur :</a:t>
            </a:r>
          </a:p>
          <a:p>
            <a:r>
              <a:rPr lang="fr-CH" dirty="0"/>
              <a:t>de nommer la personne responsable pour la sécurité et la sureté et</a:t>
            </a:r>
          </a:p>
          <a:p>
            <a:r>
              <a:rPr lang="fr-CH" dirty="0"/>
              <a:t>de constituer une analyse documentée des risques et menaces de l’entreprise. Cette </a:t>
            </a:r>
            <a:r>
              <a:rPr lang="fr-CH" dirty="0" smtClean="0"/>
              <a:t>évaluation est </a:t>
            </a:r>
            <a:r>
              <a:rPr lang="fr-CH" dirty="0"/>
              <a:t>obligatoire. </a:t>
            </a:r>
            <a:endParaRPr lang="fr-CH" dirty="0" smtClean="0"/>
          </a:p>
          <a:p>
            <a:pPr marL="0" indent="0">
              <a:buNone/>
            </a:pPr>
            <a:r>
              <a:rPr lang="fr-CH" dirty="0" smtClean="0"/>
              <a:t>L’évaluation </a:t>
            </a:r>
            <a:r>
              <a:rPr lang="fr-CH" dirty="0"/>
              <a:t>de l’analyse de risque doit comprendre les éléments suivants :</a:t>
            </a:r>
          </a:p>
          <a:p>
            <a:pPr marL="514350" indent="-514350">
              <a:buFont typeface="+mj-lt"/>
              <a:buAutoNum type="arabicPeriod"/>
            </a:pPr>
            <a:r>
              <a:rPr lang="fr-CH" dirty="0" smtClean="0"/>
              <a:t> </a:t>
            </a:r>
            <a:r>
              <a:rPr lang="fr-CH" dirty="0"/>
              <a:t>les marchandises qui font l’objet de l’activité ;</a:t>
            </a:r>
          </a:p>
          <a:p>
            <a:pPr marL="514350" indent="-514350">
              <a:buFont typeface="+mj-lt"/>
              <a:buAutoNum type="arabicPeriod"/>
            </a:pPr>
            <a:r>
              <a:rPr lang="fr-CH" dirty="0" smtClean="0"/>
              <a:t> </a:t>
            </a:r>
            <a:r>
              <a:rPr lang="fr-CH" dirty="0"/>
              <a:t>la gestion spécifique du fret et du courrier aérien (accès, manutention, stockage, etc.) ;</a:t>
            </a:r>
          </a:p>
          <a:p>
            <a:pPr marL="514350" indent="-514350">
              <a:buFont typeface="+mj-lt"/>
              <a:buAutoNum type="arabicPeriod"/>
            </a:pPr>
            <a:r>
              <a:rPr lang="fr-CH" dirty="0" smtClean="0"/>
              <a:t> </a:t>
            </a:r>
            <a:r>
              <a:rPr lang="fr-CH" dirty="0"/>
              <a:t>les installations et bâtiments utilisés pour l’entreposage, la fabrication, etc. ;</a:t>
            </a:r>
          </a:p>
          <a:p>
            <a:pPr marL="514350" indent="-514350">
              <a:buFont typeface="+mj-lt"/>
              <a:buAutoNum type="arabicPeriod"/>
            </a:pPr>
            <a:r>
              <a:rPr lang="fr-CH" dirty="0" smtClean="0"/>
              <a:t> </a:t>
            </a:r>
            <a:r>
              <a:rPr lang="fr-CH" dirty="0"/>
              <a:t>le personnel et notamment les procédures de recrutement et le recours à du personnel temporaire, ainsi qu’à la sous-traitance ;</a:t>
            </a:r>
          </a:p>
          <a:p>
            <a:pPr marL="514350" indent="-514350">
              <a:buFont typeface="+mj-lt"/>
              <a:buAutoNum type="arabicPeriod"/>
            </a:pPr>
            <a:r>
              <a:rPr lang="fr-CH" dirty="0" smtClean="0"/>
              <a:t> </a:t>
            </a:r>
            <a:r>
              <a:rPr lang="fr-CH" dirty="0"/>
              <a:t>le transport, le chargement et le déchargement des marchandises ; </a:t>
            </a:r>
            <a:endParaRPr lang="fr-CH" dirty="0" smtClean="0"/>
          </a:p>
          <a:p>
            <a:pPr marL="514350" indent="-514350">
              <a:buFont typeface="+mj-lt"/>
              <a:buAutoNum type="arabicPeriod"/>
            </a:pPr>
            <a:r>
              <a:rPr lang="fr-CH" dirty="0"/>
              <a:t> </a:t>
            </a:r>
            <a:r>
              <a:rPr lang="fr-CH" dirty="0" smtClean="0"/>
              <a:t>le </a:t>
            </a:r>
            <a:r>
              <a:rPr lang="fr-CH" dirty="0"/>
              <a:t>système informatique, les écritures et les documents comptables et</a:t>
            </a:r>
          </a:p>
          <a:p>
            <a:pPr marL="514350" indent="-514350">
              <a:buFont typeface="+mj-lt"/>
              <a:buAutoNum type="arabicPeriod"/>
            </a:pPr>
            <a:r>
              <a:rPr lang="fr-CH" dirty="0"/>
              <a:t> </a:t>
            </a:r>
            <a:r>
              <a:rPr lang="fr-CH" dirty="0" smtClean="0"/>
              <a:t>les </a:t>
            </a:r>
            <a:r>
              <a:rPr lang="fr-CH" dirty="0"/>
              <a:t>incidents de sécurité récemment signalés dans l’un de ces domaines.</a:t>
            </a:r>
          </a:p>
          <a:p>
            <a:endParaRPr lang="en-US" dirty="0"/>
          </a:p>
        </p:txBody>
      </p:sp>
    </p:spTree>
    <p:extLst>
      <p:ext uri="{BB962C8B-B14F-4D97-AF65-F5344CB8AC3E}">
        <p14:creationId xmlns:p14="http://schemas.microsoft.com/office/powerpoint/2010/main" val="3971692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Suite </a:t>
            </a:r>
            <a:r>
              <a:rPr lang="fr-CH" dirty="0"/>
              <a:t>Informations générales sur la sécurité et la sureté</a:t>
            </a:r>
            <a:endParaRPr lang="en-US" dirty="0"/>
          </a:p>
        </p:txBody>
      </p:sp>
      <p:sp>
        <p:nvSpPr>
          <p:cNvPr id="3" name="Content Placeholder 2"/>
          <p:cNvSpPr>
            <a:spLocks noGrp="1"/>
          </p:cNvSpPr>
          <p:nvPr>
            <p:ph idx="1"/>
          </p:nvPr>
        </p:nvSpPr>
        <p:spPr/>
        <p:txBody>
          <a:bodyPr>
            <a:normAutofit fontScale="47500" lnSpcReduction="20000"/>
          </a:bodyPr>
          <a:lstStyle/>
          <a:p>
            <a:pPr marL="0" indent="0">
              <a:buNone/>
            </a:pPr>
            <a:r>
              <a:rPr lang="fr-CH" dirty="0" smtClean="0"/>
              <a:t>Il appartient au demandeur :</a:t>
            </a:r>
          </a:p>
          <a:p>
            <a:r>
              <a:rPr lang="fr-CH" dirty="0" smtClean="0"/>
              <a:t>de </a:t>
            </a:r>
            <a:r>
              <a:rPr lang="fr-CH" dirty="0"/>
              <a:t>remettre un plan de sécurité ou d’une analyse de risque. Ce plan de sécurité doit être revu de manière périodique, et doit être complété par des rapports d’audit sur la révision de ces plans ;</a:t>
            </a:r>
          </a:p>
          <a:p>
            <a:r>
              <a:rPr lang="fr-CH" dirty="0"/>
              <a:t>de décrire au minimum 5 risques de sécurité principaux qui ont été détectés par l’opérateur (</a:t>
            </a:r>
            <a:r>
              <a:rPr lang="fr-CH" dirty="0" smtClean="0"/>
              <a:t>p.ex. contrebande </a:t>
            </a:r>
            <a:r>
              <a:rPr lang="fr-CH" dirty="0"/>
              <a:t>de marchandises illicites, accès non autorisé, manipulation irrégulière de marchandises, etc.) ;</a:t>
            </a:r>
          </a:p>
          <a:p>
            <a:r>
              <a:rPr lang="fr-CH" dirty="0"/>
              <a:t>de nommer la personne responsable de la mise en œuvre des mesures de sécurité et de décrire le processus d’élaboration de celles-ci. Ce processus doit être suffisamment détaillé pour qu’il puisse être utilisé par toute autre personne qui, pour quelque raison que ce soit, doit remplacer le responsable à la sécurité ;</a:t>
            </a:r>
          </a:p>
          <a:p>
            <a:r>
              <a:rPr lang="fr-CH" dirty="0"/>
              <a:t>d’indiquer, s’il en possède, plusieurs installations et, le cas échéant, procéder à une harmonisation des procédures de sécurité ;</a:t>
            </a:r>
          </a:p>
          <a:p>
            <a:r>
              <a:rPr lang="fr-CH" dirty="0"/>
              <a:t>de remettre une procédure documentée sur les consignes de sécurité, aussi bien pour </a:t>
            </a:r>
            <a:r>
              <a:rPr lang="fr-CH" dirty="0" smtClean="0"/>
              <a:t>les employés </a:t>
            </a:r>
            <a:r>
              <a:rPr lang="fr-CH" dirty="0"/>
              <a:t>de l’entreprise que pour les visiteurs </a:t>
            </a:r>
            <a:r>
              <a:rPr lang="fr-CH" dirty="0" smtClean="0"/>
              <a:t>;</a:t>
            </a:r>
          </a:p>
          <a:p>
            <a:r>
              <a:rPr lang="fr-CH" dirty="0" smtClean="0"/>
              <a:t> </a:t>
            </a:r>
            <a:r>
              <a:rPr lang="fr-CH" dirty="0"/>
              <a:t>de remettre une copie du registre lié aux incidents </a:t>
            </a:r>
            <a:r>
              <a:rPr lang="fr-CH" dirty="0" smtClean="0"/>
              <a:t>;</a:t>
            </a:r>
            <a:endParaRPr lang="fr-CH" dirty="0"/>
          </a:p>
          <a:p>
            <a:r>
              <a:rPr lang="fr-CH" dirty="0"/>
              <a:t>de remettre une copie des certifications ainsi que des rapports d’évaluation pour lesquels l’opérateur est détenteur (p.ex.: agent habilité) ;</a:t>
            </a:r>
          </a:p>
          <a:p>
            <a:r>
              <a:rPr lang="fr-CH" dirty="0"/>
              <a:t>de remettre, le cas échéant, les procédures concernant les exigences demandées lors de l’importation/exportation de marchandises (p. ex.: emballage spécial) ;</a:t>
            </a:r>
          </a:p>
          <a:p>
            <a:r>
              <a:rPr lang="fr-CH" dirty="0"/>
              <a:t>de mentionner, le cas échéant, le nom de la société de gardiennage engagée et de joindre une copie du contrat qui les lie et</a:t>
            </a:r>
          </a:p>
          <a:p>
            <a:r>
              <a:rPr lang="fr-CH" dirty="0"/>
              <a:t>d’énumérer une liste des exigences qui sont demandées par les clients de l’opérateur.</a:t>
            </a:r>
          </a:p>
          <a:p>
            <a:r>
              <a:rPr lang="fr-CH" dirty="0"/>
              <a:t>Lorsque des incidents liés à la sécurité se sont déroulés au cours de l’année écoulée, il faut remettre ces rapports ainsi que les mesures correctrices y relatives.</a:t>
            </a:r>
          </a:p>
          <a:p>
            <a:endParaRPr lang="en-US" dirty="0"/>
          </a:p>
        </p:txBody>
      </p:sp>
    </p:spTree>
    <p:extLst>
      <p:ext uri="{BB962C8B-B14F-4D97-AF65-F5344CB8AC3E}">
        <p14:creationId xmlns:p14="http://schemas.microsoft.com/office/powerpoint/2010/main" val="281882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Sécurité</a:t>
            </a:r>
            <a:r>
              <a:rPr lang="en-US" dirty="0"/>
              <a:t> du </a:t>
            </a:r>
            <a:r>
              <a:rPr lang="en-US" dirty="0" err="1"/>
              <a:t>bâtiment</a:t>
            </a:r>
            <a:endParaRPr lang="en-US" dirty="0"/>
          </a:p>
        </p:txBody>
      </p:sp>
      <p:sp>
        <p:nvSpPr>
          <p:cNvPr id="3" name="Content Placeholder 2"/>
          <p:cNvSpPr>
            <a:spLocks noGrp="1"/>
          </p:cNvSpPr>
          <p:nvPr>
            <p:ph idx="1"/>
          </p:nvPr>
        </p:nvSpPr>
        <p:spPr/>
        <p:txBody>
          <a:bodyPr>
            <a:normAutofit fontScale="47500" lnSpcReduction="20000"/>
          </a:bodyPr>
          <a:lstStyle/>
          <a:p>
            <a:pPr marL="0" indent="0">
              <a:buNone/>
            </a:pPr>
            <a:r>
              <a:rPr lang="fr-CH" dirty="0"/>
              <a:t>Il appartient à l’opérateur de démontrer que ses bâtiments offrent une protection contre les intrusions illicites et sont construits avec des matériaux qui résistent aux tentatives d’accès illicite.</a:t>
            </a:r>
          </a:p>
          <a:p>
            <a:pPr marL="0" indent="0">
              <a:buNone/>
            </a:pPr>
            <a:r>
              <a:rPr lang="fr-CH" dirty="0"/>
              <a:t>Il appartient au demandeur :</a:t>
            </a:r>
          </a:p>
          <a:p>
            <a:r>
              <a:rPr lang="fr-CH" dirty="0"/>
              <a:t>de décrire comment les limites extérieures du bâtiment sont protégées (p.ex.: clôture, portail, système de vidéosurveillance) ;</a:t>
            </a:r>
          </a:p>
          <a:p>
            <a:r>
              <a:rPr lang="fr-CH" dirty="0"/>
              <a:t>de remettre les rapports d’audits relatifs aux contrôles périodiques de la sécurité extérieure</a:t>
            </a:r>
          </a:p>
          <a:p>
            <a:r>
              <a:rPr lang="fr-CH" dirty="0"/>
              <a:t>(clôture, portail) des bâtiments. Préciser la périodicité des contrôles ; de remettre une procédure concernant le traitement et l’enregistrement des incidents ; de décrire la procédure qui permet l’accès à l’enceinte (p.ex.: système de badges) ; de fournir un relevé des personnes qui ont accès aux caméras de vidéosurveillance ; de fournir les informations relatives au temps de stockage des enregistrements de la vidéosurveillance ;</a:t>
            </a:r>
          </a:p>
          <a:p>
            <a:r>
              <a:rPr lang="fr-CH" dirty="0"/>
              <a:t>de préciser les heures et jours d’ouvertures de l’entreprise en question et préciser par des procédures comment la sécurité en dehors des heures d’ouverture est organisée ;</a:t>
            </a:r>
          </a:p>
          <a:p>
            <a:r>
              <a:rPr lang="fr-CH" dirty="0"/>
              <a:t>de décrire si l’opérateur dispose d’un générateur de secours en cas de coupure du courant (au niveau du système de vidéosurveillance, éclairage à l‘intérieur et extérieur des bâtiments, au niveau du système informatique) ;</a:t>
            </a:r>
          </a:p>
          <a:p>
            <a:r>
              <a:rPr lang="fr-CH" dirty="0"/>
              <a:t>de remettre une procédure concernant la gestion des clefs dans l’entreprise ; </a:t>
            </a:r>
            <a:endParaRPr lang="fr-CH" dirty="0" smtClean="0"/>
          </a:p>
          <a:p>
            <a:r>
              <a:rPr lang="fr-CH" dirty="0" smtClean="0"/>
              <a:t>de </a:t>
            </a:r>
            <a:r>
              <a:rPr lang="fr-CH" dirty="0"/>
              <a:t>remettre une procédure écrite concernant la gestion du stationnement des véhicules, aussi bien pour le personnel que pour les visiteurs </a:t>
            </a:r>
          </a:p>
          <a:p>
            <a:r>
              <a:rPr lang="fr-CH" dirty="0"/>
              <a:t>de remettre un plan de masse de l’enceinte de l’opérateur en question, ce plan de masse </a:t>
            </a:r>
            <a:r>
              <a:rPr lang="fr-CH" dirty="0" smtClean="0"/>
              <a:t>doit comprendre </a:t>
            </a:r>
            <a:r>
              <a:rPr lang="fr-CH" dirty="0"/>
              <a:t>les éléments suivants :</a:t>
            </a:r>
          </a:p>
          <a:p>
            <a:pPr marL="514350" indent="-514350">
              <a:buFont typeface="+mj-lt"/>
              <a:buAutoNum type="arabicPeriod"/>
            </a:pPr>
            <a:r>
              <a:rPr lang="fr-CH" dirty="0" smtClean="0"/>
              <a:t>les </a:t>
            </a:r>
            <a:r>
              <a:rPr lang="fr-CH" dirty="0"/>
              <a:t>caméras de vidéosurveillance (y compris le champ de vision des caméras) ;</a:t>
            </a:r>
          </a:p>
          <a:p>
            <a:pPr marL="514350" indent="-514350">
              <a:buFont typeface="+mj-lt"/>
              <a:buAutoNum type="arabicPeriod"/>
            </a:pPr>
            <a:r>
              <a:rPr lang="fr-CH" dirty="0" smtClean="0"/>
              <a:t>un </a:t>
            </a:r>
            <a:r>
              <a:rPr lang="fr-CH" dirty="0"/>
              <a:t>relevé avec tous les accès et</a:t>
            </a:r>
          </a:p>
          <a:p>
            <a:pPr marL="514350" indent="-514350">
              <a:buFont typeface="+mj-lt"/>
              <a:buAutoNum type="arabicPeriod"/>
            </a:pPr>
            <a:r>
              <a:rPr lang="fr-CH" dirty="0" smtClean="0"/>
              <a:t>la </a:t>
            </a:r>
            <a:r>
              <a:rPr lang="fr-CH" dirty="0"/>
              <a:t>clôture pour montrer la délimitation du site.</a:t>
            </a:r>
          </a:p>
          <a:p>
            <a:pPr marL="514350" indent="-514350">
              <a:buFont typeface="+mj-lt"/>
              <a:buAutoNum type="arabicPeriod"/>
            </a:pPr>
            <a:endParaRPr lang="fr-CH" dirty="0"/>
          </a:p>
        </p:txBody>
      </p:sp>
    </p:spTree>
    <p:extLst>
      <p:ext uri="{BB962C8B-B14F-4D97-AF65-F5344CB8AC3E}">
        <p14:creationId xmlns:p14="http://schemas.microsoft.com/office/powerpoint/2010/main" val="6106092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Accès</a:t>
            </a:r>
            <a:r>
              <a:rPr lang="en-US" dirty="0"/>
              <a:t> aux installations</a:t>
            </a:r>
          </a:p>
        </p:txBody>
      </p:sp>
      <p:sp>
        <p:nvSpPr>
          <p:cNvPr id="3" name="Content Placeholder 2"/>
          <p:cNvSpPr>
            <a:spLocks noGrp="1"/>
          </p:cNvSpPr>
          <p:nvPr>
            <p:ph idx="1"/>
          </p:nvPr>
        </p:nvSpPr>
        <p:spPr/>
        <p:txBody>
          <a:bodyPr>
            <a:normAutofit fontScale="77500" lnSpcReduction="20000"/>
          </a:bodyPr>
          <a:lstStyle/>
          <a:p>
            <a:pPr marL="0" indent="0">
              <a:buNone/>
            </a:pPr>
            <a:r>
              <a:rPr lang="fr-CH" dirty="0"/>
              <a:t>Afin d’éviter toute manipulation irrégulière des marchandises, le demandeur doit mettre en place des mesures adaptées pour empêcher l’accès non autorisé aux bureaux, aux aires d’expédition, aux quais de chargement, aux zones de fret et aux autres secteurs sensibles.</a:t>
            </a:r>
          </a:p>
          <a:p>
            <a:pPr marL="0" indent="0">
              <a:buNone/>
            </a:pPr>
            <a:r>
              <a:rPr lang="fr-CH" dirty="0"/>
              <a:t>Il appartient au demandeur :</a:t>
            </a:r>
          </a:p>
          <a:p>
            <a:r>
              <a:rPr lang="fr-CH" dirty="0"/>
              <a:t>de remettre une procédure qui permet de gérer l’accès du personnel, des visiteurs, des véhicules et des marchandises. Cette procédure doit être vérifiée régulièrement par des rapports d’audit ;</a:t>
            </a:r>
          </a:p>
          <a:p>
            <a:r>
              <a:rPr lang="fr-CH" dirty="0"/>
              <a:t>de remettre une procédure concernant la découverte d’une personne et/ou voiture non autorisée à l’intérieur de l’enceinte ;</a:t>
            </a:r>
          </a:p>
          <a:p>
            <a:r>
              <a:rPr lang="fr-CH" dirty="0"/>
              <a:t>de remettre un plan d’implantation du projet (vue satellite, voie d’accès, emplacement du bâtiment, etc.) et</a:t>
            </a:r>
          </a:p>
          <a:p>
            <a:r>
              <a:rPr lang="fr-CH" dirty="0"/>
              <a:t>de remettre le cas échéant, les informations sur les entreprises qui se trouvent dans les mêmes installations que le demandeur de la certification l’AEO. Dans cette hypothèse il s’impose de prévoir une séparation physique (cloison, lecteur de badges, etc.).</a:t>
            </a:r>
          </a:p>
          <a:p>
            <a:endParaRPr lang="en-US" dirty="0"/>
          </a:p>
        </p:txBody>
      </p:sp>
    </p:spTree>
    <p:extLst>
      <p:ext uri="{BB962C8B-B14F-4D97-AF65-F5344CB8AC3E}">
        <p14:creationId xmlns:p14="http://schemas.microsoft.com/office/powerpoint/2010/main" val="1027894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Unité</a:t>
            </a:r>
            <a:r>
              <a:rPr lang="en-US" dirty="0"/>
              <a:t> de Fret</a:t>
            </a:r>
          </a:p>
        </p:txBody>
      </p:sp>
      <p:sp>
        <p:nvSpPr>
          <p:cNvPr id="3" name="Content Placeholder 2"/>
          <p:cNvSpPr>
            <a:spLocks noGrp="1"/>
          </p:cNvSpPr>
          <p:nvPr>
            <p:ph idx="1"/>
          </p:nvPr>
        </p:nvSpPr>
        <p:spPr/>
        <p:txBody>
          <a:bodyPr>
            <a:normAutofit fontScale="55000" lnSpcReduction="20000"/>
          </a:bodyPr>
          <a:lstStyle/>
          <a:p>
            <a:pPr marL="0" indent="0">
              <a:buNone/>
            </a:pPr>
            <a:r>
              <a:rPr lang="fr-CH" dirty="0"/>
              <a:t>Pour assurer la sécurité des unités de fret, des mesures doivent être prises concernant la manutention des marchandises, notamment la protection contre toute introduction ou substitution non autorisée de marchandises, contre toute manipulation inappropriée des marchandises et contre toute intervention non autorisée sur les unités de fret.</a:t>
            </a:r>
          </a:p>
          <a:p>
            <a:r>
              <a:rPr lang="fr-CH" dirty="0"/>
              <a:t>On entend par unité de fret les camions, citernes, véhicules et conteneurs.</a:t>
            </a:r>
          </a:p>
          <a:p>
            <a:pPr marL="0" indent="0">
              <a:buNone/>
            </a:pPr>
            <a:r>
              <a:rPr lang="fr-CH" dirty="0"/>
              <a:t>Il appartient au demandeur :</a:t>
            </a:r>
          </a:p>
          <a:p>
            <a:r>
              <a:rPr lang="fr-CH" dirty="0"/>
              <a:t>de remettre les procédures qui permettent d’assurer l’intégrité des unités de fret, notamment grâce au contrôle d’accès mais également par surveillance vidéo ;</a:t>
            </a:r>
          </a:p>
          <a:p>
            <a:r>
              <a:rPr lang="fr-CH" dirty="0"/>
              <a:t>de remettre les procédures permettant de réagir en cas d’intrusion de personnes non autorisées aux abords des unités de fret ;</a:t>
            </a:r>
          </a:p>
          <a:p>
            <a:r>
              <a:rPr lang="fr-CH" dirty="0"/>
              <a:t>de remettre, le cas échéant, une procédure concernant l’utilisation des scellés (photos des scellés, numéros de séries, etc.). Pour les envois sans scellé il faut remettre une procédure pour garantir l’intégrité des marchandises transportées ;</a:t>
            </a:r>
          </a:p>
          <a:p>
            <a:r>
              <a:rPr lang="fr-CH" dirty="0"/>
              <a:t>de décrire les mesures de contrôle qui sont utilisées pour les unités de fret (ex: contrôle des 7 points) et</a:t>
            </a:r>
          </a:p>
          <a:p>
            <a:pPr marL="0" indent="0">
              <a:buNone/>
            </a:pPr>
            <a:r>
              <a:rPr lang="fr-CH" dirty="0"/>
              <a:t>de remettre les informations suivantes :</a:t>
            </a:r>
          </a:p>
          <a:p>
            <a:pPr marL="514350" indent="-514350">
              <a:buFont typeface="+mj-lt"/>
              <a:buAutoNum type="arabicPeriod"/>
            </a:pPr>
            <a:r>
              <a:rPr lang="fr-CH" dirty="0" smtClean="0"/>
              <a:t>le </a:t>
            </a:r>
            <a:r>
              <a:rPr lang="fr-CH" dirty="0"/>
              <a:t>nom du propriétaire de l’unité de fret ;</a:t>
            </a:r>
          </a:p>
          <a:p>
            <a:pPr marL="514350" indent="-514350">
              <a:buFont typeface="+mj-lt"/>
              <a:buAutoNum type="arabicPeriod"/>
            </a:pPr>
            <a:r>
              <a:rPr lang="fr-CH" dirty="0" smtClean="0"/>
              <a:t>le </a:t>
            </a:r>
            <a:r>
              <a:rPr lang="fr-CH" dirty="0"/>
              <a:t>nom de la personne responsable de l’unité de fret et</a:t>
            </a:r>
          </a:p>
          <a:p>
            <a:pPr marL="514350" indent="-514350">
              <a:buFont typeface="+mj-lt"/>
              <a:buAutoNum type="arabicPeriod"/>
            </a:pPr>
            <a:r>
              <a:rPr lang="fr-CH" dirty="0" smtClean="0"/>
              <a:t>le </a:t>
            </a:r>
            <a:r>
              <a:rPr lang="fr-CH" dirty="0"/>
              <a:t>programme d’entretien de l’unité de fret.</a:t>
            </a:r>
          </a:p>
          <a:p>
            <a:endParaRPr lang="en-US" dirty="0"/>
          </a:p>
        </p:txBody>
      </p:sp>
    </p:spTree>
    <p:extLst>
      <p:ext uri="{BB962C8B-B14F-4D97-AF65-F5344CB8AC3E}">
        <p14:creationId xmlns:p14="http://schemas.microsoft.com/office/powerpoint/2010/main" val="1041759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Processus</a:t>
            </a:r>
            <a:r>
              <a:rPr lang="en-US" dirty="0"/>
              <a:t> </a:t>
            </a:r>
            <a:r>
              <a:rPr lang="en-US" dirty="0" err="1"/>
              <a:t>logistique</a:t>
            </a:r>
            <a:endParaRPr lang="en-US" dirty="0"/>
          </a:p>
        </p:txBody>
      </p:sp>
      <p:sp>
        <p:nvSpPr>
          <p:cNvPr id="3" name="Content Placeholder 2"/>
          <p:cNvSpPr>
            <a:spLocks noGrp="1"/>
          </p:cNvSpPr>
          <p:nvPr>
            <p:ph idx="1"/>
          </p:nvPr>
        </p:nvSpPr>
        <p:spPr/>
        <p:txBody>
          <a:bodyPr/>
          <a:lstStyle/>
          <a:p>
            <a:pPr marL="0" indent="0">
              <a:buNone/>
            </a:pPr>
            <a:r>
              <a:rPr lang="fr-CH" dirty="0"/>
              <a:t>Le processus de transport couvre les mouvements de marchandises importées et/ou exportées entre les locaux et la frontière, à l’intérieur de l’Union européenne et entre les différents sites.</a:t>
            </a:r>
          </a:p>
          <a:p>
            <a:pPr marL="0" indent="0">
              <a:buNone/>
            </a:pPr>
            <a:r>
              <a:rPr lang="fr-CH" dirty="0"/>
              <a:t>Il appartient au demandeur :</a:t>
            </a:r>
          </a:p>
          <a:p>
            <a:r>
              <a:rPr lang="fr-CH" dirty="0"/>
              <a:t>de décrire quels moyens de transport sont utilisés ; de décrire si le transport est organisé par l’entreprise elle-même ou si elle a recours à un transitaire ou un transporteur et</a:t>
            </a:r>
          </a:p>
          <a:p>
            <a:r>
              <a:rPr lang="fr-CH" dirty="0"/>
              <a:t>de décrire, le cas échéant, les critères d’élection des transporteurs (p.ex.: sur base de certification AEO, TAPA).</a:t>
            </a:r>
          </a:p>
          <a:p>
            <a:endParaRPr lang="en-US" dirty="0"/>
          </a:p>
        </p:txBody>
      </p:sp>
    </p:spTree>
    <p:extLst>
      <p:ext uri="{BB962C8B-B14F-4D97-AF65-F5344CB8AC3E}">
        <p14:creationId xmlns:p14="http://schemas.microsoft.com/office/powerpoint/2010/main" val="41024763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Marchandises</a:t>
            </a:r>
            <a:r>
              <a:rPr lang="en-US" dirty="0"/>
              <a:t> </a:t>
            </a:r>
            <a:r>
              <a:rPr lang="en-US" dirty="0" err="1"/>
              <a:t>entrantes</a:t>
            </a:r>
            <a:endParaRPr lang="en-US" dirty="0"/>
          </a:p>
        </p:txBody>
      </p:sp>
      <p:sp>
        <p:nvSpPr>
          <p:cNvPr id="3" name="Content Placeholder 2"/>
          <p:cNvSpPr>
            <a:spLocks noGrp="1"/>
          </p:cNvSpPr>
          <p:nvPr>
            <p:ph idx="1"/>
          </p:nvPr>
        </p:nvSpPr>
        <p:spPr/>
        <p:txBody>
          <a:bodyPr>
            <a:normAutofit fontScale="55000" lnSpcReduction="20000"/>
          </a:bodyPr>
          <a:lstStyle/>
          <a:p>
            <a:pPr marL="0" indent="0">
              <a:buNone/>
            </a:pPr>
            <a:r>
              <a:rPr lang="fr-CH" dirty="0"/>
              <a:t>Dans ce sous-chapitre, il y a lieu d’organiser des mesures adaptées qui doivent être mises en place pour empêcher l’accès non autorisé aux aires d’expédition, aux quais de chargement et aux zones de fret.</a:t>
            </a:r>
          </a:p>
          <a:p>
            <a:pPr marL="0" indent="0">
              <a:buNone/>
            </a:pPr>
            <a:r>
              <a:rPr lang="fr-CH" dirty="0"/>
              <a:t>Il appartient au demandeur :</a:t>
            </a:r>
          </a:p>
          <a:p>
            <a:r>
              <a:rPr lang="fr-CH" dirty="0"/>
              <a:t>de mettre en place des procédures qui permettent de garantir la sécurité et la sureté des marchandises et de remettre les rapport d’audits permettant de vérifier l’efficacité des mesures prises ;</a:t>
            </a:r>
          </a:p>
          <a:p>
            <a:r>
              <a:rPr lang="fr-CH" dirty="0"/>
              <a:t>de mettre en place des procédures permettant de contrôler l’intégrité des scellés </a:t>
            </a:r>
            <a:r>
              <a:rPr lang="fr-CH" dirty="0" smtClean="0"/>
              <a:t>des marchandises </a:t>
            </a:r>
            <a:r>
              <a:rPr lang="fr-CH" dirty="0"/>
              <a:t>entrantes (Contrôle visuel des scellés, des traces de manipulation, etc.) ;</a:t>
            </a:r>
          </a:p>
          <a:p>
            <a:r>
              <a:rPr lang="fr-CH" dirty="0"/>
              <a:t>de préciser s’il traite des marchandises avec des besoins spécifiques (fret aérien) </a:t>
            </a:r>
            <a:r>
              <a:rPr lang="fr-CH" dirty="0" smtClean="0"/>
              <a:t>;</a:t>
            </a:r>
          </a:p>
          <a:p>
            <a:r>
              <a:rPr lang="fr-CH" dirty="0" smtClean="0"/>
              <a:t> </a:t>
            </a:r>
            <a:r>
              <a:rPr lang="fr-CH" dirty="0"/>
              <a:t>de décrire le marquage des marchandises par des exemples concrets;</a:t>
            </a:r>
          </a:p>
          <a:p>
            <a:r>
              <a:rPr lang="fr-CH" dirty="0"/>
              <a:t>d’établir des procédures permettant d’effectuer le comptage et le pesage des marchandises entrantes ;</a:t>
            </a:r>
          </a:p>
          <a:p>
            <a:r>
              <a:rPr lang="fr-CH" dirty="0"/>
              <a:t>de mettre en place une séparation distincte de la commande des marchandises, de la réception des marchandises et de l’encodage des </a:t>
            </a:r>
            <a:r>
              <a:rPr lang="fr-CH" dirty="0" smtClean="0"/>
              <a:t>marchandises</a:t>
            </a:r>
            <a:endParaRPr lang="fr-CH" dirty="0"/>
          </a:p>
          <a:p>
            <a:r>
              <a:rPr lang="fr-CH" dirty="0"/>
              <a:t>de mettre en place des procédures permettant de vérifier si les marchandises entrantes </a:t>
            </a:r>
            <a:r>
              <a:rPr lang="fr-CH" dirty="0" smtClean="0"/>
              <a:t>encodées sont </a:t>
            </a:r>
            <a:r>
              <a:rPr lang="fr-CH" dirty="0"/>
              <a:t>bien celles qui figurent :</a:t>
            </a:r>
          </a:p>
          <a:p>
            <a:pPr marL="514350" indent="-514350">
              <a:buFont typeface="+mj-lt"/>
              <a:buAutoNum type="arabicPeriod"/>
            </a:pPr>
            <a:r>
              <a:rPr lang="fr-CH" dirty="0" smtClean="0"/>
              <a:t>au </a:t>
            </a:r>
            <a:r>
              <a:rPr lang="fr-CH" dirty="0"/>
              <a:t>document d’accompagnement ;</a:t>
            </a:r>
          </a:p>
          <a:p>
            <a:pPr marL="514350" indent="-514350">
              <a:buFont typeface="+mj-lt"/>
              <a:buAutoNum type="arabicPeriod"/>
            </a:pPr>
            <a:r>
              <a:rPr lang="fr-CH" dirty="0" smtClean="0"/>
              <a:t>à </a:t>
            </a:r>
            <a:r>
              <a:rPr lang="fr-CH" dirty="0"/>
              <a:t>la liste de chargement et</a:t>
            </a:r>
          </a:p>
          <a:p>
            <a:pPr marL="514350" indent="-514350">
              <a:buFont typeface="+mj-lt"/>
              <a:buAutoNum type="arabicPeriod"/>
            </a:pPr>
            <a:r>
              <a:rPr lang="fr-CH" dirty="0" smtClean="0"/>
              <a:t>dans </a:t>
            </a:r>
            <a:r>
              <a:rPr lang="fr-CH" dirty="0"/>
              <a:t>la comptabilité matière de l’entreprise</a:t>
            </a:r>
          </a:p>
          <a:p>
            <a:endParaRPr lang="en-US" dirty="0"/>
          </a:p>
        </p:txBody>
      </p:sp>
    </p:spTree>
    <p:extLst>
      <p:ext uri="{BB962C8B-B14F-4D97-AF65-F5344CB8AC3E}">
        <p14:creationId xmlns:p14="http://schemas.microsoft.com/office/powerpoint/2010/main" val="32628745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Stockage</a:t>
            </a:r>
            <a:r>
              <a:rPr lang="en-US" dirty="0"/>
              <a:t> de </a:t>
            </a:r>
            <a:r>
              <a:rPr lang="en-US" dirty="0" err="1"/>
              <a:t>marchandises</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fr-CH" dirty="0"/>
              <a:t>Ce sous-chapitre concerne le stockage des marchandises, qui fait, à son tour, partie intégrante d’une chaine d’approvisionnement </a:t>
            </a:r>
            <a:r>
              <a:rPr lang="fr-CH" dirty="0" smtClean="0"/>
              <a:t>internationale.</a:t>
            </a:r>
          </a:p>
          <a:p>
            <a:pPr marL="0" indent="0">
              <a:buNone/>
            </a:pPr>
            <a:r>
              <a:rPr lang="fr-CH" dirty="0" smtClean="0"/>
              <a:t>Il </a:t>
            </a:r>
            <a:r>
              <a:rPr lang="fr-CH" dirty="0"/>
              <a:t>appartient au demandeur :</a:t>
            </a:r>
          </a:p>
          <a:p>
            <a:r>
              <a:rPr lang="fr-CH" dirty="0"/>
              <a:t>de remettre un plan de la zone de stockage des marchandises avec les zones d’accès </a:t>
            </a:r>
            <a:r>
              <a:rPr lang="fr-CH" dirty="0" smtClean="0"/>
              <a:t>et le champ</a:t>
            </a:r>
            <a:r>
              <a:rPr lang="fr-CH" dirty="0"/>
              <a:t> de vision des caméras ;</a:t>
            </a:r>
          </a:p>
          <a:p>
            <a:r>
              <a:rPr lang="fr-CH" dirty="0" smtClean="0"/>
              <a:t>de </a:t>
            </a:r>
            <a:r>
              <a:rPr lang="fr-CH" dirty="0"/>
              <a:t>préciser la gestion du niveau de sécurité pour les zones de stockage situées à </a:t>
            </a:r>
            <a:r>
              <a:rPr lang="fr-CH" dirty="0" smtClean="0"/>
              <a:t>l’extérieur</a:t>
            </a:r>
          </a:p>
          <a:p>
            <a:r>
              <a:rPr lang="fr-CH" dirty="0"/>
              <a:t>de mettre en place des procédures documentées pour l’inventaire des marchandises et le traitement des irrégularités constatées lors des inventaires ;</a:t>
            </a:r>
          </a:p>
          <a:p>
            <a:r>
              <a:rPr lang="fr-CH" dirty="0"/>
              <a:t>de mettre en place des critères de stockage adaptés au type de risque lorsque des marchandises avec des risques différents sont traitées, le cas échéant, prévoir un encodage séparé pour les différentes catégories (marchandises de grande valeur, produit chimique, fret aérien) ;</a:t>
            </a:r>
          </a:p>
          <a:p>
            <a:r>
              <a:rPr lang="fr-CH" dirty="0"/>
              <a:t>de mettre en place une procédure permettant de protéger les marchandises contre tout accès non autorisé aux installations d’entreposage et</a:t>
            </a:r>
          </a:p>
          <a:p>
            <a:r>
              <a:rPr lang="fr-CH" dirty="0"/>
              <a:t>de remettre les procédures de manutention et de stockage, en cas de stockage externalisé.</a:t>
            </a:r>
          </a:p>
          <a:p>
            <a:endParaRPr lang="fr-CH" dirty="0"/>
          </a:p>
          <a:p>
            <a:endParaRPr lang="en-US" dirty="0"/>
          </a:p>
        </p:txBody>
      </p:sp>
    </p:spTree>
    <p:extLst>
      <p:ext uri="{BB962C8B-B14F-4D97-AF65-F5344CB8AC3E}">
        <p14:creationId xmlns:p14="http://schemas.microsoft.com/office/powerpoint/2010/main" val="19406491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Production de </a:t>
            </a:r>
            <a:r>
              <a:rPr lang="en-US" dirty="0" err="1"/>
              <a:t>marchandises</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fr-CH" dirty="0"/>
              <a:t>La production peut couvrir toute une gamme d’activités allant du simple assemblage de pièces achetées à la fabrication à partir de matières premières.</a:t>
            </a:r>
          </a:p>
          <a:p>
            <a:pPr marL="0" indent="0">
              <a:buNone/>
            </a:pPr>
            <a:r>
              <a:rPr lang="fr-CH" dirty="0"/>
              <a:t>Il appartient au demandeur :</a:t>
            </a:r>
          </a:p>
          <a:p>
            <a:r>
              <a:rPr lang="fr-CH" dirty="0"/>
              <a:t>d’indiquer sur le plan du site de l’opérateur les zones où la production a lieu ; </a:t>
            </a:r>
            <a:endParaRPr lang="fr-CH" dirty="0" smtClean="0"/>
          </a:p>
          <a:p>
            <a:r>
              <a:rPr lang="fr-CH" dirty="0" smtClean="0"/>
              <a:t>de </a:t>
            </a:r>
            <a:r>
              <a:rPr lang="fr-CH" dirty="0"/>
              <a:t>remettre sous forme de procédures écrites les critères de sécurité mis en place au niveau </a:t>
            </a:r>
            <a:r>
              <a:rPr lang="fr-CH" dirty="0" smtClean="0"/>
              <a:t>de la production</a:t>
            </a:r>
            <a:r>
              <a:rPr lang="fr-CH" dirty="0"/>
              <a:t>. Ceux-ci doivent être identiques à ceux évoqués au niveau des critères de l’analyse de risque pour l’enceinte ;</a:t>
            </a:r>
          </a:p>
          <a:p>
            <a:r>
              <a:rPr lang="fr-CH" dirty="0"/>
              <a:t>de mettre en place une procédure permettant de garantir l’intégrité des emballages </a:t>
            </a:r>
            <a:r>
              <a:rPr lang="fr-CH" dirty="0" smtClean="0"/>
              <a:t>utilisés(vidéosurveillance</a:t>
            </a:r>
            <a:r>
              <a:rPr lang="fr-CH" dirty="0"/>
              <a:t>) </a:t>
            </a:r>
            <a:r>
              <a:rPr lang="fr-CH" dirty="0" smtClean="0"/>
              <a:t>et</a:t>
            </a:r>
          </a:p>
          <a:p>
            <a:r>
              <a:rPr lang="fr-CH" dirty="0" smtClean="0"/>
              <a:t>de </a:t>
            </a:r>
            <a:r>
              <a:rPr lang="fr-CH" dirty="0"/>
              <a:t>remettre les procédures d’emballage et de stockage lorsque l’emballage des marchandises </a:t>
            </a:r>
            <a:r>
              <a:rPr lang="fr-CH" dirty="0" smtClean="0"/>
              <a:t>est externalisé</a:t>
            </a:r>
            <a:endParaRPr lang="fr-CH" dirty="0"/>
          </a:p>
          <a:p>
            <a:endParaRPr lang="en-US" dirty="0"/>
          </a:p>
        </p:txBody>
      </p:sp>
    </p:spTree>
    <p:extLst>
      <p:ext uri="{BB962C8B-B14F-4D97-AF65-F5344CB8AC3E}">
        <p14:creationId xmlns:p14="http://schemas.microsoft.com/office/powerpoint/2010/main" val="9024555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Chargement</a:t>
            </a:r>
            <a:r>
              <a:rPr lang="en-US" dirty="0"/>
              <a:t> de </a:t>
            </a:r>
            <a:r>
              <a:rPr lang="en-US" dirty="0" err="1"/>
              <a:t>marchandises</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fr-CH" dirty="0"/>
              <a:t>Il s’agit des moyens mis en œuvre pour garantir la sécurité des marchandises lors du chargement.</a:t>
            </a:r>
          </a:p>
          <a:p>
            <a:pPr marL="0" indent="0">
              <a:buNone/>
            </a:pPr>
            <a:r>
              <a:rPr lang="fr-CH" dirty="0"/>
              <a:t>Il appartient au demandeur :</a:t>
            </a:r>
          </a:p>
          <a:p>
            <a:r>
              <a:rPr lang="fr-CH" dirty="0"/>
              <a:t>de mettre en place une procédure écrite permettant le chargement des marchandises ; d’établir des procédures écrites concernant le scellement des marchandises et/ou véhicules pour l’expédition des marchandises sous scellé (numéro et type des scellés, comparaison avec les documents accompagnant les marchandises, etc.) ;</a:t>
            </a:r>
          </a:p>
          <a:p>
            <a:r>
              <a:rPr lang="fr-CH" dirty="0"/>
              <a:t>de faire part aux employés concernés d’exigences spécifiques demandées et établir des procédures internes pour que ces mesures puissent être appliquées correctement ;</a:t>
            </a:r>
          </a:p>
          <a:p>
            <a:r>
              <a:rPr lang="fr-CH" dirty="0"/>
              <a:t>d’établir une procédure permettant d’assurer que le processus de chargement ait lieu sous surveillance (p.ex. : vidéosurveillance) ;</a:t>
            </a:r>
          </a:p>
          <a:p>
            <a:r>
              <a:rPr lang="fr-CH" dirty="0"/>
              <a:t>de mettre en place une procédure écrite pour assurer que les marchandises sortantes soient vérifiées de manière exhaustive et</a:t>
            </a:r>
          </a:p>
          <a:p>
            <a:r>
              <a:rPr lang="fr-CH" dirty="0"/>
              <a:t>de mettre en place une procédure permettant de déceler les irrégularités lors du chargement des marchandises.</a:t>
            </a:r>
          </a:p>
          <a:p>
            <a:endParaRPr lang="en-US" dirty="0"/>
          </a:p>
        </p:txBody>
      </p:sp>
    </p:spTree>
    <p:extLst>
      <p:ext uri="{BB962C8B-B14F-4D97-AF65-F5344CB8AC3E}">
        <p14:creationId xmlns:p14="http://schemas.microsoft.com/office/powerpoint/2010/main" val="13004736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Exigences de sécurité des partenaires commerciaux</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fr-CH" dirty="0"/>
              <a:t>Il faut prendre des mesures permettant d’identifier les partenaires commerciaux et de garantir, grâce à la mise en œuvre de dispositions contractuelles appropriées ou d’autres mesures appropriées conformes au modèle d’entreprise, que les partenaires commerciaux garantissent la sécurité de leur partie de la chaîne d’approvisionnement internationale.</a:t>
            </a:r>
          </a:p>
          <a:p>
            <a:pPr marL="0" indent="0">
              <a:buNone/>
            </a:pPr>
            <a:r>
              <a:rPr lang="fr-CH" dirty="0"/>
              <a:t>Il appartient au demandeur :</a:t>
            </a:r>
          </a:p>
          <a:p>
            <a:r>
              <a:rPr lang="fr-CH" dirty="0"/>
              <a:t>d’établir des preuves documentaires pour la vérification des partenaires commerciaux pour garantir la sécurité de la chaine d’approvisionnement ;</a:t>
            </a:r>
          </a:p>
          <a:p>
            <a:r>
              <a:rPr lang="fr-CH" dirty="0"/>
              <a:t>de prendre les mesures nécessaires pour que les partenaires commerciaux assurent la sécurité de leur partie de la chaine d’approvisionnement (p. ex. transporteur certifié AEO) et</a:t>
            </a:r>
          </a:p>
          <a:p>
            <a:r>
              <a:rPr lang="fr-CH" dirty="0"/>
              <a:t>de remettre les rapports et les mesures correctrices effectuées à la suite de violations </a:t>
            </a:r>
            <a:r>
              <a:rPr lang="fr-CH" dirty="0" smtClean="0"/>
              <a:t>concernant la </a:t>
            </a:r>
            <a:r>
              <a:rPr lang="fr-CH" dirty="0"/>
              <a:t>sécurité remarquée auprès des partenaires commerciaux.</a:t>
            </a:r>
          </a:p>
          <a:p>
            <a:endParaRPr lang="en-US" dirty="0"/>
          </a:p>
        </p:txBody>
      </p:sp>
    </p:spTree>
    <p:extLst>
      <p:ext uri="{BB962C8B-B14F-4D97-AF65-F5344CB8AC3E}">
        <p14:creationId xmlns:p14="http://schemas.microsoft.com/office/powerpoint/2010/main" val="19634749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Sécurité</a:t>
            </a:r>
            <a:r>
              <a:rPr lang="en-US" dirty="0"/>
              <a:t> du personnel</a:t>
            </a:r>
          </a:p>
        </p:txBody>
      </p:sp>
      <p:sp>
        <p:nvSpPr>
          <p:cNvPr id="3" name="Content Placeholder 2"/>
          <p:cNvSpPr>
            <a:spLocks noGrp="1"/>
          </p:cNvSpPr>
          <p:nvPr>
            <p:ph idx="1"/>
          </p:nvPr>
        </p:nvSpPr>
        <p:spPr/>
        <p:txBody>
          <a:bodyPr>
            <a:normAutofit fontScale="55000" lnSpcReduction="20000"/>
          </a:bodyPr>
          <a:lstStyle/>
          <a:p>
            <a:pPr marL="0" indent="0">
              <a:buNone/>
            </a:pPr>
            <a:r>
              <a:rPr lang="fr-CH" dirty="0"/>
              <a:t>Il faut en conformité avec la législation nationale effectuer une enquête de sécurité des futurs employés appelés à occuper des postes sensibles sur le plan de la sécurité. Il faut, à intervalles réguliers et chaque fois que la situation le justifie procéder à une vérification des antécédents pour tous les employés occupant des postes sensibles au niveau de la sécurité</a:t>
            </a:r>
            <a:r>
              <a:rPr lang="fr-CH" dirty="0" smtClean="0"/>
              <a:t>.</a:t>
            </a:r>
          </a:p>
          <a:p>
            <a:pPr marL="0" indent="0">
              <a:buNone/>
            </a:pPr>
            <a:r>
              <a:rPr lang="fr-CH" dirty="0"/>
              <a:t>Il s’impose de veiller à ce que le personnel exerçant des responsabilités en rapport avec les questions de sécurité participe régulièrement à des programmes de sensibilisation.</a:t>
            </a:r>
          </a:p>
          <a:p>
            <a:pPr marL="0" indent="0">
              <a:buNone/>
            </a:pPr>
            <a:r>
              <a:rPr lang="fr-CH" dirty="0"/>
              <a:t>Il appartient au demandeur :</a:t>
            </a:r>
          </a:p>
          <a:p>
            <a:r>
              <a:rPr lang="fr-CH" dirty="0"/>
              <a:t>d’énumérer les critères de recrutement du personnel ; </a:t>
            </a:r>
            <a:endParaRPr lang="fr-CH" dirty="0" smtClean="0"/>
          </a:p>
          <a:p>
            <a:r>
              <a:rPr lang="fr-CH" dirty="0" smtClean="0"/>
              <a:t>de </a:t>
            </a:r>
            <a:r>
              <a:rPr lang="fr-CH" dirty="0"/>
              <a:t>mettre des procédures de sécurité pour le personnel ;</a:t>
            </a:r>
          </a:p>
          <a:p>
            <a:r>
              <a:rPr lang="fr-CH" dirty="0"/>
              <a:t>de mettre en place un processus qui permet de vérifier si les consignes de sécurité sont respectées ;</a:t>
            </a:r>
          </a:p>
          <a:p>
            <a:r>
              <a:rPr lang="fr-CH" dirty="0"/>
              <a:t>d’établir une enquête de sécurité concernant les employés qui occupent un poste sensible au niveau de la sécurité ;</a:t>
            </a:r>
          </a:p>
          <a:p>
            <a:r>
              <a:rPr lang="fr-CH" dirty="0"/>
              <a:t>d’instaurer une formation de sécurité et sureté pour les employés de l’entreprise, de préciser la fréquence de cette formation, le nom de la personne appelée à dispenser cette formation et le support de cours utilisé ;</a:t>
            </a:r>
          </a:p>
          <a:p>
            <a:r>
              <a:rPr lang="fr-CH" dirty="0"/>
              <a:t>pour les intérimaires de spécifier la branche et de remettre aux intérimaires les consignes de sécurités applicables.</a:t>
            </a:r>
          </a:p>
          <a:p>
            <a:pPr marL="0" indent="0">
              <a:buNone/>
            </a:pPr>
            <a:endParaRPr lang="en-US" dirty="0"/>
          </a:p>
        </p:txBody>
      </p:sp>
    </p:spTree>
    <p:extLst>
      <p:ext uri="{BB962C8B-B14F-4D97-AF65-F5344CB8AC3E}">
        <p14:creationId xmlns:p14="http://schemas.microsoft.com/office/powerpoint/2010/main" val="4194861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Services </a:t>
            </a:r>
            <a:r>
              <a:rPr lang="en-US" dirty="0" err="1"/>
              <a:t>extérieurs</a:t>
            </a:r>
            <a:endParaRPr lang="en-US" dirty="0"/>
          </a:p>
        </p:txBody>
      </p:sp>
      <p:sp>
        <p:nvSpPr>
          <p:cNvPr id="3" name="Content Placeholder 2"/>
          <p:cNvSpPr>
            <a:spLocks noGrp="1"/>
          </p:cNvSpPr>
          <p:nvPr>
            <p:ph idx="1"/>
          </p:nvPr>
        </p:nvSpPr>
        <p:spPr/>
        <p:txBody>
          <a:bodyPr/>
          <a:lstStyle/>
          <a:p>
            <a:pPr marL="0" indent="0">
              <a:buNone/>
            </a:pPr>
            <a:r>
              <a:rPr lang="fr-CH" dirty="0"/>
              <a:t>Pour les prestataires de services externes travaillant pour le compte du demandeur, il faut mettre en place des procédures de sécurité appropriées. En général, il s’agit de prestataires assurant des services de transport, de surveillance, de nettoyage et d’entretien.</a:t>
            </a:r>
          </a:p>
          <a:p>
            <a:pPr marL="0" indent="0">
              <a:buNone/>
            </a:pPr>
            <a:r>
              <a:rPr lang="fr-CH" dirty="0"/>
              <a:t>Il appartient au demandeur</a:t>
            </a:r>
          </a:p>
          <a:p>
            <a:r>
              <a:rPr lang="fr-CH" dirty="0"/>
              <a:t>de remettre une copie du contrat liant l’entreprise du demandeur au prestataire de </a:t>
            </a:r>
            <a:r>
              <a:rPr lang="fr-CH" dirty="0" smtClean="0"/>
              <a:t>service externe</a:t>
            </a:r>
            <a:r>
              <a:rPr lang="fr-CH" dirty="0"/>
              <a:t>.</a:t>
            </a:r>
          </a:p>
          <a:p>
            <a:endParaRPr lang="en-US" dirty="0"/>
          </a:p>
        </p:txBody>
      </p:sp>
    </p:spTree>
    <p:extLst>
      <p:ext uri="{BB962C8B-B14F-4D97-AF65-F5344CB8AC3E}">
        <p14:creationId xmlns:p14="http://schemas.microsoft.com/office/powerpoint/2010/main" val="31305913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Informations</a:t>
            </a:r>
            <a:r>
              <a:rPr lang="en-US" dirty="0"/>
              <a:t> </a:t>
            </a:r>
            <a:r>
              <a:rPr lang="en-US" dirty="0" err="1"/>
              <a:t>utiles</a:t>
            </a:r>
            <a:endParaRPr lang="en-US" dirty="0"/>
          </a:p>
        </p:txBody>
      </p:sp>
      <p:sp>
        <p:nvSpPr>
          <p:cNvPr id="3" name="Content Placeholder 2"/>
          <p:cNvSpPr>
            <a:spLocks noGrp="1"/>
          </p:cNvSpPr>
          <p:nvPr>
            <p:ph idx="1"/>
          </p:nvPr>
        </p:nvSpPr>
        <p:spPr/>
        <p:txBody>
          <a:bodyPr>
            <a:normAutofit lnSpcReduction="10000"/>
          </a:bodyPr>
          <a:lstStyle/>
          <a:p>
            <a:r>
              <a:rPr lang="fr-CH" dirty="0"/>
              <a:t>Avant d’introduire une demande pour l’octroi d’une certification AEO, l’opérateur a intérêt de prendre contact avec les autorités compétentes en vue d’organiser une réunion d’information.</a:t>
            </a:r>
          </a:p>
          <a:p>
            <a:r>
              <a:rPr lang="fr-CH" dirty="0"/>
              <a:t>Cette réunion a pour but de comprendre les besoins spécifiques de l’entreprise, mais aussi d’informer le demandeur des conditions légales et procédurales à respecter en vue d’obtenir le statut d’AEO.</a:t>
            </a:r>
          </a:p>
          <a:p>
            <a:r>
              <a:rPr lang="fr-CH" dirty="0"/>
              <a:t>À partir du dépôt d’une demande recevable, l’administration dispose d’un délai de 4 mois pour statuer.</a:t>
            </a:r>
          </a:p>
          <a:p>
            <a:r>
              <a:rPr lang="fr-CH" dirty="0"/>
              <a:t>Afin d’assurer un traitement rapide, il s’impose de veiller à ce que les conditions prescrites soient respectées et que les pièces et informations requises soient fournies ensemble avec la demande.</a:t>
            </a:r>
          </a:p>
          <a:p>
            <a:endParaRPr lang="en-US" dirty="0"/>
          </a:p>
        </p:txBody>
      </p:sp>
    </p:spTree>
    <p:extLst>
      <p:ext uri="{BB962C8B-B14F-4D97-AF65-F5344CB8AC3E}">
        <p14:creationId xmlns:p14="http://schemas.microsoft.com/office/powerpoint/2010/main" val="33201985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de </a:t>
            </a:r>
            <a:r>
              <a:rPr lang="en-US" dirty="0" err="1"/>
              <a:t>marchandises</a:t>
            </a:r>
            <a:r>
              <a:rPr lang="en-US" dirty="0"/>
              <a:t> pour </a:t>
            </a:r>
            <a:r>
              <a:rPr lang="en-US" dirty="0" err="1"/>
              <a:t>l’autorisation</a:t>
            </a:r>
            <a:r>
              <a:rPr lang="en-US" dirty="0"/>
              <a:t> AEO</a:t>
            </a:r>
          </a:p>
        </p:txBody>
      </p:sp>
      <p:sp>
        <p:nvSpPr>
          <p:cNvPr id="3" name="Content Placeholder 2"/>
          <p:cNvSpPr>
            <a:spLocks noGrp="1"/>
          </p:cNvSpPr>
          <p:nvPr>
            <p:ph idx="1"/>
          </p:nvPr>
        </p:nvSpPr>
        <p:spPr/>
        <p:txBody>
          <a:bodyPr>
            <a:normAutofit lnSpcReduction="10000"/>
          </a:bodyPr>
          <a:lstStyle/>
          <a:p>
            <a:r>
              <a:rPr lang="en-US" dirty="0"/>
              <a:t>Les </a:t>
            </a:r>
            <a:r>
              <a:rPr lang="en-US" dirty="0" err="1"/>
              <a:t>marchandises</a:t>
            </a:r>
            <a:r>
              <a:rPr lang="en-US" dirty="0"/>
              <a:t> qui </a:t>
            </a:r>
            <a:r>
              <a:rPr lang="en-US" dirty="0" err="1"/>
              <a:t>sont</a:t>
            </a:r>
            <a:r>
              <a:rPr lang="en-US" dirty="0"/>
              <a:t> </a:t>
            </a:r>
            <a:r>
              <a:rPr lang="en-US" dirty="0" err="1"/>
              <a:t>prises</a:t>
            </a:r>
            <a:r>
              <a:rPr lang="en-US" dirty="0"/>
              <a:t> </a:t>
            </a:r>
            <a:r>
              <a:rPr lang="en-US" dirty="0" err="1"/>
              <a:t>en</a:t>
            </a:r>
            <a:r>
              <a:rPr lang="en-US" dirty="0"/>
              <a:t> </a:t>
            </a:r>
            <a:r>
              <a:rPr lang="en-US" dirty="0" err="1"/>
              <a:t>compte</a:t>
            </a:r>
            <a:r>
              <a:rPr lang="en-US" dirty="0"/>
              <a:t> </a:t>
            </a:r>
            <a:r>
              <a:rPr lang="en-US" dirty="0" err="1"/>
              <a:t>lors</a:t>
            </a:r>
            <a:r>
              <a:rPr lang="en-US" dirty="0"/>
              <a:t> de l’ </a:t>
            </a:r>
            <a:r>
              <a:rPr lang="en-US" dirty="0" err="1"/>
              <a:t>autorisation</a:t>
            </a:r>
            <a:r>
              <a:rPr lang="en-US" dirty="0"/>
              <a:t> AEO </a:t>
            </a:r>
            <a:r>
              <a:rPr lang="en-US" b="1" dirty="0"/>
              <a:t>ne </a:t>
            </a:r>
            <a:r>
              <a:rPr lang="en-US" b="1" dirty="0" err="1"/>
              <a:t>doivent</a:t>
            </a:r>
            <a:r>
              <a:rPr lang="en-US" b="1" dirty="0"/>
              <a:t> </a:t>
            </a:r>
            <a:r>
              <a:rPr lang="en-US" b="1" dirty="0" err="1"/>
              <a:t>être</a:t>
            </a:r>
            <a:r>
              <a:rPr lang="en-US" b="1" dirty="0"/>
              <a:t> déjà </a:t>
            </a:r>
            <a:r>
              <a:rPr lang="en-US" b="1" dirty="0" err="1"/>
              <a:t>être</a:t>
            </a:r>
            <a:r>
              <a:rPr lang="en-US" b="1" dirty="0"/>
              <a:t> </a:t>
            </a:r>
            <a:r>
              <a:rPr lang="en-US" b="1" dirty="0" err="1"/>
              <a:t>mises</a:t>
            </a:r>
            <a:r>
              <a:rPr lang="en-US" b="1" dirty="0"/>
              <a:t> </a:t>
            </a:r>
            <a:r>
              <a:rPr lang="en-US" b="1" dirty="0" err="1"/>
              <a:t>libre</a:t>
            </a:r>
            <a:r>
              <a:rPr lang="en-US" b="1" dirty="0"/>
              <a:t> </a:t>
            </a:r>
            <a:r>
              <a:rPr lang="en-US" b="1" dirty="0" err="1"/>
              <a:t>pratique</a:t>
            </a:r>
            <a:r>
              <a:rPr lang="en-US" b="1" dirty="0"/>
              <a:t> </a:t>
            </a:r>
          </a:p>
          <a:p>
            <a:r>
              <a:rPr lang="en-US" dirty="0"/>
              <a:t>On </a:t>
            </a:r>
            <a:r>
              <a:rPr lang="en-US" dirty="0" err="1"/>
              <a:t>entend</a:t>
            </a:r>
            <a:r>
              <a:rPr lang="en-US" dirty="0"/>
              <a:t> par </a:t>
            </a:r>
            <a:r>
              <a:rPr lang="en-US" dirty="0" err="1"/>
              <a:t>cela</a:t>
            </a:r>
            <a:r>
              <a:rPr lang="en-US" dirty="0"/>
              <a:t> que </a:t>
            </a:r>
            <a:r>
              <a:rPr lang="en-US" dirty="0" err="1"/>
              <a:t>ces</a:t>
            </a:r>
            <a:r>
              <a:rPr lang="en-US" dirty="0"/>
              <a:t> </a:t>
            </a:r>
            <a:r>
              <a:rPr lang="en-US" dirty="0" err="1"/>
              <a:t>marchandises</a:t>
            </a:r>
            <a:r>
              <a:rPr lang="en-US" dirty="0"/>
              <a:t> </a:t>
            </a:r>
            <a:r>
              <a:rPr lang="en-US" dirty="0" err="1"/>
              <a:t>doivent</a:t>
            </a:r>
            <a:r>
              <a:rPr lang="en-US" dirty="0"/>
              <a:t> </a:t>
            </a:r>
            <a:r>
              <a:rPr lang="en-US" dirty="0" err="1"/>
              <a:t>être</a:t>
            </a:r>
            <a:r>
              <a:rPr lang="en-US" dirty="0"/>
              <a:t> </a:t>
            </a:r>
            <a:r>
              <a:rPr lang="en-US" dirty="0" err="1"/>
              <a:t>dédouanées</a:t>
            </a:r>
            <a:r>
              <a:rPr lang="en-US" dirty="0"/>
              <a:t> et </a:t>
            </a:r>
            <a:r>
              <a:rPr lang="en-US" dirty="0" err="1"/>
              <a:t>donc</a:t>
            </a:r>
            <a:r>
              <a:rPr lang="en-US" dirty="0"/>
              <a:t> qui ne </a:t>
            </a:r>
            <a:r>
              <a:rPr lang="en-US" dirty="0" err="1"/>
              <a:t>peuvent</a:t>
            </a:r>
            <a:r>
              <a:rPr lang="en-US" dirty="0"/>
              <a:t> pas encore </a:t>
            </a:r>
            <a:r>
              <a:rPr lang="en-US" dirty="0" err="1"/>
              <a:t>circuler</a:t>
            </a:r>
            <a:r>
              <a:rPr lang="en-US" dirty="0"/>
              <a:t> </a:t>
            </a:r>
            <a:r>
              <a:rPr lang="en-US" dirty="0" err="1"/>
              <a:t>librement</a:t>
            </a:r>
            <a:r>
              <a:rPr lang="en-US" dirty="0"/>
              <a:t>.</a:t>
            </a:r>
          </a:p>
          <a:p>
            <a:r>
              <a:rPr lang="en-US" dirty="0" err="1"/>
              <a:t>Dans</a:t>
            </a:r>
            <a:r>
              <a:rPr lang="en-US" dirty="0"/>
              <a:t> le </a:t>
            </a:r>
            <a:r>
              <a:rPr lang="en-US" dirty="0" err="1"/>
              <a:t>cas</a:t>
            </a:r>
            <a:r>
              <a:rPr lang="en-US" dirty="0"/>
              <a:t> contraire, </a:t>
            </a:r>
            <a:r>
              <a:rPr lang="en-US" dirty="0" err="1"/>
              <a:t>ces</a:t>
            </a:r>
            <a:r>
              <a:rPr lang="en-US" dirty="0"/>
              <a:t> </a:t>
            </a:r>
            <a:r>
              <a:rPr lang="en-US" dirty="0" err="1"/>
              <a:t>marchandises</a:t>
            </a:r>
            <a:r>
              <a:rPr lang="en-US" dirty="0"/>
              <a:t> qui </a:t>
            </a:r>
            <a:r>
              <a:rPr lang="en-US" dirty="0" err="1"/>
              <a:t>sont</a:t>
            </a:r>
            <a:r>
              <a:rPr lang="en-US" dirty="0"/>
              <a:t> </a:t>
            </a:r>
            <a:r>
              <a:rPr lang="en-US" dirty="0" err="1"/>
              <a:t>mises</a:t>
            </a:r>
            <a:r>
              <a:rPr lang="en-US" dirty="0"/>
              <a:t> </a:t>
            </a:r>
            <a:r>
              <a:rPr lang="en-US" dirty="0" err="1"/>
              <a:t>en</a:t>
            </a:r>
            <a:r>
              <a:rPr lang="en-US" dirty="0"/>
              <a:t> </a:t>
            </a:r>
            <a:r>
              <a:rPr lang="en-US" dirty="0" err="1"/>
              <a:t>libre</a:t>
            </a:r>
            <a:r>
              <a:rPr lang="en-US" dirty="0"/>
              <a:t> </a:t>
            </a:r>
            <a:r>
              <a:rPr lang="en-US" dirty="0" err="1"/>
              <a:t>pratique</a:t>
            </a:r>
            <a:r>
              <a:rPr lang="en-US" dirty="0"/>
              <a:t> ne </a:t>
            </a:r>
            <a:r>
              <a:rPr lang="en-US" dirty="0" err="1"/>
              <a:t>doivent</a:t>
            </a:r>
            <a:r>
              <a:rPr lang="en-US" dirty="0"/>
              <a:t> pas </a:t>
            </a:r>
            <a:r>
              <a:rPr lang="en-US" dirty="0" err="1"/>
              <a:t>répondre</a:t>
            </a:r>
            <a:r>
              <a:rPr lang="en-US" dirty="0"/>
              <a:t> aux </a:t>
            </a:r>
            <a:r>
              <a:rPr lang="en-US" dirty="0" err="1"/>
              <a:t>critères</a:t>
            </a:r>
            <a:r>
              <a:rPr lang="en-US" dirty="0"/>
              <a:t> de </a:t>
            </a:r>
            <a:r>
              <a:rPr lang="en-US" dirty="0" err="1"/>
              <a:t>sûreté</a:t>
            </a:r>
            <a:r>
              <a:rPr lang="en-US" dirty="0"/>
              <a:t> </a:t>
            </a:r>
            <a:r>
              <a:rPr lang="en-US" dirty="0" err="1"/>
              <a:t>demandés</a:t>
            </a:r>
            <a:r>
              <a:rPr lang="en-US" dirty="0"/>
              <a:t> par l’ AEO et par </a:t>
            </a:r>
            <a:r>
              <a:rPr lang="en-US" dirty="0" err="1"/>
              <a:t>conséquent</a:t>
            </a:r>
            <a:r>
              <a:rPr lang="en-US" dirty="0"/>
              <a:t> ne </a:t>
            </a:r>
            <a:r>
              <a:rPr lang="en-US" dirty="0" err="1"/>
              <a:t>rentre</a:t>
            </a:r>
            <a:r>
              <a:rPr lang="en-US" dirty="0"/>
              <a:t> pas </a:t>
            </a:r>
            <a:r>
              <a:rPr lang="en-US" dirty="0" err="1"/>
              <a:t>dans</a:t>
            </a:r>
            <a:r>
              <a:rPr lang="en-US" dirty="0"/>
              <a:t> la </a:t>
            </a:r>
            <a:r>
              <a:rPr lang="en-US" dirty="0" err="1"/>
              <a:t>chaîne</a:t>
            </a:r>
            <a:r>
              <a:rPr lang="en-US" dirty="0"/>
              <a:t> </a:t>
            </a:r>
            <a:r>
              <a:rPr lang="en-US" dirty="0" err="1"/>
              <a:t>d’approvisionnement</a:t>
            </a:r>
            <a:r>
              <a:rPr lang="en-US" dirty="0"/>
              <a:t> </a:t>
            </a:r>
            <a:r>
              <a:rPr lang="en-US" dirty="0" err="1"/>
              <a:t>internationale</a:t>
            </a:r>
            <a:r>
              <a:rPr lang="en-US" dirty="0"/>
              <a:t>.</a:t>
            </a:r>
          </a:p>
          <a:p>
            <a:r>
              <a:rPr lang="en-US" dirty="0"/>
              <a:t>Il </a:t>
            </a:r>
            <a:r>
              <a:rPr lang="en-US" dirty="0" err="1"/>
              <a:t>faut</a:t>
            </a:r>
            <a:r>
              <a:rPr lang="en-US" dirty="0"/>
              <a:t> nous </a:t>
            </a:r>
            <a:r>
              <a:rPr lang="en-US" dirty="0" err="1"/>
              <a:t>remettre</a:t>
            </a:r>
            <a:r>
              <a:rPr lang="en-US" dirty="0"/>
              <a:t> un </a:t>
            </a:r>
            <a:r>
              <a:rPr lang="en-US" dirty="0" err="1"/>
              <a:t>inventaire</a:t>
            </a:r>
            <a:r>
              <a:rPr lang="en-US" dirty="0"/>
              <a:t> pour faire un </a:t>
            </a:r>
            <a:r>
              <a:rPr lang="en-US" dirty="0" err="1"/>
              <a:t>état</a:t>
            </a:r>
            <a:r>
              <a:rPr lang="en-US" dirty="0"/>
              <a:t> des </a:t>
            </a:r>
            <a:r>
              <a:rPr lang="en-US" dirty="0" err="1"/>
              <a:t>lieux</a:t>
            </a:r>
            <a:r>
              <a:rPr lang="en-US" dirty="0"/>
              <a:t> pour savoir </a:t>
            </a:r>
            <a:r>
              <a:rPr lang="en-US" dirty="0" err="1"/>
              <a:t>quelles</a:t>
            </a:r>
            <a:r>
              <a:rPr lang="en-US" dirty="0"/>
              <a:t> </a:t>
            </a:r>
            <a:r>
              <a:rPr lang="en-US" dirty="0" err="1"/>
              <a:t>marchandises</a:t>
            </a:r>
            <a:r>
              <a:rPr lang="en-US" dirty="0"/>
              <a:t> </a:t>
            </a:r>
            <a:r>
              <a:rPr lang="en-US" dirty="0" err="1"/>
              <a:t>seraient</a:t>
            </a:r>
            <a:r>
              <a:rPr lang="en-US" dirty="0"/>
              <a:t> susceptible de </a:t>
            </a:r>
            <a:r>
              <a:rPr lang="en-US" dirty="0" err="1"/>
              <a:t>tomber</a:t>
            </a:r>
            <a:r>
              <a:rPr lang="en-US" dirty="0"/>
              <a:t> sous </a:t>
            </a:r>
            <a:r>
              <a:rPr lang="en-US" dirty="0" err="1"/>
              <a:t>l’autorisation</a:t>
            </a:r>
            <a:r>
              <a:rPr lang="en-US" dirty="0"/>
              <a:t> AEO </a:t>
            </a:r>
            <a:r>
              <a:rPr lang="en-US" dirty="0" err="1"/>
              <a:t>ou</a:t>
            </a:r>
            <a:r>
              <a:rPr lang="en-US" dirty="0"/>
              <a:t> non.</a:t>
            </a:r>
          </a:p>
          <a:p>
            <a:endParaRPr lang="en-US" dirty="0"/>
          </a:p>
        </p:txBody>
      </p:sp>
    </p:spTree>
    <p:extLst>
      <p:ext uri="{BB962C8B-B14F-4D97-AF65-F5344CB8AC3E}">
        <p14:creationId xmlns:p14="http://schemas.microsoft.com/office/powerpoint/2010/main" val="19788644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de </a:t>
            </a:r>
            <a:r>
              <a:rPr lang="en-US" dirty="0" err="1"/>
              <a:t>marchandises</a:t>
            </a:r>
            <a:r>
              <a:rPr lang="en-US" dirty="0"/>
              <a:t> pour </a:t>
            </a:r>
            <a:r>
              <a:rPr lang="en-US" dirty="0" err="1"/>
              <a:t>l’autorisation</a:t>
            </a:r>
            <a:r>
              <a:rPr lang="en-US" dirty="0"/>
              <a:t> AEO</a:t>
            </a:r>
          </a:p>
        </p:txBody>
      </p:sp>
      <p:sp>
        <p:nvSpPr>
          <p:cNvPr id="3" name="Content Placeholder 2"/>
          <p:cNvSpPr>
            <a:spLocks noGrp="1"/>
          </p:cNvSpPr>
          <p:nvPr>
            <p:ph idx="1"/>
          </p:nvPr>
        </p:nvSpPr>
        <p:spPr/>
        <p:txBody>
          <a:bodyPr>
            <a:normAutofit fontScale="92500" lnSpcReduction="10000"/>
          </a:bodyPr>
          <a:lstStyle/>
          <a:p>
            <a:r>
              <a:rPr lang="en-US" dirty="0" err="1" smtClean="0"/>
              <a:t>En</a:t>
            </a:r>
            <a:r>
              <a:rPr lang="en-US" dirty="0" smtClean="0"/>
              <a:t> </a:t>
            </a:r>
            <a:r>
              <a:rPr lang="en-US" dirty="0" err="1" smtClean="0"/>
              <a:t>cas</a:t>
            </a:r>
            <a:r>
              <a:rPr lang="en-US" dirty="0" smtClean="0"/>
              <a:t> de </a:t>
            </a:r>
            <a:r>
              <a:rPr lang="en-US" dirty="0" err="1" smtClean="0"/>
              <a:t>stockage</a:t>
            </a:r>
            <a:r>
              <a:rPr lang="en-US" dirty="0" smtClean="0"/>
              <a:t> </a:t>
            </a:r>
            <a:r>
              <a:rPr lang="en-US" dirty="0" err="1" smtClean="0"/>
              <a:t>commun</a:t>
            </a:r>
            <a:r>
              <a:rPr lang="en-US" dirty="0" smtClean="0"/>
              <a:t>, ( </a:t>
            </a:r>
            <a:r>
              <a:rPr lang="en-US" dirty="0" err="1" smtClean="0"/>
              <a:t>marchandises</a:t>
            </a:r>
            <a:r>
              <a:rPr lang="en-US" dirty="0" smtClean="0"/>
              <a:t> </a:t>
            </a:r>
            <a:r>
              <a:rPr lang="en-US" dirty="0" err="1" smtClean="0"/>
              <a:t>en</a:t>
            </a:r>
            <a:r>
              <a:rPr lang="en-US" dirty="0" smtClean="0"/>
              <a:t> </a:t>
            </a:r>
            <a:r>
              <a:rPr lang="en-US" dirty="0" err="1" smtClean="0"/>
              <a:t>mises</a:t>
            </a:r>
            <a:r>
              <a:rPr lang="en-US" dirty="0" smtClean="0"/>
              <a:t> </a:t>
            </a:r>
            <a:r>
              <a:rPr lang="en-US" dirty="0" err="1" smtClean="0"/>
              <a:t>en</a:t>
            </a:r>
            <a:r>
              <a:rPr lang="en-US" dirty="0" smtClean="0"/>
              <a:t> </a:t>
            </a:r>
            <a:r>
              <a:rPr lang="en-US" dirty="0" err="1" smtClean="0"/>
              <a:t>libre</a:t>
            </a:r>
            <a:r>
              <a:rPr lang="en-US" dirty="0" smtClean="0"/>
              <a:t> </a:t>
            </a:r>
            <a:r>
              <a:rPr lang="en-US" dirty="0" err="1" smtClean="0"/>
              <a:t>pratique</a:t>
            </a:r>
            <a:r>
              <a:rPr lang="en-US" dirty="0" smtClean="0"/>
              <a:t> </a:t>
            </a:r>
            <a:r>
              <a:rPr lang="en-US" dirty="0" err="1" smtClean="0"/>
              <a:t>ou</a:t>
            </a:r>
            <a:r>
              <a:rPr lang="en-US" dirty="0" smtClean="0"/>
              <a:t> non ) , </a:t>
            </a:r>
            <a:r>
              <a:rPr lang="en-US" dirty="0" err="1" smtClean="0"/>
              <a:t>il</a:t>
            </a:r>
            <a:r>
              <a:rPr lang="en-US" dirty="0" smtClean="0"/>
              <a:t> </a:t>
            </a:r>
            <a:r>
              <a:rPr lang="en-US" dirty="0" err="1" smtClean="0"/>
              <a:t>est</a:t>
            </a:r>
            <a:r>
              <a:rPr lang="en-US" dirty="0" smtClean="0"/>
              <a:t> </a:t>
            </a:r>
            <a:r>
              <a:rPr lang="en-US" dirty="0" err="1" smtClean="0"/>
              <a:t>vivement</a:t>
            </a:r>
            <a:r>
              <a:rPr lang="en-US" dirty="0" smtClean="0"/>
              <a:t> </a:t>
            </a:r>
            <a:r>
              <a:rPr lang="en-US" dirty="0" err="1" smtClean="0"/>
              <a:t>conseiller</a:t>
            </a:r>
            <a:r>
              <a:rPr lang="en-US" dirty="0" smtClean="0"/>
              <a:t> de </a:t>
            </a:r>
            <a:r>
              <a:rPr lang="en-US" dirty="0" err="1" smtClean="0"/>
              <a:t>mettre</a:t>
            </a:r>
            <a:r>
              <a:rPr lang="en-US" dirty="0" smtClean="0"/>
              <a:t> l’ </a:t>
            </a:r>
            <a:r>
              <a:rPr lang="en-US" dirty="0" err="1" smtClean="0"/>
              <a:t>entièreté</a:t>
            </a:r>
            <a:r>
              <a:rPr lang="en-US" dirty="0"/>
              <a:t> </a:t>
            </a:r>
            <a:r>
              <a:rPr lang="en-US" dirty="0" smtClean="0"/>
              <a:t>de l’ </a:t>
            </a:r>
            <a:r>
              <a:rPr lang="en-US" dirty="0" err="1" smtClean="0"/>
              <a:t>entrepôt</a:t>
            </a:r>
            <a:r>
              <a:rPr lang="en-US" dirty="0" smtClean="0"/>
              <a:t> aux </a:t>
            </a:r>
            <a:r>
              <a:rPr lang="en-US" dirty="0" err="1" smtClean="0"/>
              <a:t>normes</a:t>
            </a:r>
            <a:r>
              <a:rPr lang="en-US" dirty="0" smtClean="0"/>
              <a:t> de l’ AEO au </a:t>
            </a:r>
            <a:r>
              <a:rPr lang="en-US" dirty="0" err="1" smtClean="0"/>
              <a:t>niveau</a:t>
            </a:r>
            <a:r>
              <a:rPr lang="en-US" dirty="0" smtClean="0"/>
              <a:t> de la </a:t>
            </a:r>
            <a:r>
              <a:rPr lang="en-US" dirty="0" err="1" smtClean="0"/>
              <a:t>sécurité</a:t>
            </a:r>
            <a:r>
              <a:rPr lang="en-US" dirty="0" smtClean="0"/>
              <a:t>. </a:t>
            </a:r>
          </a:p>
          <a:p>
            <a:r>
              <a:rPr lang="en-US" dirty="0" err="1" smtClean="0"/>
              <a:t>Dans</a:t>
            </a:r>
            <a:r>
              <a:rPr lang="en-US" dirty="0" smtClean="0"/>
              <a:t> </a:t>
            </a:r>
            <a:r>
              <a:rPr lang="en-US" dirty="0" err="1" smtClean="0"/>
              <a:t>ce</a:t>
            </a:r>
            <a:r>
              <a:rPr lang="en-US" dirty="0" smtClean="0"/>
              <a:t> </a:t>
            </a:r>
            <a:r>
              <a:rPr lang="en-US" dirty="0" err="1" smtClean="0"/>
              <a:t>cas</a:t>
            </a:r>
            <a:r>
              <a:rPr lang="en-US" dirty="0" smtClean="0"/>
              <a:t> , l ‘</a:t>
            </a:r>
            <a:r>
              <a:rPr lang="en-US" dirty="0" err="1" smtClean="0"/>
              <a:t>opérateur</a:t>
            </a:r>
            <a:r>
              <a:rPr lang="en-US" dirty="0" smtClean="0"/>
              <a:t> </a:t>
            </a:r>
            <a:r>
              <a:rPr lang="en-US" dirty="0" err="1" smtClean="0"/>
              <a:t>pourra</a:t>
            </a:r>
            <a:r>
              <a:rPr lang="en-US" dirty="0" smtClean="0"/>
              <a:t> </a:t>
            </a:r>
            <a:r>
              <a:rPr lang="en-US" dirty="0" err="1" smtClean="0"/>
              <a:t>toujours</a:t>
            </a:r>
            <a:r>
              <a:rPr lang="en-US" dirty="0" smtClean="0"/>
              <a:t> stocker </a:t>
            </a:r>
            <a:r>
              <a:rPr lang="en-US" dirty="0" err="1" smtClean="0"/>
              <a:t>d’autres</a:t>
            </a:r>
            <a:r>
              <a:rPr lang="en-US" dirty="0" smtClean="0"/>
              <a:t> </a:t>
            </a:r>
            <a:r>
              <a:rPr lang="en-US" dirty="0" err="1" smtClean="0"/>
              <a:t>marchandises</a:t>
            </a:r>
            <a:r>
              <a:rPr lang="en-US" dirty="0" smtClean="0"/>
              <a:t> à </a:t>
            </a:r>
            <a:r>
              <a:rPr lang="en-US" dirty="0" err="1" smtClean="0"/>
              <a:t>dédouaner</a:t>
            </a:r>
            <a:r>
              <a:rPr lang="en-US" dirty="0" smtClean="0"/>
              <a:t> </a:t>
            </a:r>
            <a:r>
              <a:rPr lang="en-US" dirty="0" err="1" smtClean="0"/>
              <a:t>dans</a:t>
            </a:r>
            <a:r>
              <a:rPr lang="en-US" dirty="0" smtClean="0"/>
              <a:t> son </a:t>
            </a:r>
            <a:r>
              <a:rPr lang="en-US" dirty="0" err="1" smtClean="0"/>
              <a:t>entrepôt</a:t>
            </a:r>
            <a:r>
              <a:rPr lang="en-US" dirty="0" smtClean="0"/>
              <a:t> sous l’ </a:t>
            </a:r>
            <a:r>
              <a:rPr lang="en-US" dirty="0" err="1" smtClean="0"/>
              <a:t>autorisation</a:t>
            </a:r>
            <a:r>
              <a:rPr lang="en-US" dirty="0" smtClean="0"/>
              <a:t> AEO </a:t>
            </a:r>
            <a:r>
              <a:rPr lang="en-US" dirty="0" err="1" smtClean="0"/>
              <a:t>toujours</a:t>
            </a:r>
            <a:r>
              <a:rPr lang="en-US" dirty="0" smtClean="0"/>
              <a:t> </a:t>
            </a:r>
            <a:r>
              <a:rPr lang="en-US" dirty="0" err="1" smtClean="0"/>
              <a:t>en</a:t>
            </a:r>
            <a:r>
              <a:rPr lang="en-US" dirty="0" smtClean="0"/>
              <a:t> </a:t>
            </a:r>
            <a:r>
              <a:rPr lang="en-US" dirty="0" err="1" smtClean="0"/>
              <a:t>étant</a:t>
            </a:r>
            <a:r>
              <a:rPr lang="en-US" dirty="0" smtClean="0"/>
              <a:t> </a:t>
            </a:r>
            <a:r>
              <a:rPr lang="en-US" dirty="0" err="1" smtClean="0"/>
              <a:t>en</a:t>
            </a:r>
            <a:r>
              <a:rPr lang="en-US" dirty="0" smtClean="0"/>
              <a:t> </a:t>
            </a:r>
            <a:r>
              <a:rPr lang="en-US" dirty="0" err="1" smtClean="0"/>
              <a:t>conformité</a:t>
            </a:r>
            <a:r>
              <a:rPr lang="en-US" dirty="0" smtClean="0"/>
              <a:t> avec les </a:t>
            </a:r>
            <a:r>
              <a:rPr lang="en-US" dirty="0" err="1" smtClean="0"/>
              <a:t>normes</a:t>
            </a:r>
            <a:r>
              <a:rPr lang="en-US" dirty="0" smtClean="0"/>
              <a:t> de </a:t>
            </a:r>
            <a:r>
              <a:rPr lang="en-US" dirty="0" err="1" smtClean="0"/>
              <a:t>sécurité</a:t>
            </a:r>
            <a:r>
              <a:rPr lang="en-US" dirty="0" smtClean="0"/>
              <a:t> de </a:t>
            </a:r>
            <a:r>
              <a:rPr lang="en-US" dirty="0" err="1" smtClean="0"/>
              <a:t>l’AEO</a:t>
            </a:r>
            <a:r>
              <a:rPr lang="en-US" dirty="0" smtClean="0"/>
              <a:t>.</a:t>
            </a:r>
          </a:p>
          <a:p>
            <a:r>
              <a:rPr lang="en-US" dirty="0" err="1" smtClean="0"/>
              <a:t>Dans</a:t>
            </a:r>
            <a:r>
              <a:rPr lang="en-US" dirty="0" smtClean="0"/>
              <a:t> le </a:t>
            </a:r>
            <a:r>
              <a:rPr lang="en-US" dirty="0" err="1" smtClean="0"/>
              <a:t>cas</a:t>
            </a:r>
            <a:r>
              <a:rPr lang="en-US" dirty="0" smtClean="0"/>
              <a:t> contraire, </a:t>
            </a:r>
            <a:r>
              <a:rPr lang="en-US" dirty="0" err="1" smtClean="0"/>
              <a:t>il</a:t>
            </a:r>
            <a:r>
              <a:rPr lang="en-US" dirty="0" smtClean="0"/>
              <a:t> </a:t>
            </a:r>
            <a:r>
              <a:rPr lang="en-US" dirty="0" err="1" smtClean="0"/>
              <a:t>faudra</a:t>
            </a:r>
            <a:r>
              <a:rPr lang="en-US" dirty="0"/>
              <a:t> </a:t>
            </a:r>
            <a:r>
              <a:rPr lang="en-US" dirty="0" err="1" smtClean="0"/>
              <a:t>prévoir</a:t>
            </a:r>
            <a:r>
              <a:rPr lang="en-US" dirty="0" smtClean="0"/>
              <a:t> </a:t>
            </a:r>
            <a:r>
              <a:rPr lang="en-US" dirty="0" err="1" smtClean="0"/>
              <a:t>une</a:t>
            </a:r>
            <a:r>
              <a:rPr lang="en-US" dirty="0" smtClean="0"/>
              <a:t> </a:t>
            </a:r>
            <a:r>
              <a:rPr lang="en-US" dirty="0" err="1" smtClean="0"/>
              <a:t>séparation</a:t>
            </a:r>
            <a:r>
              <a:rPr lang="en-US" dirty="0" smtClean="0"/>
              <a:t> physique à l’ </a:t>
            </a:r>
            <a:r>
              <a:rPr lang="en-US" dirty="0" err="1" smtClean="0"/>
              <a:t>intérieur</a:t>
            </a:r>
            <a:r>
              <a:rPr lang="en-US" dirty="0" smtClean="0"/>
              <a:t> de </a:t>
            </a:r>
            <a:r>
              <a:rPr lang="en-US" dirty="0" err="1" smtClean="0"/>
              <a:t>l’entrepôt</a:t>
            </a:r>
            <a:r>
              <a:rPr lang="en-US" dirty="0" smtClean="0"/>
              <a:t> pour </a:t>
            </a:r>
            <a:r>
              <a:rPr lang="en-US" dirty="0" err="1" smtClean="0"/>
              <a:t>séparer</a:t>
            </a:r>
            <a:r>
              <a:rPr lang="en-US" dirty="0" smtClean="0"/>
              <a:t> les </a:t>
            </a:r>
            <a:r>
              <a:rPr lang="en-US" dirty="0" err="1" smtClean="0"/>
              <a:t>marchandises</a:t>
            </a:r>
            <a:r>
              <a:rPr lang="en-US" dirty="0" smtClean="0"/>
              <a:t> </a:t>
            </a:r>
            <a:r>
              <a:rPr lang="en-US" dirty="0" err="1" smtClean="0"/>
              <a:t>mises</a:t>
            </a:r>
            <a:r>
              <a:rPr lang="en-US" dirty="0" smtClean="0"/>
              <a:t> </a:t>
            </a:r>
            <a:r>
              <a:rPr lang="en-US" dirty="0" err="1" smtClean="0"/>
              <a:t>en</a:t>
            </a:r>
            <a:r>
              <a:rPr lang="en-US" dirty="0" smtClean="0"/>
              <a:t> </a:t>
            </a:r>
            <a:r>
              <a:rPr lang="en-US" dirty="0" err="1" smtClean="0"/>
              <a:t>libres</a:t>
            </a:r>
            <a:r>
              <a:rPr lang="en-US" dirty="0" smtClean="0"/>
              <a:t> </a:t>
            </a:r>
            <a:r>
              <a:rPr lang="en-US" dirty="0" err="1" smtClean="0"/>
              <a:t>pratiques</a:t>
            </a:r>
            <a:r>
              <a:rPr lang="en-US" dirty="0" smtClean="0"/>
              <a:t> et les </a:t>
            </a:r>
            <a:r>
              <a:rPr lang="en-US" dirty="0" err="1" smtClean="0"/>
              <a:t>autres</a:t>
            </a:r>
            <a:r>
              <a:rPr lang="en-US" dirty="0" smtClean="0"/>
              <a:t>.</a:t>
            </a:r>
          </a:p>
          <a:p>
            <a:r>
              <a:rPr lang="en-US" dirty="0" smtClean="0"/>
              <a:t>Et </a:t>
            </a:r>
            <a:r>
              <a:rPr lang="en-US" dirty="0" err="1" smtClean="0"/>
              <a:t>prévenir</a:t>
            </a:r>
            <a:r>
              <a:rPr lang="en-US" dirty="0" smtClean="0"/>
              <a:t> les </a:t>
            </a:r>
            <a:r>
              <a:rPr lang="en-US" dirty="0" err="1" smtClean="0"/>
              <a:t>autorités</a:t>
            </a:r>
            <a:r>
              <a:rPr lang="en-US" dirty="0" smtClean="0"/>
              <a:t> </a:t>
            </a:r>
            <a:r>
              <a:rPr lang="en-US" dirty="0" err="1" smtClean="0"/>
              <a:t>compétentes</a:t>
            </a:r>
            <a:r>
              <a:rPr lang="en-US" dirty="0" smtClean="0"/>
              <a:t> </a:t>
            </a:r>
            <a:r>
              <a:rPr lang="en-US" dirty="0" err="1" smtClean="0"/>
              <a:t>en</a:t>
            </a:r>
            <a:r>
              <a:rPr lang="en-US" dirty="0" smtClean="0"/>
              <a:t> </a:t>
            </a:r>
            <a:r>
              <a:rPr lang="en-US" dirty="0" err="1" smtClean="0"/>
              <a:t>cas</a:t>
            </a:r>
            <a:r>
              <a:rPr lang="en-US" dirty="0" smtClean="0"/>
              <a:t> </a:t>
            </a:r>
            <a:r>
              <a:rPr lang="en-US" dirty="0" err="1" smtClean="0"/>
              <a:t>d’introduction</a:t>
            </a:r>
            <a:r>
              <a:rPr lang="en-US" dirty="0" smtClean="0"/>
              <a:t> de </a:t>
            </a:r>
            <a:r>
              <a:rPr lang="en-US" dirty="0" err="1" smtClean="0"/>
              <a:t>marchandises</a:t>
            </a:r>
            <a:r>
              <a:rPr lang="en-US" dirty="0" smtClean="0"/>
              <a:t> qui </a:t>
            </a:r>
            <a:r>
              <a:rPr lang="en-US" dirty="0" err="1" smtClean="0"/>
              <a:t>doivent</a:t>
            </a:r>
            <a:r>
              <a:rPr lang="en-US" dirty="0" smtClean="0"/>
              <a:t> </a:t>
            </a:r>
            <a:r>
              <a:rPr lang="en-US" dirty="0" err="1" smtClean="0"/>
              <a:t>être</a:t>
            </a:r>
            <a:r>
              <a:rPr lang="en-US" dirty="0" smtClean="0"/>
              <a:t> </a:t>
            </a:r>
            <a:r>
              <a:rPr lang="en-US" dirty="0" err="1" smtClean="0"/>
              <a:t>dédouanées</a:t>
            </a:r>
            <a:r>
              <a:rPr lang="en-US" dirty="0" smtClean="0"/>
              <a:t>.</a:t>
            </a:r>
          </a:p>
          <a:p>
            <a:endParaRPr lang="en-US" dirty="0"/>
          </a:p>
        </p:txBody>
      </p:sp>
    </p:spTree>
    <p:extLst>
      <p:ext uri="{BB962C8B-B14F-4D97-AF65-F5344CB8AC3E}">
        <p14:creationId xmlns:p14="http://schemas.microsoft.com/office/powerpoint/2010/main" val="2079860186"/>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6022</Words>
  <Application>Microsoft Office PowerPoint</Application>
  <PresentationFormat>Widescreen</PresentationFormat>
  <Paragraphs>347</Paragraphs>
  <Slides>43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Calibri Light</vt:lpstr>
      <vt:lpstr>Office</vt:lpstr>
      <vt:lpstr> </vt:lpstr>
      <vt:lpstr>Procédure pour l’obtention du statut de l’ AEO </vt:lpstr>
      <vt:lpstr>Généralités</vt:lpstr>
      <vt:lpstr>AEO C</vt:lpstr>
      <vt:lpstr>AEO S</vt:lpstr>
      <vt:lpstr>AEO C/S ou F</vt:lpstr>
      <vt:lpstr>Le champ d’application</vt:lpstr>
      <vt:lpstr>L’examen des conditions</vt:lpstr>
      <vt:lpstr>La fréquence de contrôle des questionnaires d’auto-évaluation </vt:lpstr>
      <vt:lpstr>Le questionnaire d’auto-évaluation</vt:lpstr>
      <vt:lpstr>Chapitre 1 :Informations relatives à l’entreprise</vt:lpstr>
      <vt:lpstr>Indications générales concernant l’entreprise</vt:lpstr>
      <vt:lpstr>Volume d’activité</vt:lpstr>
      <vt:lpstr>Informations et statistiques douanières</vt:lpstr>
      <vt:lpstr>Chapitre 2 : Antécédents en matière du respect de la réglementation</vt:lpstr>
      <vt:lpstr>Chapitre 3 : Système comptable et logistique</vt:lpstr>
      <vt:lpstr>Piste d’audit</vt:lpstr>
      <vt:lpstr>Système comptable et logistique</vt:lpstr>
      <vt:lpstr>Système de contrôle interne</vt:lpstr>
      <vt:lpstr>Flux de marchandises</vt:lpstr>
      <vt:lpstr>Procédures douanières</vt:lpstr>
      <vt:lpstr>Procédure de sauvegarde, de restauration, de secours et d’archivage</vt:lpstr>
      <vt:lpstr>Protection des systèmes informatique</vt:lpstr>
      <vt:lpstr>Sécurité de la documentation</vt:lpstr>
      <vt:lpstr>Chapitre 4: Solvabilité financière</vt:lpstr>
      <vt:lpstr>Chapitre 5: Normes pratiques en matière de compétences ou de qualifications professionnelles</vt:lpstr>
      <vt:lpstr>Chapitre 6: Exigence en matière de sécurité</vt:lpstr>
      <vt:lpstr>Informations générales sur la sécurité et la sureté</vt:lpstr>
      <vt:lpstr>Suite Informations générales sur la sécurité et la sureté</vt:lpstr>
      <vt:lpstr>Sécurité du bâtiment</vt:lpstr>
      <vt:lpstr>Accès aux installations</vt:lpstr>
      <vt:lpstr>Unité de Fret</vt:lpstr>
      <vt:lpstr>Processus logistique</vt:lpstr>
      <vt:lpstr>Marchandises entrantes</vt:lpstr>
      <vt:lpstr>Stockage de marchandises</vt:lpstr>
      <vt:lpstr>Production de marchandises</vt:lpstr>
      <vt:lpstr>Chargement de marchandises</vt:lpstr>
      <vt:lpstr>Exigences de sécurité des partenaires commerciaux</vt:lpstr>
      <vt:lpstr>Sécurité du personnel</vt:lpstr>
      <vt:lpstr>Services extérieurs</vt:lpstr>
      <vt:lpstr>Informations utiles</vt:lpstr>
      <vt:lpstr>Types de marchandises pour l’autorisation AEO</vt:lpstr>
      <vt:lpstr>Types de marchandises pour l’autorisation AEO</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Taxe sur les boissons non alcoolisées sucrées</dc:title>
  <dc:creator>mschlink</dc:creator>
  <cp:lastModifiedBy>stucchi</cp:lastModifiedBy>
  <cp:revision>230</cp:revision>
  <cp:lastPrinted>2017-07-12T12:12:41Z</cp:lastPrinted>
  <dcterms:created xsi:type="dcterms:W3CDTF">2017-07-11T09:59:41Z</dcterms:created>
  <dcterms:modified xsi:type="dcterms:W3CDTF">2024-10-09T08:49:36Z</dcterms:modified>
</cp:coreProperties>
</file>