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30"/>
  </p:notesMasterIdLst>
  <p:handoutMasterIdLst>
    <p:handoutMasterId r:id="rId31"/>
  </p:handoutMasterIdLst>
  <p:sldIdLst>
    <p:sldId id="256" r:id="rId2"/>
    <p:sldId id="258" r:id="rId3"/>
    <p:sldId id="259" r:id="rId4"/>
    <p:sldId id="260" r:id="rId5"/>
    <p:sldId id="261" r:id="rId6"/>
    <p:sldId id="262" r:id="rId7"/>
    <p:sldId id="263" r:id="rId8"/>
    <p:sldId id="264" r:id="rId9"/>
    <p:sldId id="265"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85" r:id="rId23"/>
    <p:sldId id="279" r:id="rId24"/>
    <p:sldId id="280" r:id="rId25"/>
    <p:sldId id="284" r:id="rId26"/>
    <p:sldId id="281" r:id="rId27"/>
    <p:sldId id="282" r:id="rId28"/>
    <p:sldId id="283" r:id="rId29"/>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chlink" initials="m" lastIdx="2" clrIdx="0">
    <p:extLst>
      <p:ext uri="{19B8F6BF-5375-455C-9EA6-DF929625EA0E}">
        <p15:presenceInfo xmlns:p15="http://schemas.microsoft.com/office/powerpoint/2012/main" userId="mschlin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5A5A"/>
    <a:srgbClr val="A5DC69"/>
    <a:srgbClr val="78D2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51" autoAdjust="0"/>
    <p:restoredTop sz="75030" autoAdjust="0"/>
  </p:normalViewPr>
  <p:slideViewPr>
    <p:cSldViewPr snapToGrid="0">
      <p:cViewPr varScale="1">
        <p:scale>
          <a:sx n="101" d="100"/>
          <a:sy n="101" d="100"/>
        </p:scale>
        <p:origin x="126" y="3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AB039E8-4792-4DE3-AA83-F7516F3B65D7}" type="datetimeFigureOut">
              <a:rPr lang="fr-CH" smtClean="0"/>
              <a:t>23.10.2024</a:t>
            </a:fld>
            <a:endParaRPr lang="fr-CH"/>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CH"/>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3207A034-ED28-44E1-8859-77E415D3450D}" type="slidenum">
              <a:rPr lang="fr-CH" smtClean="0"/>
              <a:t>‹#›</a:t>
            </a:fld>
            <a:endParaRPr lang="fr-CH"/>
          </a:p>
        </p:txBody>
      </p:sp>
    </p:spTree>
    <p:extLst>
      <p:ext uri="{BB962C8B-B14F-4D97-AF65-F5344CB8AC3E}">
        <p14:creationId xmlns:p14="http://schemas.microsoft.com/office/powerpoint/2010/main" val="20169117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70131AE-DEF8-44F8-9B6A-3167C94D6B57}" type="datetimeFigureOut">
              <a:rPr lang="en-US" smtClean="0"/>
              <a:t>10/23/2024</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EC2D5BD5-BCCF-4892-A47B-1366A1D542C7}" type="slidenum">
              <a:rPr lang="en-US" smtClean="0"/>
              <a:t>‹#›</a:t>
            </a:fld>
            <a:endParaRPr lang="en-US"/>
          </a:p>
        </p:txBody>
      </p:sp>
    </p:spTree>
    <p:extLst>
      <p:ext uri="{BB962C8B-B14F-4D97-AF65-F5344CB8AC3E}">
        <p14:creationId xmlns:p14="http://schemas.microsoft.com/office/powerpoint/2010/main" val="1975919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fr-FR" b="1" dirty="0" smtClean="0"/>
              <a:t>Den sujet / </a:t>
            </a:r>
            <a:r>
              <a:rPr lang="fr-FR" b="1" dirty="0" err="1" smtClean="0"/>
              <a:t>probléme</a:t>
            </a:r>
            <a:r>
              <a:rPr lang="fr-FR" b="1" dirty="0" smtClean="0"/>
              <a:t> </a:t>
            </a:r>
          </a:p>
          <a:p>
            <a:pPr marL="0" indent="0">
              <a:buFontTx/>
              <a:buNone/>
            </a:pPr>
            <a:r>
              <a:rPr lang="fr-FR" b="0" dirty="0" smtClean="0"/>
              <a:t>Lies den sujet </a:t>
            </a:r>
            <a:r>
              <a:rPr lang="fr-FR" b="0" dirty="0" err="1" smtClean="0"/>
              <a:t>eemol</a:t>
            </a:r>
            <a:r>
              <a:rPr lang="fr-FR" b="0" dirty="0" smtClean="0"/>
              <a:t> fier</a:t>
            </a:r>
          </a:p>
          <a:p>
            <a:pPr marL="0" indent="0">
              <a:buFontTx/>
              <a:buNone/>
            </a:pPr>
            <a:r>
              <a:rPr lang="fr-FR" baseline="0" dirty="0" err="1" smtClean="0"/>
              <a:t>ech</a:t>
            </a:r>
            <a:r>
              <a:rPr lang="fr-FR" baseline="0" dirty="0" smtClean="0"/>
              <a:t> </a:t>
            </a:r>
            <a:r>
              <a:rPr lang="fr-FR" baseline="0" dirty="0" err="1" smtClean="0"/>
              <a:t>hunn</a:t>
            </a:r>
            <a:r>
              <a:rPr lang="fr-FR" baseline="0" dirty="0" smtClean="0"/>
              <a:t> </a:t>
            </a:r>
            <a:r>
              <a:rPr lang="fr-FR" baseline="0" dirty="0" err="1" smtClean="0"/>
              <a:t>am</a:t>
            </a:r>
            <a:r>
              <a:rPr lang="fr-FR" baseline="0" dirty="0" smtClean="0"/>
              <a:t> mémoire op 2 </a:t>
            </a:r>
            <a:r>
              <a:rPr lang="fr-FR" baseline="0" dirty="0" err="1" smtClean="0"/>
              <a:t>froen</a:t>
            </a:r>
            <a:r>
              <a:rPr lang="fr-FR" baseline="0" dirty="0" smtClean="0"/>
              <a:t> </a:t>
            </a:r>
            <a:r>
              <a:rPr lang="fr-FR" baseline="0" dirty="0" err="1" smtClean="0"/>
              <a:t>opgedeelt</a:t>
            </a:r>
            <a:r>
              <a:rPr lang="fr-FR" baseline="0" dirty="0" smtClean="0"/>
              <a:t>, </a:t>
            </a:r>
            <a:r>
              <a:rPr lang="fr-FR" baseline="0" dirty="0" err="1" smtClean="0"/>
              <a:t>wou</a:t>
            </a:r>
            <a:r>
              <a:rPr lang="fr-FR" baseline="0" dirty="0" smtClean="0"/>
              <a:t> </a:t>
            </a:r>
            <a:r>
              <a:rPr lang="fr-FR" baseline="0" dirty="0" err="1" smtClean="0"/>
              <a:t>ech</a:t>
            </a:r>
            <a:r>
              <a:rPr lang="fr-FR" baseline="0" dirty="0" smtClean="0"/>
              <a:t> </a:t>
            </a:r>
            <a:r>
              <a:rPr lang="fr-FR" baseline="0" dirty="0" err="1" smtClean="0"/>
              <a:t>dann</a:t>
            </a:r>
            <a:r>
              <a:rPr lang="fr-FR" baseline="0" dirty="0" smtClean="0"/>
              <a:t> </a:t>
            </a:r>
            <a:r>
              <a:rPr lang="fr-FR" baseline="0" dirty="0" err="1" smtClean="0"/>
              <a:t>probéiert</a:t>
            </a:r>
            <a:r>
              <a:rPr lang="fr-FR" baseline="0" dirty="0" smtClean="0"/>
              <a:t> </a:t>
            </a:r>
            <a:r>
              <a:rPr lang="fr-FR" baseline="0" dirty="0" err="1" smtClean="0"/>
              <a:t>hunn</a:t>
            </a:r>
            <a:r>
              <a:rPr lang="fr-FR" baseline="0" dirty="0" smtClean="0"/>
              <a:t> </a:t>
            </a:r>
            <a:r>
              <a:rPr lang="fr-FR" baseline="0" dirty="0" err="1" smtClean="0"/>
              <a:t>méiglescht</a:t>
            </a:r>
            <a:r>
              <a:rPr lang="fr-FR" baseline="0" dirty="0" smtClean="0"/>
              <a:t> </a:t>
            </a:r>
            <a:r>
              <a:rPr lang="fr-FR" baseline="0" dirty="0" err="1" smtClean="0"/>
              <a:t>gudd</a:t>
            </a:r>
            <a:r>
              <a:rPr lang="fr-FR" baseline="0" dirty="0" smtClean="0"/>
              <a:t> an </a:t>
            </a:r>
            <a:r>
              <a:rPr lang="fr-FR" baseline="0" dirty="0" err="1" smtClean="0"/>
              <a:t>komplet</a:t>
            </a:r>
            <a:r>
              <a:rPr lang="fr-FR" baseline="0" dirty="0" smtClean="0"/>
              <a:t> drop </a:t>
            </a:r>
            <a:r>
              <a:rPr lang="fr-FR" baseline="0" dirty="0" err="1" smtClean="0"/>
              <a:t>zeenferen</a:t>
            </a:r>
            <a:r>
              <a:rPr lang="fr-FR" baseline="0" dirty="0" smtClean="0"/>
              <a:t>.</a:t>
            </a:r>
          </a:p>
          <a:p>
            <a:pPr marL="0" indent="0">
              <a:buFontTx/>
              <a:buNone/>
            </a:pPr>
            <a:r>
              <a:rPr lang="fr-FR" baseline="0" dirty="0" smtClean="0"/>
              <a:t>D’</a:t>
            </a:r>
            <a:r>
              <a:rPr lang="fr-FR" baseline="0" dirty="0" err="1" smtClean="0"/>
              <a:t>fro</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opgeddelt</a:t>
            </a:r>
            <a:r>
              <a:rPr lang="fr-FR" baseline="0" dirty="0" smtClean="0"/>
              <a:t> an </a:t>
            </a:r>
            <a:r>
              <a:rPr lang="fr-FR" baseline="0" dirty="0" err="1" smtClean="0"/>
              <a:t>deems</a:t>
            </a:r>
            <a:r>
              <a:rPr lang="fr-FR" baseline="0" dirty="0" smtClean="0"/>
              <a:t> </a:t>
            </a:r>
            <a:r>
              <a:rPr lang="fr-FR" baseline="0" dirty="0" err="1" smtClean="0"/>
              <a:t>ech</a:t>
            </a:r>
            <a:r>
              <a:rPr lang="fr-FR" baseline="0" dirty="0" smtClean="0"/>
              <a:t> </a:t>
            </a:r>
            <a:r>
              <a:rPr lang="fr-FR" baseline="0" dirty="0" err="1" smtClean="0"/>
              <a:t>eemmol</a:t>
            </a:r>
            <a:r>
              <a:rPr lang="fr-FR" baseline="0" dirty="0" smtClean="0"/>
              <a:t> op d’organisation </a:t>
            </a:r>
            <a:r>
              <a:rPr lang="fr-FR" baseline="0" dirty="0" err="1" smtClean="0"/>
              <a:t>vum</a:t>
            </a:r>
            <a:r>
              <a:rPr lang="fr-FR" baseline="0" dirty="0" smtClean="0"/>
              <a:t> OEA an </a:t>
            </a:r>
            <a:r>
              <a:rPr lang="fr-FR" baseline="0" dirty="0" err="1" smtClean="0"/>
              <a:t>gangen</a:t>
            </a:r>
            <a:r>
              <a:rPr lang="fr-FR" baseline="0" dirty="0" smtClean="0"/>
              <a:t> </a:t>
            </a:r>
            <a:r>
              <a:rPr lang="fr-FR" baseline="0" dirty="0" err="1" smtClean="0"/>
              <a:t>sinn</a:t>
            </a:r>
            <a:r>
              <a:rPr lang="fr-FR" baseline="0" dirty="0" smtClean="0"/>
              <a:t> </a:t>
            </a:r>
            <a:r>
              <a:rPr lang="fr-FR" baseline="0" dirty="0" err="1" smtClean="0"/>
              <a:t>also</a:t>
            </a:r>
            <a:r>
              <a:rPr lang="fr-FR" baseline="0" dirty="0" smtClean="0"/>
              <a:t> «  </a:t>
            </a:r>
            <a:r>
              <a:rPr lang="fr-FR" baseline="0" dirty="0" err="1" smtClean="0"/>
              <a:t>wéi</a:t>
            </a:r>
            <a:r>
              <a:rPr lang="fr-FR" baseline="0" dirty="0" smtClean="0"/>
              <a:t> </a:t>
            </a:r>
            <a:r>
              <a:rPr lang="fr-FR" baseline="0" dirty="0" err="1" smtClean="0"/>
              <a:t>kann</a:t>
            </a:r>
            <a:r>
              <a:rPr lang="fr-FR" baseline="0" dirty="0" smtClean="0"/>
              <a:t> den audit douanier </a:t>
            </a:r>
            <a:r>
              <a:rPr lang="fr-FR" baseline="0" dirty="0" err="1" smtClean="0"/>
              <a:t>organiséiert</a:t>
            </a:r>
            <a:r>
              <a:rPr lang="fr-FR" baseline="0" dirty="0" smtClean="0"/>
              <a:t> </a:t>
            </a:r>
            <a:r>
              <a:rPr lang="fr-FR" baseline="0" dirty="0" err="1" smtClean="0"/>
              <a:t>ginn</a:t>
            </a:r>
            <a:r>
              <a:rPr lang="fr-FR" baseline="0" dirty="0" smtClean="0"/>
              <a:t> </a:t>
            </a:r>
            <a:r>
              <a:rPr lang="fr-FR" baseline="0" dirty="0" err="1" smtClean="0"/>
              <a:t>fir</a:t>
            </a:r>
            <a:r>
              <a:rPr lang="fr-FR" baseline="0" dirty="0" smtClean="0"/>
              <a:t> d’ </a:t>
            </a:r>
            <a:r>
              <a:rPr lang="fr-FR" baseline="0" dirty="0" err="1" smtClean="0"/>
              <a:t>risikoen</a:t>
            </a:r>
            <a:r>
              <a:rPr lang="fr-FR" baseline="0" dirty="0" smtClean="0"/>
              <a:t> </a:t>
            </a:r>
            <a:r>
              <a:rPr lang="fr-FR" baseline="0" dirty="0" err="1" smtClean="0"/>
              <a:t>ze</a:t>
            </a:r>
            <a:r>
              <a:rPr lang="fr-FR" baseline="0" dirty="0" smtClean="0"/>
              <a:t> </a:t>
            </a:r>
            <a:r>
              <a:rPr lang="fr-FR" baseline="0" dirty="0" err="1" smtClean="0"/>
              <a:t>minimiséieren</a:t>
            </a:r>
            <a:r>
              <a:rPr lang="fr-FR" baseline="0" dirty="0" smtClean="0"/>
              <a:t> » an « 2tens d’</a:t>
            </a:r>
            <a:r>
              <a:rPr lang="fr-FR" baseline="0" dirty="0" err="1" smtClean="0"/>
              <a:t>opstellen</a:t>
            </a:r>
            <a:r>
              <a:rPr lang="fr-FR" baseline="0" dirty="0" smtClean="0"/>
              <a:t> </a:t>
            </a:r>
            <a:r>
              <a:rPr lang="fr-FR" baseline="0" dirty="0" err="1" smtClean="0"/>
              <a:t>vun</a:t>
            </a:r>
            <a:r>
              <a:rPr lang="fr-FR" baseline="0" dirty="0" smtClean="0"/>
              <a:t> enger procédure écrite ». </a:t>
            </a:r>
          </a:p>
          <a:p>
            <a:pPr marL="0" indent="0">
              <a:buFontTx/>
              <a:buNone/>
            </a:pPr>
            <a:r>
              <a:rPr lang="fr-FR" baseline="0" dirty="0" err="1" smtClean="0"/>
              <a:t>Wéi</a:t>
            </a:r>
            <a:r>
              <a:rPr lang="fr-FR" baseline="0" dirty="0" smtClean="0"/>
              <a:t> </a:t>
            </a:r>
            <a:r>
              <a:rPr lang="fr-FR" baseline="0" dirty="0" err="1" smtClean="0"/>
              <a:t>dir</a:t>
            </a:r>
            <a:r>
              <a:rPr lang="fr-FR" baseline="0" dirty="0" smtClean="0"/>
              <a:t> </a:t>
            </a:r>
            <a:r>
              <a:rPr lang="fr-FR" baseline="0" dirty="0" err="1" smtClean="0"/>
              <a:t>vielleicht</a:t>
            </a:r>
            <a:r>
              <a:rPr lang="fr-FR" baseline="0" dirty="0" smtClean="0"/>
              <a:t> </a:t>
            </a:r>
            <a:r>
              <a:rPr lang="fr-FR" baseline="0" dirty="0" err="1" smtClean="0"/>
              <a:t>schon</a:t>
            </a:r>
            <a:r>
              <a:rPr lang="fr-FR" baseline="0" dirty="0" smtClean="0"/>
              <a:t> </a:t>
            </a:r>
            <a:r>
              <a:rPr lang="fr-FR" baseline="0" dirty="0" err="1" smtClean="0"/>
              <a:t>gelies</a:t>
            </a:r>
            <a:r>
              <a:rPr lang="fr-FR" baseline="0" dirty="0" smtClean="0"/>
              <a:t> </a:t>
            </a:r>
            <a:r>
              <a:rPr lang="fr-FR" baseline="0" dirty="0" err="1" smtClean="0"/>
              <a:t>hudd</a:t>
            </a:r>
            <a:r>
              <a:rPr lang="fr-FR" baseline="0" dirty="0" smtClean="0"/>
              <a:t>, gouf et </a:t>
            </a:r>
            <a:r>
              <a:rPr lang="fr-FR" baseline="0" dirty="0" err="1" smtClean="0"/>
              <a:t>schon</a:t>
            </a:r>
            <a:r>
              <a:rPr lang="fr-FR" baseline="0" dirty="0" smtClean="0"/>
              <a:t> </a:t>
            </a:r>
            <a:r>
              <a:rPr lang="fr-FR" baseline="0" dirty="0" err="1" smtClean="0"/>
              <a:t>eng</a:t>
            </a:r>
            <a:r>
              <a:rPr lang="fr-FR" baseline="0" dirty="0" smtClean="0"/>
              <a:t> procédure écrite </a:t>
            </a:r>
          </a:p>
          <a:p>
            <a:pPr marL="0" indent="0">
              <a:buFontTx/>
              <a:buNone/>
            </a:pPr>
            <a:endParaRPr lang="fr-FR" baseline="0" dirty="0" smtClean="0"/>
          </a:p>
          <a:p>
            <a:pPr marL="171450" indent="-171450">
              <a:buFontTx/>
              <a:buChar char="-"/>
            </a:pPr>
            <a:r>
              <a:rPr lang="fr-FR" b="1" baseline="0" dirty="0" err="1" smtClean="0"/>
              <a:t>Wéi</a:t>
            </a:r>
            <a:r>
              <a:rPr lang="fr-FR" b="1" baseline="0" dirty="0" smtClean="0"/>
              <a:t> </a:t>
            </a:r>
            <a:r>
              <a:rPr lang="fr-FR" b="1" baseline="0" dirty="0" err="1" smtClean="0"/>
              <a:t>hunn</a:t>
            </a:r>
            <a:r>
              <a:rPr lang="fr-FR" b="1" baseline="0" dirty="0" smtClean="0"/>
              <a:t> </a:t>
            </a:r>
            <a:r>
              <a:rPr lang="fr-FR" b="1" baseline="0" dirty="0" err="1" smtClean="0"/>
              <a:t>ech</a:t>
            </a:r>
            <a:r>
              <a:rPr lang="fr-FR" b="1" baseline="0" dirty="0" smtClean="0"/>
              <a:t> op problématique </a:t>
            </a:r>
            <a:r>
              <a:rPr lang="fr-FR" b="1" baseline="0" dirty="0" err="1" smtClean="0"/>
              <a:t>geenfert</a:t>
            </a:r>
            <a:r>
              <a:rPr lang="fr-FR" b="1" baseline="0" dirty="0" smtClean="0"/>
              <a:t>?</a:t>
            </a:r>
          </a:p>
          <a:p>
            <a:pPr marL="0" indent="0">
              <a:buFontTx/>
              <a:buNone/>
            </a:pPr>
            <a:r>
              <a:rPr lang="fr-FR" baseline="0" dirty="0" err="1" smtClean="0"/>
              <a:t>Ech</a:t>
            </a:r>
            <a:r>
              <a:rPr lang="fr-FR" baseline="0" dirty="0" smtClean="0"/>
              <a:t> </a:t>
            </a:r>
            <a:r>
              <a:rPr lang="fr-FR" baseline="0" dirty="0" err="1" smtClean="0"/>
              <a:t>hunn</a:t>
            </a:r>
            <a:r>
              <a:rPr lang="fr-FR" baseline="0" dirty="0" smtClean="0"/>
              <a:t> </a:t>
            </a:r>
            <a:r>
              <a:rPr lang="fr-FR" baseline="0" dirty="0" err="1" smtClean="0"/>
              <a:t>probéiert</a:t>
            </a:r>
            <a:r>
              <a:rPr lang="fr-FR" baseline="0" dirty="0" smtClean="0"/>
              <a:t> </a:t>
            </a:r>
            <a:r>
              <a:rPr lang="fr-FR" baseline="0" dirty="0" err="1" smtClean="0"/>
              <a:t>esou</a:t>
            </a:r>
            <a:r>
              <a:rPr lang="fr-FR" baseline="0" dirty="0" smtClean="0"/>
              <a:t> </a:t>
            </a:r>
            <a:r>
              <a:rPr lang="fr-FR" baseline="0" dirty="0" err="1" smtClean="0"/>
              <a:t>firzegoen</a:t>
            </a:r>
            <a:r>
              <a:rPr lang="fr-FR" baseline="0" dirty="0" smtClean="0"/>
              <a:t> </a:t>
            </a:r>
            <a:r>
              <a:rPr lang="fr-FR" baseline="0" dirty="0" err="1" smtClean="0"/>
              <a:t>dass</a:t>
            </a:r>
            <a:r>
              <a:rPr lang="fr-FR" baseline="0" dirty="0" smtClean="0"/>
              <a:t> </a:t>
            </a:r>
            <a:r>
              <a:rPr lang="fr-FR" baseline="0" dirty="0" err="1" smtClean="0"/>
              <a:t>och</a:t>
            </a:r>
            <a:r>
              <a:rPr lang="fr-FR" baseline="0" dirty="0" smtClean="0"/>
              <a:t> </a:t>
            </a:r>
            <a:r>
              <a:rPr lang="fr-FR" baseline="0" dirty="0" err="1" smtClean="0"/>
              <a:t>eng</a:t>
            </a:r>
            <a:r>
              <a:rPr lang="fr-FR" baseline="0" dirty="0" smtClean="0"/>
              <a:t> </a:t>
            </a:r>
            <a:r>
              <a:rPr lang="fr-FR" baseline="0" dirty="0" err="1" smtClean="0"/>
              <a:t>Persoun</a:t>
            </a:r>
            <a:r>
              <a:rPr lang="fr-FR" baseline="0" dirty="0" smtClean="0"/>
              <a:t> </a:t>
            </a:r>
            <a:r>
              <a:rPr lang="fr-FR" baseline="0" dirty="0" err="1" smtClean="0"/>
              <a:t>wou</a:t>
            </a:r>
            <a:r>
              <a:rPr lang="fr-FR" baseline="0" dirty="0" smtClean="0"/>
              <a:t> </a:t>
            </a:r>
            <a:r>
              <a:rPr lang="fr-FR" baseline="0" dirty="0" err="1" smtClean="0"/>
              <a:t>naicht</a:t>
            </a:r>
            <a:r>
              <a:rPr lang="fr-FR" baseline="0" dirty="0" smtClean="0"/>
              <a:t> mat der Douanes matière </a:t>
            </a:r>
            <a:r>
              <a:rPr lang="fr-FR" baseline="0" dirty="0" err="1" smtClean="0"/>
              <a:t>zedinn</a:t>
            </a:r>
            <a:r>
              <a:rPr lang="fr-FR" baseline="0" dirty="0" smtClean="0"/>
              <a:t> </a:t>
            </a:r>
            <a:r>
              <a:rPr lang="fr-FR" baseline="0" dirty="0" err="1" smtClean="0"/>
              <a:t>huet</a:t>
            </a:r>
            <a:r>
              <a:rPr lang="fr-FR" baseline="0" dirty="0" smtClean="0"/>
              <a:t>, den sujet </a:t>
            </a:r>
            <a:r>
              <a:rPr lang="fr-FR" baseline="0" dirty="0" err="1" smtClean="0"/>
              <a:t>respektiv</a:t>
            </a:r>
            <a:r>
              <a:rPr lang="fr-FR" baseline="0" dirty="0" smtClean="0"/>
              <a:t> den Dossier </a:t>
            </a:r>
            <a:r>
              <a:rPr lang="fr-FR" baseline="0" dirty="0" err="1" smtClean="0"/>
              <a:t>kann</a:t>
            </a:r>
            <a:r>
              <a:rPr lang="fr-FR" baseline="0" dirty="0" smtClean="0"/>
              <a:t> </a:t>
            </a:r>
            <a:r>
              <a:rPr lang="fr-FR" baseline="0" dirty="0" err="1" smtClean="0"/>
              <a:t>verstoen</a:t>
            </a:r>
            <a:r>
              <a:rPr lang="fr-FR" baseline="0" dirty="0" smtClean="0"/>
              <a:t>. Vue </a:t>
            </a:r>
            <a:r>
              <a:rPr lang="fr-FR" baseline="0" dirty="0" err="1" smtClean="0"/>
              <a:t>dass</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selwer</a:t>
            </a:r>
            <a:r>
              <a:rPr lang="fr-FR" baseline="0" dirty="0" smtClean="0"/>
              <a:t> </a:t>
            </a:r>
            <a:r>
              <a:rPr lang="fr-FR" baseline="0" dirty="0" err="1" smtClean="0"/>
              <a:t>hunn</a:t>
            </a:r>
            <a:r>
              <a:rPr lang="fr-FR" baseline="0" dirty="0" smtClean="0"/>
              <a:t> </a:t>
            </a:r>
            <a:r>
              <a:rPr lang="fr-FR" baseline="0" dirty="0" err="1" smtClean="0"/>
              <a:t>misten</a:t>
            </a:r>
            <a:r>
              <a:rPr lang="fr-FR" baseline="0" dirty="0" smtClean="0"/>
              <a:t> mat </a:t>
            </a:r>
            <a:r>
              <a:rPr lang="fr-FR" baseline="0" dirty="0" err="1" smtClean="0"/>
              <a:t>dem</a:t>
            </a:r>
            <a:r>
              <a:rPr lang="fr-FR" baseline="0" dirty="0" smtClean="0"/>
              <a:t> </a:t>
            </a:r>
            <a:r>
              <a:rPr lang="fr-FR" baseline="0" dirty="0" err="1" smtClean="0"/>
              <a:t>thema</a:t>
            </a:r>
            <a:r>
              <a:rPr lang="fr-FR" baseline="0" dirty="0" smtClean="0"/>
              <a:t> </a:t>
            </a:r>
            <a:r>
              <a:rPr lang="fr-FR" baseline="0" dirty="0" err="1" smtClean="0"/>
              <a:t>auserneen</a:t>
            </a:r>
            <a:r>
              <a:rPr lang="fr-FR" baseline="0" dirty="0" smtClean="0"/>
              <a:t> </a:t>
            </a:r>
            <a:r>
              <a:rPr lang="fr-FR" baseline="0" dirty="0" err="1" smtClean="0"/>
              <a:t>setzen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dovuner</a:t>
            </a:r>
            <a:r>
              <a:rPr lang="fr-FR" baseline="0" dirty="0" smtClean="0"/>
              <a:t> </a:t>
            </a:r>
            <a:r>
              <a:rPr lang="fr-FR" baseline="0" dirty="0" err="1" smtClean="0"/>
              <a:t>profitéiert</a:t>
            </a:r>
            <a:r>
              <a:rPr lang="fr-FR" baseline="0" dirty="0" smtClean="0"/>
              <a:t> </a:t>
            </a:r>
            <a:r>
              <a:rPr lang="fr-FR" baseline="0" dirty="0" err="1" smtClean="0"/>
              <a:t>dass</a:t>
            </a:r>
            <a:r>
              <a:rPr lang="fr-FR" baseline="0" dirty="0" smtClean="0"/>
              <a:t> </a:t>
            </a:r>
            <a:r>
              <a:rPr lang="fr-FR" baseline="0" dirty="0" err="1" smtClean="0"/>
              <a:t>och</a:t>
            </a:r>
            <a:r>
              <a:rPr lang="fr-FR" baseline="0" dirty="0" smtClean="0"/>
              <a:t> </a:t>
            </a:r>
            <a:r>
              <a:rPr lang="fr-FR" baseline="0" dirty="0" err="1" smtClean="0"/>
              <a:t>ech</a:t>
            </a:r>
            <a:r>
              <a:rPr lang="fr-FR" baseline="0" dirty="0" smtClean="0"/>
              <a:t> </a:t>
            </a:r>
            <a:r>
              <a:rPr lang="fr-FR" baseline="0" dirty="0" err="1" smtClean="0"/>
              <a:t>bei</a:t>
            </a:r>
            <a:r>
              <a:rPr lang="fr-FR" baseline="0" dirty="0" smtClean="0"/>
              <a:t> soit disant 0 </a:t>
            </a:r>
            <a:r>
              <a:rPr lang="fr-FR" baseline="0" dirty="0" err="1" smtClean="0"/>
              <a:t>ugefangen</a:t>
            </a:r>
            <a:r>
              <a:rPr lang="fr-FR" baseline="0" dirty="0" smtClean="0"/>
              <a:t> </a:t>
            </a:r>
            <a:r>
              <a:rPr lang="fr-FR" baseline="0" dirty="0" err="1" smtClean="0"/>
              <a:t>hunn</a:t>
            </a:r>
            <a:r>
              <a:rPr lang="fr-FR" baseline="0" dirty="0" smtClean="0"/>
              <a:t>. </a:t>
            </a:r>
          </a:p>
          <a:p>
            <a:pPr marL="0" indent="0">
              <a:buFontTx/>
              <a:buNone/>
            </a:pPr>
            <a:r>
              <a:rPr lang="fr-FR" baseline="0" dirty="0" err="1" smtClean="0"/>
              <a:t>Amufank</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also</a:t>
            </a:r>
            <a:r>
              <a:rPr lang="fr-FR" baseline="0" dirty="0" smtClean="0"/>
              <a:t> mat der autorisation </a:t>
            </a:r>
            <a:r>
              <a:rPr lang="fr-FR" baseline="0" dirty="0" err="1" smtClean="0"/>
              <a:t>auserneen</a:t>
            </a:r>
            <a:r>
              <a:rPr lang="fr-FR" baseline="0" dirty="0" smtClean="0"/>
              <a:t> </a:t>
            </a:r>
            <a:r>
              <a:rPr lang="fr-FR" baseline="0" dirty="0" err="1" smtClean="0"/>
              <a:t>gesat</a:t>
            </a:r>
            <a:r>
              <a:rPr lang="fr-FR" baseline="0" dirty="0" smtClean="0"/>
              <a:t>, </a:t>
            </a:r>
            <a:r>
              <a:rPr lang="fr-FR" baseline="0" dirty="0" err="1" smtClean="0"/>
              <a:t>wat</a:t>
            </a:r>
            <a:r>
              <a:rPr lang="fr-FR" baseline="0" dirty="0" smtClean="0"/>
              <a:t> </a:t>
            </a:r>
            <a:r>
              <a:rPr lang="fr-FR" baseline="0" dirty="0" err="1" smtClean="0"/>
              <a:t>sinn</a:t>
            </a:r>
            <a:r>
              <a:rPr lang="fr-FR" baseline="0" dirty="0" smtClean="0"/>
              <a:t> </a:t>
            </a:r>
            <a:r>
              <a:rPr lang="fr-FR" baseline="0" dirty="0" err="1" smtClean="0"/>
              <a:t>critèren</a:t>
            </a:r>
            <a:r>
              <a:rPr lang="fr-FR" baseline="0" dirty="0" smtClean="0"/>
              <a:t> </a:t>
            </a:r>
            <a:r>
              <a:rPr lang="fr-FR" baseline="0" dirty="0" err="1" smtClean="0"/>
              <a:t>wat</a:t>
            </a:r>
            <a:r>
              <a:rPr lang="fr-FR" baseline="0" dirty="0" smtClean="0"/>
              <a:t> sin </a:t>
            </a:r>
            <a:r>
              <a:rPr lang="fr-FR" baseline="0" dirty="0" err="1" smtClean="0"/>
              <a:t>avantagen</a:t>
            </a:r>
            <a:r>
              <a:rPr lang="fr-FR" baseline="0" dirty="0" smtClean="0"/>
              <a:t> an sou </a:t>
            </a:r>
            <a:r>
              <a:rPr lang="fr-FR" baseline="0" dirty="0" err="1" smtClean="0"/>
              <a:t>weider</a:t>
            </a:r>
            <a:r>
              <a:rPr lang="fr-FR" baseline="0" dirty="0" smtClean="0"/>
              <a:t>, </a:t>
            </a:r>
            <a:r>
              <a:rPr lang="fr-FR" baseline="0" dirty="0" err="1" smtClean="0"/>
              <a:t>nemen</a:t>
            </a:r>
            <a:r>
              <a:rPr lang="fr-FR" baseline="0" dirty="0" smtClean="0"/>
              <a:t> </a:t>
            </a:r>
            <a:r>
              <a:rPr lang="fr-FR" baseline="0" dirty="0" err="1" smtClean="0"/>
              <a:t>andeems</a:t>
            </a:r>
            <a:r>
              <a:rPr lang="fr-FR" baseline="0" dirty="0" smtClean="0"/>
              <a:t> </a:t>
            </a:r>
            <a:r>
              <a:rPr lang="fr-FR" baseline="0" dirty="0" err="1" smtClean="0"/>
              <a:t>wou</a:t>
            </a:r>
            <a:r>
              <a:rPr lang="fr-FR" baseline="0" dirty="0" smtClean="0"/>
              <a:t> </a:t>
            </a:r>
            <a:r>
              <a:rPr lang="fr-FR" baseline="0" dirty="0" err="1" smtClean="0"/>
              <a:t>een</a:t>
            </a:r>
            <a:r>
              <a:rPr lang="fr-FR" baseline="0" dirty="0" smtClean="0"/>
              <a:t> base </a:t>
            </a:r>
            <a:r>
              <a:rPr lang="fr-FR" baseline="0" dirty="0" err="1" smtClean="0"/>
              <a:t>versteht</a:t>
            </a:r>
            <a:r>
              <a:rPr lang="fr-FR" baseline="0" dirty="0" smtClean="0"/>
              <a:t> </a:t>
            </a:r>
            <a:r>
              <a:rPr lang="fr-FR" baseline="0" dirty="0" err="1" smtClean="0"/>
              <a:t>kann</a:t>
            </a:r>
            <a:r>
              <a:rPr lang="fr-FR" baseline="0" dirty="0" smtClean="0"/>
              <a:t> </a:t>
            </a:r>
            <a:r>
              <a:rPr lang="fr-FR" baseline="0" dirty="0" err="1" smtClean="0"/>
              <a:t>een</a:t>
            </a:r>
            <a:r>
              <a:rPr lang="fr-FR" baseline="0" dirty="0" smtClean="0"/>
              <a:t> </a:t>
            </a:r>
            <a:r>
              <a:rPr lang="fr-FR" baseline="0" dirty="0" err="1" smtClean="0"/>
              <a:t>och</a:t>
            </a:r>
            <a:r>
              <a:rPr lang="fr-FR" baseline="0" dirty="0" smtClean="0"/>
              <a:t> </a:t>
            </a:r>
            <a:r>
              <a:rPr lang="fr-FR" baseline="0" dirty="0" err="1" smtClean="0"/>
              <a:t>déi</a:t>
            </a:r>
            <a:r>
              <a:rPr lang="fr-FR" baseline="0" dirty="0" smtClean="0"/>
              <a:t> </a:t>
            </a:r>
            <a:r>
              <a:rPr lang="fr-FR" baseline="0" dirty="0" err="1" smtClean="0"/>
              <a:t>liéiert</a:t>
            </a:r>
            <a:r>
              <a:rPr lang="fr-FR" baseline="0" dirty="0" smtClean="0"/>
              <a:t> </a:t>
            </a:r>
            <a:r>
              <a:rPr lang="fr-FR" baseline="0" dirty="0" err="1" smtClean="0"/>
              <a:t>risiken</a:t>
            </a:r>
            <a:r>
              <a:rPr lang="fr-FR" baseline="0" dirty="0" smtClean="0"/>
              <a:t> </a:t>
            </a:r>
            <a:r>
              <a:rPr lang="fr-FR" baseline="0" dirty="0" err="1" smtClean="0"/>
              <a:t>verstoen</a:t>
            </a:r>
            <a:r>
              <a:rPr lang="fr-FR" baseline="0" dirty="0" smtClean="0"/>
              <a:t>. </a:t>
            </a:r>
            <a:br>
              <a:rPr lang="fr-FR" baseline="0" dirty="0" smtClean="0"/>
            </a:br>
            <a:r>
              <a:rPr lang="fr-FR" baseline="0" dirty="0" smtClean="0"/>
              <a:t>2tens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eemol</a:t>
            </a:r>
            <a:r>
              <a:rPr lang="fr-FR" baseline="0" dirty="0" smtClean="0"/>
              <a:t> den audit </a:t>
            </a:r>
            <a:r>
              <a:rPr lang="fr-FR" baseline="0" dirty="0" err="1" smtClean="0"/>
              <a:t>firgestallt</a:t>
            </a:r>
            <a:r>
              <a:rPr lang="fr-FR" baseline="0" dirty="0" smtClean="0"/>
              <a:t>, </a:t>
            </a:r>
            <a:r>
              <a:rPr lang="fr-FR" baseline="0" dirty="0" err="1" smtClean="0"/>
              <a:t>zumols</a:t>
            </a:r>
            <a:r>
              <a:rPr lang="fr-FR" baseline="0" dirty="0" smtClean="0"/>
              <a:t> den déroulement </a:t>
            </a:r>
            <a:r>
              <a:rPr lang="fr-FR" baseline="0" dirty="0" err="1" smtClean="0"/>
              <a:t>vun</a:t>
            </a:r>
            <a:r>
              <a:rPr lang="fr-FR" baseline="0" dirty="0" smtClean="0"/>
              <a:t> </a:t>
            </a:r>
            <a:r>
              <a:rPr lang="fr-FR" baseline="0" dirty="0" err="1" smtClean="0"/>
              <a:t>engemn</a:t>
            </a:r>
            <a:r>
              <a:rPr lang="fr-FR" baseline="0" dirty="0" smtClean="0"/>
              <a:t> audit </a:t>
            </a:r>
            <a:r>
              <a:rPr lang="fr-FR" baseline="0" dirty="0" err="1" smtClean="0"/>
              <a:t>ass</a:t>
            </a:r>
            <a:r>
              <a:rPr lang="fr-FR" baseline="0" dirty="0" smtClean="0"/>
              <a:t> </a:t>
            </a:r>
            <a:r>
              <a:rPr lang="fr-FR" baseline="0" dirty="0" err="1" smtClean="0"/>
              <a:t>intressant</a:t>
            </a:r>
            <a:r>
              <a:rPr lang="fr-FR" baseline="0" dirty="0" smtClean="0"/>
              <a:t> </a:t>
            </a:r>
            <a:r>
              <a:rPr lang="fr-FR" baseline="0" dirty="0" err="1" smtClean="0"/>
              <a:t>fir</a:t>
            </a:r>
            <a:r>
              <a:rPr lang="fr-FR" baseline="0" dirty="0" smtClean="0"/>
              <a:t> d’</a:t>
            </a:r>
            <a:r>
              <a:rPr lang="fr-FR" baseline="0" dirty="0" err="1" smtClean="0"/>
              <a:t>problèmatique</a:t>
            </a:r>
            <a:r>
              <a:rPr lang="fr-FR" baseline="0" dirty="0" smtClean="0"/>
              <a:t>, an </a:t>
            </a:r>
            <a:r>
              <a:rPr lang="fr-FR" baseline="0" dirty="0" err="1" smtClean="0"/>
              <a:t>och</a:t>
            </a:r>
            <a:r>
              <a:rPr lang="fr-FR" baseline="0" dirty="0" smtClean="0"/>
              <a:t> </a:t>
            </a:r>
            <a:r>
              <a:rPr lang="fr-FR" baseline="0" dirty="0" err="1" smtClean="0"/>
              <a:t>wichteg</a:t>
            </a:r>
            <a:r>
              <a:rPr lang="fr-FR" baseline="0" dirty="0" smtClean="0"/>
              <a:t> </a:t>
            </a:r>
            <a:r>
              <a:rPr lang="fr-FR" baseline="0" dirty="0" err="1" smtClean="0"/>
              <a:t>fir</a:t>
            </a:r>
            <a:r>
              <a:rPr lang="fr-FR" baseline="0" dirty="0" smtClean="0"/>
              <a:t> </a:t>
            </a:r>
            <a:r>
              <a:rPr lang="fr-FR" baseline="0" dirty="0" err="1" smtClean="0"/>
              <a:t>dass</a:t>
            </a:r>
            <a:r>
              <a:rPr lang="fr-FR" baseline="0" dirty="0" smtClean="0"/>
              <a:t> den Lecteur </a:t>
            </a:r>
            <a:r>
              <a:rPr lang="fr-FR" baseline="0" dirty="0" err="1" smtClean="0"/>
              <a:t>eng</a:t>
            </a:r>
            <a:r>
              <a:rPr lang="fr-FR" baseline="0" dirty="0" smtClean="0"/>
              <a:t> </a:t>
            </a:r>
            <a:r>
              <a:rPr lang="fr-FR" baseline="0" dirty="0" err="1" smtClean="0"/>
              <a:t>idee</a:t>
            </a:r>
            <a:r>
              <a:rPr lang="fr-FR" baseline="0" dirty="0" smtClean="0"/>
              <a:t> </a:t>
            </a:r>
            <a:r>
              <a:rPr lang="fr-FR" baseline="0" dirty="0" err="1" smtClean="0"/>
              <a:t>vum</a:t>
            </a:r>
            <a:r>
              <a:rPr lang="fr-FR" baseline="0" dirty="0" smtClean="0"/>
              <a:t> Audit </a:t>
            </a:r>
            <a:r>
              <a:rPr lang="fr-FR" baseline="0" dirty="0" err="1" smtClean="0"/>
              <a:t>krit</a:t>
            </a:r>
            <a:r>
              <a:rPr lang="fr-FR" baseline="0" dirty="0" smtClean="0"/>
              <a:t>. </a:t>
            </a:r>
            <a:br>
              <a:rPr lang="fr-FR" baseline="0" dirty="0" smtClean="0"/>
            </a:br>
            <a:r>
              <a:rPr lang="fr-FR" baseline="0" dirty="0" err="1" smtClean="0"/>
              <a:t>Wou</a:t>
            </a:r>
            <a:r>
              <a:rPr lang="fr-FR" baseline="0" dirty="0" smtClean="0"/>
              <a:t> </a:t>
            </a:r>
            <a:r>
              <a:rPr lang="fr-FR" baseline="0" dirty="0" err="1" smtClean="0"/>
              <a:t>ech</a:t>
            </a:r>
            <a:r>
              <a:rPr lang="fr-FR" baseline="0" dirty="0" smtClean="0"/>
              <a:t> bis </a:t>
            </a:r>
            <a:r>
              <a:rPr lang="fr-FR" baseline="0" dirty="0" err="1" smtClean="0"/>
              <a:t>eng</a:t>
            </a:r>
            <a:r>
              <a:rPr lang="fr-FR" baseline="0" dirty="0" smtClean="0"/>
              <a:t> </a:t>
            </a:r>
            <a:r>
              <a:rPr lang="fr-FR" baseline="0" dirty="0" err="1" smtClean="0"/>
              <a:t>idee</a:t>
            </a:r>
            <a:r>
              <a:rPr lang="fr-FR" baseline="0" dirty="0" smtClean="0"/>
              <a:t> </a:t>
            </a:r>
            <a:r>
              <a:rPr lang="fr-FR" baseline="0" dirty="0" err="1" smtClean="0"/>
              <a:t>iwer</a:t>
            </a:r>
            <a:r>
              <a:rPr lang="fr-FR" baseline="0" dirty="0" smtClean="0"/>
              <a:t> den sujet </a:t>
            </a:r>
            <a:r>
              <a:rPr lang="fr-FR" baseline="0" dirty="0" err="1" smtClean="0"/>
              <a:t>gesammlt</a:t>
            </a:r>
            <a:r>
              <a:rPr lang="fr-FR" baseline="0" dirty="0" smtClean="0"/>
              <a:t> </a:t>
            </a:r>
            <a:r>
              <a:rPr lang="fr-FR" baseline="0" dirty="0" err="1" smtClean="0"/>
              <a:t>hat</a:t>
            </a:r>
            <a:r>
              <a:rPr lang="fr-FR" baseline="0" dirty="0" smtClean="0"/>
              <a:t> an +/- </a:t>
            </a:r>
            <a:r>
              <a:rPr lang="fr-FR" baseline="0" dirty="0" err="1" smtClean="0"/>
              <a:t>verstan</a:t>
            </a:r>
            <a:r>
              <a:rPr lang="fr-FR" baseline="0" dirty="0" smtClean="0"/>
              <a:t> </a:t>
            </a:r>
            <a:r>
              <a:rPr lang="fr-FR" baseline="0" dirty="0" err="1" smtClean="0"/>
              <a:t>hunn</a:t>
            </a:r>
            <a:r>
              <a:rPr lang="fr-FR" baseline="0" dirty="0" smtClean="0"/>
              <a:t> </a:t>
            </a:r>
            <a:r>
              <a:rPr lang="fr-FR" baseline="0" dirty="0" err="1" smtClean="0"/>
              <a:t>wéi</a:t>
            </a:r>
            <a:r>
              <a:rPr lang="fr-FR" baseline="0" dirty="0" smtClean="0"/>
              <a:t> den audit </a:t>
            </a:r>
            <a:r>
              <a:rPr lang="fr-FR" baseline="0" dirty="0" err="1" smtClean="0"/>
              <a:t>vun</a:t>
            </a:r>
            <a:r>
              <a:rPr lang="fr-FR" baseline="0" dirty="0" smtClean="0"/>
              <a:t> </a:t>
            </a:r>
            <a:r>
              <a:rPr lang="fr-FR" baseline="0" dirty="0" err="1" smtClean="0"/>
              <a:t>engem</a:t>
            </a:r>
            <a:r>
              <a:rPr lang="fr-FR" baseline="0" dirty="0" smtClean="0"/>
              <a:t> OEA </a:t>
            </a:r>
            <a:r>
              <a:rPr lang="fr-FR" baseline="0" dirty="0" err="1" smtClean="0"/>
              <a:t>soll</a:t>
            </a:r>
            <a:r>
              <a:rPr lang="fr-FR" baseline="0" dirty="0" smtClean="0"/>
              <a:t> </a:t>
            </a:r>
            <a:r>
              <a:rPr lang="fr-FR" baseline="0" dirty="0" err="1" smtClean="0"/>
              <a:t>vun</a:t>
            </a:r>
            <a:r>
              <a:rPr lang="fr-FR" baseline="0" dirty="0" smtClean="0"/>
              <a:t> </a:t>
            </a:r>
            <a:r>
              <a:rPr lang="fr-FR" baseline="0" dirty="0" err="1" smtClean="0"/>
              <a:t>statten</a:t>
            </a:r>
            <a:r>
              <a:rPr lang="fr-FR" baseline="0" dirty="0" smtClean="0"/>
              <a:t> </a:t>
            </a:r>
            <a:r>
              <a:rPr lang="fr-FR" baseline="0" dirty="0" err="1" smtClean="0"/>
              <a:t>goen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mer </a:t>
            </a:r>
            <a:r>
              <a:rPr lang="fr-FR" baseline="0" dirty="0" err="1" smtClean="0"/>
              <a:t>erklären</a:t>
            </a:r>
            <a:r>
              <a:rPr lang="fr-FR" baseline="0" dirty="0" smtClean="0"/>
              <a:t> </a:t>
            </a:r>
            <a:r>
              <a:rPr lang="fr-FR" baseline="0" dirty="0" err="1" smtClean="0"/>
              <a:t>gelos</a:t>
            </a:r>
            <a:r>
              <a:rPr lang="fr-FR" baseline="0" dirty="0" smtClean="0"/>
              <a:t> </a:t>
            </a:r>
            <a:r>
              <a:rPr lang="fr-FR" baseline="0" dirty="0" err="1" smtClean="0"/>
              <a:t>wéi</a:t>
            </a:r>
            <a:r>
              <a:rPr lang="fr-FR" baseline="0" dirty="0" smtClean="0"/>
              <a:t> den Audit et actuelle </a:t>
            </a:r>
            <a:r>
              <a:rPr lang="fr-FR" baseline="0" dirty="0" err="1" smtClean="0"/>
              <a:t>mescht</a:t>
            </a:r>
            <a:r>
              <a:rPr lang="fr-FR" baseline="0" dirty="0" smtClean="0"/>
              <a:t>. </a:t>
            </a:r>
          </a:p>
          <a:p>
            <a:pPr marL="0" indent="0">
              <a:buFontTx/>
              <a:buNone/>
            </a:pPr>
            <a:r>
              <a:rPr lang="fr-FR" baseline="0" dirty="0" err="1" smtClean="0"/>
              <a:t>Desweideren</a:t>
            </a:r>
            <a:r>
              <a:rPr lang="fr-FR" baseline="0" dirty="0" smtClean="0"/>
              <a:t> </a:t>
            </a:r>
            <a:r>
              <a:rPr lang="fr-FR" baseline="0" dirty="0" err="1" smtClean="0"/>
              <a:t>krut</a:t>
            </a:r>
            <a:r>
              <a:rPr lang="fr-FR" baseline="0" dirty="0" smtClean="0"/>
              <a:t> </a:t>
            </a:r>
            <a:r>
              <a:rPr lang="fr-FR" baseline="0" dirty="0" err="1" smtClean="0"/>
              <a:t>ech</a:t>
            </a:r>
            <a:r>
              <a:rPr lang="fr-FR" baseline="0" dirty="0" smtClean="0"/>
              <a:t> procédure écrite actuelle </a:t>
            </a:r>
            <a:r>
              <a:rPr lang="fr-FR" baseline="0" dirty="0" err="1" smtClean="0"/>
              <a:t>vum</a:t>
            </a:r>
            <a:r>
              <a:rPr lang="fr-FR" baseline="0" dirty="0" smtClean="0"/>
              <a:t> IDA, </a:t>
            </a:r>
            <a:r>
              <a:rPr lang="fr-FR" baseline="0" dirty="0" err="1" smtClean="0"/>
              <a:t>dodrop</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mech</a:t>
            </a:r>
            <a:r>
              <a:rPr lang="fr-FR" baseline="0" dirty="0" smtClean="0"/>
              <a:t> </a:t>
            </a:r>
            <a:r>
              <a:rPr lang="fr-FR" baseline="0" dirty="0" err="1" smtClean="0"/>
              <a:t>dono</a:t>
            </a:r>
            <a:r>
              <a:rPr lang="fr-FR" baseline="0" dirty="0" smtClean="0"/>
              <a:t> </a:t>
            </a:r>
            <a:r>
              <a:rPr lang="fr-FR" baseline="0" dirty="0" err="1" smtClean="0"/>
              <a:t>baséiert</a:t>
            </a:r>
            <a:r>
              <a:rPr lang="fr-FR" baseline="0" dirty="0" smtClean="0"/>
              <a:t> an net « </a:t>
            </a:r>
            <a:r>
              <a:rPr lang="fr-FR" baseline="0" dirty="0" err="1" smtClean="0"/>
              <a:t>vun</a:t>
            </a:r>
            <a:r>
              <a:rPr lang="fr-FR" baseline="0" dirty="0" smtClean="0"/>
              <a:t> scratch » </a:t>
            </a:r>
            <a:r>
              <a:rPr lang="fr-FR" baseline="0" dirty="0" err="1" smtClean="0"/>
              <a:t>ugefangen</a:t>
            </a:r>
            <a:r>
              <a:rPr lang="fr-FR" baseline="0" dirty="0" smtClean="0"/>
              <a:t>.</a:t>
            </a:r>
          </a:p>
          <a:p>
            <a:pPr marL="0" indent="0">
              <a:buFontTx/>
              <a:buNone/>
            </a:pPr>
            <a:r>
              <a:rPr lang="fr-FR" baseline="0" dirty="0" smtClean="0"/>
              <a:t>An </a:t>
            </a:r>
            <a:r>
              <a:rPr lang="fr-FR" baseline="0" dirty="0" err="1" smtClean="0"/>
              <a:t>deems</a:t>
            </a:r>
            <a:r>
              <a:rPr lang="fr-FR" baseline="0" dirty="0" smtClean="0"/>
              <a:t> </a:t>
            </a:r>
            <a:r>
              <a:rPr lang="fr-FR" baseline="0" dirty="0" err="1" smtClean="0"/>
              <a:t>wou</a:t>
            </a:r>
            <a:r>
              <a:rPr lang="fr-FR" baseline="0" dirty="0" smtClean="0"/>
              <a:t> </a:t>
            </a:r>
            <a:r>
              <a:rPr lang="fr-FR" baseline="0" dirty="0" err="1" smtClean="0"/>
              <a:t>ech</a:t>
            </a:r>
            <a:r>
              <a:rPr lang="fr-FR" baseline="0" dirty="0" smtClean="0"/>
              <a:t> den déroulement actuel </a:t>
            </a:r>
            <a:r>
              <a:rPr lang="fr-FR" baseline="0" dirty="0" err="1" smtClean="0"/>
              <a:t>hai</a:t>
            </a:r>
            <a:r>
              <a:rPr lang="fr-FR" baseline="0" dirty="0" smtClean="0"/>
              <a:t> </a:t>
            </a:r>
            <a:r>
              <a:rPr lang="fr-FR" baseline="0" dirty="0" err="1" smtClean="0"/>
              <a:t>am</a:t>
            </a:r>
            <a:r>
              <a:rPr lang="fr-FR" baseline="0" dirty="0" smtClean="0"/>
              <a:t> Land, mat </a:t>
            </a:r>
            <a:r>
              <a:rPr lang="fr-FR" baseline="0" dirty="0" err="1" smtClean="0"/>
              <a:t>dem</a:t>
            </a:r>
            <a:r>
              <a:rPr lang="fr-FR" baseline="0" dirty="0" smtClean="0"/>
              <a:t> déroulement </a:t>
            </a:r>
            <a:r>
              <a:rPr lang="fr-FR" baseline="0" dirty="0" err="1" smtClean="0"/>
              <a:t>am</a:t>
            </a:r>
            <a:r>
              <a:rPr lang="fr-FR" baseline="0" dirty="0" smtClean="0"/>
              <a:t> </a:t>
            </a:r>
            <a:r>
              <a:rPr lang="fr-FR" baseline="0" dirty="0" err="1" smtClean="0"/>
              <a:t>Ausland</a:t>
            </a:r>
            <a:r>
              <a:rPr lang="fr-FR" baseline="0" dirty="0" smtClean="0"/>
              <a:t> </a:t>
            </a:r>
            <a:r>
              <a:rPr lang="fr-FR" baseline="0" dirty="0" err="1" smtClean="0"/>
              <a:t>respektiv</a:t>
            </a:r>
            <a:r>
              <a:rPr lang="fr-FR" baseline="0" dirty="0" smtClean="0"/>
              <a:t> mat den lignes directrices </a:t>
            </a:r>
            <a:r>
              <a:rPr lang="fr-FR" baseline="0" dirty="0" err="1" smtClean="0"/>
              <a:t>verglach</a:t>
            </a:r>
            <a:r>
              <a:rPr lang="fr-FR" baseline="0" dirty="0" smtClean="0"/>
              <a:t> </a:t>
            </a:r>
            <a:r>
              <a:rPr lang="fr-FR" baseline="0" dirty="0" err="1" smtClean="0"/>
              <a:t>hunn</a:t>
            </a:r>
            <a:r>
              <a:rPr lang="fr-FR" baseline="0" dirty="0" smtClean="0"/>
              <a:t>, </a:t>
            </a:r>
            <a:r>
              <a:rPr lang="fr-FR" baseline="0" dirty="0" err="1" smtClean="0"/>
              <a:t>hunn</a:t>
            </a:r>
            <a:r>
              <a:rPr lang="fr-FR" baseline="0" dirty="0" smtClean="0"/>
              <a:t> </a:t>
            </a:r>
            <a:r>
              <a:rPr lang="fr-FR" baseline="0" dirty="0" err="1" smtClean="0"/>
              <a:t>ech</a:t>
            </a:r>
            <a:r>
              <a:rPr lang="fr-FR" baseline="0" dirty="0" smtClean="0"/>
              <a:t> </a:t>
            </a:r>
            <a:r>
              <a:rPr lang="fr-FR" baseline="0" dirty="0" err="1" smtClean="0"/>
              <a:t>meng</a:t>
            </a:r>
            <a:r>
              <a:rPr lang="fr-FR" baseline="0" dirty="0" smtClean="0"/>
              <a:t> </a:t>
            </a:r>
            <a:r>
              <a:rPr lang="fr-FR" baseline="0" dirty="0" err="1" smtClean="0"/>
              <a:t>recommandationen</a:t>
            </a:r>
            <a:r>
              <a:rPr lang="fr-FR" baseline="0" dirty="0" smtClean="0"/>
              <a:t> </a:t>
            </a:r>
            <a:r>
              <a:rPr lang="fr-FR" baseline="0" dirty="0" err="1" smtClean="0"/>
              <a:t>opgestallt</a:t>
            </a:r>
            <a:r>
              <a:rPr lang="fr-FR" baseline="0" dirty="0" smtClean="0"/>
              <a:t>. </a:t>
            </a:r>
          </a:p>
          <a:p>
            <a:pPr marL="0" indent="0">
              <a:buFontTx/>
              <a:buNone/>
            </a:pPr>
            <a:endParaRPr lang="fr-FR" baseline="0" dirty="0" smtClean="0"/>
          </a:p>
          <a:p>
            <a:pPr marL="0" indent="0">
              <a:buFontTx/>
              <a:buNone/>
            </a:pPr>
            <a:endParaRPr lang="fr-FR" baseline="0" dirty="0" smtClean="0"/>
          </a:p>
          <a:p>
            <a:pPr marL="171450" indent="-171450">
              <a:buFontTx/>
              <a:buChar char="-"/>
            </a:pPr>
            <a:r>
              <a:rPr lang="fr-FR" b="1" dirty="0" smtClean="0"/>
              <a:t>Présentation </a:t>
            </a:r>
            <a:r>
              <a:rPr lang="fr-FR" b="1" dirty="0" err="1" smtClean="0"/>
              <a:t>vum</a:t>
            </a:r>
            <a:r>
              <a:rPr lang="fr-FR" b="1" dirty="0" smtClean="0"/>
              <a:t> Sommaire </a:t>
            </a:r>
            <a:r>
              <a:rPr lang="fr-FR" b="1" dirty="0" err="1" smtClean="0"/>
              <a:t>vun</a:t>
            </a:r>
            <a:r>
              <a:rPr lang="fr-FR" b="1" dirty="0" smtClean="0"/>
              <a:t> der Présentation:</a:t>
            </a:r>
          </a:p>
          <a:p>
            <a:r>
              <a:rPr lang="fr-FR" dirty="0" smtClean="0"/>
              <a:t>	Le sujet</a:t>
            </a:r>
          </a:p>
          <a:p>
            <a:r>
              <a:rPr lang="fr-FR" dirty="0" smtClean="0"/>
              <a:t>	L’OEA</a:t>
            </a:r>
          </a:p>
          <a:p>
            <a:r>
              <a:rPr lang="fr-FR" dirty="0" smtClean="0"/>
              <a:t>	L’audit en général</a:t>
            </a:r>
          </a:p>
          <a:p>
            <a:r>
              <a:rPr lang="fr-FR" dirty="0" smtClean="0"/>
              <a:t>	Le déroulement d’un audit d’un OEA au Luxembourg</a:t>
            </a:r>
          </a:p>
          <a:p>
            <a:r>
              <a:rPr lang="fr-FR" dirty="0" smtClean="0"/>
              <a:t>	Les recommandations</a:t>
            </a:r>
          </a:p>
          <a:p>
            <a:r>
              <a:rPr lang="fr-FR" dirty="0" smtClean="0"/>
              <a:t>	La conclusion</a:t>
            </a:r>
          </a:p>
          <a:p>
            <a:endParaRPr lang="fr-FR"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fr-FR" baseline="0" dirty="0" err="1" smtClean="0"/>
              <a:t>Also</a:t>
            </a:r>
            <a:r>
              <a:rPr lang="fr-FR" baseline="0" dirty="0" smtClean="0"/>
              <a:t> </a:t>
            </a:r>
            <a:r>
              <a:rPr lang="fr-FR" baseline="0" dirty="0" err="1" smtClean="0"/>
              <a:t>déi</a:t>
            </a:r>
            <a:r>
              <a:rPr lang="fr-FR" baseline="0" dirty="0" smtClean="0"/>
              <a:t> </a:t>
            </a:r>
            <a:r>
              <a:rPr lang="fr-FR" baseline="0" dirty="0" err="1" smtClean="0"/>
              <a:t>grous</a:t>
            </a:r>
            <a:r>
              <a:rPr lang="fr-FR" baseline="0" dirty="0" smtClean="0"/>
              <a:t> </a:t>
            </a:r>
            <a:r>
              <a:rPr lang="fr-FR" baseline="0" dirty="0" err="1" smtClean="0"/>
              <a:t>fro</a:t>
            </a:r>
            <a:r>
              <a:rPr lang="fr-FR" baseline="0" dirty="0" smtClean="0"/>
              <a:t>, </a:t>
            </a:r>
            <a:r>
              <a:rPr lang="fr-FR" baseline="0" dirty="0" err="1" smtClean="0"/>
              <a:t>wat</a:t>
            </a:r>
            <a:r>
              <a:rPr lang="fr-FR" baseline="0" dirty="0" smtClean="0"/>
              <a:t> </a:t>
            </a:r>
            <a:r>
              <a:rPr lang="fr-FR" baseline="0" dirty="0" err="1" smtClean="0"/>
              <a:t>stellen</a:t>
            </a:r>
            <a:r>
              <a:rPr lang="fr-FR" baseline="0" dirty="0" smtClean="0"/>
              <a:t> </a:t>
            </a:r>
            <a:r>
              <a:rPr lang="fr-FR" baseline="0" dirty="0" err="1" smtClean="0"/>
              <a:t>ech</a:t>
            </a:r>
            <a:r>
              <a:rPr lang="fr-FR" baseline="0" dirty="0" smtClean="0"/>
              <a:t> </a:t>
            </a:r>
            <a:r>
              <a:rPr lang="fr-FR" baseline="0" dirty="0" err="1" smtClean="0"/>
              <a:t>eech</a:t>
            </a:r>
            <a:r>
              <a:rPr lang="fr-FR" baseline="0" dirty="0" smtClean="0"/>
              <a:t> haut </a:t>
            </a:r>
            <a:r>
              <a:rPr lang="fr-FR" baseline="0" dirty="0" err="1" smtClean="0"/>
              <a:t>fir</a:t>
            </a:r>
            <a:r>
              <a:rPr lang="fr-FR" baseline="0" dirty="0" smtClean="0"/>
              <a:t>? Den Sommaire </a:t>
            </a:r>
            <a:r>
              <a:rPr lang="fr-FR" baseline="0" dirty="0" err="1" smtClean="0"/>
              <a:t>gesait</a:t>
            </a:r>
            <a:r>
              <a:rPr lang="fr-FR" baseline="0" dirty="0" smtClean="0"/>
              <a:t> fier </a:t>
            </a:r>
            <a:r>
              <a:rPr lang="fr-FR" baseline="0" dirty="0" err="1" smtClean="0"/>
              <a:t>dass</a:t>
            </a:r>
            <a:r>
              <a:rPr lang="fr-FR" baseline="0" dirty="0" smtClean="0"/>
              <a:t> </a:t>
            </a:r>
            <a:r>
              <a:rPr lang="fr-FR" baseline="0" dirty="0" err="1" smtClean="0"/>
              <a:t>ech</a:t>
            </a:r>
            <a:r>
              <a:rPr lang="fr-FR" baseline="0" dirty="0" smtClean="0"/>
              <a:t> </a:t>
            </a:r>
            <a:r>
              <a:rPr lang="fr-FR" baseline="0" dirty="0" err="1" smtClean="0"/>
              <a:t>Eech</a:t>
            </a:r>
            <a:r>
              <a:rPr lang="fr-FR" baseline="0" dirty="0" smtClean="0"/>
              <a:t> </a:t>
            </a:r>
            <a:r>
              <a:rPr lang="fr-FR" baseline="0" dirty="0" err="1" smtClean="0"/>
              <a:t>fir</a:t>
            </a:r>
            <a:r>
              <a:rPr lang="fr-FR" baseline="0" dirty="0" smtClean="0"/>
              <a:t> d’</a:t>
            </a:r>
            <a:r>
              <a:rPr lang="fr-FR" baseline="0" dirty="0" err="1" smtClean="0"/>
              <a:t>éicht</a:t>
            </a:r>
            <a:r>
              <a:rPr lang="fr-FR" baseline="0" dirty="0" smtClean="0"/>
              <a:t> </a:t>
            </a:r>
            <a:r>
              <a:rPr lang="fr-FR" baseline="0" dirty="0" err="1" smtClean="0"/>
              <a:t>eemol</a:t>
            </a:r>
            <a:r>
              <a:rPr lang="fr-FR" baseline="0" dirty="0" smtClean="0"/>
              <a:t> den OEA </a:t>
            </a:r>
            <a:r>
              <a:rPr lang="fr-FR" baseline="0" dirty="0" err="1" smtClean="0"/>
              <a:t>méi</a:t>
            </a:r>
            <a:r>
              <a:rPr lang="fr-FR" baseline="0" dirty="0" smtClean="0"/>
              <a:t> no </a:t>
            </a:r>
            <a:r>
              <a:rPr lang="fr-FR" baseline="0" dirty="0" err="1" smtClean="0"/>
              <a:t>brengen</a:t>
            </a:r>
            <a:r>
              <a:rPr lang="fr-FR" baseline="0" dirty="0" smtClean="0"/>
              <a:t>, </a:t>
            </a:r>
            <a:r>
              <a:rPr lang="fr-FR" baseline="0" dirty="0" err="1" smtClean="0"/>
              <a:t>eemol</a:t>
            </a:r>
            <a:r>
              <a:rPr lang="fr-FR" baseline="0" dirty="0" smtClean="0"/>
              <a:t> </a:t>
            </a:r>
            <a:r>
              <a:rPr lang="fr-FR" baseline="0" dirty="0" err="1" smtClean="0"/>
              <a:t>kuerz</a:t>
            </a:r>
            <a:r>
              <a:rPr lang="fr-FR" baseline="0" dirty="0" smtClean="0"/>
              <a:t> </a:t>
            </a:r>
            <a:r>
              <a:rPr lang="fr-FR" baseline="0" dirty="0" err="1" smtClean="0"/>
              <a:t>iwer</a:t>
            </a:r>
            <a:r>
              <a:rPr lang="fr-FR" baseline="0" dirty="0" smtClean="0"/>
              <a:t> den audit </a:t>
            </a:r>
            <a:r>
              <a:rPr lang="fr-FR" baseline="0" dirty="0" err="1" smtClean="0"/>
              <a:t>schwetzen</a:t>
            </a:r>
            <a:r>
              <a:rPr lang="fr-FR" baseline="0" dirty="0" smtClean="0"/>
              <a:t>, den déroulement  </a:t>
            </a:r>
            <a:r>
              <a:rPr lang="fr-FR" baseline="0" dirty="0" err="1" smtClean="0"/>
              <a:t>vum</a:t>
            </a:r>
            <a:r>
              <a:rPr lang="fr-FR" baseline="0" dirty="0" smtClean="0"/>
              <a:t> audit </a:t>
            </a:r>
            <a:r>
              <a:rPr lang="fr-FR" baseline="0" dirty="0" err="1" smtClean="0"/>
              <a:t>vun</a:t>
            </a:r>
            <a:r>
              <a:rPr lang="fr-FR" baseline="0" dirty="0" smtClean="0"/>
              <a:t> </a:t>
            </a:r>
            <a:r>
              <a:rPr lang="fr-FR" baseline="0" dirty="0" err="1" smtClean="0"/>
              <a:t>engem</a:t>
            </a:r>
            <a:r>
              <a:rPr lang="fr-FR" baseline="0" dirty="0" smtClean="0"/>
              <a:t> OEA an </a:t>
            </a:r>
            <a:r>
              <a:rPr lang="fr-FR" baseline="0" dirty="0" err="1" smtClean="0"/>
              <a:t>Letzebuerg</a:t>
            </a:r>
            <a:r>
              <a:rPr lang="fr-FR" baseline="0" dirty="0" smtClean="0"/>
              <a:t> </a:t>
            </a:r>
            <a:r>
              <a:rPr lang="fr-FR" baseline="0" dirty="0" err="1" smtClean="0"/>
              <a:t>présentéieren</a:t>
            </a:r>
            <a:r>
              <a:rPr lang="fr-FR" baseline="0" dirty="0" smtClean="0"/>
              <a:t>, </a:t>
            </a:r>
            <a:r>
              <a:rPr lang="fr-FR" baseline="0" dirty="0" err="1" smtClean="0"/>
              <a:t>dann</a:t>
            </a:r>
            <a:r>
              <a:rPr lang="fr-FR" baseline="0" dirty="0" smtClean="0"/>
              <a:t> </a:t>
            </a:r>
            <a:r>
              <a:rPr lang="fr-FR" baseline="0" dirty="0" err="1" smtClean="0"/>
              <a:t>kommen</a:t>
            </a:r>
            <a:r>
              <a:rPr lang="fr-FR" baseline="0" dirty="0" smtClean="0"/>
              <a:t> mer </a:t>
            </a:r>
            <a:r>
              <a:rPr lang="fr-FR" baseline="0" dirty="0" err="1" smtClean="0"/>
              <a:t>och</a:t>
            </a:r>
            <a:r>
              <a:rPr lang="fr-FR" baseline="0" dirty="0" smtClean="0"/>
              <a:t> </a:t>
            </a:r>
            <a:r>
              <a:rPr lang="fr-FR" baseline="0" dirty="0" err="1" smtClean="0"/>
              <a:t>schon</a:t>
            </a:r>
            <a:r>
              <a:rPr lang="fr-FR" baseline="0" dirty="0" smtClean="0"/>
              <a:t> </a:t>
            </a:r>
            <a:r>
              <a:rPr lang="fr-FR" baseline="0" dirty="0" err="1" smtClean="0"/>
              <a:t>zu</a:t>
            </a:r>
            <a:r>
              <a:rPr lang="fr-FR" baseline="0" dirty="0" smtClean="0"/>
              <a:t> den </a:t>
            </a:r>
            <a:r>
              <a:rPr lang="fr-FR" baseline="0" dirty="0" err="1" smtClean="0"/>
              <a:t>recommandationen</a:t>
            </a:r>
            <a:r>
              <a:rPr lang="fr-FR" baseline="0" dirty="0" smtClean="0"/>
              <a:t> an </a:t>
            </a:r>
            <a:r>
              <a:rPr lang="fr-FR" baseline="0" dirty="0" err="1" smtClean="0"/>
              <a:t>zum</a:t>
            </a:r>
            <a:r>
              <a:rPr lang="fr-FR" baseline="0" dirty="0" smtClean="0"/>
              <a:t> </a:t>
            </a:r>
            <a:r>
              <a:rPr lang="fr-FR" baseline="0" dirty="0" err="1" smtClean="0"/>
              <a:t>schluss</a:t>
            </a:r>
            <a:r>
              <a:rPr lang="fr-FR" baseline="0" dirty="0" smtClean="0"/>
              <a:t> </a:t>
            </a:r>
            <a:r>
              <a:rPr lang="fr-FR" baseline="0" dirty="0" err="1" smtClean="0"/>
              <a:t>nach</a:t>
            </a:r>
            <a:r>
              <a:rPr lang="fr-FR" baseline="0" dirty="0" smtClean="0"/>
              <a:t> </a:t>
            </a:r>
            <a:r>
              <a:rPr lang="fr-FR" baseline="0" dirty="0" err="1" smtClean="0"/>
              <a:t>eng</a:t>
            </a:r>
            <a:r>
              <a:rPr lang="fr-FR" baseline="0" dirty="0" smtClean="0"/>
              <a:t> </a:t>
            </a:r>
            <a:r>
              <a:rPr lang="fr-FR" baseline="0" dirty="0" err="1" smtClean="0"/>
              <a:t>kleng</a:t>
            </a:r>
            <a:r>
              <a:rPr lang="fr-FR" baseline="0" dirty="0" smtClean="0"/>
              <a:t> conclusion. </a:t>
            </a:r>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EC2D5BD5-BCCF-4892-A47B-1366A1D542C7}" type="slidenum">
              <a:rPr lang="en-US" smtClean="0"/>
              <a:t>2</a:t>
            </a:fld>
            <a:endParaRPr lang="en-US"/>
          </a:p>
        </p:txBody>
      </p:sp>
    </p:spTree>
    <p:extLst>
      <p:ext uri="{BB962C8B-B14F-4D97-AF65-F5344CB8AC3E}">
        <p14:creationId xmlns:p14="http://schemas.microsoft.com/office/powerpoint/2010/main" val="3416571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smtClean="0"/>
              <a:t>Titelmasterformat durch Klicken bearbeiten</a:t>
            </a:r>
            <a:endParaRPr lang="fr-CH"/>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smtClean="0"/>
              <a:t>Formatvorlage des Untertitelmasters durch Klicken bearbeiten</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23.10.2024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990715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idx="1"/>
          </p:nvPr>
        </p:nvSpPr>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23.10.2024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0607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smtClean="0"/>
              <a:t>Titelmasterformat durch Klicken bearbeiten</a:t>
            </a:r>
            <a:endParaRPr lang="fr-CH"/>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smtClean="0"/>
              <a:t>Formatvorlagen des Textmasters bearbeiten</a:t>
            </a:r>
          </a:p>
        </p:txBody>
      </p:sp>
      <p:sp>
        <p:nvSpPr>
          <p:cNvPr id="4" name="Datumsplatzhalter 3"/>
          <p:cNvSpPr>
            <a:spLocks noGrp="1"/>
          </p:cNvSpPr>
          <p:nvPr>
            <p:ph type="dt" sz="half" idx="10"/>
          </p:nvPr>
        </p:nvSpPr>
        <p:spPr/>
        <p:txBody>
          <a:bodyPr/>
          <a:lstStyle/>
          <a:p>
            <a:fld id="{5AFC1B58-A5CB-4888-98D1-673EE0D4D308}" type="datetimeFigureOut">
              <a:rPr lang="fr-CH" smtClean="0"/>
              <a:t>23.10.2024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993807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Inhaltsplatzhalter 2"/>
          <p:cNvSpPr>
            <a:spLocks noGrp="1"/>
          </p:cNvSpPr>
          <p:nvPr>
            <p:ph sz="half" idx="1"/>
          </p:nvPr>
        </p:nvSpPr>
        <p:spPr>
          <a:xfrm>
            <a:off x="838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Inhaltsplatzhalter 3"/>
          <p:cNvSpPr>
            <a:spLocks noGrp="1"/>
          </p:cNvSpPr>
          <p:nvPr>
            <p:ph sz="half" idx="2"/>
          </p:nvPr>
        </p:nvSpPr>
        <p:spPr>
          <a:xfrm>
            <a:off x="6172200" y="1825625"/>
            <a:ext cx="5181600" cy="435133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Datumsplatzhalter 4"/>
          <p:cNvSpPr>
            <a:spLocks noGrp="1"/>
          </p:cNvSpPr>
          <p:nvPr>
            <p:ph type="dt" sz="half" idx="10"/>
          </p:nvPr>
        </p:nvSpPr>
        <p:spPr/>
        <p:txBody>
          <a:bodyPr/>
          <a:lstStyle/>
          <a:p>
            <a:fld id="{5AFC1B58-A5CB-4888-98D1-673EE0D4D308}" type="datetimeFigureOut">
              <a:rPr lang="fr-CH" smtClean="0"/>
              <a:t>23.10.2024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38195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smtClean="0"/>
              <a:t>Titelmasterformat durch Klicken bearbeiten</a:t>
            </a:r>
            <a:endParaRPr lang="fr-CH"/>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7" name="Datumsplatzhalter 6"/>
          <p:cNvSpPr>
            <a:spLocks noGrp="1"/>
          </p:cNvSpPr>
          <p:nvPr>
            <p:ph type="dt" sz="half" idx="10"/>
          </p:nvPr>
        </p:nvSpPr>
        <p:spPr/>
        <p:txBody>
          <a:bodyPr/>
          <a:lstStyle/>
          <a:p>
            <a:fld id="{5AFC1B58-A5CB-4888-98D1-673EE0D4D308}" type="datetimeFigureOut">
              <a:rPr lang="fr-CH" smtClean="0"/>
              <a:t>23.10.2024</a:t>
            </a:fld>
            <a:endParaRPr lang="fr-CH"/>
          </a:p>
        </p:txBody>
      </p:sp>
      <p:sp>
        <p:nvSpPr>
          <p:cNvPr id="8" name="Fußzeilenplatzhalter 7"/>
          <p:cNvSpPr>
            <a:spLocks noGrp="1"/>
          </p:cNvSpPr>
          <p:nvPr>
            <p:ph type="ftr" sz="quarter" idx="11"/>
          </p:nvPr>
        </p:nvSpPr>
        <p:spPr/>
        <p:txBody>
          <a:bodyPr/>
          <a:lstStyle/>
          <a:p>
            <a:endParaRPr lang="fr-CH"/>
          </a:p>
        </p:txBody>
      </p:sp>
      <p:sp>
        <p:nvSpPr>
          <p:cNvPr id="9" name="Foliennummernplatzhalter 8"/>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691721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Datumsplatzhalter 2"/>
          <p:cNvSpPr>
            <a:spLocks noGrp="1"/>
          </p:cNvSpPr>
          <p:nvPr>
            <p:ph type="dt" sz="half" idx="10"/>
          </p:nvPr>
        </p:nvSpPr>
        <p:spPr/>
        <p:txBody>
          <a:bodyPr/>
          <a:lstStyle/>
          <a:p>
            <a:fld id="{5AFC1B58-A5CB-4888-98D1-673EE0D4D308}" type="datetimeFigureOut">
              <a:rPr lang="fr-CH" smtClean="0"/>
              <a:t>23.10.2024</a:t>
            </a:fld>
            <a:endParaRPr lang="fr-CH"/>
          </a:p>
        </p:txBody>
      </p:sp>
      <p:sp>
        <p:nvSpPr>
          <p:cNvPr id="4" name="Fußzeilenplatzhalter 3"/>
          <p:cNvSpPr>
            <a:spLocks noGrp="1"/>
          </p:cNvSpPr>
          <p:nvPr>
            <p:ph type="ftr" sz="quarter" idx="11"/>
          </p:nvPr>
        </p:nvSpPr>
        <p:spPr/>
        <p:txBody>
          <a:bodyPr/>
          <a:lstStyle/>
          <a:p>
            <a:endParaRPr lang="fr-CH"/>
          </a:p>
        </p:txBody>
      </p:sp>
      <p:sp>
        <p:nvSpPr>
          <p:cNvPr id="5" name="Foliennummernplatzhalter 4"/>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68235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AFC1B58-A5CB-4888-98D1-673EE0D4D308}" type="datetimeFigureOut">
              <a:rPr lang="fr-CH" smtClean="0"/>
              <a:t>23.10.2024</a:t>
            </a:fld>
            <a:endParaRPr lang="fr-CH"/>
          </a:p>
        </p:txBody>
      </p:sp>
      <p:sp>
        <p:nvSpPr>
          <p:cNvPr id="3" name="Fußzeilenplatzhalter 2"/>
          <p:cNvSpPr>
            <a:spLocks noGrp="1"/>
          </p:cNvSpPr>
          <p:nvPr>
            <p:ph type="ftr" sz="quarter" idx="11"/>
          </p:nvPr>
        </p:nvSpPr>
        <p:spPr/>
        <p:txBody>
          <a:bodyPr/>
          <a:lstStyle/>
          <a:p>
            <a:endParaRPr lang="fr-CH"/>
          </a:p>
        </p:txBody>
      </p:sp>
      <p:sp>
        <p:nvSpPr>
          <p:cNvPr id="4" name="Foliennummernplatzhalter 3"/>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82519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23.10.2024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192002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smtClean="0"/>
              <a:t>Titelmasterformat durch Klicken bearbeiten</a:t>
            </a:r>
            <a:endParaRPr lang="fr-CH"/>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H"/>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smtClean="0"/>
              <a:t>Formatvorlagen des Textmasters bearbeiten</a:t>
            </a:r>
          </a:p>
        </p:txBody>
      </p:sp>
      <p:sp>
        <p:nvSpPr>
          <p:cNvPr id="5" name="Datumsplatzhalter 4"/>
          <p:cNvSpPr>
            <a:spLocks noGrp="1"/>
          </p:cNvSpPr>
          <p:nvPr>
            <p:ph type="dt" sz="half" idx="10"/>
          </p:nvPr>
        </p:nvSpPr>
        <p:spPr/>
        <p:txBody>
          <a:bodyPr/>
          <a:lstStyle/>
          <a:p>
            <a:fld id="{5AFC1B58-A5CB-4888-98D1-673EE0D4D308}" type="datetimeFigureOut">
              <a:rPr lang="fr-CH" smtClean="0"/>
              <a:t>23.10.2024</a:t>
            </a:fld>
            <a:endParaRPr lang="fr-CH"/>
          </a:p>
        </p:txBody>
      </p:sp>
      <p:sp>
        <p:nvSpPr>
          <p:cNvPr id="6" name="Fußzeilenplatzhalter 5"/>
          <p:cNvSpPr>
            <a:spLocks noGrp="1"/>
          </p:cNvSpPr>
          <p:nvPr>
            <p:ph type="ftr" sz="quarter" idx="11"/>
          </p:nvPr>
        </p:nvSpPr>
        <p:spPr/>
        <p:txBody>
          <a:bodyPr/>
          <a:lstStyle/>
          <a:p>
            <a:endParaRPr lang="fr-CH"/>
          </a:p>
        </p:txBody>
      </p:sp>
      <p:sp>
        <p:nvSpPr>
          <p:cNvPr id="7" name="Foliennummernplatzhalter 6"/>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282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fr-CH"/>
          </a:p>
        </p:txBody>
      </p:sp>
      <p:sp>
        <p:nvSpPr>
          <p:cNvPr id="3" name="Vertikaler Textplatzhalter 2"/>
          <p:cNvSpPr>
            <a:spLocks noGrp="1"/>
          </p:cNvSpPr>
          <p:nvPr>
            <p:ph type="body" orient="vert" idx="1"/>
          </p:nvPr>
        </p:nvSpPr>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23.10.2024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1701861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smtClean="0"/>
              <a:t>Titelmasterformat durch Klicken bearbeiten</a:t>
            </a:r>
            <a:endParaRPr lang="fr-CH"/>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10"/>
          </p:nvPr>
        </p:nvSpPr>
        <p:spPr/>
        <p:txBody>
          <a:bodyPr/>
          <a:lstStyle/>
          <a:p>
            <a:fld id="{5AFC1B58-A5CB-4888-98D1-673EE0D4D308}" type="datetimeFigureOut">
              <a:rPr lang="fr-CH" smtClean="0"/>
              <a:t>23.10.2024</a:t>
            </a:fld>
            <a:endParaRPr lang="fr-CH"/>
          </a:p>
        </p:txBody>
      </p:sp>
      <p:sp>
        <p:nvSpPr>
          <p:cNvPr id="5" name="Fußzeilenplatzhalter 4"/>
          <p:cNvSpPr>
            <a:spLocks noGrp="1"/>
          </p:cNvSpPr>
          <p:nvPr>
            <p:ph type="ftr" sz="quarter" idx="11"/>
          </p:nvPr>
        </p:nvSpPr>
        <p:spPr/>
        <p:txBody>
          <a:bodyPr/>
          <a:lstStyle/>
          <a:p>
            <a:endParaRPr lang="fr-CH"/>
          </a:p>
        </p:txBody>
      </p:sp>
      <p:sp>
        <p:nvSpPr>
          <p:cNvPr id="6" name="Foliennummernplatzhalter 5"/>
          <p:cNvSpPr>
            <a:spLocks noGrp="1"/>
          </p:cNvSpPr>
          <p:nvPr>
            <p:ph type="sldNum" sz="quarter" idx="12"/>
          </p:nvPr>
        </p:nvSpPr>
        <p:spPr/>
        <p:txBody>
          <a:bodyPr/>
          <a:lstStyle/>
          <a:p>
            <a:fld id="{AC11F01A-B187-4E96-A42F-7B20626A13B5}" type="slidenum">
              <a:rPr lang="fr-CH" smtClean="0"/>
              <a:t>‹#›</a:t>
            </a:fld>
            <a:endParaRPr lang="fr-CH"/>
          </a:p>
        </p:txBody>
      </p:sp>
    </p:spTree>
    <p:extLst>
      <p:ext uri="{BB962C8B-B14F-4D97-AF65-F5344CB8AC3E}">
        <p14:creationId xmlns:p14="http://schemas.microsoft.com/office/powerpoint/2010/main" val="3952568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2000" b="-12000"/>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fr-CH"/>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fr-CH"/>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C1B58-A5CB-4888-98D1-673EE0D4D308}" type="datetimeFigureOut">
              <a:rPr lang="fr-CH" smtClean="0"/>
              <a:t>23.10.2024</a:t>
            </a:fld>
            <a:endParaRPr lang="fr-CH"/>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H"/>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1F01A-B187-4E96-A42F-7B20626A13B5}" type="slidenum">
              <a:rPr lang="fr-CH" smtClean="0"/>
              <a:t>‹#›</a:t>
            </a:fld>
            <a:endParaRPr lang="fr-CH"/>
          </a:p>
        </p:txBody>
      </p:sp>
    </p:spTree>
    <p:extLst>
      <p:ext uri="{BB962C8B-B14F-4D97-AF65-F5344CB8AC3E}">
        <p14:creationId xmlns:p14="http://schemas.microsoft.com/office/powerpoint/2010/main" val="2775136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644770" y="1626958"/>
            <a:ext cx="10769600" cy="2716442"/>
          </a:xfrm>
        </p:spPr>
        <p:txBody>
          <a:bodyPr>
            <a:normAutofit/>
          </a:bodyPr>
          <a:lstStyle/>
          <a:p>
            <a:r>
              <a:rPr lang="fr-LU" sz="5400" b="1" dirty="0" smtClean="0">
                <a:ln w="9525">
                  <a:solidFill>
                    <a:schemeClr val="accent1"/>
                  </a:solidFill>
                  <a:prstDash val="solid"/>
                </a:ln>
                <a:effectLst>
                  <a:outerShdw blurRad="12700" dist="38100" dir="2700000" algn="tl" rotWithShape="0">
                    <a:schemeClr val="bg1">
                      <a:lumMod val="50000"/>
                    </a:schemeClr>
                  </a:outerShdw>
                </a:effectLst>
              </a:rPr>
              <a:t/>
            </a:r>
            <a:br>
              <a:rPr lang="fr-LU" sz="5400" b="1" dirty="0" smtClean="0">
                <a:ln w="9525">
                  <a:solidFill>
                    <a:schemeClr val="accent1"/>
                  </a:solidFill>
                  <a:prstDash val="solid"/>
                </a:ln>
                <a:effectLst>
                  <a:outerShdw blurRad="12700" dist="38100" dir="2700000" algn="tl" rotWithShape="0">
                    <a:schemeClr val="bg1">
                      <a:lumMod val="50000"/>
                    </a:schemeClr>
                  </a:outerShdw>
                </a:effectLst>
              </a:rPr>
            </a:br>
            <a:endParaRPr lang="fr-CH" sz="5400" b="1" dirty="0">
              <a:ln w="9525">
                <a:solidFill>
                  <a:schemeClr val="accent1"/>
                </a:solidFill>
                <a:prstDash val="solid"/>
              </a:ln>
              <a:effectLst>
                <a:outerShdw blurRad="12700" dist="38100" dir="2700000" algn="tl" rotWithShape="0">
                  <a:schemeClr val="bg1">
                    <a:lumMod val="50000"/>
                  </a:schemeClr>
                </a:outerShdw>
              </a:effectLst>
            </a:endParaRPr>
          </a:p>
        </p:txBody>
      </p:sp>
      <p:pic>
        <p:nvPicPr>
          <p:cNvPr id="5" name="Grafik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064" y="219138"/>
            <a:ext cx="3031402" cy="818232"/>
          </a:xfrm>
          <a:prstGeom prst="rect">
            <a:avLst/>
          </a:prstGeom>
        </p:spPr>
      </p:pic>
      <p:sp>
        <p:nvSpPr>
          <p:cNvPr id="7" name="Titel 3"/>
          <p:cNvSpPr txBox="1">
            <a:spLocks/>
          </p:cNvSpPr>
          <p:nvPr/>
        </p:nvSpPr>
        <p:spPr>
          <a:xfrm>
            <a:off x="644770" y="5003800"/>
            <a:ext cx="11547230" cy="1295400"/>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r-CH" sz="2800" b="1" dirty="0"/>
          </a:p>
        </p:txBody>
      </p:sp>
      <p:sp>
        <p:nvSpPr>
          <p:cNvPr id="6" name="Title 1"/>
          <p:cNvSpPr txBox="1">
            <a:spLocks/>
          </p:cNvSpPr>
          <p:nvPr/>
        </p:nvSpPr>
        <p:spPr>
          <a:xfrm>
            <a:off x="914400" y="1122363"/>
            <a:ext cx="103632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8" name="Subtitle 2"/>
          <p:cNvSpPr>
            <a:spLocks noGrp="1"/>
          </p:cNvSpPr>
          <p:nvPr>
            <p:ph type="subTitle" idx="1"/>
          </p:nvPr>
        </p:nvSpPr>
        <p:spPr>
          <a:xfrm>
            <a:off x="1524000" y="3602038"/>
            <a:ext cx="9144000" cy="1655762"/>
          </a:xfrm>
        </p:spPr>
        <p:txBody>
          <a:bodyPr/>
          <a:lstStyle/>
          <a:p>
            <a:r>
              <a:rPr lang="en-US" dirty="0" smtClean="0"/>
              <a:t>Carnet ATA + carnet de passage </a:t>
            </a:r>
            <a:r>
              <a:rPr lang="en-US" dirty="0" err="1" smtClean="0"/>
              <a:t>en</a:t>
            </a:r>
            <a:r>
              <a:rPr lang="en-US" dirty="0" smtClean="0"/>
              <a:t> </a:t>
            </a:r>
            <a:r>
              <a:rPr lang="en-US" dirty="0" err="1" smtClean="0"/>
              <a:t>douane</a:t>
            </a:r>
            <a:r>
              <a:rPr lang="en-US" dirty="0" smtClean="0"/>
              <a:t> </a:t>
            </a:r>
            <a:endParaRPr lang="en-US" dirty="0"/>
          </a:p>
        </p:txBody>
      </p:sp>
    </p:spTree>
    <p:extLst>
      <p:ext uri="{BB962C8B-B14F-4D97-AF65-F5344CB8AC3E}">
        <p14:creationId xmlns:p14="http://schemas.microsoft.com/office/powerpoint/2010/main" val="4120300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fr-CH" dirty="0" smtClean="0"/>
              <a:t>Carnet ATA </a:t>
            </a:r>
            <a:endParaRPr lang="fr-CH" dirty="0"/>
          </a:p>
        </p:txBody>
      </p:sp>
      <p:sp>
        <p:nvSpPr>
          <p:cNvPr id="3" name="Inhaltsplatzhalter 2"/>
          <p:cNvSpPr>
            <a:spLocks noGrp="1"/>
          </p:cNvSpPr>
          <p:nvPr>
            <p:ph type="subTitle" idx="1"/>
          </p:nvPr>
        </p:nvSpPr>
        <p:spPr/>
        <p:txBody>
          <a:bodyPr>
            <a:normAutofit/>
          </a:bodyPr>
          <a:lstStyle/>
          <a:p>
            <a:pPr lvl="1" algn="just"/>
            <a:endParaRPr lang="en-US" dirty="0"/>
          </a:p>
          <a:p>
            <a:endParaRPr lang="fr-CH" dirty="0"/>
          </a:p>
        </p:txBody>
      </p:sp>
    </p:spTree>
    <p:extLst>
      <p:ext uri="{BB962C8B-B14F-4D97-AF65-F5344CB8AC3E}">
        <p14:creationId xmlns:p14="http://schemas.microsoft.com/office/powerpoint/2010/main" val="1676613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Définition</a:t>
            </a:r>
            <a:r>
              <a:rPr lang="en-US" dirty="0" smtClean="0"/>
              <a:t> </a:t>
            </a:r>
            <a:endParaRPr lang="en-US" dirty="0"/>
          </a:p>
        </p:txBody>
      </p:sp>
      <p:sp>
        <p:nvSpPr>
          <p:cNvPr id="3" name="Content Placeholder 2"/>
          <p:cNvSpPr>
            <a:spLocks noGrp="1"/>
          </p:cNvSpPr>
          <p:nvPr>
            <p:ph idx="1"/>
          </p:nvPr>
        </p:nvSpPr>
        <p:spPr/>
        <p:txBody>
          <a:bodyPr>
            <a:normAutofit fontScale="85000" lnSpcReduction="20000"/>
          </a:bodyPr>
          <a:lstStyle/>
          <a:p>
            <a:r>
              <a:rPr lang="fr-CH" dirty="0"/>
              <a:t>Le carnet A.T.A. (sigle qui provient des expressions française et anglaise "Admission temporaire" et "</a:t>
            </a:r>
            <a:r>
              <a:rPr lang="fr-CH" dirty="0" err="1"/>
              <a:t>temporary</a:t>
            </a:r>
            <a:r>
              <a:rPr lang="fr-CH" dirty="0"/>
              <a:t> admission") est un document utilisé pour faciliter les échanges internationaux en simplifiant les formalités douanières tout en réduisant les coûts de ces opérations.</a:t>
            </a:r>
          </a:p>
          <a:p>
            <a:r>
              <a:rPr lang="fr-CH" dirty="0"/>
              <a:t>Il se substitue aux différents documents douaniers normalement requis pour une opération d'importation temporaire, d'exportation temporaire ou de transit et permet ainsi aux opérateurs du commerce extérieur de réaliser leurs opérations en suspension de droits et taxes.</a:t>
            </a:r>
          </a:p>
          <a:p>
            <a:r>
              <a:rPr lang="fr-CH" dirty="0"/>
              <a:t>Un des avantages du carnet ATA, à l’instar du régime de l’admission temporaire, est notamment que ce premier ne doit pas se substituer aux prérogatives qui découlent du régime de l’admission temporaire, notamment le fait de tenir des écritures comptables mais aussi de déposer une garantie.</a:t>
            </a:r>
          </a:p>
          <a:p>
            <a:r>
              <a:rPr lang="fr-CH" dirty="0"/>
              <a:t>Les dispositions réglementaires du carnet ATA sont issues de deux conventions internationales, la convention ATA de Bruxelles du 6 décembre 1961 et la convention d’Istanbul du 26 juin 1990.</a:t>
            </a:r>
          </a:p>
          <a:p>
            <a:endParaRPr lang="en-US" dirty="0"/>
          </a:p>
        </p:txBody>
      </p:sp>
    </p:spTree>
    <p:extLst>
      <p:ext uri="{BB962C8B-B14F-4D97-AF65-F5344CB8AC3E}">
        <p14:creationId xmlns:p14="http://schemas.microsoft.com/office/powerpoint/2010/main" val="1505256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marchandises pouvant être utilisées pour les carnets ATA</a:t>
            </a:r>
            <a:endParaRPr lang="en-US" dirty="0"/>
          </a:p>
        </p:txBody>
      </p:sp>
      <p:sp>
        <p:nvSpPr>
          <p:cNvPr id="3" name="Content Placeholder 2"/>
          <p:cNvSpPr>
            <a:spLocks noGrp="1"/>
          </p:cNvSpPr>
          <p:nvPr>
            <p:ph idx="1"/>
          </p:nvPr>
        </p:nvSpPr>
        <p:spPr/>
        <p:txBody>
          <a:bodyPr>
            <a:normAutofit fontScale="70000" lnSpcReduction="20000"/>
          </a:bodyPr>
          <a:lstStyle/>
          <a:p>
            <a:r>
              <a:rPr lang="fr-CH" dirty="0"/>
              <a:t>Le carnet est utilisé pour des marchandises qui vont faire l’objet d’importation ou d’exportation temporaire pour :</a:t>
            </a:r>
          </a:p>
          <a:p>
            <a:pPr marL="514350" indent="-514350">
              <a:buFont typeface="+mj-lt"/>
              <a:buAutoNum type="arabicPeriod"/>
            </a:pPr>
            <a:r>
              <a:rPr lang="fr-CH" dirty="0"/>
              <a:t>des marchandises utilisées dans le cadre d’une exposition ou pour effectuer des tests </a:t>
            </a:r>
            <a:r>
              <a:rPr lang="fr-CH" dirty="0" smtClean="0"/>
              <a:t>;</a:t>
            </a:r>
          </a:p>
          <a:p>
            <a:pPr marL="514350" indent="-514350">
              <a:buFont typeface="+mj-lt"/>
              <a:buAutoNum type="arabicPeriod"/>
            </a:pPr>
            <a:r>
              <a:rPr lang="fr-CH" dirty="0" smtClean="0"/>
              <a:t>des </a:t>
            </a:r>
            <a:r>
              <a:rPr lang="fr-CH" dirty="0"/>
              <a:t>échantillons utilisés pour démarcher des acheteurs potentiels ; </a:t>
            </a:r>
            <a:endParaRPr lang="fr-CH" dirty="0" smtClean="0"/>
          </a:p>
          <a:p>
            <a:pPr marL="514350" indent="-514350">
              <a:buFont typeface="+mj-lt"/>
              <a:buAutoNum type="arabicPeriod"/>
            </a:pPr>
            <a:r>
              <a:rPr lang="fr-CH" dirty="0" smtClean="0"/>
              <a:t>du </a:t>
            </a:r>
            <a:r>
              <a:rPr lang="fr-CH" dirty="0"/>
              <a:t>matériel professionnel utilisé pour une période déterminée </a:t>
            </a:r>
            <a:r>
              <a:rPr lang="fr-CH" dirty="0" smtClean="0"/>
              <a:t>et</a:t>
            </a:r>
          </a:p>
          <a:p>
            <a:pPr marL="514350" indent="-514350">
              <a:buFont typeface="+mj-lt"/>
              <a:buAutoNum type="arabicPeriod"/>
            </a:pPr>
            <a:r>
              <a:rPr lang="fr-CH" dirty="0" smtClean="0"/>
              <a:t>des </a:t>
            </a:r>
            <a:r>
              <a:rPr lang="fr-CH" dirty="0"/>
              <a:t>animaux dans le cadre d’entraînements, d’élevage, de soins vétérinaires ou de compétitions.</a:t>
            </a:r>
          </a:p>
          <a:p>
            <a:r>
              <a:rPr lang="fr-CH" dirty="0"/>
              <a:t>Le carnet ATA ne peut pas être utilisé pour les marchandises suivantes :</a:t>
            </a:r>
          </a:p>
          <a:p>
            <a:pPr marL="514350" indent="-514350">
              <a:buFont typeface="+mj-lt"/>
              <a:buAutoNum type="arabicPeriod"/>
            </a:pPr>
            <a:r>
              <a:rPr lang="fr-CH" dirty="0"/>
              <a:t>périssables ; </a:t>
            </a:r>
            <a:endParaRPr lang="fr-CH" dirty="0" smtClean="0"/>
          </a:p>
          <a:p>
            <a:pPr marL="514350" indent="-514350">
              <a:buFont typeface="+mj-lt"/>
              <a:buAutoNum type="arabicPeriod"/>
            </a:pPr>
            <a:r>
              <a:rPr lang="fr-CH" dirty="0" smtClean="0"/>
              <a:t>de </a:t>
            </a:r>
            <a:r>
              <a:rPr lang="fr-CH" dirty="0"/>
              <a:t>consommation ; </a:t>
            </a:r>
            <a:endParaRPr lang="fr-CH" dirty="0" smtClean="0"/>
          </a:p>
          <a:p>
            <a:pPr marL="514350" indent="-514350">
              <a:buFont typeface="+mj-lt"/>
              <a:buAutoNum type="arabicPeriod"/>
            </a:pPr>
            <a:r>
              <a:rPr lang="fr-CH" dirty="0" smtClean="0"/>
              <a:t>destinées </a:t>
            </a:r>
            <a:r>
              <a:rPr lang="fr-CH" dirty="0"/>
              <a:t>à des opérations de transformation et </a:t>
            </a:r>
            <a:endParaRPr lang="fr-CH" dirty="0" smtClean="0"/>
          </a:p>
          <a:p>
            <a:pPr marL="514350" indent="-514350">
              <a:buFont typeface="+mj-lt"/>
              <a:buAutoNum type="arabicPeriod"/>
            </a:pPr>
            <a:r>
              <a:rPr lang="fr-CH" dirty="0" smtClean="0"/>
              <a:t>destinées </a:t>
            </a:r>
            <a:r>
              <a:rPr lang="fr-CH" dirty="0"/>
              <a:t>à des opérations de réparation.</a:t>
            </a:r>
          </a:p>
          <a:p>
            <a:r>
              <a:rPr lang="fr-CH" dirty="0"/>
              <a:t>Il est important de noter que les marchandises utilisées dans le carnet ATA doivent revenir dans leur état initial lors de leur retour.</a:t>
            </a:r>
          </a:p>
          <a:p>
            <a:endParaRPr lang="en-US" dirty="0"/>
          </a:p>
        </p:txBody>
      </p:sp>
    </p:spTree>
    <p:extLst>
      <p:ext uri="{BB962C8B-B14F-4D97-AF65-F5344CB8AC3E}">
        <p14:creationId xmlns:p14="http://schemas.microsoft.com/office/powerpoint/2010/main" val="1505094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Remarque</a:t>
            </a:r>
            <a:endParaRPr lang="en-US" dirty="0"/>
          </a:p>
        </p:txBody>
      </p:sp>
      <p:sp>
        <p:nvSpPr>
          <p:cNvPr id="3" name="Content Placeholder 2"/>
          <p:cNvSpPr>
            <a:spLocks noGrp="1"/>
          </p:cNvSpPr>
          <p:nvPr>
            <p:ph idx="1"/>
          </p:nvPr>
        </p:nvSpPr>
        <p:spPr/>
        <p:txBody>
          <a:bodyPr/>
          <a:lstStyle/>
          <a:p>
            <a:r>
              <a:rPr lang="fr-CH" dirty="0"/>
              <a:t>Les véhicules automoteurs ne peuvent pas être repris sur le carnet ATA sauf s’ils font l’objet d’une exposition ou d’une course.</a:t>
            </a:r>
          </a:p>
          <a:p>
            <a:r>
              <a:rPr lang="fr-CH" dirty="0"/>
              <a:t>Dans le cadre des véhicules automoteurs qui ne remplissent pas ces conditions, il y aura lieu d’utiliser un carnet de passage en douane CPD.</a:t>
            </a:r>
          </a:p>
          <a:p>
            <a:endParaRPr lang="en-US" dirty="0"/>
          </a:p>
        </p:txBody>
      </p:sp>
    </p:spTree>
    <p:extLst>
      <p:ext uri="{BB962C8B-B14F-4D97-AF65-F5344CB8AC3E}">
        <p14:creationId xmlns:p14="http://schemas.microsoft.com/office/powerpoint/2010/main" val="218422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condition d’obtention d’un carnet ATA</a:t>
            </a:r>
            <a:endParaRPr lang="en-US" dirty="0"/>
          </a:p>
        </p:txBody>
      </p:sp>
      <p:sp>
        <p:nvSpPr>
          <p:cNvPr id="3" name="Content Placeholder 2"/>
          <p:cNvSpPr>
            <a:spLocks noGrp="1"/>
          </p:cNvSpPr>
          <p:nvPr>
            <p:ph idx="1"/>
          </p:nvPr>
        </p:nvSpPr>
        <p:spPr/>
        <p:txBody>
          <a:bodyPr/>
          <a:lstStyle/>
          <a:p>
            <a:r>
              <a:rPr lang="fr-CH" dirty="0"/>
              <a:t>L’obtention d’un carnet ATA se fait en ligne à l’aide de la plateforme E-ATA et doit comprendre les éléments suivants :</a:t>
            </a:r>
          </a:p>
          <a:p>
            <a:r>
              <a:rPr lang="fr-CH" dirty="0"/>
              <a:t>les données relatives au titulaire ainsi qu’à l’utilisateur du carnet (une personne désignée ou </a:t>
            </a:r>
            <a:r>
              <a:rPr lang="fr-CH" dirty="0" smtClean="0"/>
              <a:t>toute personne </a:t>
            </a:r>
            <a:r>
              <a:rPr lang="fr-CH" dirty="0"/>
              <a:t>mandatée) ;</a:t>
            </a:r>
          </a:p>
          <a:p>
            <a:r>
              <a:rPr lang="fr-CH" dirty="0"/>
              <a:t>le type de marchandise ; </a:t>
            </a:r>
            <a:endParaRPr lang="fr-CH" dirty="0" smtClean="0"/>
          </a:p>
          <a:p>
            <a:r>
              <a:rPr lang="fr-CH" dirty="0" smtClean="0"/>
              <a:t>la </a:t>
            </a:r>
            <a:r>
              <a:rPr lang="fr-CH" dirty="0"/>
              <a:t>valeur totale de la marchandise en euros et </a:t>
            </a:r>
            <a:endParaRPr lang="fr-CH" dirty="0" smtClean="0"/>
          </a:p>
          <a:p>
            <a:r>
              <a:rPr lang="fr-CH" dirty="0" smtClean="0"/>
              <a:t>le(s</a:t>
            </a:r>
            <a:r>
              <a:rPr lang="fr-CH" dirty="0"/>
              <a:t>) pays de destination de la marchandise et le cas échéant le nombre de voyages.</a:t>
            </a:r>
          </a:p>
          <a:p>
            <a:endParaRPr lang="en-US" dirty="0"/>
          </a:p>
        </p:txBody>
      </p:sp>
    </p:spTree>
    <p:extLst>
      <p:ext uri="{BB962C8B-B14F-4D97-AF65-F5344CB8AC3E}">
        <p14:creationId xmlns:p14="http://schemas.microsoft.com/office/powerpoint/2010/main" val="3783458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L’utilisation</a:t>
            </a:r>
            <a:r>
              <a:rPr lang="en-US" dirty="0"/>
              <a:t> du carnet ATA</a:t>
            </a:r>
          </a:p>
        </p:txBody>
      </p:sp>
      <p:sp>
        <p:nvSpPr>
          <p:cNvPr id="3" name="Content Placeholder 2"/>
          <p:cNvSpPr>
            <a:spLocks noGrp="1"/>
          </p:cNvSpPr>
          <p:nvPr>
            <p:ph idx="1"/>
          </p:nvPr>
        </p:nvSpPr>
        <p:spPr/>
        <p:txBody>
          <a:bodyPr>
            <a:normAutofit fontScale="92500" lnSpcReduction="20000"/>
          </a:bodyPr>
          <a:lstStyle/>
          <a:p>
            <a:pPr marL="0" indent="0">
              <a:buNone/>
            </a:pPr>
            <a:r>
              <a:rPr lang="fr-CH" dirty="0"/>
              <a:t>Il est important de savoir que :</a:t>
            </a:r>
          </a:p>
          <a:p>
            <a:r>
              <a:rPr lang="fr-CH" dirty="0"/>
              <a:t>les douanes distinguent entre le bureau de douane d'exportation et le bureau de douane de sortie :</a:t>
            </a:r>
          </a:p>
          <a:p>
            <a:r>
              <a:rPr lang="fr-CH" dirty="0" smtClean="0"/>
              <a:t>le </a:t>
            </a:r>
            <a:r>
              <a:rPr lang="fr-CH" dirty="0"/>
              <a:t>bureau d'exportation est le bureau de la région où le titulaire du carnet est établi et</a:t>
            </a:r>
          </a:p>
          <a:p>
            <a:r>
              <a:rPr lang="fr-CH" dirty="0" smtClean="0"/>
              <a:t>le </a:t>
            </a:r>
            <a:r>
              <a:rPr lang="fr-CH" dirty="0"/>
              <a:t>bureau de sortie est le lieu où les marchandises quittent l'Union européenne. le carnet ATA se compose de « coupons » et de feuilles « souches » :</a:t>
            </a:r>
          </a:p>
          <a:p>
            <a:r>
              <a:rPr lang="fr-CH" dirty="0" smtClean="0"/>
              <a:t>les </a:t>
            </a:r>
            <a:r>
              <a:rPr lang="fr-CH" dirty="0"/>
              <a:t>souches ne sont remplies que par les douanes et restent dans le carnet ATA. Chaque feuille se compose de plusieurs souches ;</a:t>
            </a:r>
          </a:p>
          <a:p>
            <a:r>
              <a:rPr lang="fr-CH" dirty="0" smtClean="0"/>
              <a:t>les </a:t>
            </a:r>
            <a:r>
              <a:rPr lang="fr-CH" dirty="0"/>
              <a:t>coupons sont remplis tant par l’utilisateur que par les douanes, et les douanes les retirent du carnet ATA. Pour chaque coupon rempli, on utilise une souche.</a:t>
            </a:r>
          </a:p>
          <a:p>
            <a:endParaRPr lang="en-US" dirty="0"/>
          </a:p>
        </p:txBody>
      </p:sp>
    </p:spTree>
    <p:extLst>
      <p:ext uri="{BB962C8B-B14F-4D97-AF65-F5344CB8AC3E}">
        <p14:creationId xmlns:p14="http://schemas.microsoft.com/office/powerpoint/2010/main" val="2474587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l ‘</a:t>
            </a:r>
            <a:r>
              <a:rPr lang="en-US" dirty="0" err="1" smtClean="0"/>
              <a:t>utilisation</a:t>
            </a:r>
            <a:r>
              <a:rPr lang="en-US" dirty="0" smtClean="0"/>
              <a:t> d’un carnet ATA</a:t>
            </a:r>
            <a:endParaRPr lang="en-US" dirty="0"/>
          </a:p>
        </p:txBody>
      </p:sp>
      <p:sp>
        <p:nvSpPr>
          <p:cNvPr id="3" name="Content Placeholder 2"/>
          <p:cNvSpPr>
            <a:spLocks noGrp="1"/>
          </p:cNvSpPr>
          <p:nvPr>
            <p:ph idx="1"/>
          </p:nvPr>
        </p:nvSpPr>
        <p:spPr/>
        <p:txBody>
          <a:bodyPr>
            <a:normAutofit fontScale="85000" lnSpcReduction="20000"/>
          </a:bodyPr>
          <a:lstStyle/>
          <a:p>
            <a:r>
              <a:rPr lang="fr-CH" dirty="0"/>
              <a:t>Avant la première utilisation, la couverture verte doit être estampillée par la douane </a:t>
            </a:r>
            <a:r>
              <a:rPr lang="fr-CH" dirty="0" smtClean="0"/>
              <a:t>d'exportation</a:t>
            </a:r>
            <a:r>
              <a:rPr lang="fr-CH" dirty="0"/>
              <a:t> </a:t>
            </a:r>
            <a:r>
              <a:rPr lang="fr-CH" dirty="0" smtClean="0"/>
              <a:t>appelée prise en charge .</a:t>
            </a:r>
          </a:p>
          <a:p>
            <a:r>
              <a:rPr lang="fr-CH" dirty="0"/>
              <a:t>Le bureau des douanes de votre région est en charge des vérifications. Le même bureau va également estampiller la souche et la feuille d’exportation. Si ce bureau n’est pas le bureau de sortie, la case 7 (cachet et signature) de la souche d’exportation n’est pas estampillée par le bureau d’exportation, mais par le bureau de sortie.</a:t>
            </a:r>
          </a:p>
          <a:p>
            <a:r>
              <a:rPr lang="fr-CH" dirty="0"/>
              <a:t>Un envoi normal se compose de : exportation, importation, réexportation et réimportation. Dans certains cas, les douanes étrangères considèrent le transport comme un transit. </a:t>
            </a:r>
            <a:endParaRPr lang="fr-CH" dirty="0" smtClean="0"/>
          </a:p>
          <a:p>
            <a:pPr marL="0" indent="0">
              <a:buNone/>
            </a:pPr>
            <a:r>
              <a:rPr lang="fr-CH" dirty="0" smtClean="0"/>
              <a:t>Cela </a:t>
            </a:r>
            <a:r>
              <a:rPr lang="fr-CH" dirty="0"/>
              <a:t>peut différer selon les pays.</a:t>
            </a:r>
          </a:p>
          <a:p>
            <a:r>
              <a:rPr lang="fr-CH" dirty="0"/>
              <a:t>Lors de chaque passage de frontière, le titulaire du carnet doit :</a:t>
            </a:r>
          </a:p>
          <a:p>
            <a:r>
              <a:rPr lang="fr-CH" dirty="0"/>
              <a:t>remplir et signer correctement la souche correspondante et faire estampiller le coupon et la feuille souche par les douanes.</a:t>
            </a:r>
          </a:p>
          <a:p>
            <a:endParaRPr lang="en-US" dirty="0"/>
          </a:p>
        </p:txBody>
      </p:sp>
    </p:spTree>
    <p:extLst>
      <p:ext uri="{BB962C8B-B14F-4D97-AF65-F5344CB8AC3E}">
        <p14:creationId xmlns:p14="http://schemas.microsoft.com/office/powerpoint/2010/main" val="1784905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Suite </a:t>
            </a:r>
            <a:r>
              <a:rPr lang="en-US" dirty="0" err="1" smtClean="0"/>
              <a:t>l’utilisation</a:t>
            </a:r>
            <a:r>
              <a:rPr lang="en-US" dirty="0" smtClean="0"/>
              <a:t> d’un carnet ATA</a:t>
            </a:r>
            <a:endParaRPr lang="en-US" dirty="0"/>
          </a:p>
        </p:txBody>
      </p:sp>
      <p:sp>
        <p:nvSpPr>
          <p:cNvPr id="3" name="Content Placeholder 2"/>
          <p:cNvSpPr>
            <a:spLocks noGrp="1"/>
          </p:cNvSpPr>
          <p:nvPr>
            <p:ph idx="1"/>
          </p:nvPr>
        </p:nvSpPr>
        <p:spPr/>
        <p:txBody>
          <a:bodyPr>
            <a:normAutofit fontScale="92500" lnSpcReduction="20000"/>
          </a:bodyPr>
          <a:lstStyle/>
          <a:p>
            <a:r>
              <a:rPr lang="fr-CH" dirty="0"/>
              <a:t>Au moment de l’importation, les douanes déterminent le dernier délai de réexportation. Si nécessaire, le titulaire peut négocier une période correspondante à la durée du carnet ATA.</a:t>
            </a:r>
          </a:p>
          <a:p>
            <a:pPr marL="0" indent="0">
              <a:buNone/>
            </a:pPr>
            <a:r>
              <a:rPr lang="fr-CH" dirty="0"/>
              <a:t>Après chaque voyage le titulaire du carnet ATA :</a:t>
            </a:r>
          </a:p>
          <a:p>
            <a:pPr marL="514350" indent="-514350">
              <a:buFont typeface="+mj-lt"/>
              <a:buAutoNum type="arabicPeriod"/>
            </a:pPr>
            <a:r>
              <a:rPr lang="fr-CH" dirty="0" smtClean="0"/>
              <a:t>doit effectuer des copies des souches utilisées ; </a:t>
            </a:r>
          </a:p>
          <a:p>
            <a:pPr marL="514350" indent="-514350">
              <a:buFont typeface="+mj-lt"/>
              <a:buAutoNum type="arabicPeriod"/>
            </a:pPr>
            <a:r>
              <a:rPr lang="fr-CH" dirty="0" smtClean="0"/>
              <a:t>doit vérifier que toutes les marchandises importées ont également été réexportées et </a:t>
            </a:r>
          </a:p>
          <a:p>
            <a:pPr marL="514350" indent="-514350">
              <a:buFont typeface="+mj-lt"/>
              <a:buAutoNum type="arabicPeriod"/>
            </a:pPr>
            <a:r>
              <a:rPr lang="fr-CH" dirty="0" smtClean="0"/>
              <a:t>doit vérifier que toutes les marchandises prises en transit sont apurées.</a:t>
            </a:r>
          </a:p>
          <a:p>
            <a:r>
              <a:rPr lang="fr-CH" dirty="0" smtClean="0"/>
              <a:t>Lorsque, soit la souche de réexportation, soit la souche de réimportation estampillées, sont introuvables, une attestation de présence doit être soumise auprès des autorités compétentes. Par la même occasion, il doit être mentionné la date de réimportation si elle peut être déterminée. Idem pour un transit non apuré.</a:t>
            </a:r>
          </a:p>
          <a:p>
            <a:endParaRPr lang="en-US" dirty="0"/>
          </a:p>
        </p:txBody>
      </p:sp>
    </p:spTree>
    <p:extLst>
      <p:ext uri="{BB962C8B-B14F-4D97-AF65-F5344CB8AC3E}">
        <p14:creationId xmlns:p14="http://schemas.microsoft.com/office/powerpoint/2010/main" val="251975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smtClean="0"/>
              <a:t>La </a:t>
            </a:r>
            <a:r>
              <a:rPr lang="fr-CH" dirty="0"/>
              <a:t>validité et la perte du carnet ATA</a:t>
            </a:r>
            <a:endParaRPr lang="en-US" dirty="0"/>
          </a:p>
        </p:txBody>
      </p:sp>
      <p:sp>
        <p:nvSpPr>
          <p:cNvPr id="3" name="Content Placeholder 2"/>
          <p:cNvSpPr>
            <a:spLocks noGrp="1"/>
          </p:cNvSpPr>
          <p:nvPr>
            <p:ph idx="1"/>
          </p:nvPr>
        </p:nvSpPr>
        <p:spPr/>
        <p:txBody>
          <a:bodyPr/>
          <a:lstStyle/>
          <a:p>
            <a:r>
              <a:rPr lang="fr-CH" dirty="0"/>
              <a:t>Le carnet ATA est valable 12 mois moins 1 jour. Après expiration du délai, et dans le cas où aucun apurement de la marchandise n’aurait été effectué, une procédure de régularisation s’ensuit.</a:t>
            </a:r>
          </a:p>
          <a:p>
            <a:r>
              <a:rPr lang="fr-CH" dirty="0"/>
              <a:t>Si le carnet ATA arriverait à être perdu, le titulaire du carnet ATA devra notifier sans délai la Chambre de Commerce qui, quant à elle, émettra un duplicata de ce carnet ATA.</a:t>
            </a:r>
          </a:p>
          <a:p>
            <a:endParaRPr lang="en-US" dirty="0"/>
          </a:p>
        </p:txBody>
      </p:sp>
    </p:spTree>
    <p:extLst>
      <p:ext uri="{BB962C8B-B14F-4D97-AF65-F5344CB8AC3E}">
        <p14:creationId xmlns:p14="http://schemas.microsoft.com/office/powerpoint/2010/main" val="3022572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La remarque sur la notion « apurement »</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fr-CH" dirty="0"/>
              <a:t>Le carnet ATA est considéré comme clôturé au moment où les marchandises se trouvant sur le carnet ATA sont considérées comme apurées.</a:t>
            </a:r>
          </a:p>
          <a:p>
            <a:pPr marL="0" indent="0">
              <a:buNone/>
            </a:pPr>
            <a:r>
              <a:rPr lang="fr-CH" dirty="0"/>
              <a:t>Il existe plusieurs possibilités d’apurement </a:t>
            </a:r>
            <a:r>
              <a:rPr lang="fr-CH" dirty="0" smtClean="0"/>
              <a:t>:</a:t>
            </a:r>
          </a:p>
          <a:p>
            <a:r>
              <a:rPr lang="fr-CH" dirty="0"/>
              <a:t>la réexportation des marchandises ; </a:t>
            </a:r>
            <a:endParaRPr lang="fr-CH" dirty="0" smtClean="0"/>
          </a:p>
          <a:p>
            <a:r>
              <a:rPr lang="fr-CH" dirty="0" smtClean="0"/>
              <a:t>le </a:t>
            </a:r>
            <a:r>
              <a:rPr lang="fr-CH" dirty="0"/>
              <a:t>placement en ports francs ou des zones franches, en entrepôt douanier ou sous le régime du transit douanier, en vue de leur exportation ultérieure ou de toute autre destination </a:t>
            </a:r>
            <a:r>
              <a:rPr lang="fr-CH" dirty="0" smtClean="0"/>
              <a:t>admise</a:t>
            </a:r>
            <a:endParaRPr lang="fr-CH" dirty="0"/>
          </a:p>
          <a:p>
            <a:r>
              <a:rPr lang="fr-CH" dirty="0"/>
              <a:t>la mise en consommation des marchandises (dédouanement avec paiement des droits de douane et de la TVA).</a:t>
            </a:r>
          </a:p>
          <a:p>
            <a:pPr marL="0" indent="0">
              <a:buNone/>
            </a:pPr>
            <a:endParaRPr lang="fr-CH" dirty="0"/>
          </a:p>
          <a:p>
            <a:endParaRPr lang="en-US" dirty="0"/>
          </a:p>
        </p:txBody>
      </p:sp>
    </p:spTree>
    <p:extLst>
      <p:ext uri="{BB962C8B-B14F-4D97-AF65-F5344CB8AC3E}">
        <p14:creationId xmlns:p14="http://schemas.microsoft.com/office/powerpoint/2010/main" val="3282098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La liste des états signataires de la convention ATA</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r>
              <a:rPr lang="fr-CH" dirty="0"/>
              <a:t>Le carnet ATA est utilisable dans les échanges avec les Etats ayant </a:t>
            </a:r>
            <a:r>
              <a:rPr lang="fr-CH" dirty="0" smtClean="0"/>
              <a:t>adhéré </a:t>
            </a:r>
            <a:r>
              <a:rPr lang="fr-CH" dirty="0"/>
              <a:t>à la Convention ATA et/ou d'Istanbul</a:t>
            </a:r>
            <a:r>
              <a:rPr lang="fr-CH" dirty="0" smtClean="0"/>
              <a:t>.</a:t>
            </a:r>
          </a:p>
          <a:p>
            <a:pPr marL="0" indent="0">
              <a:buNone/>
            </a:pPr>
            <a:r>
              <a:rPr lang="en-US" dirty="0" smtClean="0"/>
              <a:t>Il </a:t>
            </a:r>
            <a:r>
              <a:rPr lang="en-US" dirty="0" err="1" smtClean="0"/>
              <a:t>est</a:t>
            </a:r>
            <a:r>
              <a:rPr lang="en-US" dirty="0" smtClean="0"/>
              <a:t> </a:t>
            </a:r>
            <a:r>
              <a:rPr lang="en-US" dirty="0" err="1" smtClean="0"/>
              <a:t>valable</a:t>
            </a:r>
            <a:r>
              <a:rPr lang="en-US" dirty="0" smtClean="0"/>
              <a:t> </a:t>
            </a:r>
            <a:r>
              <a:rPr lang="en-US" dirty="0" err="1" smtClean="0"/>
              <a:t>dans</a:t>
            </a:r>
            <a:r>
              <a:rPr lang="en-US" dirty="0" smtClean="0"/>
              <a:t> 76 </a:t>
            </a:r>
            <a:r>
              <a:rPr lang="en-US" dirty="0" err="1" smtClean="0"/>
              <a:t>états</a:t>
            </a:r>
            <a:r>
              <a:rPr lang="en-US" dirty="0" smtClean="0"/>
              <a:t> </a:t>
            </a:r>
            <a:r>
              <a:rPr lang="en-US" dirty="0" err="1" smtClean="0"/>
              <a:t>signataires</a:t>
            </a:r>
            <a:endParaRPr lang="en-US" dirty="0" smtClean="0"/>
          </a:p>
          <a:p>
            <a:r>
              <a:rPr lang="en-US" dirty="0" smtClean="0"/>
              <a:t>27 pays </a:t>
            </a:r>
            <a:r>
              <a:rPr lang="en-US" dirty="0" err="1" smtClean="0"/>
              <a:t>membres</a:t>
            </a:r>
            <a:r>
              <a:rPr lang="en-US" dirty="0" smtClean="0"/>
              <a:t> de l’ UE</a:t>
            </a:r>
          </a:p>
          <a:p>
            <a:r>
              <a:rPr lang="en-US" dirty="0" smtClean="0"/>
              <a:t>4 </a:t>
            </a:r>
            <a:r>
              <a:rPr lang="en-US" dirty="0" err="1" smtClean="0"/>
              <a:t>territoire</a:t>
            </a:r>
            <a:r>
              <a:rPr lang="en-US" dirty="0" smtClean="0"/>
              <a:t> de l’ UE, ( Ceuta , DOM TOM, Iles Canaries, Melilla )</a:t>
            </a:r>
          </a:p>
          <a:p>
            <a:r>
              <a:rPr lang="en-US" dirty="0" smtClean="0"/>
              <a:t>Le </a:t>
            </a:r>
            <a:r>
              <a:rPr lang="en-US" dirty="0" err="1" smtClean="0"/>
              <a:t>reste</a:t>
            </a:r>
            <a:r>
              <a:rPr lang="en-US" dirty="0" smtClean="0"/>
              <a:t> du monde ( USA , Chine , </a:t>
            </a:r>
            <a:r>
              <a:rPr lang="en-US" dirty="0" err="1" smtClean="0"/>
              <a:t>Japon</a:t>
            </a:r>
            <a:r>
              <a:rPr lang="en-US" dirty="0" smtClean="0"/>
              <a:t> , </a:t>
            </a:r>
            <a:r>
              <a:rPr lang="en-US" dirty="0" err="1" smtClean="0"/>
              <a:t>Australie</a:t>
            </a:r>
            <a:r>
              <a:rPr lang="en-US" dirty="0" smtClean="0"/>
              <a:t>, …. )</a:t>
            </a:r>
          </a:p>
          <a:p>
            <a:r>
              <a:rPr lang="fr-CH" dirty="0"/>
              <a:t>Cette liste peut changer d’année en année. Dernièrement, le Brésil a décidé de se retirer des Etats signataires de la convention du carnet ATA. En d’autres termes, seuls les Etats qui font partie de cette liste ont le droit d’utiliser le carnet ATA pour une importation / exportation temporaire des marchandises.</a:t>
            </a:r>
            <a:endParaRPr lang="en-US" dirty="0" smtClean="0"/>
          </a:p>
          <a:p>
            <a:endParaRPr lang="en-US" dirty="0"/>
          </a:p>
        </p:txBody>
      </p:sp>
    </p:spTree>
    <p:extLst>
      <p:ext uri="{BB962C8B-B14F-4D97-AF65-F5344CB8AC3E}">
        <p14:creationId xmlns:p14="http://schemas.microsoft.com/office/powerpoint/2010/main" val="1393643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Missions de la </a:t>
            </a:r>
            <a:r>
              <a:rPr lang="en-US" dirty="0" err="1" smtClean="0"/>
              <a:t>douanes</a:t>
            </a:r>
            <a:endParaRPr lang="en-US" dirty="0"/>
          </a:p>
        </p:txBody>
      </p:sp>
      <p:sp>
        <p:nvSpPr>
          <p:cNvPr id="3" name="Content Placeholder 2"/>
          <p:cNvSpPr>
            <a:spLocks noGrp="1"/>
          </p:cNvSpPr>
          <p:nvPr>
            <p:ph idx="1"/>
          </p:nvPr>
        </p:nvSpPr>
        <p:spPr/>
        <p:txBody>
          <a:bodyPr/>
          <a:lstStyle/>
          <a:p>
            <a:r>
              <a:rPr lang="fr-FR" dirty="0"/>
              <a:t>La douanes a pour but de contrôler si les délais concernant la régularisation du carnet ATA sont bien respectés.</a:t>
            </a:r>
            <a:endParaRPr lang="en-US" dirty="0"/>
          </a:p>
          <a:p>
            <a:r>
              <a:rPr lang="fr-FR" dirty="0"/>
              <a:t>Les délais sont prévus par la convention d’Istanbul sur l’admission temporaire.</a:t>
            </a:r>
            <a:endParaRPr lang="en-US" dirty="0"/>
          </a:p>
          <a:p>
            <a:endParaRPr lang="en-US" dirty="0"/>
          </a:p>
        </p:txBody>
      </p:sp>
    </p:spTree>
    <p:extLst>
      <p:ext uri="{BB962C8B-B14F-4D97-AF65-F5344CB8AC3E}">
        <p14:creationId xmlns:p14="http://schemas.microsoft.com/office/powerpoint/2010/main" val="812168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
            </a:r>
            <a:br>
              <a:rPr lang="fr-FR" dirty="0" smtClean="0"/>
            </a:br>
            <a:r>
              <a:rPr lang="fr-FR" dirty="0" smtClean="0"/>
              <a:t>1</a:t>
            </a:r>
            <a:r>
              <a:rPr lang="fr-FR" baseline="30000" dirty="0" smtClean="0"/>
              <a:t> </a:t>
            </a:r>
            <a:r>
              <a:rPr lang="fr-FR" dirty="0"/>
              <a:t>ère </a:t>
            </a:r>
            <a:r>
              <a:rPr lang="fr-FR" dirty="0" smtClean="0"/>
              <a:t>étape du </a:t>
            </a:r>
            <a:r>
              <a:rPr lang="fr-FR" dirty="0"/>
              <a:t>Processus de vérification</a:t>
            </a:r>
            <a:r>
              <a:rPr lang="en-US" dirty="0"/>
              <a:t/>
            </a:r>
            <a:br>
              <a:rPr lang="en-US" dirty="0"/>
            </a:br>
            <a:endParaRPr lang="en-US" dirty="0"/>
          </a:p>
        </p:txBody>
      </p:sp>
      <p:sp>
        <p:nvSpPr>
          <p:cNvPr id="3" name="Content Placeholder 2"/>
          <p:cNvSpPr>
            <a:spLocks noGrp="1"/>
          </p:cNvSpPr>
          <p:nvPr>
            <p:ph idx="1"/>
          </p:nvPr>
        </p:nvSpPr>
        <p:spPr/>
        <p:txBody>
          <a:bodyPr>
            <a:normAutofit fontScale="55000" lnSpcReduction="20000"/>
          </a:bodyPr>
          <a:lstStyle/>
          <a:p>
            <a:r>
              <a:rPr lang="fr-FR" dirty="0"/>
              <a:t>Une fois que les carnets ATA ont vu leur validité expirée, ils sont remis aux autorités compétentes pour être </a:t>
            </a:r>
            <a:r>
              <a:rPr lang="fr-FR" dirty="0" smtClean="0"/>
              <a:t>traités</a:t>
            </a:r>
            <a:r>
              <a:rPr lang="fr-FR" dirty="0"/>
              <a:t>.</a:t>
            </a:r>
            <a:endParaRPr lang="en-US" dirty="0"/>
          </a:p>
          <a:p>
            <a:pPr marL="0" indent="0">
              <a:buNone/>
            </a:pPr>
            <a:r>
              <a:rPr lang="fr-FR" dirty="0"/>
              <a:t>Le processus de vérification est articulée en plusieurs étapes:</a:t>
            </a:r>
            <a:endParaRPr lang="en-US" dirty="0"/>
          </a:p>
          <a:p>
            <a:r>
              <a:rPr lang="fr-FR" dirty="0"/>
              <a:t>La première étape consiste à informer la Chambre de Commerce de Luxembourg que les marchandises se trouvant sur le carnet ATA en question n’ont pas été réexportées respectivement apurées.</a:t>
            </a:r>
            <a:endParaRPr lang="en-US" dirty="0"/>
          </a:p>
          <a:p>
            <a:r>
              <a:rPr lang="fr-FR" dirty="0"/>
              <a:t>Cette information se fera par lettre écrite appelée lettre de non apurement en y indiquant le montant que la Chambre de Commerce est redevable. Le montant qui est du est composé des droits d’entrée, de la TVA et d’ une amende.</a:t>
            </a:r>
            <a:endParaRPr lang="en-US" dirty="0"/>
          </a:p>
          <a:p>
            <a:r>
              <a:rPr lang="fr-FR" dirty="0"/>
              <a:t>La lettre est envoyée par envois recommandé et aussi par email avec accusé de réception pour éviter tout malentendu concernant la réception ou non de la lettre de non apurement. </a:t>
            </a:r>
            <a:endParaRPr lang="en-US" dirty="0"/>
          </a:p>
          <a:p>
            <a:r>
              <a:rPr lang="fr-FR" dirty="0"/>
              <a:t>Cette lettre sera appuyée d’un formulaire de taxation qui aura été remise et calculée au préalable par le bureau de </a:t>
            </a:r>
            <a:r>
              <a:rPr lang="fr-FR" dirty="0" smtClean="0"/>
              <a:t>recette compétent </a:t>
            </a:r>
            <a:r>
              <a:rPr lang="fr-FR" dirty="0"/>
              <a:t>( le formulaire de taxation comprendra la description des marchandises avec son code HS et un calcul détaillé pour chaque marchandises non exportée de ses droits d’entrée et de sa TVA redevable et pour finir le calcul global majoré d’une amende de 125 </a:t>
            </a:r>
            <a:r>
              <a:rPr lang="fr-FR" dirty="0" err="1"/>
              <a:t>Eur</a:t>
            </a:r>
            <a:r>
              <a:rPr lang="fr-FR" dirty="0"/>
              <a:t>)  et pour finir une copie du carnet ATA en question. (la copie du carnet ATA comprend, la page de garde ou y est indiqué la validité du carnet, la souche frauduleuse pour laquelle la preuve de la réexportation de la marchandises est manquante ainsi que l’inventaire globale des marchandises figurant sur le carnet ATA ) </a:t>
            </a:r>
            <a:endParaRPr lang="en-US" dirty="0"/>
          </a:p>
          <a:p>
            <a:r>
              <a:rPr lang="fr-FR" dirty="0"/>
              <a:t>A partir de la date de la réception de la lettre de non apurement, la Chambre de Commerce a exactement 6 mois pour réagir.</a:t>
            </a:r>
            <a:endParaRPr lang="en-US" dirty="0"/>
          </a:p>
          <a:p>
            <a:r>
              <a:rPr lang="fr-FR" dirty="0"/>
              <a:t>Cette première étape est régulée par l’alinéa</a:t>
            </a:r>
            <a:r>
              <a:rPr lang="fr-FR" b="1" dirty="0"/>
              <a:t> A de l’ article 9 du chapitre 5 </a:t>
            </a:r>
            <a:r>
              <a:rPr lang="fr-FR" dirty="0"/>
              <a:t>de la convention d’Istanbul qui </a:t>
            </a:r>
            <a:r>
              <a:rPr lang="fr-FR" dirty="0" smtClean="0"/>
              <a:t>prévoit que les </a:t>
            </a:r>
            <a:r>
              <a:rPr lang="fr-FR" dirty="0"/>
              <a:t>associations garantes ont un délai de </a:t>
            </a:r>
            <a:r>
              <a:rPr lang="fr-FR" b="1" dirty="0"/>
              <a:t>six mois </a:t>
            </a:r>
            <a:r>
              <a:rPr lang="fr-FR" dirty="0"/>
              <a:t>à compter de la date à laquelle les autorités douanières réclament le paiement des sommes demandées, pour fournir la preuve de la réexportation des marchandises dans les conditions prévues par la présente Convention ou de toute autre décharge régulière du carnet A. T.A. </a:t>
            </a:r>
            <a:endParaRPr lang="en-US" dirty="0"/>
          </a:p>
          <a:p>
            <a:endParaRPr lang="fr-FR" dirty="0" smtClean="0"/>
          </a:p>
          <a:p>
            <a:endParaRPr lang="en-US" dirty="0"/>
          </a:p>
          <a:p>
            <a:endParaRPr lang="en-US" dirty="0"/>
          </a:p>
        </p:txBody>
      </p:sp>
    </p:spTree>
    <p:extLst>
      <p:ext uri="{BB962C8B-B14F-4D97-AF65-F5344CB8AC3E}">
        <p14:creationId xmlns:p14="http://schemas.microsoft.com/office/powerpoint/2010/main" val="3815120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
            </a:r>
            <a:br>
              <a:rPr lang="fr-FR" dirty="0" smtClean="0"/>
            </a:br>
            <a:r>
              <a:rPr lang="fr-FR" dirty="0" smtClean="0"/>
              <a:t>2 </a:t>
            </a:r>
            <a:r>
              <a:rPr lang="fr-FR" dirty="0" err="1"/>
              <a:t>Ème</a:t>
            </a:r>
            <a:r>
              <a:rPr lang="fr-FR" dirty="0"/>
              <a:t> étape du Processus de la vérification :</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fr-FR" dirty="0"/>
              <a:t>La deuxième étape consiste dans un premier cas de figure a envoyé une lettre dénommée lettre de clôture pour les marchandises régulièrement apurées, ce cas à lieu au moment où une preuve d’exportation de la marchandise aura fait fois comme quoi la marchandise dite auparavant frauduleuse à bien quitter le sol Luxembourgeois nous a été remise. Il est bien entendu que ces preuves feront l’objet d’une attention minutieuse des agents de l’autorité compétente pour bien examiner si ces marchandises ont bien été toutes </a:t>
            </a:r>
            <a:r>
              <a:rPr lang="fr-FR" dirty="0" smtClean="0"/>
              <a:t>réexportées</a:t>
            </a:r>
            <a:r>
              <a:rPr lang="en-US" dirty="0"/>
              <a:t> </a:t>
            </a:r>
            <a:r>
              <a:rPr lang="en-US" dirty="0" smtClean="0"/>
              <a:t>. </a:t>
            </a:r>
            <a:r>
              <a:rPr lang="fr-FR" dirty="0" smtClean="0"/>
              <a:t>Cette </a:t>
            </a:r>
            <a:r>
              <a:rPr lang="fr-FR" dirty="0"/>
              <a:t>lettre aura pour but de clôturé la précédente missive et de rendre cette </a:t>
            </a:r>
            <a:r>
              <a:rPr lang="fr-FR" dirty="0" smtClean="0"/>
              <a:t>dernière </a:t>
            </a:r>
            <a:r>
              <a:rPr lang="fr-FR" dirty="0"/>
              <a:t>nulle et non avenue.</a:t>
            </a:r>
            <a:endParaRPr lang="en-US" dirty="0"/>
          </a:p>
          <a:p>
            <a:r>
              <a:rPr lang="fr-FR" dirty="0"/>
              <a:t>Dans un deuxième cas de figure, si la Chambre de Commerce de Luxembourg n’a toujours pas réagi à la lettre de non apurement, à partir du 5 </a:t>
            </a:r>
            <a:r>
              <a:rPr lang="fr-FR" dirty="0" err="1"/>
              <a:t>éme</a:t>
            </a:r>
            <a:r>
              <a:rPr lang="fr-FR" dirty="0"/>
              <a:t> mois d’attente il sera envoyé une lettre de rappel comme quoi la Chambre de Commerce de Luxembourg devra dans les meilleurs délais  prendre contact avec le bureau de recette </a:t>
            </a:r>
            <a:r>
              <a:rPr lang="fr-FR" dirty="0" smtClean="0"/>
              <a:t>compétent pour </a:t>
            </a:r>
            <a:r>
              <a:rPr lang="fr-FR" dirty="0"/>
              <a:t>s’ acquitter du montant qui leur est redevable. Ce montant sera majoré des intérêts de retard pendant la période qui aura été prise en </a:t>
            </a:r>
            <a:r>
              <a:rPr lang="fr-FR" dirty="0" smtClean="0"/>
              <a:t>compte.</a:t>
            </a:r>
            <a:r>
              <a:rPr lang="en-US" dirty="0"/>
              <a:t> </a:t>
            </a:r>
            <a:r>
              <a:rPr lang="fr-FR" dirty="0" smtClean="0"/>
              <a:t>Une </a:t>
            </a:r>
            <a:r>
              <a:rPr lang="fr-FR" dirty="0"/>
              <a:t>fois le paiement effectué, le bureau de </a:t>
            </a:r>
            <a:r>
              <a:rPr lang="fr-FR" dirty="0" smtClean="0"/>
              <a:t>recette compétent </a:t>
            </a:r>
            <a:r>
              <a:rPr lang="fr-FR" dirty="0"/>
              <a:t>nous enverra une copie de la preuve de paiement en question pour pouvoir clôturé provisoirement le carnet ATA frauduleux.</a:t>
            </a:r>
            <a:endParaRPr lang="en-US" dirty="0"/>
          </a:p>
          <a:p>
            <a:endParaRPr lang="en-US" dirty="0"/>
          </a:p>
        </p:txBody>
      </p:sp>
    </p:spTree>
    <p:extLst>
      <p:ext uri="{BB962C8B-B14F-4D97-AF65-F5344CB8AC3E}">
        <p14:creationId xmlns:p14="http://schemas.microsoft.com/office/powerpoint/2010/main" val="949385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
            </a:r>
            <a:br>
              <a:rPr lang="fr-FR" dirty="0" smtClean="0"/>
            </a:br>
            <a:r>
              <a:rPr lang="fr-FR" dirty="0" smtClean="0"/>
              <a:t>3 </a:t>
            </a:r>
            <a:r>
              <a:rPr lang="fr-FR" dirty="0" err="1"/>
              <a:t>ème</a:t>
            </a:r>
            <a:r>
              <a:rPr lang="fr-FR" dirty="0"/>
              <a:t> étape du Processus de la vérification</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fr-FR" dirty="0"/>
              <a:t>Selon le chapitre </a:t>
            </a:r>
            <a:r>
              <a:rPr lang="fr-FR" b="1" dirty="0"/>
              <a:t>5 article 9 alinéa B </a:t>
            </a:r>
            <a:r>
              <a:rPr lang="fr-FR" dirty="0"/>
              <a:t>de la convention d’Istanbul, à partir de la date du paiement des droits redevables, la Chambre de Commerce de Luxembourg, dispose d’un délai de 3 mois pour pouvoir remettre la preuve de réexportation des marchandises visées par notre demande. Si la preuve que les marchandises visées ont été exportées aura été remise endéans ce délais, alors la Chambre de Commerce de Luxembourg aura droit une restitution complète du montant qu’elle aura été amputé précédemment</a:t>
            </a:r>
            <a:r>
              <a:rPr lang="fr-FR" dirty="0" smtClean="0"/>
              <a:t>.</a:t>
            </a:r>
            <a:endParaRPr lang="en-US" dirty="0"/>
          </a:p>
          <a:p>
            <a:r>
              <a:rPr lang="fr-FR" dirty="0"/>
              <a:t>Après avoir vérifié de manière scrupuleuse la véracité de celle-ci, s’ensuit une demande écrite envoyée au bureau de </a:t>
            </a:r>
            <a:r>
              <a:rPr lang="fr-FR" dirty="0" smtClean="0"/>
              <a:t>recette compétent pour </a:t>
            </a:r>
            <a:r>
              <a:rPr lang="fr-FR" dirty="0"/>
              <a:t>que  la Chambre puisse être crédité du remboursement escompté</a:t>
            </a:r>
            <a:r>
              <a:rPr lang="fr-FR" dirty="0" smtClean="0"/>
              <a:t>.</a:t>
            </a:r>
            <a:endParaRPr lang="en-US" dirty="0"/>
          </a:p>
          <a:p>
            <a:r>
              <a:rPr lang="fr-FR" dirty="0"/>
              <a:t>Cette 3 </a:t>
            </a:r>
            <a:r>
              <a:rPr lang="fr-FR" dirty="0" err="1"/>
              <a:t>ème</a:t>
            </a:r>
            <a:r>
              <a:rPr lang="fr-FR" dirty="0"/>
              <a:t> étape est régulée par l’ </a:t>
            </a:r>
            <a:r>
              <a:rPr lang="fr-FR" b="1" dirty="0"/>
              <a:t>alinéa B de l’ article 9 du chapitre 5</a:t>
            </a:r>
            <a:r>
              <a:rPr lang="fr-FR" dirty="0"/>
              <a:t> de la convention d’Istanbul qui prévoit: </a:t>
            </a:r>
            <a:r>
              <a:rPr lang="fr-FR" dirty="0" smtClean="0"/>
              <a:t>Si </a:t>
            </a:r>
            <a:r>
              <a:rPr lang="fr-FR" dirty="0"/>
              <a:t>cette preuve n'est pas fournie dans le délai prescrit, l'association garante consigne immédiatement ces sommes ou les verse à titre provisoire. Cette consignation ou ce versement devient définitif à l'expiration d'un délai de </a:t>
            </a:r>
            <a:r>
              <a:rPr lang="fr-FR" b="1" dirty="0"/>
              <a:t>trois mois</a:t>
            </a:r>
            <a:r>
              <a:rPr lang="fr-FR" dirty="0"/>
              <a:t> à compter de la date de la consignation ou du versement. Pendant ce dernier délai, l'association garante peut encore, en vue de la restitution des sommes consignées ou versées, fournir les preuves prévues au paragraphe précédent. </a:t>
            </a:r>
            <a:endParaRPr lang="en-US" dirty="0"/>
          </a:p>
          <a:p>
            <a:endParaRPr lang="en-US" dirty="0"/>
          </a:p>
        </p:txBody>
      </p:sp>
    </p:spTree>
    <p:extLst>
      <p:ext uri="{BB962C8B-B14F-4D97-AF65-F5344CB8AC3E}">
        <p14:creationId xmlns:p14="http://schemas.microsoft.com/office/powerpoint/2010/main" val="3722352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
            </a:r>
            <a:br>
              <a:rPr lang="fr-FR" dirty="0" smtClean="0"/>
            </a:br>
            <a:r>
              <a:rPr lang="fr-FR" dirty="0" smtClean="0"/>
              <a:t>4 </a:t>
            </a:r>
            <a:r>
              <a:rPr lang="fr-FR" dirty="0" err="1"/>
              <a:t>ème</a:t>
            </a:r>
            <a:r>
              <a:rPr lang="fr-FR" dirty="0"/>
              <a:t> étape du processus de vérification :</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fr-FR" dirty="0"/>
              <a:t>Une fois que la réponse écrite du bureau de recette de Bettembourg nous aura été parvenue, à ce moment-là, nous transmettrons la lettre dénommée lettre de remboursement appuyée de la réponse écrite du bureau de recette de Bettembourg à la Chambre de Commerce de Luxembourg pour leur faire part de la restitution totale du montant précédemment amputé.</a:t>
            </a:r>
            <a:endParaRPr lang="en-US" dirty="0"/>
          </a:p>
          <a:p>
            <a:r>
              <a:rPr lang="fr-FR" dirty="0"/>
              <a:t>A partir du moment où la Chambre de Commerce de Luxembourg aura été crédité du montant à restituer, alors le carnet ATA sera considéré comme définitivement clôt.</a:t>
            </a:r>
            <a:endParaRPr lang="en-US" dirty="0"/>
          </a:p>
          <a:p>
            <a:r>
              <a:rPr lang="fr-FR" dirty="0"/>
              <a:t>Dans le cas de figure contraire, si après le délais 3 mois autorisé par la convention d’ Istanbul , la Chambre de Commerce de Luxembourg ne s’ est en aucun cas manifestée alors le carnet ATA sera considéré comme définitivement clôturé et aucun remboursement ne sera toléré.</a:t>
            </a:r>
            <a:endParaRPr lang="en-US" dirty="0"/>
          </a:p>
          <a:p>
            <a:endParaRPr lang="en-US" dirty="0"/>
          </a:p>
        </p:txBody>
      </p:sp>
    </p:spTree>
    <p:extLst>
      <p:ext uri="{BB962C8B-B14F-4D97-AF65-F5344CB8AC3E}">
        <p14:creationId xmlns:p14="http://schemas.microsoft.com/office/powerpoint/2010/main" val="23952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
            </a:r>
            <a:br>
              <a:rPr lang="fr-FR" dirty="0" smtClean="0"/>
            </a:br>
            <a:r>
              <a:rPr lang="fr-FR" dirty="0" smtClean="0"/>
              <a:t>Cas </a:t>
            </a:r>
            <a:r>
              <a:rPr lang="fr-FR" dirty="0"/>
              <a:t>exceptionnels</a:t>
            </a:r>
            <a:r>
              <a:rPr lang="en-US" dirty="0"/>
              <a:t/>
            </a:r>
            <a:br>
              <a:rPr lang="en-US" dirty="0"/>
            </a:br>
            <a:endParaRPr lang="en-US" dirty="0"/>
          </a:p>
        </p:txBody>
      </p:sp>
      <p:sp>
        <p:nvSpPr>
          <p:cNvPr id="3" name="Content Placeholder 2"/>
          <p:cNvSpPr>
            <a:spLocks noGrp="1"/>
          </p:cNvSpPr>
          <p:nvPr>
            <p:ph idx="4294967295"/>
          </p:nvPr>
        </p:nvSpPr>
        <p:spPr>
          <a:xfrm>
            <a:off x="0" y="1825625"/>
            <a:ext cx="10515600" cy="4351338"/>
          </a:xfrm>
        </p:spPr>
        <p:txBody>
          <a:bodyPr>
            <a:normAutofit fontScale="77500" lnSpcReduction="20000"/>
          </a:bodyPr>
          <a:lstStyle/>
          <a:p>
            <a:r>
              <a:rPr lang="fr-FR" dirty="0" smtClean="0"/>
              <a:t>Dans le cas de situation exceptionnelle ( ex: </a:t>
            </a:r>
            <a:r>
              <a:rPr lang="fr-FR" dirty="0" err="1" smtClean="0"/>
              <a:t>Covid</a:t>
            </a:r>
            <a:r>
              <a:rPr lang="fr-FR" dirty="0" smtClean="0"/>
              <a:t> )</a:t>
            </a:r>
            <a:r>
              <a:rPr lang="fr-FR" dirty="0" smtClean="0"/>
              <a:t>, </a:t>
            </a:r>
            <a:r>
              <a:rPr lang="fr-FR" dirty="0"/>
              <a:t>l’Organisation Mondiale des </a:t>
            </a:r>
            <a:r>
              <a:rPr lang="fr-FR" dirty="0" smtClean="0"/>
              <a:t>Douanes peut décider </a:t>
            </a:r>
            <a:r>
              <a:rPr lang="fr-FR" dirty="0"/>
              <a:t>de statuer sur les délais qui doivent être pris en compte lors de l’apurement des Carnets ATA. Il a été notamment défini que les délais d’apurement doivent être mis en corrélation avec la situation pandémique du pays visé ( notamment sur les mises en quarantaine , les retards concernant la réexportation des marchandises</a:t>
            </a:r>
            <a:r>
              <a:rPr lang="fr-FR" dirty="0" smtClean="0"/>
              <a:t>).</a:t>
            </a:r>
            <a:r>
              <a:rPr lang="fr-FR" dirty="0"/>
              <a:t> </a:t>
            </a:r>
            <a:endParaRPr lang="en-US" dirty="0"/>
          </a:p>
          <a:p>
            <a:r>
              <a:rPr lang="fr-FR" dirty="0"/>
              <a:t>Cette largesse des délais ne peut qu’ avoir lieu sur demande écrite dument justifié et circonstancié du titulaire du carnet lui-même envoyée à l’administration des Douanes et Accises pour accord</a:t>
            </a:r>
            <a:r>
              <a:rPr lang="fr-FR" dirty="0" smtClean="0"/>
              <a:t>.</a:t>
            </a:r>
            <a:r>
              <a:rPr lang="fr-FR" dirty="0"/>
              <a:t> </a:t>
            </a:r>
            <a:endParaRPr lang="en-US" dirty="0"/>
          </a:p>
          <a:p>
            <a:r>
              <a:rPr lang="fr-FR" dirty="0"/>
              <a:t>C’ est pour cela que ses derniers temps, certains Carnet ATA sont prolongés par l’ Etat Membre qui aurait reçu de la part du titulaire du Carnet ATA une demande de prolongation suite à l’ impossibilité de réexporté les marchandises dans les délais impartis</a:t>
            </a:r>
            <a:r>
              <a:rPr lang="fr-FR" dirty="0" smtClean="0"/>
              <a:t>.</a:t>
            </a:r>
            <a:r>
              <a:rPr lang="fr-FR" dirty="0"/>
              <a:t> </a:t>
            </a:r>
            <a:endParaRPr lang="en-US" dirty="0"/>
          </a:p>
          <a:p>
            <a:r>
              <a:rPr lang="fr-FR" dirty="0"/>
              <a:t>Dans ce cas précis, la responsabilité de la surveillance des délais à respecter concernant l’ apurement des carnets ATA incombe à l’ Etat Membre qui aura effectué la prolongation du carnet ATA et non plus à l’ Etat Membre qui était initialement prévu.</a:t>
            </a:r>
            <a:endParaRPr lang="en-US" dirty="0"/>
          </a:p>
          <a:p>
            <a:endParaRPr lang="en-US" dirty="0"/>
          </a:p>
        </p:txBody>
      </p:sp>
    </p:spTree>
    <p:extLst>
      <p:ext uri="{BB962C8B-B14F-4D97-AF65-F5344CB8AC3E}">
        <p14:creationId xmlns:p14="http://schemas.microsoft.com/office/powerpoint/2010/main" val="1790483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smtClean="0"/>
              <a:t>Carnet de passage </a:t>
            </a:r>
            <a:r>
              <a:rPr lang="en-US" dirty="0" err="1" smtClean="0"/>
              <a:t>en</a:t>
            </a:r>
            <a:r>
              <a:rPr lang="en-US" dirty="0" smtClean="0"/>
              <a:t> </a:t>
            </a:r>
            <a:r>
              <a:rPr lang="en-US" dirty="0" err="1" smtClean="0"/>
              <a:t>douane</a:t>
            </a:r>
            <a:endParaRPr lang="en-US"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345593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L’introduction</a:t>
            </a:r>
            <a:endParaRPr lang="en-US" dirty="0"/>
          </a:p>
        </p:txBody>
      </p:sp>
      <p:sp>
        <p:nvSpPr>
          <p:cNvPr id="4" name="Content Placeholder 3"/>
          <p:cNvSpPr>
            <a:spLocks noGrp="1"/>
          </p:cNvSpPr>
          <p:nvPr>
            <p:ph idx="1"/>
          </p:nvPr>
        </p:nvSpPr>
        <p:spPr/>
        <p:txBody>
          <a:bodyPr/>
          <a:lstStyle/>
          <a:p>
            <a:r>
              <a:rPr lang="fr-CH" dirty="0"/>
              <a:t>Le Carnet de Passage en Douane, ou CPD, est un document douanier international qui couvre l'admission temporaire de véhicules à </a:t>
            </a:r>
            <a:r>
              <a:rPr lang="fr-CH" dirty="0" smtClean="0"/>
              <a:t>moteur pour usage privé. </a:t>
            </a:r>
            <a:r>
              <a:rPr lang="fr-CH" dirty="0"/>
              <a:t>Le CPD est recommandé, voire obligatoire, dans de nombreux pays du monde (hors Europe). Le CPD dispose des mêmes fonctions et des mêmes avantages que le carnet ATA, il serait essentiellement utilisé pour l’admission temporaire de véhicules à moteur.</a:t>
            </a:r>
            <a:endParaRPr lang="en-US" dirty="0"/>
          </a:p>
        </p:txBody>
      </p:sp>
    </p:spTree>
    <p:extLst>
      <p:ext uri="{BB962C8B-B14F-4D97-AF65-F5344CB8AC3E}">
        <p14:creationId xmlns:p14="http://schemas.microsoft.com/office/powerpoint/2010/main" val="2881424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 </a:t>
            </a:r>
            <a:r>
              <a:rPr lang="en-US" dirty="0" err="1"/>
              <a:t>avantages</a:t>
            </a:r>
            <a:endParaRPr lang="en-US" dirty="0"/>
          </a:p>
        </p:txBody>
      </p:sp>
      <p:sp>
        <p:nvSpPr>
          <p:cNvPr id="3" name="Content Placeholder 2"/>
          <p:cNvSpPr>
            <a:spLocks noGrp="1"/>
          </p:cNvSpPr>
          <p:nvPr>
            <p:ph idx="1"/>
          </p:nvPr>
        </p:nvSpPr>
        <p:spPr/>
        <p:txBody>
          <a:bodyPr/>
          <a:lstStyle/>
          <a:p>
            <a:pPr marL="0" indent="0">
              <a:buNone/>
            </a:pPr>
            <a:r>
              <a:rPr lang="en-US" dirty="0"/>
              <a:t>Le CPD </a:t>
            </a:r>
            <a:r>
              <a:rPr lang="en-US" dirty="0" err="1"/>
              <a:t>permet</a:t>
            </a:r>
            <a:r>
              <a:rPr lang="en-US" dirty="0"/>
              <a:t> </a:t>
            </a:r>
            <a:r>
              <a:rPr lang="en-US" dirty="0" smtClean="0"/>
              <a:t>:</a:t>
            </a:r>
          </a:p>
          <a:p>
            <a:pPr marL="0" indent="0">
              <a:buNone/>
            </a:pPr>
            <a:endParaRPr lang="en-US" dirty="0"/>
          </a:p>
          <a:p>
            <a:r>
              <a:rPr lang="fr-CH" dirty="0"/>
              <a:t>d’éviter le paiement des droits et </a:t>
            </a:r>
            <a:r>
              <a:rPr lang="fr-CH" dirty="0" smtClean="0"/>
              <a:t>TVA</a:t>
            </a:r>
          </a:p>
          <a:p>
            <a:r>
              <a:rPr lang="fr-CH" dirty="0" smtClean="0"/>
              <a:t>d’éviter </a:t>
            </a:r>
            <a:r>
              <a:rPr lang="fr-CH" dirty="0"/>
              <a:t>de remplir les documents relatifs à l’admission temporaire ainsi que les obligations liées à celle-ci</a:t>
            </a:r>
            <a:endParaRPr lang="en-US" dirty="0"/>
          </a:p>
        </p:txBody>
      </p:sp>
    </p:spTree>
    <p:extLst>
      <p:ext uri="{BB962C8B-B14F-4D97-AF65-F5344CB8AC3E}">
        <p14:creationId xmlns:p14="http://schemas.microsoft.com/office/powerpoint/2010/main" val="770605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Documents à </a:t>
            </a:r>
            <a:r>
              <a:rPr lang="en-US" dirty="0" err="1" smtClean="0"/>
              <a:t>fournir</a:t>
            </a:r>
            <a:endParaRPr lang="en-US" dirty="0"/>
          </a:p>
        </p:txBody>
      </p:sp>
      <p:sp>
        <p:nvSpPr>
          <p:cNvPr id="3" name="Content Placeholder 2"/>
          <p:cNvSpPr>
            <a:spLocks noGrp="1"/>
          </p:cNvSpPr>
          <p:nvPr>
            <p:ph idx="1"/>
          </p:nvPr>
        </p:nvSpPr>
        <p:spPr/>
        <p:txBody>
          <a:bodyPr/>
          <a:lstStyle/>
          <a:p>
            <a:r>
              <a:rPr lang="en-US" dirty="0" err="1" smtClean="0"/>
              <a:t>formulaire</a:t>
            </a:r>
            <a:r>
              <a:rPr lang="en-US" dirty="0" smtClean="0"/>
              <a:t> de </a:t>
            </a:r>
            <a:r>
              <a:rPr lang="en-US" dirty="0" err="1" smtClean="0"/>
              <a:t>demande</a:t>
            </a:r>
            <a:r>
              <a:rPr lang="en-US" dirty="0" smtClean="0"/>
              <a:t> </a:t>
            </a:r>
            <a:r>
              <a:rPr lang="en-US" dirty="0" err="1" smtClean="0"/>
              <a:t>dûment</a:t>
            </a:r>
            <a:r>
              <a:rPr lang="en-US" dirty="0" smtClean="0"/>
              <a:t> </a:t>
            </a:r>
            <a:r>
              <a:rPr lang="en-US" dirty="0" err="1" smtClean="0"/>
              <a:t>complété</a:t>
            </a:r>
            <a:r>
              <a:rPr lang="en-US" dirty="0" smtClean="0"/>
              <a:t> avec la mention Lu et </a:t>
            </a:r>
            <a:r>
              <a:rPr lang="en-US" dirty="0" err="1" smtClean="0"/>
              <a:t>approuvé</a:t>
            </a:r>
            <a:r>
              <a:rPr lang="en-US" dirty="0" smtClean="0"/>
              <a:t> et </a:t>
            </a:r>
            <a:r>
              <a:rPr lang="en-US" dirty="0" err="1" smtClean="0"/>
              <a:t>signé</a:t>
            </a:r>
            <a:endParaRPr lang="en-US" dirty="0" smtClean="0"/>
          </a:p>
          <a:p>
            <a:r>
              <a:rPr lang="en-US" dirty="0" err="1" smtClean="0"/>
              <a:t>Photocopie</a:t>
            </a:r>
            <a:r>
              <a:rPr lang="en-US" dirty="0" smtClean="0"/>
              <a:t> du </a:t>
            </a:r>
            <a:r>
              <a:rPr lang="en-US" dirty="0" err="1" smtClean="0"/>
              <a:t>passeport</a:t>
            </a:r>
            <a:r>
              <a:rPr lang="en-US" dirty="0" smtClean="0"/>
              <a:t> du </a:t>
            </a:r>
            <a:r>
              <a:rPr lang="en-US" dirty="0" err="1" smtClean="0"/>
              <a:t>demandeur</a:t>
            </a:r>
            <a:r>
              <a:rPr lang="en-US" dirty="0" smtClean="0"/>
              <a:t> et </a:t>
            </a:r>
            <a:r>
              <a:rPr lang="en-US" dirty="0" err="1" smtClean="0"/>
              <a:t>autres</a:t>
            </a:r>
            <a:r>
              <a:rPr lang="en-US" dirty="0" smtClean="0"/>
              <a:t> </a:t>
            </a:r>
            <a:r>
              <a:rPr lang="en-US" dirty="0" err="1" smtClean="0"/>
              <a:t>conducteurs</a:t>
            </a:r>
            <a:endParaRPr lang="en-US" dirty="0" smtClean="0"/>
          </a:p>
          <a:p>
            <a:r>
              <a:rPr lang="en-US" dirty="0" err="1" smtClean="0"/>
              <a:t>Certificat</a:t>
            </a:r>
            <a:r>
              <a:rPr lang="en-US" dirty="0" smtClean="0"/>
              <a:t> </a:t>
            </a:r>
            <a:r>
              <a:rPr lang="en-US" dirty="0" err="1" smtClean="0"/>
              <a:t>d’Immatriculation</a:t>
            </a:r>
            <a:r>
              <a:rPr lang="en-US" dirty="0" smtClean="0"/>
              <a:t> du </a:t>
            </a:r>
            <a:r>
              <a:rPr lang="en-US" dirty="0" err="1" smtClean="0"/>
              <a:t>véhicule</a:t>
            </a:r>
            <a:r>
              <a:rPr lang="en-US" dirty="0" smtClean="0"/>
              <a:t> ( carte </a:t>
            </a:r>
            <a:r>
              <a:rPr lang="en-US" dirty="0" err="1" smtClean="0"/>
              <a:t>grise</a:t>
            </a:r>
            <a:r>
              <a:rPr lang="en-US" dirty="0" smtClean="0"/>
              <a:t> )</a:t>
            </a:r>
          </a:p>
          <a:p>
            <a:r>
              <a:rPr lang="en-US" dirty="0" err="1" smtClean="0"/>
              <a:t>Photocopie</a:t>
            </a:r>
            <a:r>
              <a:rPr lang="en-US" dirty="0" smtClean="0"/>
              <a:t> du / des </a:t>
            </a:r>
            <a:r>
              <a:rPr lang="en-US" dirty="0" err="1" smtClean="0"/>
              <a:t>permis</a:t>
            </a:r>
            <a:r>
              <a:rPr lang="en-US" dirty="0" smtClean="0"/>
              <a:t> de </a:t>
            </a:r>
            <a:r>
              <a:rPr lang="en-US" dirty="0" err="1" smtClean="0"/>
              <a:t>conduire</a:t>
            </a:r>
            <a:r>
              <a:rPr lang="en-US" dirty="0" smtClean="0"/>
              <a:t> du / des chauffeur(s)</a:t>
            </a:r>
          </a:p>
          <a:p>
            <a:r>
              <a:rPr lang="en-US" dirty="0" err="1" smtClean="0"/>
              <a:t>Numéro</a:t>
            </a:r>
            <a:r>
              <a:rPr lang="en-US" dirty="0" smtClean="0"/>
              <a:t> du </a:t>
            </a:r>
            <a:r>
              <a:rPr lang="en-US" dirty="0" err="1" smtClean="0"/>
              <a:t>moteur</a:t>
            </a:r>
            <a:r>
              <a:rPr lang="en-US" dirty="0" smtClean="0"/>
              <a:t> du </a:t>
            </a:r>
            <a:r>
              <a:rPr lang="en-US" dirty="0" err="1" smtClean="0"/>
              <a:t>véhicule</a:t>
            </a:r>
            <a:endParaRPr lang="en-US" dirty="0" smtClean="0"/>
          </a:p>
          <a:p>
            <a:r>
              <a:rPr lang="en-US" dirty="0" err="1" smtClean="0"/>
              <a:t>Dépôt</a:t>
            </a:r>
            <a:r>
              <a:rPr lang="en-US" dirty="0" smtClean="0"/>
              <a:t> </a:t>
            </a:r>
            <a:r>
              <a:rPr lang="en-US" dirty="0" err="1" smtClean="0"/>
              <a:t>d’une</a:t>
            </a:r>
            <a:r>
              <a:rPr lang="en-US" dirty="0" smtClean="0"/>
              <a:t> </a:t>
            </a:r>
            <a:r>
              <a:rPr lang="en-US" dirty="0" err="1" smtClean="0"/>
              <a:t>garantie</a:t>
            </a:r>
            <a:r>
              <a:rPr lang="en-US" dirty="0" smtClean="0"/>
              <a:t> </a:t>
            </a:r>
            <a:r>
              <a:rPr lang="en-US" dirty="0" err="1" smtClean="0"/>
              <a:t>déposée</a:t>
            </a:r>
            <a:r>
              <a:rPr lang="en-US" dirty="0" smtClean="0"/>
              <a:t> au nom du </a:t>
            </a:r>
            <a:r>
              <a:rPr lang="en-US" dirty="0" err="1" smtClean="0"/>
              <a:t>titulaire</a:t>
            </a:r>
            <a:r>
              <a:rPr lang="en-US" dirty="0" smtClean="0"/>
              <a:t> qui </a:t>
            </a:r>
            <a:r>
              <a:rPr lang="en-US" dirty="0" err="1" smtClean="0"/>
              <a:t>permet</a:t>
            </a:r>
            <a:r>
              <a:rPr lang="en-US" dirty="0" smtClean="0"/>
              <a:t> de </a:t>
            </a:r>
            <a:r>
              <a:rPr lang="en-US" dirty="0" err="1" smtClean="0"/>
              <a:t>couvrir</a:t>
            </a:r>
            <a:r>
              <a:rPr lang="en-US" dirty="0" smtClean="0"/>
              <a:t> les droits de </a:t>
            </a:r>
            <a:r>
              <a:rPr lang="en-US" dirty="0" err="1" smtClean="0"/>
              <a:t>douane</a:t>
            </a:r>
            <a:r>
              <a:rPr lang="en-US" dirty="0" smtClean="0"/>
              <a:t> </a:t>
            </a:r>
            <a:r>
              <a:rPr lang="en-US" dirty="0" err="1" smtClean="0"/>
              <a:t>ou</a:t>
            </a:r>
            <a:r>
              <a:rPr lang="en-US" dirty="0" smtClean="0"/>
              <a:t> </a:t>
            </a:r>
            <a:r>
              <a:rPr lang="en-US" dirty="0" err="1" smtClean="0"/>
              <a:t>autre</a:t>
            </a:r>
            <a:r>
              <a:rPr lang="en-US" dirty="0" smtClean="0"/>
              <a:t> taxes qui </a:t>
            </a:r>
            <a:r>
              <a:rPr lang="en-US" dirty="0" err="1" smtClean="0"/>
              <a:t>sont</a:t>
            </a:r>
            <a:r>
              <a:rPr lang="en-US" dirty="0" smtClean="0"/>
              <a:t> </a:t>
            </a:r>
            <a:r>
              <a:rPr lang="en-US" dirty="0" err="1" smtClean="0"/>
              <a:t>redevable</a:t>
            </a:r>
            <a:r>
              <a:rPr lang="en-US" dirty="0" smtClean="0"/>
              <a:t> </a:t>
            </a:r>
            <a:r>
              <a:rPr lang="en-US" dirty="0" err="1" smtClean="0"/>
              <a:t>dans</a:t>
            </a:r>
            <a:r>
              <a:rPr lang="en-US" dirty="0" smtClean="0"/>
              <a:t> le pays </a:t>
            </a:r>
            <a:r>
              <a:rPr lang="en-US" dirty="0" err="1" smtClean="0"/>
              <a:t>visité</a:t>
            </a:r>
            <a:endParaRPr lang="en-US" dirty="0"/>
          </a:p>
        </p:txBody>
      </p:sp>
    </p:spTree>
    <p:extLst>
      <p:ext uri="{BB962C8B-B14F-4D97-AF65-F5344CB8AC3E}">
        <p14:creationId xmlns:p14="http://schemas.microsoft.com/office/powerpoint/2010/main" val="538449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 </a:t>
            </a:r>
            <a:r>
              <a:rPr lang="en-US" dirty="0" err="1"/>
              <a:t>fonctionnement</a:t>
            </a:r>
            <a:endParaRPr lang="en-US" dirty="0"/>
          </a:p>
        </p:txBody>
      </p:sp>
      <p:sp>
        <p:nvSpPr>
          <p:cNvPr id="3" name="Content Placeholder 2"/>
          <p:cNvSpPr>
            <a:spLocks noGrp="1"/>
          </p:cNvSpPr>
          <p:nvPr>
            <p:ph idx="1"/>
          </p:nvPr>
        </p:nvSpPr>
        <p:spPr/>
        <p:txBody>
          <a:bodyPr>
            <a:normAutofit fontScale="85000" lnSpcReduction="20000"/>
          </a:bodyPr>
          <a:lstStyle/>
          <a:p>
            <a:r>
              <a:rPr lang="fr-CH" dirty="0"/>
              <a:t>Dans les pays où le CPD est recommandé ou exigé pour l'importation temporaire, l'association garante doit se charger de régler les droits et taxes à l'importation que les autorités douanières prélèvent en raison de la non réexportation d'un véhicule importé temporairement sous la garantie d'un CPD. Les rapports entre les administrations douanières et les associations garantes sont régis par les conventions internationales (ONU et OMD). Les rapports entre les associations garantes et émettrices ainsi que ceux entre les associations émettrices et les titulaires de carnets sont réglés par le Contrat de garantie FIA (Fédération Internationale de l’Automobile).</a:t>
            </a:r>
          </a:p>
          <a:p>
            <a:r>
              <a:rPr lang="fr-CH" dirty="0"/>
              <a:t>Le CPD fournit l'assurance que le véhicule qu'il accompagne est couvert par une garantie valable au plan international. Le CPD, dont la validité est en règle générale d'une année, peut être utilisé pendant cette période dans les pays où le document est recommandé voire exigé ou peut faciliter les formalités d'entrée. La durée d'importation temporaire est arrêtée par la législation ou la réglementation du pays visité.</a:t>
            </a:r>
          </a:p>
          <a:p>
            <a:endParaRPr lang="en-US" dirty="0"/>
          </a:p>
        </p:txBody>
      </p:sp>
    </p:spTree>
    <p:extLst>
      <p:ext uri="{BB962C8B-B14F-4D97-AF65-F5344CB8AC3E}">
        <p14:creationId xmlns:p14="http://schemas.microsoft.com/office/powerpoint/2010/main" val="2929030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 contenu du carnet de passage en douane</a:t>
            </a:r>
            <a:endParaRPr lang="en-US" dirty="0"/>
          </a:p>
        </p:txBody>
      </p:sp>
      <p:sp>
        <p:nvSpPr>
          <p:cNvPr id="3" name="Content Placeholder 2"/>
          <p:cNvSpPr>
            <a:spLocks noGrp="1"/>
          </p:cNvSpPr>
          <p:nvPr>
            <p:ph idx="1"/>
          </p:nvPr>
        </p:nvSpPr>
        <p:spPr/>
        <p:txBody>
          <a:bodyPr>
            <a:normAutofit fontScale="70000" lnSpcReduction="20000"/>
          </a:bodyPr>
          <a:lstStyle/>
          <a:p>
            <a:pPr marL="0" indent="0">
              <a:buNone/>
            </a:pPr>
            <a:r>
              <a:rPr lang="fr-CH" dirty="0"/>
              <a:t>La couverture de devant </a:t>
            </a:r>
            <a:r>
              <a:rPr lang="fr-CH" dirty="0" smtClean="0"/>
              <a:t>indique:</a:t>
            </a:r>
          </a:p>
          <a:p>
            <a:r>
              <a:rPr lang="fr-CH" dirty="0"/>
              <a:t>au recto, le nom du titulaire, le nom de l'association émettrice, les organisations internationales - la FIA - sous l'égide desquelles fonctionne le réseau et la durée de validité du </a:t>
            </a:r>
            <a:r>
              <a:rPr lang="fr-CH" dirty="0" smtClean="0"/>
              <a:t>document,</a:t>
            </a:r>
          </a:p>
          <a:p>
            <a:r>
              <a:rPr lang="fr-CH" dirty="0" smtClean="0"/>
              <a:t>au </a:t>
            </a:r>
            <a:r>
              <a:rPr lang="fr-CH" dirty="0"/>
              <a:t>verso, elle porte le signalement du véhicule couvert par le CPD</a:t>
            </a:r>
            <a:r>
              <a:rPr lang="fr-CH" dirty="0" smtClean="0"/>
              <a:t>.</a:t>
            </a:r>
          </a:p>
          <a:p>
            <a:pPr marL="0" indent="0">
              <a:buNone/>
            </a:pPr>
            <a:r>
              <a:rPr lang="fr-CH" dirty="0" smtClean="0"/>
              <a:t>La </a:t>
            </a:r>
            <a:r>
              <a:rPr lang="fr-CH" dirty="0"/>
              <a:t>couverture de derrière comprend </a:t>
            </a:r>
            <a:r>
              <a:rPr lang="fr-CH" dirty="0" smtClean="0"/>
              <a:t>:</a:t>
            </a:r>
          </a:p>
          <a:p>
            <a:r>
              <a:rPr lang="fr-CH" dirty="0"/>
              <a:t>au recto, des instructions et des informations destinées principalement au </a:t>
            </a:r>
            <a:r>
              <a:rPr lang="fr-CH" dirty="0" smtClean="0"/>
              <a:t>titulaire</a:t>
            </a:r>
            <a:r>
              <a:rPr lang="fr-CH" dirty="0"/>
              <a:t>,</a:t>
            </a:r>
            <a:endParaRPr lang="fr-CH" dirty="0" smtClean="0"/>
          </a:p>
          <a:p>
            <a:r>
              <a:rPr lang="fr-CH" dirty="0" smtClean="0"/>
              <a:t>au </a:t>
            </a:r>
            <a:r>
              <a:rPr lang="fr-CH" dirty="0"/>
              <a:t>verso, la liste des pays où le CPD est utilisable et le nom de l'association garante de ces pays</a:t>
            </a:r>
            <a:r>
              <a:rPr lang="fr-CH" dirty="0" smtClean="0"/>
              <a:t>.</a:t>
            </a:r>
          </a:p>
          <a:p>
            <a:pPr marL="0" indent="0">
              <a:buNone/>
            </a:pPr>
            <a:r>
              <a:rPr lang="fr-CH" dirty="0"/>
              <a:t>Le CPD, de format standard A4, est imprimé en anglais et en français. Les carnets peuvent contenir de 5 à 25 pages intérieures, chacune portant un volet détachable d'entrée et de sortie et une souche qui reste attachée au CPD. Une page séparée est utilisée pour chaque pays visité pour la première ou la deuxième fois. Chaque volet d'entrée et de sortie contient le signalement du véhicule sur la troisième face de couverture, les noms et adresse complets du titulaire du carnet, le nom de l'association émettrice et la date d'expiration</a:t>
            </a:r>
            <a:endParaRPr lang="en-US" dirty="0"/>
          </a:p>
        </p:txBody>
      </p:sp>
    </p:spTree>
    <p:extLst>
      <p:ext uri="{BB962C8B-B14F-4D97-AF65-F5344CB8AC3E}">
        <p14:creationId xmlns:p14="http://schemas.microsoft.com/office/powerpoint/2010/main" val="1370542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Les Instructions</a:t>
            </a:r>
            <a:endParaRPr lang="en-US" dirty="0"/>
          </a:p>
        </p:txBody>
      </p:sp>
      <p:sp>
        <p:nvSpPr>
          <p:cNvPr id="3" name="Content Placeholder 2"/>
          <p:cNvSpPr>
            <a:spLocks noGrp="1"/>
          </p:cNvSpPr>
          <p:nvPr>
            <p:ph idx="1"/>
          </p:nvPr>
        </p:nvSpPr>
        <p:spPr/>
        <p:txBody>
          <a:bodyPr>
            <a:normAutofit fontScale="62500" lnSpcReduction="20000"/>
          </a:bodyPr>
          <a:lstStyle/>
          <a:p>
            <a:r>
              <a:rPr lang="en-US" dirty="0" err="1" smtClean="0"/>
              <a:t>Chaque</a:t>
            </a:r>
            <a:r>
              <a:rPr lang="en-US" dirty="0" smtClean="0"/>
              <a:t> </a:t>
            </a:r>
            <a:r>
              <a:rPr lang="en-US" dirty="0" err="1" smtClean="0"/>
              <a:t>feuillet</a:t>
            </a:r>
            <a:r>
              <a:rPr lang="en-US" dirty="0" smtClean="0"/>
              <a:t> du carnet correspond à un </a:t>
            </a:r>
            <a:r>
              <a:rPr lang="en-US" dirty="0" err="1" smtClean="0"/>
              <a:t>séjour</a:t>
            </a:r>
            <a:r>
              <a:rPr lang="en-US" dirty="0" smtClean="0"/>
              <a:t> </a:t>
            </a:r>
            <a:r>
              <a:rPr lang="en-US" dirty="0" err="1" smtClean="0"/>
              <a:t>temporaire</a:t>
            </a:r>
            <a:r>
              <a:rPr lang="en-US" dirty="0" smtClean="0"/>
              <a:t> du </a:t>
            </a:r>
            <a:r>
              <a:rPr lang="en-US" dirty="0" err="1" smtClean="0"/>
              <a:t>véhicule</a:t>
            </a:r>
            <a:r>
              <a:rPr lang="en-US" dirty="0" smtClean="0"/>
              <a:t> </a:t>
            </a:r>
            <a:r>
              <a:rPr lang="en-US" dirty="0" err="1" smtClean="0"/>
              <a:t>dans</a:t>
            </a:r>
            <a:r>
              <a:rPr lang="en-US" dirty="0" smtClean="0"/>
              <a:t> un des pays </a:t>
            </a:r>
            <a:r>
              <a:rPr lang="en-US" dirty="0" err="1" smtClean="0"/>
              <a:t>mentionnés</a:t>
            </a:r>
            <a:r>
              <a:rPr lang="en-US" dirty="0" smtClean="0"/>
              <a:t> par le carnet de passage </a:t>
            </a:r>
          </a:p>
          <a:p>
            <a:r>
              <a:rPr lang="en-US" dirty="0" smtClean="0"/>
              <a:t>Le </a:t>
            </a:r>
            <a:r>
              <a:rPr lang="en-US" dirty="0" err="1" smtClean="0"/>
              <a:t>certificat</a:t>
            </a:r>
            <a:r>
              <a:rPr lang="en-US" dirty="0" smtClean="0"/>
              <a:t> de </a:t>
            </a:r>
            <a:r>
              <a:rPr lang="en-US" dirty="0" err="1" smtClean="0"/>
              <a:t>présence</a:t>
            </a:r>
            <a:r>
              <a:rPr lang="en-US" dirty="0" smtClean="0"/>
              <a:t> se </a:t>
            </a:r>
            <a:r>
              <a:rPr lang="en-US" dirty="0" err="1" smtClean="0"/>
              <a:t>trouvant</a:t>
            </a:r>
            <a:r>
              <a:rPr lang="en-US" dirty="0" smtClean="0"/>
              <a:t> à la </a:t>
            </a:r>
            <a:r>
              <a:rPr lang="en-US" dirty="0" err="1" smtClean="0"/>
              <a:t>dernière</a:t>
            </a:r>
            <a:r>
              <a:rPr lang="en-US" dirty="0" smtClean="0"/>
              <a:t> page du carnet </a:t>
            </a:r>
            <a:r>
              <a:rPr lang="en-US" dirty="0" err="1" smtClean="0"/>
              <a:t>doit</a:t>
            </a:r>
            <a:r>
              <a:rPr lang="en-US" dirty="0" smtClean="0"/>
              <a:t> </a:t>
            </a:r>
            <a:r>
              <a:rPr lang="en-US" dirty="0" err="1" smtClean="0"/>
              <a:t>être</a:t>
            </a:r>
            <a:r>
              <a:rPr lang="en-US" dirty="0" smtClean="0"/>
              <a:t> </a:t>
            </a:r>
            <a:r>
              <a:rPr lang="en-US" dirty="0" err="1" smtClean="0"/>
              <a:t>utlisé</a:t>
            </a:r>
            <a:r>
              <a:rPr lang="en-US" dirty="0" smtClean="0"/>
              <a:t> </a:t>
            </a:r>
            <a:r>
              <a:rPr lang="en-US" dirty="0" err="1" smtClean="0"/>
              <a:t>conformément</a:t>
            </a:r>
            <a:r>
              <a:rPr lang="en-US" dirty="0" smtClean="0"/>
              <a:t> aux instructions </a:t>
            </a:r>
            <a:r>
              <a:rPr lang="en-US" dirty="0" err="1" smtClean="0"/>
              <a:t>requises</a:t>
            </a:r>
            <a:endParaRPr lang="en-US" dirty="0" smtClean="0"/>
          </a:p>
          <a:p>
            <a:r>
              <a:rPr lang="en-US" dirty="0" smtClean="0"/>
              <a:t>Le carnet </a:t>
            </a:r>
            <a:r>
              <a:rPr lang="en-US" dirty="0" err="1" smtClean="0"/>
              <a:t>est</a:t>
            </a:r>
            <a:r>
              <a:rPr lang="en-US" dirty="0" smtClean="0"/>
              <a:t> </a:t>
            </a:r>
            <a:r>
              <a:rPr lang="en-US" dirty="0" err="1" smtClean="0"/>
              <a:t>valable</a:t>
            </a:r>
            <a:r>
              <a:rPr lang="en-US" dirty="0" smtClean="0"/>
              <a:t> pendant 1 an et </a:t>
            </a:r>
            <a:r>
              <a:rPr lang="en-US" dirty="0" err="1" smtClean="0"/>
              <a:t>peut</a:t>
            </a:r>
            <a:r>
              <a:rPr lang="en-US" dirty="0" smtClean="0"/>
              <a:t> </a:t>
            </a:r>
            <a:r>
              <a:rPr lang="en-US" dirty="0" err="1" smtClean="0"/>
              <a:t>être</a:t>
            </a:r>
            <a:r>
              <a:rPr lang="en-US" dirty="0" smtClean="0"/>
              <a:t> </a:t>
            </a:r>
            <a:r>
              <a:rPr lang="en-US" dirty="0" err="1" smtClean="0"/>
              <a:t>prolongé</a:t>
            </a:r>
            <a:r>
              <a:rPr lang="en-US" dirty="0" smtClean="0"/>
              <a:t> avec </a:t>
            </a:r>
            <a:r>
              <a:rPr lang="en-US" dirty="0" err="1" smtClean="0"/>
              <a:t>l’accord</a:t>
            </a:r>
            <a:r>
              <a:rPr lang="en-US" dirty="0" smtClean="0"/>
              <a:t> de </a:t>
            </a:r>
            <a:r>
              <a:rPr lang="en-US" dirty="0" err="1" smtClean="0"/>
              <a:t>l’association</a:t>
            </a:r>
            <a:r>
              <a:rPr lang="en-US" dirty="0" smtClean="0"/>
              <a:t> du pays </a:t>
            </a:r>
            <a:r>
              <a:rPr lang="en-US" dirty="0" err="1" smtClean="0"/>
              <a:t>visité</a:t>
            </a:r>
            <a:r>
              <a:rPr lang="en-US" dirty="0" smtClean="0"/>
              <a:t>.</a:t>
            </a:r>
          </a:p>
          <a:p>
            <a:r>
              <a:rPr lang="en-US" dirty="0" smtClean="0"/>
              <a:t>Le carnet </a:t>
            </a:r>
            <a:r>
              <a:rPr lang="en-US" dirty="0" err="1" smtClean="0"/>
              <a:t>reste</a:t>
            </a:r>
            <a:r>
              <a:rPr lang="en-US" dirty="0" smtClean="0"/>
              <a:t> </a:t>
            </a:r>
            <a:r>
              <a:rPr lang="en-US" dirty="0" err="1" smtClean="0"/>
              <a:t>propriété</a:t>
            </a:r>
            <a:r>
              <a:rPr lang="en-US" dirty="0" smtClean="0"/>
              <a:t> de </a:t>
            </a:r>
            <a:r>
              <a:rPr lang="en-US" dirty="0" err="1" smtClean="0"/>
              <a:t>l’association</a:t>
            </a:r>
            <a:r>
              <a:rPr lang="en-US" dirty="0" smtClean="0"/>
              <a:t> </a:t>
            </a:r>
            <a:r>
              <a:rPr lang="en-US" dirty="0" err="1" smtClean="0"/>
              <a:t>émettrice</a:t>
            </a:r>
            <a:r>
              <a:rPr lang="en-US" dirty="0" smtClean="0"/>
              <a:t>, </a:t>
            </a:r>
            <a:r>
              <a:rPr lang="en-US" dirty="0" err="1" smtClean="0"/>
              <a:t>il</a:t>
            </a:r>
            <a:r>
              <a:rPr lang="en-US" dirty="0" smtClean="0"/>
              <a:t> </a:t>
            </a:r>
            <a:r>
              <a:rPr lang="en-US" dirty="0" err="1" smtClean="0"/>
              <a:t>doit</a:t>
            </a:r>
            <a:r>
              <a:rPr lang="en-US" dirty="0" smtClean="0"/>
              <a:t> </a:t>
            </a:r>
            <a:r>
              <a:rPr lang="en-US" dirty="0" err="1" smtClean="0"/>
              <a:t>lui</a:t>
            </a:r>
            <a:r>
              <a:rPr lang="en-US" dirty="0" smtClean="0"/>
              <a:t> </a:t>
            </a:r>
            <a:r>
              <a:rPr lang="en-US" dirty="0" err="1" smtClean="0"/>
              <a:t>être</a:t>
            </a:r>
            <a:r>
              <a:rPr lang="en-US" dirty="0" smtClean="0"/>
              <a:t> </a:t>
            </a:r>
            <a:r>
              <a:rPr lang="en-US" dirty="0" err="1" smtClean="0"/>
              <a:t>remis</a:t>
            </a:r>
            <a:r>
              <a:rPr lang="en-US" dirty="0" smtClean="0"/>
              <a:t> au plus </a:t>
            </a:r>
            <a:r>
              <a:rPr lang="en-US" dirty="0" err="1" smtClean="0"/>
              <a:t>tard</a:t>
            </a:r>
            <a:r>
              <a:rPr lang="en-US" dirty="0" smtClean="0"/>
              <a:t> à </a:t>
            </a:r>
            <a:r>
              <a:rPr lang="en-US" dirty="0" err="1" smtClean="0"/>
              <a:t>l’expiration</a:t>
            </a:r>
            <a:r>
              <a:rPr lang="en-US" dirty="0" smtClean="0"/>
              <a:t> de </a:t>
            </a:r>
            <a:r>
              <a:rPr lang="en-US" dirty="0" err="1" smtClean="0"/>
              <a:t>celui</a:t>
            </a:r>
            <a:r>
              <a:rPr lang="en-US" dirty="0" smtClean="0"/>
              <a:t>-ci et </a:t>
            </a:r>
            <a:r>
              <a:rPr lang="en-US" dirty="0" err="1" smtClean="0"/>
              <a:t>dûment</a:t>
            </a:r>
            <a:r>
              <a:rPr lang="en-US" dirty="0" smtClean="0"/>
              <a:t> </a:t>
            </a:r>
            <a:r>
              <a:rPr lang="en-US" dirty="0" err="1" smtClean="0"/>
              <a:t>régularisé</a:t>
            </a:r>
            <a:r>
              <a:rPr lang="en-US" dirty="0" smtClean="0"/>
              <a:t>, </a:t>
            </a:r>
            <a:r>
              <a:rPr lang="en-US" dirty="0" err="1" smtClean="0"/>
              <a:t>il</a:t>
            </a:r>
            <a:r>
              <a:rPr lang="en-US" dirty="0" smtClean="0"/>
              <a:t> </a:t>
            </a:r>
            <a:r>
              <a:rPr lang="en-US" dirty="0" err="1" smtClean="0"/>
              <a:t>est</a:t>
            </a:r>
            <a:r>
              <a:rPr lang="en-US" dirty="0" smtClean="0"/>
              <a:t> </a:t>
            </a:r>
            <a:r>
              <a:rPr lang="en-US" dirty="0" err="1" smtClean="0"/>
              <a:t>conseillé</a:t>
            </a:r>
            <a:r>
              <a:rPr lang="en-US" dirty="0" smtClean="0"/>
              <a:t> que le </a:t>
            </a:r>
            <a:r>
              <a:rPr lang="en-US" dirty="0" err="1" smtClean="0"/>
              <a:t>titulaire</a:t>
            </a:r>
            <a:r>
              <a:rPr lang="en-US" dirty="0" smtClean="0"/>
              <a:t> du </a:t>
            </a:r>
            <a:r>
              <a:rPr lang="en-US" dirty="0" err="1"/>
              <a:t>v</a:t>
            </a:r>
            <a:r>
              <a:rPr lang="en-US" dirty="0" err="1" smtClean="0"/>
              <a:t>éhicule</a:t>
            </a:r>
            <a:r>
              <a:rPr lang="en-US" dirty="0" smtClean="0"/>
              <a:t> </a:t>
            </a:r>
            <a:r>
              <a:rPr lang="en-US" dirty="0" err="1" smtClean="0"/>
              <a:t>garde</a:t>
            </a:r>
            <a:r>
              <a:rPr lang="en-US" dirty="0" smtClean="0"/>
              <a:t> </a:t>
            </a:r>
            <a:r>
              <a:rPr lang="en-US" dirty="0" err="1" smtClean="0"/>
              <a:t>celui</a:t>
            </a:r>
            <a:r>
              <a:rPr lang="en-US" dirty="0" smtClean="0"/>
              <a:t>-ci </a:t>
            </a:r>
            <a:r>
              <a:rPr lang="en-US" dirty="0" err="1" smtClean="0"/>
              <a:t>jusqu’à</a:t>
            </a:r>
            <a:r>
              <a:rPr lang="en-US" dirty="0" smtClean="0"/>
              <a:t> </a:t>
            </a:r>
            <a:r>
              <a:rPr lang="en-US" dirty="0" err="1" smtClean="0"/>
              <a:t>ce</a:t>
            </a:r>
            <a:r>
              <a:rPr lang="en-US" dirty="0" smtClean="0"/>
              <a:t> que le carnet </a:t>
            </a:r>
            <a:r>
              <a:rPr lang="en-US" dirty="0" err="1" smtClean="0"/>
              <a:t>soit</a:t>
            </a:r>
            <a:r>
              <a:rPr lang="en-US" dirty="0" smtClean="0"/>
              <a:t> </a:t>
            </a:r>
            <a:r>
              <a:rPr lang="en-US" dirty="0" err="1" smtClean="0"/>
              <a:t>régularisé</a:t>
            </a:r>
            <a:r>
              <a:rPr lang="en-US" dirty="0" smtClean="0"/>
              <a:t> et </a:t>
            </a:r>
            <a:r>
              <a:rPr lang="en-US" dirty="0" err="1" smtClean="0"/>
              <a:t>ainsi</a:t>
            </a:r>
            <a:r>
              <a:rPr lang="en-US" dirty="0" smtClean="0"/>
              <a:t> d’être </a:t>
            </a:r>
            <a:r>
              <a:rPr lang="en-US" dirty="0" err="1" smtClean="0"/>
              <a:t>dispensé</a:t>
            </a:r>
            <a:r>
              <a:rPr lang="en-US" dirty="0" smtClean="0"/>
              <a:t> de </a:t>
            </a:r>
            <a:r>
              <a:rPr lang="en-US" dirty="0" err="1" smtClean="0"/>
              <a:t>ces</a:t>
            </a:r>
            <a:r>
              <a:rPr lang="en-US" dirty="0" smtClean="0"/>
              <a:t> obligations</a:t>
            </a:r>
          </a:p>
          <a:p>
            <a:r>
              <a:rPr lang="en-US" dirty="0" err="1" smtClean="0"/>
              <a:t>Toute</a:t>
            </a:r>
            <a:r>
              <a:rPr lang="en-US" dirty="0" smtClean="0"/>
              <a:t> modification </a:t>
            </a:r>
            <a:r>
              <a:rPr lang="en-US" dirty="0" err="1" smtClean="0"/>
              <a:t>comme</a:t>
            </a:r>
            <a:r>
              <a:rPr lang="en-US" dirty="0" smtClean="0"/>
              <a:t> par </a:t>
            </a:r>
            <a:r>
              <a:rPr lang="en-US" dirty="0" err="1" smtClean="0"/>
              <a:t>exemple</a:t>
            </a:r>
            <a:r>
              <a:rPr lang="en-US" dirty="0" smtClean="0"/>
              <a:t> le nom de </a:t>
            </a:r>
            <a:r>
              <a:rPr lang="en-US" dirty="0" err="1" smtClean="0"/>
              <a:t>l’adresse</a:t>
            </a:r>
            <a:r>
              <a:rPr lang="en-US" dirty="0" smtClean="0"/>
              <a:t> du </a:t>
            </a:r>
            <a:r>
              <a:rPr lang="en-US" dirty="0" err="1" smtClean="0"/>
              <a:t>titulaire</a:t>
            </a:r>
            <a:r>
              <a:rPr lang="en-US" dirty="0" smtClean="0"/>
              <a:t> du </a:t>
            </a:r>
            <a:r>
              <a:rPr lang="en-US" dirty="0" err="1" smtClean="0"/>
              <a:t>véhicule</a:t>
            </a:r>
            <a:r>
              <a:rPr lang="en-US" dirty="0" smtClean="0"/>
              <a:t> </a:t>
            </a:r>
            <a:r>
              <a:rPr lang="en-US" dirty="0" err="1" smtClean="0"/>
              <a:t>ainsi</a:t>
            </a:r>
            <a:r>
              <a:rPr lang="en-US" dirty="0" smtClean="0"/>
              <a:t> que du </a:t>
            </a:r>
            <a:r>
              <a:rPr lang="en-US" dirty="0" err="1" smtClean="0"/>
              <a:t>véhicule</a:t>
            </a:r>
            <a:r>
              <a:rPr lang="en-US" dirty="0" smtClean="0"/>
              <a:t> </a:t>
            </a:r>
            <a:r>
              <a:rPr lang="en-US" dirty="0" err="1" smtClean="0"/>
              <a:t>lui-même</a:t>
            </a:r>
            <a:r>
              <a:rPr lang="en-US" dirty="0" smtClean="0"/>
              <a:t> </a:t>
            </a:r>
            <a:r>
              <a:rPr lang="en-US" dirty="0" err="1" smtClean="0"/>
              <a:t>doivent</a:t>
            </a:r>
            <a:r>
              <a:rPr lang="en-US" dirty="0" smtClean="0"/>
              <a:t> faire </a:t>
            </a:r>
            <a:r>
              <a:rPr lang="en-US" dirty="0" err="1" smtClean="0"/>
              <a:t>l’objet</a:t>
            </a:r>
            <a:r>
              <a:rPr lang="en-US" dirty="0" smtClean="0"/>
              <a:t> de </a:t>
            </a:r>
            <a:r>
              <a:rPr lang="en-US" dirty="0" err="1" smtClean="0"/>
              <a:t>l’approbation</a:t>
            </a:r>
            <a:r>
              <a:rPr lang="en-US" dirty="0" smtClean="0"/>
              <a:t> de </a:t>
            </a:r>
            <a:r>
              <a:rPr lang="en-US" dirty="0" err="1" smtClean="0"/>
              <a:t>l’association</a:t>
            </a:r>
            <a:r>
              <a:rPr lang="en-US" dirty="0" smtClean="0"/>
              <a:t> </a:t>
            </a:r>
            <a:r>
              <a:rPr lang="en-US" dirty="0" err="1" smtClean="0"/>
              <a:t>émettrice</a:t>
            </a:r>
            <a:r>
              <a:rPr lang="en-US" dirty="0"/>
              <a:t> </a:t>
            </a:r>
            <a:r>
              <a:rPr lang="en-US" dirty="0" smtClean="0"/>
              <a:t>et </a:t>
            </a:r>
            <a:r>
              <a:rPr lang="en-US" dirty="0" err="1" smtClean="0"/>
              <a:t>doivent</a:t>
            </a:r>
            <a:r>
              <a:rPr lang="en-US" dirty="0" smtClean="0"/>
              <a:t> </a:t>
            </a:r>
            <a:r>
              <a:rPr lang="en-US" dirty="0" err="1" smtClean="0"/>
              <a:t>être</a:t>
            </a:r>
            <a:r>
              <a:rPr lang="en-US" dirty="0" smtClean="0"/>
              <a:t> </a:t>
            </a:r>
            <a:r>
              <a:rPr lang="en-US" dirty="0" err="1" smtClean="0"/>
              <a:t>approuvée</a:t>
            </a:r>
            <a:r>
              <a:rPr lang="en-US" dirty="0" smtClean="0"/>
              <a:t> par les </a:t>
            </a:r>
            <a:r>
              <a:rPr lang="en-US" dirty="0" err="1" smtClean="0"/>
              <a:t>autorités</a:t>
            </a:r>
            <a:r>
              <a:rPr lang="en-US" dirty="0" smtClean="0"/>
              <a:t> </a:t>
            </a:r>
            <a:r>
              <a:rPr lang="en-US" dirty="0" err="1" smtClean="0"/>
              <a:t>douanière</a:t>
            </a:r>
            <a:r>
              <a:rPr lang="en-US" dirty="0" smtClean="0"/>
              <a:t> du pays </a:t>
            </a:r>
            <a:r>
              <a:rPr lang="en-US" dirty="0" err="1" smtClean="0"/>
              <a:t>d’entrée</a:t>
            </a:r>
            <a:r>
              <a:rPr lang="en-US" dirty="0" smtClean="0"/>
              <a:t>.</a:t>
            </a:r>
          </a:p>
          <a:p>
            <a:r>
              <a:rPr lang="en-US" dirty="0" smtClean="0"/>
              <a:t>Le carnet ne </a:t>
            </a:r>
            <a:r>
              <a:rPr lang="en-US" dirty="0" err="1" smtClean="0"/>
              <a:t>doit</a:t>
            </a:r>
            <a:r>
              <a:rPr lang="en-US" dirty="0" smtClean="0"/>
              <a:t> pas </a:t>
            </a:r>
            <a:r>
              <a:rPr lang="en-US" dirty="0" err="1" smtClean="0"/>
              <a:t>être</a:t>
            </a:r>
            <a:r>
              <a:rPr lang="en-US" dirty="0" smtClean="0"/>
              <a:t> </a:t>
            </a:r>
            <a:r>
              <a:rPr lang="en-US" dirty="0" err="1" smtClean="0"/>
              <a:t>utilisé</a:t>
            </a:r>
            <a:r>
              <a:rPr lang="en-US" dirty="0" smtClean="0"/>
              <a:t> </a:t>
            </a:r>
            <a:r>
              <a:rPr lang="en-US" dirty="0" err="1" smtClean="0"/>
              <a:t>dans</a:t>
            </a:r>
            <a:r>
              <a:rPr lang="en-US" dirty="0" smtClean="0"/>
              <a:t> un pays </a:t>
            </a:r>
            <a:r>
              <a:rPr lang="en-US" dirty="0" err="1" smtClean="0"/>
              <a:t>où</a:t>
            </a:r>
            <a:r>
              <a:rPr lang="en-US" dirty="0" smtClean="0"/>
              <a:t> le </a:t>
            </a:r>
            <a:r>
              <a:rPr lang="en-US" dirty="0" err="1" smtClean="0"/>
              <a:t>titulaire</a:t>
            </a:r>
            <a:r>
              <a:rPr lang="en-US" dirty="0" smtClean="0"/>
              <a:t> à </a:t>
            </a:r>
            <a:r>
              <a:rPr lang="en-US" dirty="0" err="1" smtClean="0"/>
              <a:t>sa</a:t>
            </a:r>
            <a:r>
              <a:rPr lang="en-US" dirty="0" smtClean="0"/>
              <a:t> residence </a:t>
            </a:r>
            <a:r>
              <a:rPr lang="en-US" dirty="0" err="1" smtClean="0"/>
              <a:t>habituelle</a:t>
            </a:r>
            <a:r>
              <a:rPr lang="en-US" dirty="0" smtClean="0"/>
              <a:t>. Le </a:t>
            </a:r>
            <a:r>
              <a:rPr lang="en-US" dirty="0" err="1" smtClean="0"/>
              <a:t>véhicule</a:t>
            </a:r>
            <a:r>
              <a:rPr lang="en-US" dirty="0" smtClean="0"/>
              <a:t> </a:t>
            </a:r>
            <a:r>
              <a:rPr lang="en-US" dirty="0" err="1" smtClean="0"/>
              <a:t>importé</a:t>
            </a:r>
            <a:r>
              <a:rPr lang="en-US" dirty="0" smtClean="0"/>
              <a:t> </a:t>
            </a:r>
            <a:r>
              <a:rPr lang="en-US" dirty="0" err="1" smtClean="0"/>
              <a:t>temporairement</a:t>
            </a:r>
            <a:r>
              <a:rPr lang="en-US" dirty="0" smtClean="0"/>
              <a:t> et </a:t>
            </a:r>
            <a:r>
              <a:rPr lang="en-US" dirty="0" err="1" smtClean="0"/>
              <a:t>visé</a:t>
            </a:r>
            <a:r>
              <a:rPr lang="en-US" dirty="0" smtClean="0"/>
              <a:t> par le carnet ne </a:t>
            </a:r>
            <a:r>
              <a:rPr lang="en-US" dirty="0" err="1" smtClean="0"/>
              <a:t>doit</a:t>
            </a:r>
            <a:r>
              <a:rPr lang="en-US" dirty="0" smtClean="0"/>
              <a:t> pas </a:t>
            </a:r>
            <a:r>
              <a:rPr lang="en-US" dirty="0" err="1" smtClean="0"/>
              <a:t>être</a:t>
            </a:r>
            <a:r>
              <a:rPr lang="en-US" dirty="0" smtClean="0"/>
              <a:t> </a:t>
            </a:r>
            <a:r>
              <a:rPr lang="en-US" dirty="0" err="1" smtClean="0"/>
              <a:t>prêté</a:t>
            </a:r>
            <a:r>
              <a:rPr lang="en-US" dirty="0" smtClean="0"/>
              <a:t> , </a:t>
            </a:r>
            <a:r>
              <a:rPr lang="en-US" dirty="0" err="1" smtClean="0"/>
              <a:t>loué</a:t>
            </a:r>
            <a:r>
              <a:rPr lang="en-US" dirty="0" smtClean="0"/>
              <a:t> , </a:t>
            </a:r>
            <a:r>
              <a:rPr lang="en-US" dirty="0" err="1" smtClean="0"/>
              <a:t>vendu</a:t>
            </a:r>
            <a:r>
              <a:rPr lang="en-US" dirty="0" smtClean="0"/>
              <a:t> </a:t>
            </a:r>
            <a:r>
              <a:rPr lang="en-US" dirty="0" err="1" smtClean="0"/>
              <a:t>ou</a:t>
            </a:r>
            <a:r>
              <a:rPr lang="en-US" dirty="0" smtClean="0"/>
              <a:t> </a:t>
            </a:r>
            <a:r>
              <a:rPr lang="en-US" dirty="0" err="1" smtClean="0"/>
              <a:t>abandonné</a:t>
            </a:r>
            <a:r>
              <a:rPr lang="en-US" dirty="0" smtClean="0"/>
              <a:t> sans accord de </a:t>
            </a:r>
            <a:r>
              <a:rPr lang="en-US" dirty="0" err="1" smtClean="0"/>
              <a:t>l’administration</a:t>
            </a:r>
            <a:r>
              <a:rPr lang="en-US" dirty="0" smtClean="0"/>
              <a:t> </a:t>
            </a:r>
            <a:r>
              <a:rPr lang="en-US" dirty="0" err="1" smtClean="0"/>
              <a:t>douanière</a:t>
            </a:r>
            <a:r>
              <a:rPr lang="en-US" dirty="0" smtClean="0"/>
              <a:t> et du club </a:t>
            </a:r>
            <a:r>
              <a:rPr lang="en-US" dirty="0" err="1" smtClean="0"/>
              <a:t>émetteur</a:t>
            </a:r>
            <a:r>
              <a:rPr lang="en-US" dirty="0" smtClean="0"/>
              <a:t> du pays </a:t>
            </a:r>
            <a:r>
              <a:rPr lang="en-US" dirty="0" err="1" smtClean="0"/>
              <a:t>visité</a:t>
            </a:r>
            <a:r>
              <a:rPr lang="en-US" dirty="0" smtClean="0"/>
              <a:t>.</a:t>
            </a:r>
          </a:p>
          <a:p>
            <a:r>
              <a:rPr lang="en-US" dirty="0" err="1" smtClean="0"/>
              <a:t>Lorsque</a:t>
            </a:r>
            <a:r>
              <a:rPr lang="en-US" dirty="0" smtClean="0"/>
              <a:t> </a:t>
            </a:r>
            <a:r>
              <a:rPr lang="en-US" dirty="0" err="1" smtClean="0"/>
              <a:t>qu’un</a:t>
            </a:r>
            <a:r>
              <a:rPr lang="en-US" dirty="0" smtClean="0"/>
              <a:t> carnet </a:t>
            </a:r>
            <a:r>
              <a:rPr lang="en-US" dirty="0" err="1" smtClean="0"/>
              <a:t>est</a:t>
            </a:r>
            <a:r>
              <a:rPr lang="en-US" dirty="0" smtClean="0"/>
              <a:t> perdu, </a:t>
            </a:r>
            <a:r>
              <a:rPr lang="en-US" dirty="0" err="1" smtClean="0"/>
              <a:t>détruit</a:t>
            </a:r>
            <a:r>
              <a:rPr lang="en-US" dirty="0" smtClean="0"/>
              <a:t> </a:t>
            </a:r>
            <a:r>
              <a:rPr lang="en-US" dirty="0" err="1" smtClean="0"/>
              <a:t>ou</a:t>
            </a:r>
            <a:r>
              <a:rPr lang="en-US" dirty="0" smtClean="0"/>
              <a:t> </a:t>
            </a:r>
            <a:r>
              <a:rPr lang="en-US" dirty="0" err="1" smtClean="0"/>
              <a:t>égaré</a:t>
            </a:r>
            <a:r>
              <a:rPr lang="en-US" dirty="0" smtClean="0"/>
              <a:t> </a:t>
            </a:r>
            <a:r>
              <a:rPr lang="en-US" dirty="0" err="1" smtClean="0"/>
              <a:t>alors</a:t>
            </a:r>
            <a:r>
              <a:rPr lang="en-US" dirty="0" smtClean="0"/>
              <a:t> que le </a:t>
            </a:r>
            <a:r>
              <a:rPr lang="en-US" dirty="0" err="1" smtClean="0"/>
              <a:t>véhicule</a:t>
            </a:r>
            <a:r>
              <a:rPr lang="en-US" dirty="0" smtClean="0"/>
              <a:t> se </a:t>
            </a:r>
            <a:r>
              <a:rPr lang="en-US" dirty="0" err="1" smtClean="0"/>
              <a:t>trouve</a:t>
            </a:r>
            <a:r>
              <a:rPr lang="en-US" dirty="0" smtClean="0"/>
              <a:t> à </a:t>
            </a:r>
            <a:r>
              <a:rPr lang="en-US" dirty="0" err="1" smtClean="0"/>
              <a:t>l’étranger</a:t>
            </a:r>
            <a:r>
              <a:rPr lang="en-US" dirty="0" smtClean="0"/>
              <a:t> </a:t>
            </a:r>
            <a:r>
              <a:rPr lang="en-US" dirty="0" err="1" smtClean="0"/>
              <a:t>ou</a:t>
            </a:r>
            <a:r>
              <a:rPr lang="en-US" dirty="0" smtClean="0"/>
              <a:t> </a:t>
            </a:r>
            <a:r>
              <a:rPr lang="en-US" dirty="0" err="1" smtClean="0"/>
              <a:t>bien</a:t>
            </a:r>
            <a:r>
              <a:rPr lang="en-US" dirty="0" smtClean="0"/>
              <a:t> </a:t>
            </a:r>
            <a:r>
              <a:rPr lang="en-US" dirty="0" err="1" smtClean="0"/>
              <a:t>en</a:t>
            </a:r>
            <a:r>
              <a:rPr lang="en-US" dirty="0" smtClean="0"/>
              <a:t> </a:t>
            </a:r>
            <a:r>
              <a:rPr lang="en-US" dirty="0" err="1" smtClean="0"/>
              <a:t>cas</a:t>
            </a:r>
            <a:r>
              <a:rPr lang="en-US" dirty="0" smtClean="0"/>
              <a:t> de </a:t>
            </a:r>
            <a:r>
              <a:rPr lang="en-US" dirty="0" err="1" smtClean="0"/>
              <a:t>vol</a:t>
            </a:r>
            <a:r>
              <a:rPr lang="en-US" dirty="0" smtClean="0"/>
              <a:t> </a:t>
            </a:r>
            <a:r>
              <a:rPr lang="en-US" dirty="0" err="1" smtClean="0"/>
              <a:t>ou</a:t>
            </a:r>
            <a:r>
              <a:rPr lang="en-US" dirty="0" smtClean="0"/>
              <a:t> </a:t>
            </a:r>
            <a:r>
              <a:rPr lang="en-US" dirty="0" err="1" smtClean="0"/>
              <a:t>d’abandon</a:t>
            </a:r>
            <a:r>
              <a:rPr lang="en-US" dirty="0" smtClean="0"/>
              <a:t> du </a:t>
            </a:r>
            <a:r>
              <a:rPr lang="en-US" dirty="0" err="1" smtClean="0"/>
              <a:t>véhicule</a:t>
            </a:r>
            <a:r>
              <a:rPr lang="en-US" dirty="0" smtClean="0"/>
              <a:t>, le </a:t>
            </a:r>
            <a:r>
              <a:rPr lang="en-US" dirty="0" err="1" smtClean="0"/>
              <a:t>titulaire</a:t>
            </a:r>
            <a:r>
              <a:rPr lang="en-US" dirty="0" smtClean="0"/>
              <a:t> </a:t>
            </a:r>
            <a:r>
              <a:rPr lang="en-US" dirty="0" err="1" smtClean="0"/>
              <a:t>est</a:t>
            </a:r>
            <a:r>
              <a:rPr lang="en-US" dirty="0" smtClean="0"/>
              <a:t> </a:t>
            </a:r>
            <a:r>
              <a:rPr lang="en-US" dirty="0" err="1" smtClean="0"/>
              <a:t>dans</a:t>
            </a:r>
            <a:r>
              <a:rPr lang="en-US" dirty="0" smtClean="0"/>
              <a:t> </a:t>
            </a:r>
            <a:r>
              <a:rPr lang="en-US" dirty="0" err="1" smtClean="0"/>
              <a:t>l’obligation</a:t>
            </a:r>
            <a:r>
              <a:rPr lang="en-US" dirty="0" smtClean="0"/>
              <a:t> d’ </a:t>
            </a:r>
            <a:r>
              <a:rPr lang="en-US" dirty="0" err="1" smtClean="0"/>
              <a:t>en</a:t>
            </a:r>
            <a:r>
              <a:rPr lang="en-US" dirty="0" smtClean="0"/>
              <a:t> informer </a:t>
            </a:r>
            <a:r>
              <a:rPr lang="en-US" dirty="0" err="1" smtClean="0"/>
              <a:t>l’association</a:t>
            </a:r>
            <a:r>
              <a:rPr lang="en-US" dirty="0" smtClean="0"/>
              <a:t> </a:t>
            </a:r>
            <a:r>
              <a:rPr lang="en-US" dirty="0" err="1" smtClean="0"/>
              <a:t>émettrice</a:t>
            </a:r>
            <a:r>
              <a:rPr lang="en-US" dirty="0" smtClean="0"/>
              <a:t>.</a:t>
            </a:r>
          </a:p>
          <a:p>
            <a:endParaRPr lang="en-US" dirty="0"/>
          </a:p>
        </p:txBody>
      </p:sp>
    </p:spTree>
    <p:extLst>
      <p:ext uri="{BB962C8B-B14F-4D97-AF65-F5344CB8AC3E}">
        <p14:creationId xmlns:p14="http://schemas.microsoft.com/office/powerpoint/2010/main" val="3826418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Les missions de la douane</a:t>
            </a:r>
            <a:endParaRPr lang="en-US" dirty="0"/>
          </a:p>
        </p:txBody>
      </p:sp>
      <p:sp>
        <p:nvSpPr>
          <p:cNvPr id="3" name="Content Placeholder 2"/>
          <p:cNvSpPr>
            <a:spLocks noGrp="1"/>
          </p:cNvSpPr>
          <p:nvPr>
            <p:ph idx="1"/>
          </p:nvPr>
        </p:nvSpPr>
        <p:spPr/>
        <p:txBody>
          <a:bodyPr>
            <a:normAutofit lnSpcReduction="10000"/>
          </a:bodyPr>
          <a:lstStyle/>
          <a:p>
            <a:r>
              <a:rPr lang="fr-CH" dirty="0"/>
              <a:t>Pour l’entrée du véhicule, l’autorité compétente signe et tamponne le volet d'entrée du CPD et note la date et le nom du bureau de douane dans l'espace prévu à cet effet sur le volet d'entrée. Le douanier complète et tamponne également la partie gauche de la souche. Le volet d'entrée est détaché du CPD et conservé dans un fichier.</a:t>
            </a:r>
          </a:p>
          <a:p>
            <a:r>
              <a:rPr lang="fr-CH" dirty="0"/>
              <a:t>Pour la sortie du véhicule, l’autorité compétente signe et tamponne le volet de sortie et note la date et le nom du bureau de douane. Il remplit la partie droite de la souche, y appose la date, son tampon et sa signature. Le volet de sortie est détaché et envoyé au bureau de douane d'entrée pour fournir aux autorités la preuve nécessaire de réexportation.</a:t>
            </a:r>
          </a:p>
          <a:p>
            <a:endParaRPr lang="en-US" dirty="0"/>
          </a:p>
        </p:txBody>
      </p:sp>
    </p:spTree>
    <p:extLst>
      <p:ext uri="{BB962C8B-B14F-4D97-AF65-F5344CB8AC3E}">
        <p14:creationId xmlns:p14="http://schemas.microsoft.com/office/powerpoint/2010/main" val="3016198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La régularisation du carnet de passage en douane</a:t>
            </a:r>
            <a:endParaRPr lang="en-US" dirty="0"/>
          </a:p>
        </p:txBody>
      </p:sp>
      <p:sp>
        <p:nvSpPr>
          <p:cNvPr id="3" name="Content Placeholder 2"/>
          <p:cNvSpPr>
            <a:spLocks noGrp="1"/>
          </p:cNvSpPr>
          <p:nvPr>
            <p:ph idx="1"/>
          </p:nvPr>
        </p:nvSpPr>
        <p:spPr/>
        <p:txBody>
          <a:bodyPr>
            <a:normAutofit fontScale="92500" lnSpcReduction="10000"/>
          </a:bodyPr>
          <a:lstStyle/>
          <a:p>
            <a:r>
              <a:rPr lang="fr-CH" dirty="0"/>
              <a:t>En cas de réclamation de la part des autorités douanières du fait de la non-décharge d'un CPD, l'association garante dispose d'une année à partir de la notification de la réclamation pour prouver que le véhicule a été réexporté. Il faut noter que la réclamation doit être déposée dans un délai d'une année après expiration du carnet, conformément aux termes des conventions internationales.</a:t>
            </a:r>
          </a:p>
          <a:p>
            <a:r>
              <a:rPr lang="fr-CH" dirty="0"/>
              <a:t>Les conventions internationales prévoient que les timbres douaniers des pays visités subséquemment et autres preuves littérales peuvent servir à prouver la réexportation. La preuve de la réexportation peut également être apportée sous la forme du "certificat de présence", figurant à la dernière page du CPD, qui peut être rempli par un douanier, un agent de police, une autorité judiciaire ou toute autre autorité d'un pays tiers.</a:t>
            </a:r>
          </a:p>
          <a:p>
            <a:endParaRPr lang="en-US" dirty="0"/>
          </a:p>
        </p:txBody>
      </p:sp>
    </p:spTree>
    <p:extLst>
      <p:ext uri="{BB962C8B-B14F-4D97-AF65-F5344CB8AC3E}">
        <p14:creationId xmlns:p14="http://schemas.microsoft.com/office/powerpoint/2010/main" val="130685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La liste des pays où le CPD est exigé</a:t>
            </a:r>
            <a:endParaRPr lang="en-US" dirty="0"/>
          </a:p>
        </p:txBody>
      </p:sp>
      <p:sp>
        <p:nvSpPr>
          <p:cNvPr id="3" name="Content Placeholder 2"/>
          <p:cNvSpPr>
            <a:spLocks noGrp="1"/>
          </p:cNvSpPr>
          <p:nvPr>
            <p:ph idx="1"/>
          </p:nvPr>
        </p:nvSpPr>
        <p:spPr/>
        <p:txBody>
          <a:bodyPr/>
          <a:lstStyle/>
          <a:p>
            <a:r>
              <a:rPr lang="en-US" dirty="0" smtClean="0"/>
              <a:t>29 pays d’ </a:t>
            </a:r>
            <a:r>
              <a:rPr lang="en-US" dirty="0" err="1" smtClean="0"/>
              <a:t>Afrique</a:t>
            </a:r>
            <a:endParaRPr lang="en-US" dirty="0" smtClean="0"/>
          </a:p>
          <a:p>
            <a:r>
              <a:rPr lang="en-US" dirty="0" smtClean="0"/>
              <a:t>23 pays </a:t>
            </a:r>
            <a:r>
              <a:rPr lang="en-US" dirty="0" err="1" smtClean="0"/>
              <a:t>d’Asie</a:t>
            </a:r>
            <a:r>
              <a:rPr lang="en-US" dirty="0" smtClean="0"/>
              <a:t> et du </a:t>
            </a:r>
            <a:r>
              <a:rPr lang="en-US" dirty="0" err="1" smtClean="0"/>
              <a:t>Moyen</a:t>
            </a:r>
            <a:r>
              <a:rPr lang="en-US" dirty="0" smtClean="0"/>
              <a:t> Orient</a:t>
            </a:r>
          </a:p>
          <a:p>
            <a:r>
              <a:rPr lang="en-US" dirty="0" smtClean="0"/>
              <a:t>22 pays </a:t>
            </a:r>
            <a:r>
              <a:rPr lang="en-US" dirty="0" err="1" smtClean="0"/>
              <a:t>en</a:t>
            </a:r>
            <a:r>
              <a:rPr lang="en-US" dirty="0" smtClean="0"/>
              <a:t> </a:t>
            </a:r>
            <a:r>
              <a:rPr lang="en-US" dirty="0" err="1" smtClean="0"/>
              <a:t>Amérique</a:t>
            </a:r>
            <a:endParaRPr lang="en-US" dirty="0" smtClean="0"/>
          </a:p>
          <a:p>
            <a:r>
              <a:rPr lang="en-US" dirty="0" smtClean="0"/>
              <a:t>6 pays </a:t>
            </a:r>
            <a:r>
              <a:rPr lang="en-US" dirty="0" err="1" smtClean="0"/>
              <a:t>en</a:t>
            </a:r>
            <a:r>
              <a:rPr lang="en-US" dirty="0" smtClean="0"/>
              <a:t> Europe</a:t>
            </a:r>
          </a:p>
          <a:p>
            <a:r>
              <a:rPr lang="en-US" dirty="0" smtClean="0"/>
              <a:t>2 pays </a:t>
            </a:r>
            <a:r>
              <a:rPr lang="en-US" dirty="0" err="1" smtClean="0"/>
              <a:t>en</a:t>
            </a:r>
            <a:r>
              <a:rPr lang="en-US" dirty="0" smtClean="0"/>
              <a:t> </a:t>
            </a:r>
            <a:r>
              <a:rPr lang="en-US" dirty="0" err="1" smtClean="0"/>
              <a:t>Océanie</a:t>
            </a:r>
            <a:endParaRPr lang="en-US" dirty="0"/>
          </a:p>
        </p:txBody>
      </p:sp>
    </p:spTree>
    <p:extLst>
      <p:ext uri="{BB962C8B-B14F-4D97-AF65-F5344CB8AC3E}">
        <p14:creationId xmlns:p14="http://schemas.microsoft.com/office/powerpoint/2010/main" val="365311364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3927</Words>
  <Application>Microsoft Office PowerPoint</Application>
  <PresentationFormat>Widescreen</PresentationFormat>
  <Paragraphs>164</Paragraphs>
  <Slides>28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Office</vt:lpstr>
      <vt:lpstr> </vt:lpstr>
      <vt:lpstr>Carnet ATA </vt:lpstr>
      <vt:lpstr>Définition </vt:lpstr>
      <vt:lpstr>Les marchandises pouvant être utilisées pour les carnets ATA</vt:lpstr>
      <vt:lpstr>Remarque</vt:lpstr>
      <vt:lpstr>Les condition d’obtention d’un carnet ATA</vt:lpstr>
      <vt:lpstr>L’utilisation du carnet ATA</vt:lpstr>
      <vt:lpstr>Suite l ‘utilisation d’un carnet ATA</vt:lpstr>
      <vt:lpstr>Suite l’utilisation d’un carnet ATA</vt:lpstr>
      <vt:lpstr>La validité et la perte du carnet ATA</vt:lpstr>
      <vt:lpstr>La remarque sur la notion « apurement »</vt:lpstr>
      <vt:lpstr>La liste des états signataires de la convention ATA</vt:lpstr>
      <vt:lpstr>Missions de la douanes</vt:lpstr>
      <vt:lpstr> 1 ère étape du Processus de vérification </vt:lpstr>
      <vt:lpstr> 2 Ème étape du Processus de la vérification : </vt:lpstr>
      <vt:lpstr> 3 ème étape du Processus de la vérification </vt:lpstr>
      <vt:lpstr> 4 ème étape du processus de vérification : </vt:lpstr>
      <vt:lpstr> Cas exceptionnels </vt:lpstr>
      <vt:lpstr>Carnet de passage en douane</vt:lpstr>
      <vt:lpstr>L’introduction</vt:lpstr>
      <vt:lpstr>Les avantages</vt:lpstr>
      <vt:lpstr>Documents à fournir</vt:lpstr>
      <vt:lpstr>Le fonctionnement</vt:lpstr>
      <vt:lpstr>Le contenu du carnet de passage en douane</vt:lpstr>
      <vt:lpstr>Les Instructions</vt:lpstr>
      <vt:lpstr>Les missions de la douane</vt:lpstr>
      <vt:lpstr>La régularisation du carnet de passage en douane</vt:lpstr>
      <vt:lpstr>La liste des pays où le CPD est exigé</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Taxe sur les boissons non alcoolisées sucrées</dc:title>
  <dc:creator>mschlink</dc:creator>
  <cp:lastModifiedBy>stucchi</cp:lastModifiedBy>
  <cp:revision>214</cp:revision>
  <cp:lastPrinted>2017-07-12T12:12:41Z</cp:lastPrinted>
  <dcterms:created xsi:type="dcterms:W3CDTF">2017-07-11T09:59:41Z</dcterms:created>
  <dcterms:modified xsi:type="dcterms:W3CDTF">2024-10-23T05:42:49Z</dcterms:modified>
</cp:coreProperties>
</file>