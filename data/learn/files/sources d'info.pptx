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21"/>
  </p:handout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6" r:id="rId12"/>
    <p:sldId id="267" r:id="rId13"/>
    <p:sldId id="269" r:id="rId14"/>
    <p:sldId id="272" r:id="rId15"/>
    <p:sldId id="273" r:id="rId16"/>
    <p:sldId id="275" r:id="rId17"/>
    <p:sldId id="276" r:id="rId18"/>
    <p:sldId id="277" r:id="rId19"/>
    <p:sldId id="278" r:id="rId20"/>
  </p:sldIdLst>
  <p:sldSz cx="12192000" cy="6858000"/>
  <p:notesSz cx="6797675" cy="992663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schlink" initials="m" lastIdx="2" clrIdx="0">
    <p:extLst>
      <p:ext uri="{19B8F6BF-5375-455C-9EA6-DF929625EA0E}">
        <p15:presenceInfo xmlns:p15="http://schemas.microsoft.com/office/powerpoint/2012/main" userId="mschlink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Helle Formatvorlage 2 - Akz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505E3EF-67EA-436B-97B2-0124C06EBD24}" styleName="Mittlere Formatvorlage 4 - Akz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0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B039E8-4792-4DE3-AA83-F7516F3B65D7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07A034-ED28-44E1-8859-77E415D3450D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016911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smtClean="0"/>
              <a:t>Formatvorlage des Untertitelmasters durch Klicken bearbeiten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9907152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0607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9380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38195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691721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682351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825197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1920025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 smtClean="0"/>
              <a:t>Formatvorlagen des Textmasters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27753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701861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952568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2000" b="-1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fr-CH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fr-CH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FC1B58-A5CB-4888-98D1-673EE0D4D308}" type="datetimeFigureOut">
              <a:rPr lang="fr-CH" smtClean="0"/>
              <a:t>04.11.2024</a:t>
            </a:fld>
            <a:endParaRPr lang="fr-CH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11F01A-B187-4E96-A42F-7B20626A13B5}" type="slidenum">
              <a:rPr lang="fr-CH" smtClean="0"/>
              <a:t>‹#›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75136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://curia.europa.eu/juris/recherche.jsf?language=fr" TargetMode="External"/><Relationship Id="rId3" Type="http://schemas.openxmlformats.org/officeDocument/2006/relationships/hyperlink" Target="https://saturn.etat.lu/tariff/index.jsf" TargetMode="External"/><Relationship Id="rId7" Type="http://schemas.openxmlformats.org/officeDocument/2006/relationships/hyperlink" Target="https://ec.europa.eu/taxation_customs/dds2/ecics/chemicalsubstance_consultation.jsp?Lang=en" TargetMode="External"/><Relationship Id="rId2" Type="http://schemas.openxmlformats.org/officeDocument/2006/relationships/hyperlink" Target="https://ec.europa.eu/taxation_customs/dds2/taric/taric_consultation.jsp?Lang=fr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ulings.cbp.gov/home" TargetMode="External"/><Relationship Id="rId5" Type="http://schemas.openxmlformats.org/officeDocument/2006/relationships/hyperlink" Target="https://ec.europa.eu/taxation_customs/dds2/ebti/ebti_consultation.jsp?Lang=en" TargetMode="External"/><Relationship Id="rId4" Type="http://schemas.openxmlformats.org/officeDocument/2006/relationships/hyperlink" Target="https://madb.europa.eu/madb/indexPubli.htm" TargetMode="External"/><Relationship Id="rId9" Type="http://schemas.openxmlformats.org/officeDocument/2006/relationships/hyperlink" Target="http://auskunft.ezt-online.de/ezto/Welcome.do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ec.europa.eu/transparency/comitology-register/screen/committees/C18106/consult?lang=en" TargetMode="External"/><Relationship Id="rId2" Type="http://schemas.openxmlformats.org/officeDocument/2006/relationships/hyperlink" Target="https://www.tax.service.gov.uk/search-for-advance-tariff-rulings/search?enableTrackingConsent=true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bazg.admin.ch/bazg/fr/home/documentation/directives/d4-decisions-de-classement-des-marchandises.html" TargetMode="External"/><Relationship Id="rId4" Type="http://schemas.openxmlformats.org/officeDocument/2006/relationships/hyperlink" Target="https://www.bazg.admin.ch/bazg/fr/home/documentation/directives/d6-notes-explicatives-du-tarif-douanier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44770" y="1626958"/>
            <a:ext cx="10769600" cy="2716442"/>
          </a:xfrm>
        </p:spPr>
        <p:txBody>
          <a:bodyPr>
            <a:normAutofit/>
          </a:bodyPr>
          <a:lstStyle/>
          <a:p>
            <a:r>
              <a:rPr lang="fr-LU" sz="5400" b="1" dirty="0" smtClean="0">
                <a:ln w="9525">
                  <a:solidFill>
                    <a:schemeClr val="accent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Les différentes sources d’information</a:t>
            </a:r>
            <a:br>
              <a:rPr lang="fr-LU" sz="5400" b="1" dirty="0" smtClean="0">
                <a:ln w="9525">
                  <a:solidFill>
                    <a:schemeClr val="accent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</a:br>
            <a:endParaRPr lang="fr-CH" sz="5400" b="1" dirty="0">
              <a:ln w="9525">
                <a:solidFill>
                  <a:schemeClr val="accent1"/>
                </a:solidFill>
                <a:prstDash val="solid"/>
              </a:ln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064" y="219138"/>
            <a:ext cx="3031402" cy="818232"/>
          </a:xfrm>
          <a:prstGeom prst="rect">
            <a:avLst/>
          </a:prstGeom>
        </p:spPr>
      </p:pic>
      <p:sp>
        <p:nvSpPr>
          <p:cNvPr id="7" name="Titel 3"/>
          <p:cNvSpPr txBox="1">
            <a:spLocks/>
          </p:cNvSpPr>
          <p:nvPr/>
        </p:nvSpPr>
        <p:spPr>
          <a:xfrm>
            <a:off x="644770" y="5003800"/>
            <a:ext cx="11547230" cy="1295400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fr-CH" sz="2800" b="1" dirty="0"/>
          </a:p>
        </p:txBody>
      </p:sp>
    </p:spTree>
    <p:extLst>
      <p:ext uri="{BB962C8B-B14F-4D97-AF65-F5344CB8AC3E}">
        <p14:creationId xmlns:p14="http://schemas.microsoft.com/office/powerpoint/2010/main" val="4120300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828431" y="587616"/>
            <a:ext cx="10668000" cy="5711584"/>
          </a:xfrm>
        </p:spPr>
        <p:txBody>
          <a:bodyPr>
            <a:normAutofit/>
          </a:bodyPr>
          <a:lstStyle/>
          <a:p>
            <a:r>
              <a:rPr lang="fr-LU" sz="2000" dirty="0" smtClean="0"/>
              <a:t>TARIC</a:t>
            </a:r>
          </a:p>
          <a:p>
            <a:pPr lvl="1"/>
            <a:r>
              <a:rPr lang="fr-LU" sz="1600" dirty="0">
                <a:hlinkClick r:id="rId2"/>
              </a:rPr>
              <a:t>https://</a:t>
            </a:r>
            <a:r>
              <a:rPr lang="fr-LU" sz="1600" dirty="0" smtClean="0">
                <a:hlinkClick r:id="rId2"/>
              </a:rPr>
              <a:t>ec.europa.eu/taxation_customs/dds2/taric/taric_consultation.jsp?Lang=fr</a:t>
            </a:r>
            <a:endParaRPr lang="fr-LU" sz="1600" dirty="0" smtClean="0"/>
          </a:p>
          <a:p>
            <a:r>
              <a:rPr lang="fr-LU" sz="2000" dirty="0" smtClean="0"/>
              <a:t>TARLUX</a:t>
            </a:r>
          </a:p>
          <a:p>
            <a:pPr lvl="1"/>
            <a:r>
              <a:rPr lang="fr-LU" sz="1600" dirty="0">
                <a:hlinkClick r:id="rId3"/>
              </a:rPr>
              <a:t>https://</a:t>
            </a:r>
            <a:r>
              <a:rPr lang="fr-LU" sz="1600" dirty="0" smtClean="0">
                <a:hlinkClick r:id="rId3"/>
              </a:rPr>
              <a:t>saturn.etat.lu/tariff/index.jsf</a:t>
            </a:r>
            <a:endParaRPr lang="fr-LU" sz="1600" dirty="0" smtClean="0"/>
          </a:p>
          <a:p>
            <a:r>
              <a:rPr lang="fr-LU" sz="2000" dirty="0" smtClean="0"/>
              <a:t>MADB</a:t>
            </a:r>
          </a:p>
          <a:p>
            <a:pPr lvl="1"/>
            <a:r>
              <a:rPr lang="fr-LU" sz="1600" dirty="0">
                <a:hlinkClick r:id="rId4"/>
              </a:rPr>
              <a:t>https://</a:t>
            </a:r>
            <a:r>
              <a:rPr lang="fr-LU" sz="1600" dirty="0" smtClean="0">
                <a:hlinkClick r:id="rId4"/>
              </a:rPr>
              <a:t>madb.europa.eu/madb/indexPubli.htm</a:t>
            </a:r>
            <a:endParaRPr lang="fr-LU" sz="1600" dirty="0" smtClean="0"/>
          </a:p>
          <a:p>
            <a:r>
              <a:rPr lang="fr-LU" sz="2000" dirty="0" smtClean="0"/>
              <a:t>EBTI</a:t>
            </a:r>
          </a:p>
          <a:p>
            <a:pPr lvl="1"/>
            <a:r>
              <a:rPr lang="fr-CH" sz="1600" dirty="0">
                <a:hlinkClick r:id="rId5"/>
              </a:rPr>
              <a:t>BTI Consultation (europa.eu</a:t>
            </a:r>
            <a:r>
              <a:rPr lang="fr-CH" sz="1600" dirty="0" smtClean="0">
                <a:hlinkClick r:id="rId5"/>
              </a:rPr>
              <a:t>)</a:t>
            </a:r>
            <a:endParaRPr lang="fr-CH" sz="1600" dirty="0" smtClean="0"/>
          </a:p>
          <a:p>
            <a:r>
              <a:rPr lang="fr-LU" sz="2000" dirty="0"/>
              <a:t>CROSS</a:t>
            </a:r>
          </a:p>
          <a:p>
            <a:pPr lvl="1"/>
            <a:r>
              <a:rPr lang="fr-LU" sz="1600" dirty="0">
                <a:hlinkClick r:id="rId6"/>
              </a:rPr>
              <a:t>https://</a:t>
            </a:r>
            <a:r>
              <a:rPr lang="fr-LU" sz="1600" dirty="0" smtClean="0">
                <a:hlinkClick r:id="rId6"/>
              </a:rPr>
              <a:t>rulings.cbp.gov/home</a:t>
            </a:r>
            <a:endParaRPr lang="fr-LU" sz="1600" dirty="0" smtClean="0"/>
          </a:p>
          <a:p>
            <a:r>
              <a:rPr lang="fr-LU" sz="2000" dirty="0" smtClean="0"/>
              <a:t>ECICS</a:t>
            </a:r>
          </a:p>
          <a:p>
            <a:pPr lvl="1"/>
            <a:r>
              <a:rPr lang="fr-LU" sz="1600" dirty="0">
                <a:hlinkClick r:id="rId7"/>
              </a:rPr>
              <a:t>https://</a:t>
            </a:r>
            <a:r>
              <a:rPr lang="fr-LU" sz="1600" dirty="0" smtClean="0">
                <a:hlinkClick r:id="rId7"/>
              </a:rPr>
              <a:t>ec.europa.eu/taxation_customs/dds2/ecics/chemicalsubstance_consultation.jsp?Lang=en</a:t>
            </a:r>
            <a:endParaRPr lang="fr-LU" sz="1600" dirty="0" smtClean="0"/>
          </a:p>
          <a:p>
            <a:r>
              <a:rPr lang="fr-LU" sz="2000" dirty="0" smtClean="0"/>
              <a:t>CURIA</a:t>
            </a:r>
          </a:p>
          <a:p>
            <a:pPr lvl="1"/>
            <a:r>
              <a:rPr lang="fr-LU" sz="1600" dirty="0">
                <a:hlinkClick r:id="rId8"/>
              </a:rPr>
              <a:t>http://</a:t>
            </a:r>
            <a:r>
              <a:rPr lang="fr-LU" sz="1600" dirty="0" smtClean="0">
                <a:hlinkClick r:id="rId8"/>
              </a:rPr>
              <a:t>curia.europa.eu/juris/recherche.jsf?language=fr</a:t>
            </a:r>
            <a:endParaRPr lang="fr-LU" sz="1600" dirty="0" smtClean="0"/>
          </a:p>
          <a:p>
            <a:r>
              <a:rPr lang="fr-LU" sz="2000" dirty="0" smtClean="0"/>
              <a:t>EZT</a:t>
            </a:r>
          </a:p>
          <a:p>
            <a:pPr lvl="1"/>
            <a:r>
              <a:rPr lang="fr-LU" sz="1600" dirty="0">
                <a:hlinkClick r:id="rId9"/>
              </a:rPr>
              <a:t>http://</a:t>
            </a:r>
            <a:r>
              <a:rPr lang="fr-LU" sz="1600" dirty="0" smtClean="0">
                <a:hlinkClick r:id="rId9"/>
              </a:rPr>
              <a:t>auskunft.ezt-online.de/ezto/Welcome.do</a:t>
            </a:r>
            <a:endParaRPr lang="fr-LU" sz="1600" dirty="0" smtClean="0"/>
          </a:p>
          <a:p>
            <a:pPr lvl="1"/>
            <a:endParaRPr lang="fr-LU" sz="2000" dirty="0" smtClean="0"/>
          </a:p>
          <a:p>
            <a:pPr marL="914400" lvl="2" indent="0"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4150719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Inhaltsplatzhalter 4"/>
          <p:cNvSpPr>
            <a:spLocks noGrp="1"/>
          </p:cNvSpPr>
          <p:nvPr>
            <p:ph idx="1"/>
          </p:nvPr>
        </p:nvSpPr>
        <p:spPr>
          <a:xfrm>
            <a:off x="828431" y="587616"/>
            <a:ext cx="10668000" cy="5711584"/>
          </a:xfrm>
        </p:spPr>
        <p:txBody>
          <a:bodyPr>
            <a:normAutofit/>
          </a:bodyPr>
          <a:lstStyle/>
          <a:p>
            <a:r>
              <a:rPr lang="fr-LU" sz="2000" dirty="0" smtClean="0"/>
              <a:t>Advance Tariff </a:t>
            </a:r>
            <a:r>
              <a:rPr lang="fr-LU" sz="2000" dirty="0" err="1" smtClean="0"/>
              <a:t>Rulings</a:t>
            </a:r>
            <a:endParaRPr lang="fr-LU" sz="2000" dirty="0" smtClean="0"/>
          </a:p>
          <a:p>
            <a:pPr lvl="1"/>
            <a:r>
              <a:rPr lang="en-US" sz="1600" dirty="0">
                <a:hlinkClick r:id="rId2"/>
              </a:rPr>
              <a:t>Search for Advance Tariff Rulings - GOV.UK (tax.service.gov.uk</a:t>
            </a:r>
            <a:r>
              <a:rPr lang="en-US" sz="1600" dirty="0" smtClean="0">
                <a:hlinkClick r:id="rId2"/>
              </a:rPr>
              <a:t>)</a:t>
            </a:r>
            <a:endParaRPr lang="en-US" sz="1600" dirty="0" smtClean="0"/>
          </a:p>
          <a:p>
            <a:r>
              <a:rPr lang="fr-LU" sz="2000" dirty="0" smtClean="0"/>
              <a:t>Rapports des réunions du CCC</a:t>
            </a:r>
          </a:p>
          <a:p>
            <a:pPr lvl="1"/>
            <a:r>
              <a:rPr lang="en-US" sz="1600" dirty="0" smtClean="0">
                <a:hlinkClick r:id="rId3"/>
              </a:rPr>
              <a:t>Comitology Register (europa.eu)</a:t>
            </a:r>
            <a:endParaRPr lang="en-US" sz="1600" dirty="0" smtClean="0"/>
          </a:p>
          <a:p>
            <a:r>
              <a:rPr lang="fr-LU" sz="2000" dirty="0" smtClean="0"/>
              <a:t>Notes </a:t>
            </a:r>
            <a:r>
              <a:rPr lang="fr-LU" sz="2000" dirty="0"/>
              <a:t>explicatives SH + suisses </a:t>
            </a:r>
            <a:r>
              <a:rPr lang="fr-LU" sz="2000" dirty="0" smtClean="0"/>
              <a:t>								</a:t>
            </a:r>
            <a:endParaRPr lang="fr-LU" sz="2000" dirty="0"/>
          </a:p>
          <a:p>
            <a:pPr lvl="1"/>
            <a:r>
              <a:rPr lang="fr-CH" sz="1600" dirty="0">
                <a:hlinkClick r:id="rId4"/>
              </a:rPr>
              <a:t>Notes explicatives du tarif des douanes - Tares (admin.ch)</a:t>
            </a:r>
            <a:endParaRPr lang="fr-CH" sz="1600" dirty="0"/>
          </a:p>
          <a:p>
            <a:r>
              <a:rPr lang="fr-CH" sz="2000" dirty="0" smtClean="0"/>
              <a:t>Avis </a:t>
            </a:r>
            <a:r>
              <a:rPr lang="fr-CH" sz="2000" dirty="0"/>
              <a:t>de classement SH + suisses</a:t>
            </a:r>
          </a:p>
          <a:p>
            <a:pPr lvl="1"/>
            <a:r>
              <a:rPr lang="fr-CH" sz="1600" dirty="0">
                <a:hlinkClick r:id="rId5"/>
              </a:rPr>
              <a:t>Décisions de classement des marchandises du tarif des douanes - Tares (admin.ch)</a:t>
            </a:r>
            <a:endParaRPr lang="fr-CH" sz="1600" dirty="0"/>
          </a:p>
          <a:p>
            <a:pPr marL="0" indent="0">
              <a:buNone/>
            </a:pPr>
            <a:endParaRPr lang="fr-CH" sz="1600" dirty="0" smtClean="0"/>
          </a:p>
          <a:p>
            <a:endParaRPr lang="fr-CH" sz="1600" dirty="0"/>
          </a:p>
          <a:p>
            <a:pPr lvl="1"/>
            <a:endParaRPr lang="fr-LU" sz="2000" dirty="0" smtClean="0"/>
          </a:p>
          <a:p>
            <a:pPr marL="914400" lvl="2" indent="0">
              <a:buNone/>
            </a:pPr>
            <a:endParaRPr lang="fr-CH" dirty="0"/>
          </a:p>
        </p:txBody>
      </p:sp>
    </p:spTree>
    <p:extLst>
      <p:ext uri="{BB962C8B-B14F-4D97-AF65-F5344CB8AC3E}">
        <p14:creationId xmlns:p14="http://schemas.microsoft.com/office/powerpoint/2010/main" val="2463663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TARIC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Permet de trouver toutes les mesures communautaires ainsi que le taux des droits de douane applicables à une marchandise</a:t>
            </a:r>
          </a:p>
          <a:p>
            <a:pPr marL="0" indent="0">
              <a:buNone/>
            </a:pPr>
            <a:endParaRPr lang="fr-C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1132" y="2719427"/>
            <a:ext cx="6849736" cy="3793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661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TARLUX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Reprend les mêmes données que TARIC ainsi que toutes les mesures nationales applicables telles que le taux de la TVA ou des licences nationales à l’importation</a:t>
            </a:r>
          </a:p>
          <a:p>
            <a:pPr marL="0" indent="0">
              <a:buNone/>
            </a:pPr>
            <a:endParaRPr lang="fr-C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321" y="3228370"/>
            <a:ext cx="11743357" cy="1545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946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TARLUX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Calcul des droits et taxes</a:t>
            </a:r>
          </a:p>
          <a:p>
            <a:pPr lvl="1"/>
            <a:r>
              <a:rPr lang="fr-CH" dirty="0" smtClean="0"/>
              <a:t>Indique le montant des droits et taxes à payer ainsi que tous les documents nécessaires à l’appui de la déclaration</a:t>
            </a:r>
          </a:p>
          <a:p>
            <a:pPr marL="0" indent="0">
              <a:buNone/>
            </a:pPr>
            <a:endParaRPr lang="fr-C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8945" y="3024690"/>
            <a:ext cx="6662922" cy="367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787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TARLUX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Contingents</a:t>
            </a:r>
          </a:p>
          <a:p>
            <a:pPr lvl="1"/>
            <a:r>
              <a:rPr lang="fr-CH" dirty="0" smtClean="0"/>
              <a:t>Permet de vérifier le statut d’un contingent</a:t>
            </a:r>
          </a:p>
          <a:p>
            <a:pPr marL="457200" lvl="1" indent="0">
              <a:buNone/>
            </a:pPr>
            <a:endParaRPr lang="fr-CH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385" y="2721332"/>
            <a:ext cx="11231230" cy="1901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6898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MADB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err="1" smtClean="0"/>
              <a:t>Market</a:t>
            </a:r>
            <a:r>
              <a:rPr lang="fr-CH" dirty="0" smtClean="0"/>
              <a:t> Access </a:t>
            </a:r>
            <a:r>
              <a:rPr lang="fr-CH" dirty="0" err="1" smtClean="0"/>
              <a:t>Database</a:t>
            </a:r>
            <a:endParaRPr lang="fr-CH" dirty="0"/>
          </a:p>
          <a:p>
            <a:pPr lvl="1"/>
            <a:r>
              <a:rPr lang="fr-CH" dirty="0" smtClean="0"/>
              <a:t>Contient les données TARIC ainsi que les droits et taxes applicables dans des pays tiers</a:t>
            </a:r>
          </a:p>
          <a:p>
            <a:pPr marL="457200" lvl="1" indent="0">
              <a:buNone/>
            </a:pPr>
            <a:endParaRPr lang="fr-C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591" y="2742196"/>
            <a:ext cx="4631809" cy="4047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159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EBTI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Contient tous les RTC de l’UE</a:t>
            </a:r>
          </a:p>
          <a:p>
            <a:pPr marL="0" indent="0">
              <a:buNone/>
            </a:pPr>
            <a:endParaRPr lang="fr-CH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231" y="2427316"/>
            <a:ext cx="5453771" cy="4311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11813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CROSS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Principe similaire à EBTI, contient toutes les décisions anticipées en matière de tarification émises par les États-Unis</a:t>
            </a:r>
          </a:p>
          <a:p>
            <a:pPr marL="0" indent="0">
              <a:buNone/>
            </a:pPr>
            <a:endParaRPr lang="fr-C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843" y="2681263"/>
            <a:ext cx="7853985" cy="4035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660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ECICS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Base de données pour les produits chimiques</a:t>
            </a:r>
          </a:p>
          <a:p>
            <a:pPr lvl="1"/>
            <a:r>
              <a:rPr lang="fr-CH" dirty="0" smtClean="0"/>
              <a:t>Permet de trouver le classement tarifaire correct d’un produit chimique à l’aide d’un numéro CAS</a:t>
            </a:r>
          </a:p>
          <a:p>
            <a:pPr marL="457200" lvl="1" indent="0">
              <a:buNone/>
            </a:pPr>
            <a:endParaRPr lang="fr-C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5991" y="3002761"/>
            <a:ext cx="7740018" cy="3789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CURIA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Reprend toutes les jurisprudences de la Cour de justice de l’Union européenne</a:t>
            </a:r>
          </a:p>
          <a:p>
            <a:pPr marL="0" indent="0">
              <a:buNone/>
            </a:pPr>
            <a:endParaRPr lang="fr-CH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2035" y="2759623"/>
            <a:ext cx="9547930" cy="3948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869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EZT</a:t>
            </a:r>
            <a:endParaRPr lang="fr-CH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 smtClean="0"/>
              <a:t>Site de la douane allemande</a:t>
            </a:r>
          </a:p>
          <a:p>
            <a:r>
              <a:rPr lang="fr-CH" dirty="0" smtClean="0"/>
              <a:t>Reprend:</a:t>
            </a:r>
          </a:p>
          <a:p>
            <a:pPr lvl="1"/>
            <a:r>
              <a:rPr lang="fr-CH" dirty="0"/>
              <a:t>TARIC</a:t>
            </a:r>
          </a:p>
          <a:p>
            <a:pPr lvl="1"/>
            <a:r>
              <a:rPr lang="fr-CH" dirty="0"/>
              <a:t>Notes explicatives du SH</a:t>
            </a:r>
          </a:p>
          <a:p>
            <a:pPr lvl="1"/>
            <a:r>
              <a:rPr lang="fr-CH" dirty="0"/>
              <a:t>Notes explicatives de la NC</a:t>
            </a:r>
          </a:p>
          <a:p>
            <a:pPr lvl="1"/>
            <a:r>
              <a:rPr lang="fr-CH" dirty="0"/>
              <a:t>Règlements de classement</a:t>
            </a:r>
          </a:p>
          <a:p>
            <a:pPr lvl="1"/>
            <a:r>
              <a:rPr lang="fr-CH" dirty="0"/>
              <a:t>Avis de classement de </a:t>
            </a:r>
            <a:r>
              <a:rPr lang="fr-CH" dirty="0" smtClean="0"/>
              <a:t>l’OMD</a:t>
            </a:r>
          </a:p>
          <a:p>
            <a:r>
              <a:rPr lang="fr-CH" dirty="0" smtClean="0"/>
              <a:t>Recherche par mots-clés</a:t>
            </a:r>
          </a:p>
        </p:txBody>
      </p:sp>
    </p:spTree>
    <p:extLst>
      <p:ext uri="{BB962C8B-B14F-4D97-AF65-F5344CB8AC3E}">
        <p14:creationId xmlns:p14="http://schemas.microsoft.com/office/powerpoint/2010/main" val="415714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EZT</a:t>
            </a:r>
            <a:endParaRPr lang="fr-CH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4081" y="1825625"/>
            <a:ext cx="8923837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022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H" dirty="0" smtClean="0"/>
              <a:t>EZT</a:t>
            </a:r>
            <a:endParaRPr lang="fr-CH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4478" y="1825625"/>
            <a:ext cx="990304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1009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LU" dirty="0"/>
              <a:t>Advance Tariff </a:t>
            </a:r>
            <a:r>
              <a:rPr lang="fr-LU" dirty="0" err="1"/>
              <a:t>Rulings</a:t>
            </a:r>
            <a:r>
              <a:rPr lang="fr-LU" dirty="0"/>
              <a:t/>
            </a:r>
            <a:br>
              <a:rPr lang="fr-LU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Principe similaire à EBTI, contient toutes les décisions anticipées en matière de tarification émises par </a:t>
            </a:r>
            <a:r>
              <a:rPr lang="fr-CH" dirty="0" smtClean="0"/>
              <a:t>le Royaume-Uni</a:t>
            </a:r>
          </a:p>
          <a:p>
            <a:endParaRPr lang="fr-CH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3900" y="2710841"/>
            <a:ext cx="7722780" cy="3983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250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LU" dirty="0"/>
              <a:t>Rapports des réunions du CCC</a:t>
            </a:r>
            <a:br>
              <a:rPr lang="fr-LU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Compte-rendu</a:t>
            </a:r>
            <a:r>
              <a:rPr lang="en-US" dirty="0" smtClean="0"/>
              <a:t> des </a:t>
            </a:r>
            <a:r>
              <a:rPr lang="en-US" dirty="0" err="1" smtClean="0"/>
              <a:t>réunions</a:t>
            </a:r>
            <a:r>
              <a:rPr lang="en-US" dirty="0" smtClean="0"/>
              <a:t> du </a:t>
            </a:r>
            <a:r>
              <a:rPr lang="en-US" dirty="0" err="1" smtClean="0"/>
              <a:t>Comité</a:t>
            </a:r>
            <a:r>
              <a:rPr lang="en-US" dirty="0" smtClean="0"/>
              <a:t> du Code des Douanes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matière</a:t>
            </a:r>
            <a:r>
              <a:rPr lang="en-US" dirty="0" smtClean="0"/>
              <a:t> </a:t>
            </a:r>
            <a:r>
              <a:rPr lang="en-US" dirty="0" err="1" smtClean="0"/>
              <a:t>Tarif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645" y="2775041"/>
            <a:ext cx="10511669" cy="3885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3209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TARES (Notes </a:t>
            </a:r>
            <a:r>
              <a:rPr lang="en-US" dirty="0" err="1" smtClean="0"/>
              <a:t>explicatives</a:t>
            </a:r>
            <a:r>
              <a:rPr lang="en-US" dirty="0" smtClean="0"/>
              <a:t> SH)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Site de la douane suisse qui reprend les notes explicatives du </a:t>
            </a:r>
            <a:r>
              <a:rPr lang="fr-CH" dirty="0" smtClean="0"/>
              <a:t>SH et les notes explicatives suisses:</a:t>
            </a:r>
          </a:p>
          <a:p>
            <a:endParaRPr lang="fr-CH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184" y="2653804"/>
            <a:ext cx="7647126" cy="3869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2445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TARES (Avis de </a:t>
            </a:r>
            <a:r>
              <a:rPr lang="en-US" dirty="0" err="1" smtClean="0"/>
              <a:t>classement</a:t>
            </a:r>
            <a:r>
              <a:rPr lang="en-US" dirty="0" smtClean="0"/>
              <a:t> SH)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H" dirty="0"/>
              <a:t>Site de la douane </a:t>
            </a:r>
            <a:r>
              <a:rPr lang="fr-CH" dirty="0" smtClean="0"/>
              <a:t>suisse qui reprend les avis de classement du SH:</a:t>
            </a:r>
          </a:p>
          <a:p>
            <a:endParaRPr lang="fr-CH" dirty="0"/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438" y="2384495"/>
            <a:ext cx="7899898" cy="4163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960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385</Words>
  <Application>Microsoft Office PowerPoint</Application>
  <PresentationFormat>Widescreen</PresentationFormat>
  <Paragraphs>68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Calibri Light</vt:lpstr>
      <vt:lpstr>Office</vt:lpstr>
      <vt:lpstr>Les différentes sources d’information </vt:lpstr>
      <vt:lpstr>PowerPoint Presentation</vt:lpstr>
      <vt:lpstr>PowerPoint Presentation</vt:lpstr>
      <vt:lpstr>TARIC</vt:lpstr>
      <vt:lpstr>TARLUX</vt:lpstr>
      <vt:lpstr>TARLUX</vt:lpstr>
      <vt:lpstr>TARLUX</vt:lpstr>
      <vt:lpstr>MADB</vt:lpstr>
      <vt:lpstr>EBTI</vt:lpstr>
      <vt:lpstr>CROSS</vt:lpstr>
      <vt:lpstr>ECICS</vt:lpstr>
      <vt:lpstr>CURIA</vt:lpstr>
      <vt:lpstr>EZT</vt:lpstr>
      <vt:lpstr>EZT</vt:lpstr>
      <vt:lpstr>EZT</vt:lpstr>
      <vt:lpstr>Advance Tariff Rulings </vt:lpstr>
      <vt:lpstr>Rapports des réunions du CCC </vt:lpstr>
      <vt:lpstr>TARES (Notes explicatives SH)</vt:lpstr>
      <vt:lpstr>TARES (Avis de classement SH)</vt:lpstr>
    </vt:vector>
  </TitlesOfParts>
  <Company>DOUANES ET ACCISES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Taxe sur les boissons non alcoolisées sucrées</dc:title>
  <dc:creator>mschlink</dc:creator>
  <cp:lastModifiedBy>bofferdingd</cp:lastModifiedBy>
  <cp:revision>66</cp:revision>
  <cp:lastPrinted>2017-07-12T12:12:41Z</cp:lastPrinted>
  <dcterms:created xsi:type="dcterms:W3CDTF">2017-07-11T09:59:41Z</dcterms:created>
  <dcterms:modified xsi:type="dcterms:W3CDTF">2024-11-04T17:02:50Z</dcterms:modified>
</cp:coreProperties>
</file>