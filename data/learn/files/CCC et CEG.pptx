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"/>
  </p:handoutMasterIdLst>
  <p:sldIdLst>
    <p:sldId id="256" r:id="rId2"/>
    <p:sldId id="259" r:id="rId3"/>
    <p:sldId id="260" r:id="rId4"/>
    <p:sldId id="263" r:id="rId5"/>
  </p:sldIdLst>
  <p:sldSz cx="12192000" cy="6858000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schlink" initials="m" lastIdx="2" clrIdx="0">
    <p:extLst>
      <p:ext uri="{19B8F6BF-5375-455C-9EA6-DF929625EA0E}">
        <p15:presenceInfo xmlns:p15="http://schemas.microsoft.com/office/powerpoint/2012/main" userId="mschlin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ittlere Formatvorlage 4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0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3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 err="1" smtClean="0"/>
              <a:t>Réunions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2023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présentielle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Comité du code des douanes Section nomenclature tarifaire et statistique (SOUS-SECTION TEXTILES ET MECANIQUES/DIVERS)</c:v>
                </c:pt>
                <c:pt idx="1">
                  <c:v>Comité du code des douanes Section nomenclature tarifaire et statistique (SOUS-SECTION AGRICULTURE/CHIMIE)</c:v>
                </c:pt>
                <c:pt idx="2">
                  <c:v>Comité du code des douanes Section nomenclature tarifaire et statistique (SOUS-SECTION NOMENCLATURE COMBINÉE)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37-4EF4-A948-857539B227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virtuelle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Comité du code des douanes Section nomenclature tarifaire et statistique (SOUS-SECTION TEXTILES ET MECANIQUES/DIVERS)</c:v>
                </c:pt>
                <c:pt idx="1">
                  <c:v>Comité du code des douanes Section nomenclature tarifaire et statistique (SOUS-SECTION AGRICULTURE/CHIMIE)</c:v>
                </c:pt>
                <c:pt idx="2">
                  <c:v>Comité du code des douanes Section nomenclature tarifaire et statistique (SOUS-SECTION NOMENCLATURE COMBINÉE)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37-4EF4-A948-857539B227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256984896"/>
        <c:axId val="256982928"/>
        <c:axId val="251547008"/>
      </c:bar3DChart>
      <c:catAx>
        <c:axId val="2569848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6982928"/>
        <c:crosses val="autoZero"/>
        <c:auto val="1"/>
        <c:lblAlgn val="ctr"/>
        <c:lblOffset val="100"/>
        <c:noMultiLvlLbl val="0"/>
      </c:catAx>
      <c:valAx>
        <c:axId val="256982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minorGridlines>
          <c:spPr>
            <a:ln>
              <a:solidFill>
                <a:schemeClr val="dk1">
                  <a:lumMod val="60000"/>
                  <a:lumOff val="40000"/>
                </a:schemeClr>
              </a:solidFill>
            </a:ln>
            <a:effectLst/>
          </c:spPr>
        </c:min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6984896"/>
        <c:crosses val="autoZero"/>
        <c:crossBetween val="between"/>
      </c:valAx>
      <c:serAx>
        <c:axId val="251547008"/>
        <c:scaling>
          <c:orientation val="minMax"/>
        </c:scaling>
        <c:delete val="1"/>
        <c:axPos val="b"/>
        <c:minorGridlines>
          <c:spPr>
            <a:ln>
              <a:solidFill>
                <a:schemeClr val="dk1">
                  <a:lumMod val="60000"/>
                  <a:lumOff val="40000"/>
                </a:schemeClr>
              </a:solidFill>
            </a:ln>
            <a:effectLst/>
          </c:spPr>
        </c:minorGridlines>
        <c:majorTickMark val="out"/>
        <c:minorTickMark val="none"/>
        <c:tickLblPos val="nextTo"/>
        <c:crossAx val="256982928"/>
        <c:crosses val="autoZero"/>
      </c:ser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 err="1" smtClean="0"/>
              <a:t>Réunions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2023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présentielle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3"/>
                <c:pt idx="0">
                  <c:v>Groupe d'experts douaniers  Section nomenclature tarifaire et statistique (SOUS-SECTION RTC)</c:v>
                </c:pt>
                <c:pt idx="1">
                  <c:v>Groupe d'experts douaniers  Section nomenclature tarifaire et statistique (SOUS-SECTION HEADS OF TARIFF)</c:v>
                </c:pt>
                <c:pt idx="2">
                  <c:v>Groupe d'experts douaniers  Section nomenclature tarifaire et statistique (SOUS-SECTION COORDINATION SH/OMD)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37-4EF4-A948-857539B227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virtuelle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3"/>
                <c:pt idx="0">
                  <c:v>Groupe d'experts douaniers  Section nomenclature tarifaire et statistique (SOUS-SECTION RTC)</c:v>
                </c:pt>
                <c:pt idx="1">
                  <c:v>Groupe d'experts douaniers  Section nomenclature tarifaire et statistique (SOUS-SECTION HEADS OF TARIFF)</c:v>
                </c:pt>
                <c:pt idx="2">
                  <c:v>Groupe d'experts douaniers  Section nomenclature tarifaire et statistique (SOUS-SECTION COORDINATION SH/OMD)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0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37-4EF4-A948-857539B227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256984896"/>
        <c:axId val="256982928"/>
        <c:axId val="251547008"/>
      </c:bar3DChart>
      <c:catAx>
        <c:axId val="2569848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6982928"/>
        <c:crosses val="autoZero"/>
        <c:auto val="1"/>
        <c:lblAlgn val="ctr"/>
        <c:lblOffset val="100"/>
        <c:noMultiLvlLbl val="0"/>
      </c:catAx>
      <c:valAx>
        <c:axId val="256982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minorGridlines>
          <c:spPr>
            <a:ln>
              <a:solidFill>
                <a:schemeClr val="dk1">
                  <a:lumMod val="60000"/>
                  <a:lumOff val="40000"/>
                </a:schemeClr>
              </a:solidFill>
            </a:ln>
            <a:effectLst/>
          </c:spPr>
        </c:min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6984896"/>
        <c:crosses val="autoZero"/>
        <c:crossBetween val="between"/>
      </c:valAx>
      <c:serAx>
        <c:axId val="251547008"/>
        <c:scaling>
          <c:orientation val="minMax"/>
        </c:scaling>
        <c:delete val="1"/>
        <c:axPos val="b"/>
        <c:minorGridlines>
          <c:spPr>
            <a:ln>
              <a:solidFill>
                <a:schemeClr val="dk1">
                  <a:lumMod val="60000"/>
                  <a:lumOff val="40000"/>
                </a:schemeClr>
              </a:solidFill>
            </a:ln>
            <a:effectLst/>
          </c:spPr>
        </c:minorGridlines>
        <c:majorTickMark val="out"/>
        <c:minorTickMark val="none"/>
        <c:tickLblPos val="nextTo"/>
        <c:crossAx val="256982928"/>
        <c:crosses val="autoZero"/>
      </c:ser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 err="1" smtClean="0"/>
              <a:t>Réunions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2023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présentielle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2"/>
                <c:pt idx="0">
                  <c:v>Groupe d'experts douaniers  (SOUS-SECTION TARIC)</c:v>
                </c:pt>
                <c:pt idx="1">
                  <c:v>Groupe d'experts douaniers  (MESURES TARIFAIRES)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37-4EF4-A948-857539B227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virtuelle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2"/>
                <c:pt idx="0">
                  <c:v>Groupe d'experts douaniers  (SOUS-SECTION TARIC)</c:v>
                </c:pt>
                <c:pt idx="1">
                  <c:v>Groupe d'experts douaniers  (MESURES TARIFAIRES)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37-4EF4-A948-857539B227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256984896"/>
        <c:axId val="256982928"/>
        <c:axId val="251547008"/>
      </c:bar3DChart>
      <c:catAx>
        <c:axId val="2569848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6982928"/>
        <c:crosses val="autoZero"/>
        <c:auto val="1"/>
        <c:lblAlgn val="ctr"/>
        <c:lblOffset val="100"/>
        <c:noMultiLvlLbl val="0"/>
      </c:catAx>
      <c:valAx>
        <c:axId val="256982928"/>
        <c:scaling>
          <c:orientation val="minMax"/>
          <c:max val="3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minorGridlines>
          <c:spPr>
            <a:ln>
              <a:solidFill>
                <a:schemeClr val="dk1">
                  <a:lumMod val="60000"/>
                  <a:lumOff val="40000"/>
                </a:schemeClr>
              </a:solidFill>
            </a:ln>
            <a:effectLst/>
          </c:spPr>
        </c:min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6984896"/>
        <c:crosses val="autoZero"/>
        <c:crossBetween val="between"/>
      </c:valAx>
      <c:serAx>
        <c:axId val="251547008"/>
        <c:scaling>
          <c:orientation val="minMax"/>
        </c:scaling>
        <c:delete val="1"/>
        <c:axPos val="b"/>
        <c:minorGridlines>
          <c:spPr>
            <a:ln>
              <a:solidFill>
                <a:schemeClr val="dk1">
                  <a:lumMod val="60000"/>
                  <a:lumOff val="40000"/>
                </a:schemeClr>
              </a:solidFill>
            </a:ln>
            <a:effectLst/>
          </c:spPr>
        </c:minorGridlines>
        <c:majorTickMark val="out"/>
        <c:minorTickMark val="none"/>
        <c:tickLblPos val="nextTo"/>
        <c:crossAx val="256982928"/>
        <c:crosses val="autoZero"/>
      </c:ser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039E8-4792-4DE3-AA83-F7516F3B65D7}" type="datetimeFigureOut">
              <a:rPr lang="fr-CH" smtClean="0"/>
              <a:t>16.09.2024</a:t>
            </a:fld>
            <a:endParaRPr lang="fr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7A034-ED28-44E1-8859-77E415D3450D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169117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fr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16.09.2024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9071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fr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16.09.2024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9060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fr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16.09.2024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93807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fr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CH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16.09.2024</a:t>
            </a:fld>
            <a:endParaRPr lang="fr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38195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fr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CH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16.09.2024</a:t>
            </a:fld>
            <a:endParaRPr lang="fr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9172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fr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16.09.2024</a:t>
            </a:fld>
            <a:endParaRPr lang="fr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82351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16.09.2024</a:t>
            </a:fld>
            <a:endParaRPr lang="fr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8251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fr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16.09.2024</a:t>
            </a:fld>
            <a:endParaRPr lang="fr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92002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fr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16.09.2024</a:t>
            </a:fld>
            <a:endParaRPr lang="fr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2775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fr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16.09.2024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0186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fr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16.09.2024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5256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fr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C1B58-A5CB-4888-98D1-673EE0D4D308}" type="datetimeFigureOut">
              <a:rPr lang="fr-CH" smtClean="0"/>
              <a:t>16.09.2024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7513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44770" y="1626958"/>
            <a:ext cx="10769600" cy="2716442"/>
          </a:xfrm>
        </p:spPr>
        <p:txBody>
          <a:bodyPr>
            <a:normAutofit/>
          </a:bodyPr>
          <a:lstStyle/>
          <a:p>
            <a:r>
              <a:rPr lang="fr-LU" sz="5400" b="1" dirty="0">
                <a:ln w="9525">
                  <a:solidFill>
                    <a:schemeClr val="accent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Comités et groupes d’expert</a:t>
            </a:r>
            <a:br>
              <a:rPr lang="fr-LU" sz="5400" b="1" dirty="0">
                <a:ln w="9525">
                  <a:solidFill>
                    <a:schemeClr val="accent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endParaRPr lang="fr-CH" sz="5400" b="1" dirty="0">
              <a:ln w="9525">
                <a:solidFill>
                  <a:schemeClr val="accent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64" y="219138"/>
            <a:ext cx="3031402" cy="818232"/>
          </a:xfrm>
          <a:prstGeom prst="rect">
            <a:avLst/>
          </a:prstGeom>
        </p:spPr>
      </p:pic>
      <p:sp>
        <p:nvSpPr>
          <p:cNvPr id="7" name="Titel 3"/>
          <p:cNvSpPr txBox="1">
            <a:spLocks/>
          </p:cNvSpPr>
          <p:nvPr/>
        </p:nvSpPr>
        <p:spPr>
          <a:xfrm>
            <a:off x="644770" y="5003800"/>
            <a:ext cx="11547230" cy="12954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fr-CH" sz="2800" b="1" dirty="0"/>
          </a:p>
        </p:txBody>
      </p:sp>
    </p:spTree>
    <p:extLst>
      <p:ext uri="{BB962C8B-B14F-4D97-AF65-F5344CB8AC3E}">
        <p14:creationId xmlns:p14="http://schemas.microsoft.com/office/powerpoint/2010/main" val="4120300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2606"/>
          </a:xfrm>
        </p:spPr>
        <p:txBody>
          <a:bodyPr/>
          <a:lstStyle/>
          <a:p>
            <a:r>
              <a:rPr lang="en-US" dirty="0" err="1" smtClean="0"/>
              <a:t>Comité</a:t>
            </a:r>
            <a:r>
              <a:rPr lang="en-US" dirty="0" smtClean="0"/>
              <a:t> du code des </a:t>
            </a:r>
            <a:r>
              <a:rPr lang="en-US" dirty="0" err="1" smtClean="0"/>
              <a:t>douanes</a:t>
            </a:r>
            <a:r>
              <a:rPr lang="en-US" dirty="0" smtClean="0"/>
              <a:t>: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064168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7035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0434"/>
            <a:ext cx="10515600" cy="1480301"/>
          </a:xfrm>
        </p:spPr>
        <p:txBody>
          <a:bodyPr/>
          <a:lstStyle/>
          <a:p>
            <a:r>
              <a:rPr lang="fr-LU" dirty="0"/>
              <a:t>Groupe d’experts </a:t>
            </a:r>
            <a:r>
              <a:rPr lang="fr-LU" dirty="0" smtClean="0"/>
              <a:t>douaniers: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16943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95523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0434"/>
            <a:ext cx="10515600" cy="1480301"/>
          </a:xfrm>
        </p:spPr>
        <p:txBody>
          <a:bodyPr/>
          <a:lstStyle/>
          <a:p>
            <a:r>
              <a:rPr lang="fr-LU" dirty="0"/>
              <a:t>Groupe d’experts </a:t>
            </a:r>
            <a:r>
              <a:rPr lang="fr-LU" dirty="0" smtClean="0"/>
              <a:t>douaniers: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603029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6071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Comités et groupes d’expert </vt:lpstr>
      <vt:lpstr>Comité du code des douanes:</vt:lpstr>
      <vt:lpstr>Groupe d’experts douaniers:</vt:lpstr>
      <vt:lpstr>Groupe d’experts douaniers:</vt:lpstr>
    </vt:vector>
  </TitlesOfParts>
  <Company>DOUANES ET ACCISES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Taxe sur les boissons non alcoolisées sucrées</dc:title>
  <dc:creator>mschlink</dc:creator>
  <cp:lastModifiedBy>bofferdingd</cp:lastModifiedBy>
  <cp:revision>54</cp:revision>
  <cp:lastPrinted>2017-07-12T12:12:41Z</cp:lastPrinted>
  <dcterms:created xsi:type="dcterms:W3CDTF">2017-07-11T09:59:41Z</dcterms:created>
  <dcterms:modified xsi:type="dcterms:W3CDTF">2024-09-16T13:35:09Z</dcterms:modified>
</cp:coreProperties>
</file>