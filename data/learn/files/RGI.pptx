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12.jpg" ContentType="image/png"/>
  <Override PartName="/ppt/media/image13.jpg"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0" r:id="rId7"/>
    <p:sldId id="261" r:id="rId8"/>
    <p:sldId id="258" r:id="rId9"/>
    <p:sldId id="259" r:id="rId10"/>
    <p:sldId id="262" r:id="rId11"/>
    <p:sldId id="263" r:id="rId12"/>
    <p:sldId id="264" r:id="rId13"/>
    <p:sldId id="265" r:id="rId14"/>
    <p:sldId id="266" r:id="rId15"/>
    <p:sldId id="267" r:id="rId16"/>
    <p:sldId id="268" r:id="rId17"/>
    <p:sldId id="270" r:id="rId18"/>
    <p:sldId id="269" r:id="rId19"/>
    <p:sldId id="271" r:id="rId20"/>
    <p:sldId id="272" r:id="rId21"/>
    <p:sldId id="274" r:id="rId22"/>
    <p:sldId id="275" r:id="rId23"/>
    <p:sldId id="276" r:id="rId24"/>
    <p:sldId id="277" r:id="rId25"/>
    <p:sldId id="278" r:id="rId26"/>
    <p:sldId id="280" r:id="rId27"/>
    <p:sldId id="281" r:id="rId28"/>
    <p:sldId id="282" r:id="rId29"/>
    <p:sldId id="285" r:id="rId30"/>
    <p:sldId id="284" r:id="rId31"/>
    <p:sldId id="283" r:id="rId32"/>
    <p:sldId id="286" r:id="rId33"/>
    <p:sldId id="287" r:id="rId34"/>
    <p:sldId id="289" r:id="rId35"/>
    <p:sldId id="291" r:id="rId36"/>
    <p:sldId id="292" r:id="rId37"/>
    <p:sldId id="295" r:id="rId38"/>
    <p:sldId id="294" r:id="rId39"/>
    <p:sldId id="297" r:id="rId40"/>
    <p:sldId id="298" r:id="rId41"/>
    <p:sldId id="29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5878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23146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1386993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4E367F8-A9AB-4011-BACD-99FF8376C37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656521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4E367F8-A9AB-4011-BACD-99FF8376C373}" type="datetimeFigureOut">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2118060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4E367F8-A9AB-4011-BACD-99FF8376C373}"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372027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E367F8-A9AB-4011-BACD-99FF8376C373}" type="datetimeFigureOut">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3318578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4E367F8-A9AB-4011-BACD-99FF8376C37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1196807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4E367F8-A9AB-4011-BACD-99FF8376C37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205280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Date Placeholder 2"/>
          <p:cNvSpPr>
            <a:spLocks noGrp="1"/>
          </p:cNvSpPr>
          <p:nvPr>
            <p:ph type="dt" sz="half" idx="10"/>
          </p:nvPr>
        </p:nvSpPr>
        <p:spPr/>
        <p:txBody>
          <a:bodyPr/>
          <a:lstStyle/>
          <a:p>
            <a:fld id="{74E367F8-A9AB-4011-BACD-99FF8376C373}"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71431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2365395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561333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3337446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797780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2006560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3427935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4E367F8-A9AB-4011-BACD-99FF8376C37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D20A22-1039-4508-9C2C-78640424D3D8}" type="slidenum">
              <a:rPr lang="en-US" smtClean="0"/>
              <a:t>‹#›</a:t>
            </a:fld>
            <a:endParaRPr lang="en-US"/>
          </a:p>
        </p:txBody>
      </p:sp>
    </p:spTree>
    <p:extLst>
      <p:ext uri="{BB962C8B-B14F-4D97-AF65-F5344CB8AC3E}">
        <p14:creationId xmlns:p14="http://schemas.microsoft.com/office/powerpoint/2010/main" val="2322368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74E367F8-A9AB-4011-BACD-99FF8376C373}" type="datetimeFigureOut">
              <a:rPr lang="en-US" smtClean="0"/>
              <a:t>11/4/2024</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9FD20A22-1039-4508-9C2C-78640424D3D8}" type="slidenum">
              <a:rPr lang="en-US" smtClean="0"/>
              <a:t>‹#›</a:t>
            </a:fld>
            <a:endParaRPr lang="en-US"/>
          </a:p>
        </p:txBody>
      </p:sp>
    </p:spTree>
    <p:extLst>
      <p:ext uri="{BB962C8B-B14F-4D97-AF65-F5344CB8AC3E}">
        <p14:creationId xmlns:p14="http://schemas.microsoft.com/office/powerpoint/2010/main" val="237826431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www.google.lu/url?sa=i&amp;rct=j&amp;q=&amp;esrc=s&amp;source=images&amp;cd=&amp;cad=rja&amp;uact=8&amp;ved=0ahUKEwjxyeLrzsfWAhUEyRQKHZjfAmUQjRwIBw&amp;url=https://www.ebay-kleinanzeigen.de/s-anzeige/diamant-herren-fahrrad-kult-bedingt-fahrbereit/669948049-217-7919&amp;psig=AFQjCNEyDQPUD92bXbppUlyJ-WE3hDbpYw&amp;ust=1506678997753122" TargetMode="Externa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LU" dirty="0" smtClean="0"/>
              <a:t>Les règles générales interprétatives (RGI)</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362173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197033" y="598516"/>
            <a:ext cx="7946967" cy="646331"/>
          </a:xfrm>
          <a:prstGeom prst="rect">
            <a:avLst/>
          </a:prstGeom>
          <a:noFill/>
        </p:spPr>
        <p:txBody>
          <a:bodyPr wrap="square" rtlCol="0">
            <a:spAutoFit/>
          </a:bodyPr>
          <a:lstStyle/>
          <a:p>
            <a:endParaRPr lang="fr-LU" dirty="0"/>
          </a:p>
          <a:p>
            <a:endParaRPr lang="en-US" dirty="0"/>
          </a:p>
        </p:txBody>
      </p:sp>
      <p:sp>
        <p:nvSpPr>
          <p:cNvPr id="20" name="Title 19"/>
          <p:cNvSpPr>
            <a:spLocks noGrp="1"/>
          </p:cNvSpPr>
          <p:nvPr>
            <p:ph type="title"/>
          </p:nvPr>
        </p:nvSpPr>
        <p:spPr>
          <a:xfrm>
            <a:off x="684211" y="831273"/>
            <a:ext cx="8534401" cy="2344189"/>
          </a:xfrm>
        </p:spPr>
        <p:txBody>
          <a:bodyPr/>
          <a:lstStyle/>
          <a:p>
            <a:r>
              <a:rPr lang="en-US" dirty="0" err="1" smtClean="0"/>
              <a:t>Utilisateurs</a:t>
            </a:r>
            <a:r>
              <a:rPr lang="en-US" dirty="0" smtClean="0"/>
              <a:t> </a:t>
            </a:r>
            <a:r>
              <a:rPr lang="en-US" dirty="0"/>
              <a:t>des RGI ?</a:t>
            </a:r>
            <a:br>
              <a:rPr lang="en-US" dirty="0"/>
            </a:br>
            <a:endParaRPr lang="en-US" dirty="0"/>
          </a:p>
        </p:txBody>
      </p:sp>
      <p:sp>
        <p:nvSpPr>
          <p:cNvPr id="21" name="Text Placeholder 20"/>
          <p:cNvSpPr>
            <a:spLocks noGrp="1"/>
          </p:cNvSpPr>
          <p:nvPr>
            <p:ph type="body" idx="1"/>
          </p:nvPr>
        </p:nvSpPr>
        <p:spPr>
          <a:xfrm>
            <a:off x="1099850" y="3789218"/>
            <a:ext cx="8534400" cy="1498600"/>
          </a:xfrm>
          <a:noFill/>
          <a:ln>
            <a:noFill/>
          </a:ln>
        </p:spPr>
        <p:style>
          <a:lnRef idx="2">
            <a:schemeClr val="accent3"/>
          </a:lnRef>
          <a:fillRef idx="1">
            <a:schemeClr val="lt1"/>
          </a:fillRef>
          <a:effectRef idx="0">
            <a:schemeClr val="accent3"/>
          </a:effectRef>
          <a:fontRef idx="minor">
            <a:schemeClr val="dk1"/>
          </a:fontRef>
        </p:style>
        <p:txBody>
          <a:bodyPr/>
          <a:lstStyle/>
          <a:p>
            <a:endParaRPr lang="fr-LU" dirty="0" smtClean="0"/>
          </a:p>
          <a:p>
            <a:r>
              <a:rPr lang="fr-LU" sz="3200" b="1" dirty="0" smtClean="0">
                <a:sym typeface="Wingdings" panose="05000000000000000000" pitchFamily="2" charset="2"/>
              </a:rPr>
              <a:t> Utilisateurs de la nomenclature SH </a:t>
            </a:r>
            <a:endParaRPr lang="en-US" sz="3200" b="1" dirty="0"/>
          </a:p>
        </p:txBody>
      </p:sp>
    </p:spTree>
    <p:extLst>
      <p:ext uri="{BB962C8B-B14F-4D97-AF65-F5344CB8AC3E}">
        <p14:creationId xmlns:p14="http://schemas.microsoft.com/office/powerpoint/2010/main" val="18155360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animEffect transition="in" filter="fade">
                                      <p:cBhvr>
                                        <p:cTn id="11" dur="1000"/>
                                        <p:tgtEl>
                                          <p:spTgt spid="21">
                                            <p:txEl>
                                              <p:pRg st="1" end="1"/>
                                            </p:txEl>
                                          </p:spTgt>
                                        </p:tgtEl>
                                      </p:cBhvr>
                                    </p:animEffect>
                                    <p:anim calcmode="lin" valueType="num">
                                      <p:cBhvr>
                                        <p:cTn id="12"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2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1571105"/>
            <a:ext cx="8534401" cy="764771"/>
          </a:xfrm>
        </p:spPr>
        <p:txBody>
          <a:bodyPr/>
          <a:lstStyle/>
          <a:p>
            <a:r>
              <a:rPr lang="fr-LU" dirty="0" smtClean="0"/>
              <a:t>But des RGI ?</a:t>
            </a:r>
            <a:endParaRPr lang="en-US" dirty="0"/>
          </a:p>
        </p:txBody>
      </p:sp>
      <p:sp>
        <p:nvSpPr>
          <p:cNvPr id="3" name="Text Placeholder 2"/>
          <p:cNvSpPr>
            <a:spLocks noGrp="1"/>
          </p:cNvSpPr>
          <p:nvPr>
            <p:ph type="body" idx="1"/>
          </p:nvPr>
        </p:nvSpPr>
        <p:spPr>
          <a:xfrm>
            <a:off x="800592" y="3865418"/>
            <a:ext cx="8534400" cy="2128982"/>
          </a:xfrm>
        </p:spPr>
        <p:txBody>
          <a:bodyPr>
            <a:normAutofit/>
          </a:bodyPr>
          <a:lstStyle/>
          <a:p>
            <a:r>
              <a:rPr lang="fr-LU" sz="3200" dirty="0" smtClean="0">
                <a:sym typeface="Wingdings" panose="05000000000000000000" pitchFamily="2" charset="2"/>
              </a:rPr>
              <a:t> Application uniforme de la   	 	nomenclature</a:t>
            </a:r>
            <a:endParaRPr lang="en-US" sz="3200" dirty="0"/>
          </a:p>
        </p:txBody>
      </p:sp>
    </p:spTree>
    <p:extLst>
      <p:ext uri="{BB962C8B-B14F-4D97-AF65-F5344CB8AC3E}">
        <p14:creationId xmlns:p14="http://schemas.microsoft.com/office/powerpoint/2010/main" val="222805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1571105"/>
            <a:ext cx="8534401" cy="764771"/>
          </a:xfrm>
        </p:spPr>
        <p:txBody>
          <a:bodyPr/>
          <a:lstStyle/>
          <a:p>
            <a:r>
              <a:rPr lang="fr-LU" dirty="0" smtClean="0"/>
              <a:t>Valeur légale ?</a:t>
            </a:r>
            <a:endParaRPr lang="en-US" dirty="0"/>
          </a:p>
        </p:txBody>
      </p:sp>
      <p:sp>
        <p:nvSpPr>
          <p:cNvPr id="3" name="Text Placeholder 2"/>
          <p:cNvSpPr>
            <a:spLocks noGrp="1"/>
          </p:cNvSpPr>
          <p:nvPr>
            <p:ph type="body" idx="1"/>
          </p:nvPr>
        </p:nvSpPr>
        <p:spPr>
          <a:xfrm>
            <a:off x="800592" y="3865418"/>
            <a:ext cx="8534400" cy="2128982"/>
          </a:xfrm>
        </p:spPr>
        <p:txBody>
          <a:bodyPr>
            <a:normAutofit/>
          </a:bodyPr>
          <a:lstStyle/>
          <a:p>
            <a:r>
              <a:rPr lang="fr-LU" sz="3200" dirty="0" smtClean="0">
                <a:sym typeface="Wingdings" panose="05000000000000000000" pitchFamily="2" charset="2"/>
              </a:rPr>
              <a:t> Oui !</a:t>
            </a:r>
            <a:endParaRPr lang="en-US" sz="3200" dirty="0"/>
          </a:p>
        </p:txBody>
      </p:sp>
    </p:spTree>
    <p:extLst>
      <p:ext uri="{BB962C8B-B14F-4D97-AF65-F5344CB8AC3E}">
        <p14:creationId xmlns:p14="http://schemas.microsoft.com/office/powerpoint/2010/main" val="53267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365760"/>
            <a:ext cx="8534401" cy="1770611"/>
          </a:xfrm>
        </p:spPr>
        <p:txBody>
          <a:bodyPr/>
          <a:lstStyle/>
          <a:p>
            <a:r>
              <a:rPr lang="fr-LU" dirty="0">
                <a:solidFill>
                  <a:srgbClr val="FF0000"/>
                </a:solidFill>
              </a:rPr>
              <a:t>6</a:t>
            </a:r>
            <a:r>
              <a:rPr lang="fr-LU" dirty="0" smtClean="0"/>
              <a:t> règles générales </a:t>
            </a:r>
            <a:endParaRPr lang="en-US" dirty="0"/>
          </a:p>
        </p:txBody>
      </p:sp>
      <p:sp>
        <p:nvSpPr>
          <p:cNvPr id="3" name="Text Placeholder 2"/>
          <p:cNvSpPr>
            <a:spLocks noGrp="1"/>
          </p:cNvSpPr>
          <p:nvPr>
            <p:ph type="body" idx="1"/>
          </p:nvPr>
        </p:nvSpPr>
        <p:spPr>
          <a:xfrm>
            <a:off x="684213" y="2385753"/>
            <a:ext cx="8534400" cy="3608647"/>
          </a:xfrm>
        </p:spPr>
        <p:txBody>
          <a:bodyPr/>
          <a:lstStyle/>
          <a:p>
            <a:r>
              <a:rPr lang="fr-LU" dirty="0" smtClean="0"/>
              <a:t>Les règles </a:t>
            </a:r>
            <a:r>
              <a:rPr lang="fr-LU" dirty="0" smtClean="0">
                <a:solidFill>
                  <a:srgbClr val="FF0000"/>
                </a:solidFill>
              </a:rPr>
              <a:t>1-4 </a:t>
            </a:r>
            <a:r>
              <a:rPr lang="fr-LU" dirty="0" smtClean="0"/>
              <a:t>concernent les positions SH à 4 chiffres </a:t>
            </a:r>
          </a:p>
          <a:p>
            <a:endParaRPr lang="fr-LU" dirty="0"/>
          </a:p>
          <a:p>
            <a:r>
              <a:rPr lang="fr-LU" dirty="0" smtClean="0"/>
              <a:t>La règle </a:t>
            </a:r>
            <a:r>
              <a:rPr lang="fr-LU" dirty="0" smtClean="0">
                <a:solidFill>
                  <a:srgbClr val="FF0000"/>
                </a:solidFill>
              </a:rPr>
              <a:t>5</a:t>
            </a:r>
            <a:r>
              <a:rPr lang="fr-LU" dirty="0" smtClean="0"/>
              <a:t> concerne le classement des emballages</a:t>
            </a:r>
          </a:p>
          <a:p>
            <a:endParaRPr lang="fr-LU" dirty="0"/>
          </a:p>
          <a:p>
            <a:r>
              <a:rPr lang="fr-LU" dirty="0" smtClean="0"/>
              <a:t>La règle </a:t>
            </a:r>
            <a:r>
              <a:rPr lang="fr-LU" dirty="0" smtClean="0">
                <a:solidFill>
                  <a:srgbClr val="FF0000"/>
                </a:solidFill>
              </a:rPr>
              <a:t>6</a:t>
            </a:r>
            <a:r>
              <a:rPr lang="fr-LU" dirty="0" smtClean="0"/>
              <a:t> détermine le classement au niveau des sous-positions SH</a:t>
            </a:r>
            <a:endParaRPr lang="en-US" dirty="0"/>
          </a:p>
        </p:txBody>
      </p:sp>
    </p:spTree>
    <p:extLst>
      <p:ext uri="{BB962C8B-B14F-4D97-AF65-F5344CB8AC3E}">
        <p14:creationId xmlns:p14="http://schemas.microsoft.com/office/powerpoint/2010/main" val="19796860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p:cTn id="15"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p:cTn id="23"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684212" y="1338349"/>
            <a:ext cx="8535988" cy="2709949"/>
          </a:xfrm>
        </p:spPr>
        <p:txBody>
          <a:bodyPr>
            <a:normAutofit/>
          </a:bodyPr>
          <a:lstStyle/>
          <a:p>
            <a:r>
              <a:rPr lang="fr-LU" sz="3200" dirty="0" smtClean="0"/>
              <a:t>Règles 1-4 :  ORDRE HIÉRARCHIQUE !</a:t>
            </a:r>
            <a:endParaRPr lang="en-US" sz="3200" dirty="0"/>
          </a:p>
        </p:txBody>
      </p:sp>
    </p:spTree>
    <p:extLst>
      <p:ext uri="{BB962C8B-B14F-4D97-AF65-F5344CB8AC3E}">
        <p14:creationId xmlns:p14="http://schemas.microsoft.com/office/powerpoint/2010/main" val="2500884942"/>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1:  </a:t>
            </a:r>
            <a:r>
              <a:rPr lang="fr-LU" sz="1800" dirty="0" smtClean="0">
                <a:solidFill>
                  <a:srgbClr val="FF0000"/>
                </a:solidFill>
              </a:rPr>
              <a:t>« </a:t>
            </a:r>
            <a:r>
              <a:rPr lang="fr-FR" sz="1800" cap="none" dirty="0" smtClean="0">
                <a:latin typeface="Times-New-Roman"/>
              </a:rPr>
              <a:t>Le </a:t>
            </a:r>
            <a:r>
              <a:rPr lang="fr-FR" sz="1800" cap="none" dirty="0">
                <a:latin typeface="Times-New-Roman"/>
              </a:rPr>
              <a:t>libellé des titres de Sections, de Chapitres ou de Sous-Chapitres est considéré comme </a:t>
            </a:r>
            <a:r>
              <a:rPr lang="fr-FR" sz="1800" cap="none" dirty="0" smtClean="0">
                <a:latin typeface="Times-New-Roman"/>
              </a:rPr>
              <a:t>n'ayant qu'une </a:t>
            </a:r>
            <a:r>
              <a:rPr lang="fr-FR" sz="1800" cap="none" dirty="0">
                <a:latin typeface="Times-New-Roman"/>
              </a:rPr>
              <a:t>valeur indicative, le classement étant déterminé légalement d'après les termes des positions </a:t>
            </a:r>
            <a:r>
              <a:rPr lang="fr-FR" sz="1800" cap="none" dirty="0" smtClean="0">
                <a:latin typeface="Times-New-Roman"/>
              </a:rPr>
              <a:t>et des </a:t>
            </a:r>
            <a:r>
              <a:rPr lang="fr-FR" sz="1800" cap="none" dirty="0">
                <a:latin typeface="Times-New-Roman"/>
              </a:rPr>
              <a:t>Notes de Sections ou de Chapitres et, lorsqu'elles ne sont pas contraires aux </a:t>
            </a:r>
            <a:r>
              <a:rPr lang="fr-FR" sz="1800" cap="none" dirty="0" smtClean="0">
                <a:latin typeface="Times-New-Roman"/>
              </a:rPr>
              <a:t>termes desdites positions </a:t>
            </a:r>
            <a:r>
              <a:rPr lang="fr-FR" sz="1800" cap="none" dirty="0">
                <a:latin typeface="Times-New-Roman"/>
              </a:rPr>
              <a:t>et Notes, d'après les Règles suivantes </a:t>
            </a:r>
            <a:r>
              <a:rPr lang="fr-FR" sz="1800" cap="none" dirty="0" smtClean="0">
                <a:latin typeface="Times-New-Roman"/>
              </a:rPr>
              <a:t>: </a:t>
            </a:r>
            <a:r>
              <a:rPr lang="fr-FR" sz="1800" dirty="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en-US" dirty="0"/>
          </a:p>
        </p:txBody>
      </p:sp>
    </p:spTree>
    <p:extLst>
      <p:ext uri="{BB962C8B-B14F-4D97-AF65-F5344CB8AC3E}">
        <p14:creationId xmlns:p14="http://schemas.microsoft.com/office/powerpoint/2010/main" val="11599944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1:  </a:t>
            </a:r>
            <a:r>
              <a:rPr lang="fr-LU" sz="1800" dirty="0" smtClean="0">
                <a:solidFill>
                  <a:srgbClr val="FF0000"/>
                </a:solidFill>
              </a:rPr>
              <a:t>« </a:t>
            </a:r>
            <a:r>
              <a:rPr lang="fr-FR" sz="1800" cap="none" dirty="0" smtClean="0">
                <a:latin typeface="Times-New-Roman"/>
              </a:rPr>
              <a:t>Le </a:t>
            </a:r>
            <a:r>
              <a:rPr lang="fr-FR" sz="1800" cap="none" dirty="0">
                <a:latin typeface="Times-New-Roman"/>
              </a:rPr>
              <a:t>libellé des titres de Sections, de Chapitres ou de Sous-Chapitres est considéré comme </a:t>
            </a:r>
            <a:r>
              <a:rPr lang="fr-FR" sz="1800" cap="none" dirty="0" smtClean="0">
                <a:latin typeface="Times-New-Roman"/>
              </a:rPr>
              <a:t>n'ayant qu'une </a:t>
            </a:r>
            <a:r>
              <a:rPr lang="fr-FR" sz="1800" cap="none" dirty="0">
                <a:latin typeface="Times-New-Roman"/>
              </a:rPr>
              <a:t>valeur indicative, </a:t>
            </a:r>
            <a:r>
              <a:rPr lang="fr-FR" sz="1800" cap="none" dirty="0">
                <a:solidFill>
                  <a:srgbClr val="00B0F0"/>
                </a:solidFill>
                <a:latin typeface="Times-New-Roman"/>
              </a:rPr>
              <a:t>le classement étant déterminé légalement d'après les termes des positions </a:t>
            </a:r>
            <a:r>
              <a:rPr lang="fr-FR" sz="1800" cap="none" dirty="0" smtClean="0">
                <a:solidFill>
                  <a:srgbClr val="00B0F0"/>
                </a:solidFill>
                <a:latin typeface="Times-New-Roman"/>
              </a:rPr>
              <a:t>et des </a:t>
            </a:r>
            <a:r>
              <a:rPr lang="fr-FR" sz="1800" cap="none" dirty="0">
                <a:solidFill>
                  <a:srgbClr val="00B0F0"/>
                </a:solidFill>
                <a:latin typeface="Times-New-Roman"/>
              </a:rPr>
              <a:t>Notes de Sections ou de Chapitres et, lorsqu'elles ne sont pas contraires aux </a:t>
            </a:r>
            <a:r>
              <a:rPr lang="fr-FR" sz="1800" cap="none" dirty="0" smtClean="0">
                <a:solidFill>
                  <a:srgbClr val="00B0F0"/>
                </a:solidFill>
                <a:latin typeface="Times-New-Roman"/>
              </a:rPr>
              <a:t>termes desdites positions </a:t>
            </a:r>
            <a:r>
              <a:rPr lang="fr-FR" sz="1800" cap="none" dirty="0">
                <a:solidFill>
                  <a:srgbClr val="00B0F0"/>
                </a:solidFill>
                <a:latin typeface="Times-New-Roman"/>
              </a:rPr>
              <a:t>et Notes, d'après les Règles suivantes </a:t>
            </a:r>
            <a:r>
              <a:rPr lang="fr-FR" sz="1800" cap="none" dirty="0" smtClean="0">
                <a:solidFill>
                  <a:srgbClr val="00B0F0"/>
                </a:solidFill>
                <a:latin typeface="Times-New-Roman"/>
              </a:rPr>
              <a:t>: </a:t>
            </a:r>
            <a:r>
              <a:rPr lang="fr-FR" sz="1800" dirty="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FR" dirty="0" smtClean="0">
                <a:latin typeface="Times-New-Roman"/>
              </a:rPr>
              <a:t>Exemple: </a:t>
            </a:r>
          </a:p>
          <a:p>
            <a:r>
              <a:rPr lang="fr-FR" dirty="0" smtClean="0">
                <a:latin typeface="Times-New-Roman"/>
              </a:rPr>
              <a:t>La Section XV couvre les ouvrages en métaux communs</a:t>
            </a:r>
          </a:p>
          <a:p>
            <a:r>
              <a:rPr lang="fr-FR" dirty="0" smtClean="0">
                <a:latin typeface="Times-New-Roman"/>
              </a:rPr>
              <a:t>Mais </a:t>
            </a:r>
            <a:r>
              <a:rPr lang="fr-FR" dirty="0" err="1" smtClean="0">
                <a:latin typeface="Times-New-Roman"/>
              </a:rPr>
              <a:t>p.ex</a:t>
            </a:r>
            <a:r>
              <a:rPr lang="fr-FR" dirty="0" smtClean="0">
                <a:latin typeface="Times-New-Roman"/>
              </a:rPr>
              <a:t>: armes, véhicules, moteurs…?</a:t>
            </a:r>
            <a:endParaRPr lang="en-US" dirty="0"/>
          </a:p>
        </p:txBody>
      </p:sp>
    </p:spTree>
    <p:extLst>
      <p:ext uri="{BB962C8B-B14F-4D97-AF65-F5344CB8AC3E}">
        <p14:creationId xmlns:p14="http://schemas.microsoft.com/office/powerpoint/2010/main" val="300209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1:  </a:t>
            </a:r>
            <a:r>
              <a:rPr lang="fr-LU" sz="1800" dirty="0" smtClean="0">
                <a:solidFill>
                  <a:srgbClr val="FF0000"/>
                </a:solidFill>
              </a:rPr>
              <a:t>« </a:t>
            </a:r>
            <a:r>
              <a:rPr lang="fr-FR" sz="1800" cap="none" dirty="0">
                <a:solidFill>
                  <a:srgbClr val="00B0F0"/>
                </a:solidFill>
                <a:latin typeface="Times-New-Roman"/>
              </a:rPr>
              <a:t>Le libellé des titres de Sections, de Chapitres ou de Sous-Chapitres est considéré comme n'ayant qu'une valeur indicative, </a:t>
            </a:r>
            <a:r>
              <a:rPr lang="fr-FR" sz="1800" cap="none" dirty="0">
                <a:latin typeface="Times-New-Roman"/>
              </a:rPr>
              <a:t>le classement étant déterminé </a:t>
            </a:r>
            <a:r>
              <a:rPr lang="fr-FR" sz="1800" b="1" u="sng" cap="none" dirty="0">
                <a:latin typeface="Times-New-Roman"/>
              </a:rPr>
              <a:t>légalement</a:t>
            </a:r>
            <a:r>
              <a:rPr lang="fr-FR" sz="1800" cap="none" dirty="0">
                <a:latin typeface="Times-New-Roman"/>
              </a:rPr>
              <a:t> d'après les termes des positions </a:t>
            </a:r>
            <a:r>
              <a:rPr lang="fr-FR" sz="1800" cap="none" dirty="0" smtClean="0">
                <a:latin typeface="Times-New-Roman"/>
              </a:rPr>
              <a:t>et des </a:t>
            </a:r>
            <a:r>
              <a:rPr lang="fr-FR" sz="1800" cap="none" dirty="0">
                <a:latin typeface="Times-New-Roman"/>
              </a:rPr>
              <a:t>Notes de Sections ou de Chapitres </a:t>
            </a:r>
            <a:r>
              <a:rPr lang="fr-FR" sz="1800" cap="none" dirty="0">
                <a:solidFill>
                  <a:srgbClr val="00B0F0"/>
                </a:solidFill>
                <a:latin typeface="Times-New-Roman"/>
              </a:rPr>
              <a:t>et, lorsqu'elles ne sont pas contraires aux </a:t>
            </a:r>
            <a:r>
              <a:rPr lang="fr-FR" sz="1800" cap="none" dirty="0" smtClean="0">
                <a:solidFill>
                  <a:srgbClr val="00B0F0"/>
                </a:solidFill>
                <a:latin typeface="Times-New-Roman"/>
              </a:rPr>
              <a:t>termes desdites positions </a:t>
            </a:r>
            <a:r>
              <a:rPr lang="fr-FR" sz="1800" cap="none" dirty="0">
                <a:solidFill>
                  <a:srgbClr val="00B0F0"/>
                </a:solidFill>
                <a:latin typeface="Times-New-Roman"/>
              </a:rPr>
              <a:t>et Notes, d'après les Règles suivantes </a:t>
            </a:r>
            <a:r>
              <a:rPr lang="fr-FR" sz="1800" cap="none" dirty="0" smtClean="0">
                <a:solidFill>
                  <a:srgbClr val="00B0F0"/>
                </a:solidFill>
                <a:latin typeface="Times-New-Roman"/>
              </a:rPr>
              <a:t>: </a:t>
            </a:r>
            <a:r>
              <a:rPr lang="fr-FR" sz="1800" dirty="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FR" dirty="0" smtClean="0">
                <a:latin typeface="Times-New-Roman"/>
              </a:rPr>
              <a:t>Classement selon le libellé des positions et des Notes de Section et de chapitres !</a:t>
            </a:r>
            <a:endParaRPr lang="en-US" dirty="0"/>
          </a:p>
        </p:txBody>
      </p:sp>
    </p:spTree>
    <p:extLst>
      <p:ext uri="{BB962C8B-B14F-4D97-AF65-F5344CB8AC3E}">
        <p14:creationId xmlns:p14="http://schemas.microsoft.com/office/powerpoint/2010/main" val="376772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1:  </a:t>
            </a:r>
            <a:r>
              <a:rPr lang="fr-LU" sz="1800" dirty="0" smtClean="0">
                <a:solidFill>
                  <a:srgbClr val="FF0000"/>
                </a:solidFill>
              </a:rPr>
              <a:t>« </a:t>
            </a:r>
            <a:r>
              <a:rPr lang="fr-FR" sz="1800" cap="none" dirty="0">
                <a:solidFill>
                  <a:srgbClr val="00B0F0"/>
                </a:solidFill>
                <a:latin typeface="Times-New-Roman"/>
              </a:rPr>
              <a:t>Le libellé des titres de Sections, de Chapitres ou de Sous-Chapitres est considéré comme n'ayant qu'une valeur indicative, le classement étant déterminé légalement d'après les termes des positions et des Notes de Sections ou de Chapitres </a:t>
            </a:r>
            <a:r>
              <a:rPr lang="fr-FR" sz="1800" cap="none" dirty="0">
                <a:latin typeface="Times-New-Roman"/>
              </a:rPr>
              <a:t>et, lorsqu'elles ne sont pas contraires aux termes desdites positions et Notes, d'après les Règles suivantes </a:t>
            </a:r>
            <a:r>
              <a:rPr lang="fr-FR" sz="1800" cap="none" dirty="0" smtClean="0">
                <a:solidFill>
                  <a:srgbClr val="00B0F0"/>
                </a:solidFill>
                <a:latin typeface="Times-New-Roman"/>
              </a:rPr>
              <a:t>: </a:t>
            </a:r>
            <a:r>
              <a:rPr lang="fr-FR" sz="1800" dirty="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FR" dirty="0" smtClean="0">
                <a:latin typeface="Times-New-Roman"/>
              </a:rPr>
              <a:t>Hiérarchie?</a:t>
            </a:r>
          </a:p>
          <a:p>
            <a:r>
              <a:rPr lang="fr-FR" dirty="0" smtClean="0">
                <a:latin typeface="Times-New-Roman"/>
              </a:rPr>
              <a:t>Les textes </a:t>
            </a:r>
            <a:r>
              <a:rPr lang="fr-FR" dirty="0">
                <a:latin typeface="Times-New-Roman"/>
              </a:rPr>
              <a:t>des </a:t>
            </a:r>
            <a:r>
              <a:rPr lang="fr-FR" dirty="0" smtClean="0">
                <a:latin typeface="Times-New-Roman"/>
              </a:rPr>
              <a:t>positions et les règles des Notes dominent !</a:t>
            </a:r>
            <a:endParaRPr lang="en-US" dirty="0"/>
          </a:p>
        </p:txBody>
      </p:sp>
    </p:spTree>
    <p:extLst>
      <p:ext uri="{BB962C8B-B14F-4D97-AF65-F5344CB8AC3E}">
        <p14:creationId xmlns:p14="http://schemas.microsoft.com/office/powerpoint/2010/main" val="2372514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Toute référence à un article dans une position déterminée couvre cet article même incomplet </a:t>
            </a:r>
            <a:r>
              <a:rPr lang="fr-FR" sz="1800" cap="none" dirty="0" smtClean="0">
                <a:latin typeface="Times-New-Roman"/>
              </a:rPr>
              <a:t>ou non </a:t>
            </a:r>
            <a:r>
              <a:rPr lang="fr-FR" sz="1800" cap="none" dirty="0">
                <a:latin typeface="Times-New-Roman"/>
              </a:rPr>
              <a:t>fini à la condition qu'il présente, en l'état, les caractéristiques essentielles de l'article </a:t>
            </a:r>
            <a:r>
              <a:rPr lang="fr-FR" sz="1800" cap="none" dirty="0" smtClean="0">
                <a:latin typeface="Times-New-Roman"/>
              </a:rPr>
              <a:t>complet ou </a:t>
            </a:r>
            <a:r>
              <a:rPr lang="fr-FR" sz="1800" cap="none" dirty="0">
                <a:latin typeface="Times-New-Roman"/>
              </a:rPr>
              <a:t>fini. Elle couvre également l'article complet ou fini, ou à considérer comme tel en vertu des</a:t>
            </a:r>
            <a:br>
              <a:rPr lang="fr-FR" sz="1800" cap="none" dirty="0">
                <a:latin typeface="Times-New-Roman"/>
              </a:rPr>
            </a:br>
            <a:r>
              <a:rPr lang="fr-FR" sz="1800" cap="none" dirty="0">
                <a:latin typeface="Times-New-Roman"/>
              </a:rPr>
              <a:t>dispositions qui précèdent, lorsqu'il est présenté à l'état démonté ou non monté</a:t>
            </a:r>
            <a:r>
              <a:rPr lang="fr-FR" sz="1800" cap="none" dirty="0">
                <a:solidFill>
                  <a:srgbClr val="00B0F0"/>
                </a:solidFill>
                <a:latin typeface="Times-New-Roman"/>
              </a:rPr>
              <a:t>.</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en-US" dirty="0"/>
          </a:p>
        </p:txBody>
      </p:sp>
    </p:spTree>
    <p:extLst>
      <p:ext uri="{BB962C8B-B14F-4D97-AF65-F5344CB8AC3E}">
        <p14:creationId xmlns:p14="http://schemas.microsoft.com/office/powerpoint/2010/main" val="37423416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Toute référence à un article dans une position déterminée couvre cet article même </a:t>
            </a:r>
            <a:r>
              <a:rPr lang="fr-FR" sz="1800" b="1" u="sng" cap="none" dirty="0">
                <a:latin typeface="Times-New-Roman"/>
              </a:rPr>
              <a:t>incomplet</a:t>
            </a:r>
            <a:r>
              <a:rPr lang="fr-FR" sz="1800" cap="none" dirty="0">
                <a:latin typeface="Times-New-Roman"/>
              </a:rPr>
              <a:t> </a:t>
            </a:r>
            <a:r>
              <a:rPr lang="fr-FR" sz="1800" cap="none" dirty="0" smtClean="0">
                <a:latin typeface="Times-New-Roman"/>
              </a:rPr>
              <a:t>ou non </a:t>
            </a:r>
            <a:r>
              <a:rPr lang="fr-FR" sz="1800" cap="none" dirty="0">
                <a:latin typeface="Times-New-Roman"/>
              </a:rPr>
              <a:t>fini à la condition qu'il présente, en l'état, les caractéristiques essentielles de l'article </a:t>
            </a:r>
            <a:r>
              <a:rPr lang="fr-FR" sz="1800" cap="none" dirty="0" smtClean="0">
                <a:latin typeface="Times-New-Roman"/>
              </a:rPr>
              <a:t>complet ou </a:t>
            </a:r>
            <a:r>
              <a:rPr lang="fr-FR" sz="1800" cap="none" dirty="0">
                <a:latin typeface="Times-New-Roman"/>
              </a:rPr>
              <a:t>fini. </a:t>
            </a:r>
            <a:r>
              <a:rPr lang="fr-FR" sz="1800" cap="none" dirty="0">
                <a:solidFill>
                  <a:srgbClr val="00B0F0"/>
                </a:solidFill>
                <a:latin typeface="Times-New-Roman"/>
              </a:rPr>
              <a:t>Elle couvre également l'article complet ou fini, ou à considérer comme tel en vertu des</a:t>
            </a:r>
            <a:br>
              <a:rPr lang="fr-FR" sz="1800" cap="none" dirty="0">
                <a:solidFill>
                  <a:srgbClr val="00B0F0"/>
                </a:solidFill>
                <a:latin typeface="Times-New-Roman"/>
              </a:rPr>
            </a:br>
            <a:r>
              <a:rPr lang="fr-FR" sz="1800" cap="none" dirty="0">
                <a:solidFill>
                  <a:srgbClr val="00B0F0"/>
                </a:solidFill>
                <a:latin typeface="Times-New-Roman"/>
              </a:rPr>
              <a:t>dispositions qui précèdent, lorsqu'il est présenté à l'état démonté ou non monté.</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rrenberger Drei: Teil 2 | Mit dem &lt;strong&gt;Fahrrad&lt;/strong&gt; zur Arbei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5863" y="2219499"/>
            <a:ext cx="4084319" cy="3063239"/>
          </a:xfrm>
          <a:prstGeom prst="rect">
            <a:avLst/>
          </a:prstGeom>
        </p:spPr>
      </p:pic>
    </p:spTree>
    <p:extLst>
      <p:ext uri="{BB962C8B-B14F-4D97-AF65-F5344CB8AC3E}">
        <p14:creationId xmlns:p14="http://schemas.microsoft.com/office/powerpoint/2010/main" val="2095856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Toute référence à un article dans une position déterminée couvre cet article même </a:t>
            </a:r>
            <a:r>
              <a:rPr lang="fr-FR" sz="1800" b="1" u="sng" cap="none" dirty="0">
                <a:latin typeface="Times-New-Roman"/>
              </a:rPr>
              <a:t>incomplet</a:t>
            </a:r>
            <a:r>
              <a:rPr lang="fr-FR" sz="1800" cap="none" dirty="0">
                <a:latin typeface="Times-New-Roman"/>
              </a:rPr>
              <a:t> </a:t>
            </a:r>
            <a:r>
              <a:rPr lang="fr-FR" sz="1800" cap="none" dirty="0" smtClean="0">
                <a:latin typeface="Times-New-Roman"/>
              </a:rPr>
              <a:t>ou non </a:t>
            </a:r>
            <a:r>
              <a:rPr lang="fr-FR" sz="1800" cap="none" dirty="0">
                <a:latin typeface="Times-New-Roman"/>
              </a:rPr>
              <a:t>fini à la condition qu'il présente, en l'état, les caractéristiques essentielles de l'article </a:t>
            </a:r>
            <a:r>
              <a:rPr lang="fr-FR" sz="1800" cap="none" dirty="0" smtClean="0">
                <a:latin typeface="Times-New-Roman"/>
              </a:rPr>
              <a:t>complet ou </a:t>
            </a:r>
            <a:r>
              <a:rPr lang="fr-FR" sz="1800" cap="none" dirty="0">
                <a:latin typeface="Times-New-Roman"/>
              </a:rPr>
              <a:t>fini. </a:t>
            </a:r>
            <a:r>
              <a:rPr lang="fr-FR" sz="1800" cap="none" dirty="0">
                <a:solidFill>
                  <a:srgbClr val="00B0F0"/>
                </a:solidFill>
                <a:latin typeface="Times-New-Roman"/>
              </a:rPr>
              <a:t>Elle couvre également l'article complet ou fini, ou à considérer comme tel en vertu des</a:t>
            </a:r>
            <a:br>
              <a:rPr lang="fr-FR" sz="1800" cap="none" dirty="0">
                <a:solidFill>
                  <a:srgbClr val="00B0F0"/>
                </a:solidFill>
                <a:latin typeface="Times-New-Roman"/>
              </a:rPr>
            </a:br>
            <a:r>
              <a:rPr lang="fr-FR" sz="1800" cap="none" dirty="0">
                <a:solidFill>
                  <a:srgbClr val="00B0F0"/>
                </a:solidFill>
                <a:latin typeface="Times-New-Roman"/>
              </a:rPr>
              <a:t>dispositions qui précèdent, lorsqu'il est présenté à l'état démonté ou non monté.</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6378" y="2893002"/>
            <a:ext cx="5080209" cy="2127711"/>
          </a:xfrm>
          <a:prstGeom prst="rect">
            <a:avLst/>
          </a:prstGeom>
        </p:spPr>
      </p:pic>
    </p:spTree>
    <p:extLst>
      <p:ext uri="{BB962C8B-B14F-4D97-AF65-F5344CB8AC3E}">
        <p14:creationId xmlns:p14="http://schemas.microsoft.com/office/powerpoint/2010/main" val="2929776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Toute référence à un article dans une position déterminée couvre cet article même incomplet ou </a:t>
            </a:r>
            <a:r>
              <a:rPr lang="fr-FR" sz="1800" b="1" u="sng" cap="none" dirty="0">
                <a:latin typeface="Times-New-Roman"/>
              </a:rPr>
              <a:t>non fini</a:t>
            </a:r>
            <a:r>
              <a:rPr lang="fr-FR" sz="1800" cap="none" dirty="0">
                <a:latin typeface="Times-New-Roman"/>
              </a:rPr>
              <a:t> à la condition qu'il présente, en l'état, les caractéristiques essentielles de l'article complet ou fini</a:t>
            </a:r>
            <a:r>
              <a:rPr lang="fr-FR" sz="1800" cap="none" dirty="0">
                <a:solidFill>
                  <a:srgbClr val="00B0F0"/>
                </a:solidFill>
                <a:latin typeface="Times-New-Roman"/>
              </a:rPr>
              <a:t>. Elle couvre également l'article complet ou fini, ou à considérer comme tel en vertu des</a:t>
            </a:r>
            <a:br>
              <a:rPr lang="fr-FR" sz="1800" cap="none" dirty="0">
                <a:solidFill>
                  <a:srgbClr val="00B0F0"/>
                </a:solidFill>
                <a:latin typeface="Times-New-Roman"/>
              </a:rPr>
            </a:br>
            <a:r>
              <a:rPr lang="fr-FR" sz="1800" cap="none" dirty="0">
                <a:solidFill>
                  <a:srgbClr val="00B0F0"/>
                </a:solidFill>
                <a:latin typeface="Times-New-Roman"/>
              </a:rPr>
              <a:t>dispositions qui précèdent, lorsqu'il est présenté à l'état démonté ou non monté.</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88954" y="2234739"/>
            <a:ext cx="3600796" cy="3600796"/>
          </a:xfrm>
          <a:prstGeom prst="rect">
            <a:avLst/>
          </a:prstGeom>
        </p:spPr>
      </p:pic>
    </p:spTree>
    <p:extLst>
      <p:ext uri="{BB962C8B-B14F-4D97-AF65-F5344CB8AC3E}">
        <p14:creationId xmlns:p14="http://schemas.microsoft.com/office/powerpoint/2010/main" val="7302130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solidFill>
                  <a:srgbClr val="00B0F0"/>
                </a:solidFill>
                <a:latin typeface="Times-New-Roman"/>
              </a:rPr>
              <a:t>Toute référence à un article dans une position déterminée couvre cet article même incomplet ou non fini à la condition qu'il présente, en l'état, les caractéristiques essentielles de l'article complet ou fini. </a:t>
            </a:r>
            <a:r>
              <a:rPr lang="fr-FR" sz="1800" cap="none" dirty="0">
                <a:latin typeface="Times-New-Roman"/>
              </a:rPr>
              <a:t>Elle couvre également l'article complet ou fini, ou à considérer comme tel en vertu des</a:t>
            </a:r>
            <a:br>
              <a:rPr lang="fr-FR" sz="1800" cap="none" dirty="0">
                <a:latin typeface="Times-New-Roman"/>
              </a:rPr>
            </a:br>
            <a:r>
              <a:rPr lang="fr-FR" sz="1800" cap="none" dirty="0">
                <a:latin typeface="Times-New-Roman"/>
              </a:rPr>
              <a:t>dispositions qui précèdent, lorsqu'il est présenté à l'état démonté ou non monté</a:t>
            </a:r>
            <a:r>
              <a:rPr lang="fr-FR" sz="1800" cap="none" dirty="0">
                <a:solidFill>
                  <a:srgbClr val="00B0F0"/>
                </a:solidFill>
                <a:latin typeface="Times-New-Roman"/>
              </a:rPr>
              <a:t>.</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60566" y="3250844"/>
            <a:ext cx="6026729" cy="2662921"/>
          </a:xfrm>
          <a:prstGeom prst="rect">
            <a:avLst/>
          </a:prstGeom>
        </p:spPr>
      </p:pic>
    </p:spTree>
    <p:extLst>
      <p:ext uri="{BB962C8B-B14F-4D97-AF65-F5344CB8AC3E}">
        <p14:creationId xmlns:p14="http://schemas.microsoft.com/office/powerpoint/2010/main" val="40930972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b) </a:t>
            </a:r>
            <a:r>
              <a:rPr lang="fr-FR" sz="1800" cap="none" dirty="0" smtClean="0">
                <a:latin typeface="Times-New-Roman"/>
              </a:rPr>
              <a:t>Toute </a:t>
            </a:r>
            <a:r>
              <a:rPr lang="fr-FR" sz="1800" cap="none" dirty="0">
                <a:latin typeface="Times-New-Roman"/>
              </a:rPr>
              <a:t>mention d'une matière dans une position déterminée se rapporte à cette matière soit à </a:t>
            </a:r>
            <a:r>
              <a:rPr lang="fr-FR" sz="1800" cap="none" dirty="0" smtClean="0">
                <a:latin typeface="Times-New-Roman"/>
              </a:rPr>
              <a:t>l'état pur</a:t>
            </a:r>
            <a:r>
              <a:rPr lang="fr-FR" sz="1800" cap="none" dirty="0">
                <a:latin typeface="Times-New-Roman"/>
              </a:rPr>
              <a:t>, soit mélangée ou bien associée à d'autres matières. De même, toute mention d'ouvrages </a:t>
            </a:r>
            <a:r>
              <a:rPr lang="fr-FR" sz="1800" cap="none" dirty="0" smtClean="0">
                <a:latin typeface="Times-New-Roman"/>
              </a:rPr>
              <a:t>en une </a:t>
            </a:r>
            <a:r>
              <a:rPr lang="fr-FR" sz="1800" cap="none" dirty="0">
                <a:latin typeface="Times-New-Roman"/>
              </a:rPr>
              <a:t>matière déterminée se rapporte aux ouvrages constitués entièrement ou partiellement de</a:t>
            </a:r>
            <a:br>
              <a:rPr lang="fr-FR" sz="1800" cap="none" dirty="0">
                <a:latin typeface="Times-New-Roman"/>
              </a:rPr>
            </a:br>
            <a:r>
              <a:rPr lang="fr-FR" sz="1800" cap="none" dirty="0">
                <a:latin typeface="Times-New-Roman"/>
              </a:rPr>
              <a:t>cette matière. Le classement de ces produits mélangés ou articles composites est effectué</a:t>
            </a:r>
            <a:br>
              <a:rPr lang="fr-FR" sz="1800" cap="none" dirty="0">
                <a:latin typeface="Times-New-Roman"/>
              </a:rPr>
            </a:br>
            <a:r>
              <a:rPr lang="fr-FR" sz="1800" cap="none" dirty="0">
                <a:latin typeface="Times-New-Roman"/>
              </a:rPr>
              <a:t>suivant les principes énoncés dans la Règle 3</a:t>
            </a:r>
            <a:r>
              <a:rPr lang="fr-FR" sz="1800" cap="none" dirty="0">
                <a:solidFill>
                  <a:srgbClr val="00B0F0"/>
                </a:solidFill>
                <a:latin typeface="Times-New-Roman"/>
              </a:rPr>
              <a:t>..</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61831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b) </a:t>
            </a:r>
            <a:r>
              <a:rPr lang="fr-FR" sz="1800" cap="none" dirty="0" smtClean="0">
                <a:latin typeface="Times-New-Roman"/>
              </a:rPr>
              <a:t>Toute </a:t>
            </a:r>
            <a:r>
              <a:rPr lang="fr-FR" sz="1800" cap="none" dirty="0">
                <a:latin typeface="Times-New-Roman"/>
              </a:rPr>
              <a:t>mention d'une matière dans une position déterminée se rapporte à cette matière soit à </a:t>
            </a:r>
            <a:r>
              <a:rPr lang="fr-FR" sz="1800" cap="none" dirty="0" smtClean="0">
                <a:latin typeface="Times-New-Roman"/>
              </a:rPr>
              <a:t>l'état pur</a:t>
            </a:r>
            <a:r>
              <a:rPr lang="fr-FR" sz="1800" cap="none" dirty="0">
                <a:latin typeface="Times-New-Roman"/>
              </a:rPr>
              <a:t>, soit mélangée ou bien associée à d'autres matières. </a:t>
            </a:r>
            <a:r>
              <a:rPr lang="fr-FR" sz="1800" cap="none" dirty="0">
                <a:solidFill>
                  <a:srgbClr val="00B0F0"/>
                </a:solidFill>
                <a:latin typeface="Times-New-Roman"/>
              </a:rPr>
              <a:t>De même, toute mention d'ouvrages </a:t>
            </a:r>
            <a:r>
              <a:rPr lang="fr-FR" sz="1800" cap="none" dirty="0" smtClean="0">
                <a:solidFill>
                  <a:srgbClr val="00B0F0"/>
                </a:solidFill>
                <a:latin typeface="Times-New-Roman"/>
              </a:rPr>
              <a:t>en une </a:t>
            </a:r>
            <a:r>
              <a:rPr lang="fr-FR" sz="1800" cap="none" dirty="0">
                <a:solidFill>
                  <a:srgbClr val="00B0F0"/>
                </a:solidFill>
                <a:latin typeface="Times-New-Roman"/>
              </a:rPr>
              <a:t>matière déterminée se rapporte aux ouvrages constitués entièrement ou partiellement de</a:t>
            </a:r>
            <a:br>
              <a:rPr lang="fr-FR" sz="1800" cap="none" dirty="0">
                <a:solidFill>
                  <a:srgbClr val="00B0F0"/>
                </a:solidFill>
                <a:latin typeface="Times-New-Roman"/>
              </a:rPr>
            </a:br>
            <a:r>
              <a:rPr lang="fr-FR" sz="1800" cap="none" dirty="0">
                <a:solidFill>
                  <a:srgbClr val="00B0F0"/>
                </a:solidFill>
                <a:latin typeface="Times-New-Roman"/>
              </a:rPr>
              <a:t>cette matière. Le classement de ces produits mélangés ou articles composites est effectué</a:t>
            </a:r>
            <a:br>
              <a:rPr lang="fr-FR" sz="1800" cap="none" dirty="0">
                <a:solidFill>
                  <a:srgbClr val="00B0F0"/>
                </a:solidFill>
                <a:latin typeface="Times-New-Roman"/>
              </a:rPr>
            </a:br>
            <a:r>
              <a:rPr lang="fr-FR" sz="1800" cap="none" dirty="0">
                <a:solidFill>
                  <a:srgbClr val="00B0F0"/>
                </a:solidFill>
                <a:latin typeface="Times-New-Roman"/>
              </a:rPr>
              <a:t>suivant les principes énoncés dans la Règle 3..</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 </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stretch>
            <a:fillRect/>
          </a:stretch>
        </p:blipFill>
        <p:spPr>
          <a:xfrm>
            <a:off x="3427746" y="2360814"/>
            <a:ext cx="3801005" cy="4086795"/>
          </a:xfrm>
          <a:prstGeom prst="rect">
            <a:avLst/>
          </a:prstGeom>
        </p:spPr>
      </p:pic>
    </p:spTree>
    <p:extLst>
      <p:ext uri="{BB962C8B-B14F-4D97-AF65-F5344CB8AC3E}">
        <p14:creationId xmlns:p14="http://schemas.microsoft.com/office/powerpoint/2010/main" val="1974703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b) </a:t>
            </a:r>
            <a:r>
              <a:rPr lang="fr-FR" sz="1800" cap="none" dirty="0" smtClean="0">
                <a:solidFill>
                  <a:srgbClr val="00B0F0"/>
                </a:solidFill>
                <a:latin typeface="Times-New-Roman"/>
              </a:rPr>
              <a:t>Toute </a:t>
            </a:r>
            <a:r>
              <a:rPr lang="fr-FR" sz="1800" cap="none" dirty="0">
                <a:solidFill>
                  <a:srgbClr val="00B0F0"/>
                </a:solidFill>
                <a:latin typeface="Times-New-Roman"/>
              </a:rPr>
              <a:t>mention d'une matière dans une position déterminée se rapporte à cette matière soit à </a:t>
            </a:r>
            <a:r>
              <a:rPr lang="fr-FR" sz="1800" cap="none" dirty="0" smtClean="0">
                <a:solidFill>
                  <a:srgbClr val="00B0F0"/>
                </a:solidFill>
                <a:latin typeface="Times-New-Roman"/>
              </a:rPr>
              <a:t>l'état pur</a:t>
            </a:r>
            <a:r>
              <a:rPr lang="fr-FR" sz="1800" cap="none" dirty="0">
                <a:solidFill>
                  <a:srgbClr val="00B0F0"/>
                </a:solidFill>
                <a:latin typeface="Times-New-Roman"/>
              </a:rPr>
              <a:t>, soit mélangée ou bien associée à d'autres matières. </a:t>
            </a:r>
            <a:r>
              <a:rPr lang="fr-FR" sz="1800" cap="none" dirty="0">
                <a:latin typeface="Times-New-Roman"/>
              </a:rPr>
              <a:t>De même, toute mention d'ouvrages </a:t>
            </a:r>
            <a:r>
              <a:rPr lang="fr-FR" sz="1800" cap="none" dirty="0" smtClean="0">
                <a:latin typeface="Times-New-Roman"/>
              </a:rPr>
              <a:t>en une </a:t>
            </a:r>
            <a:r>
              <a:rPr lang="fr-FR" sz="1800" cap="none" dirty="0">
                <a:latin typeface="Times-New-Roman"/>
              </a:rPr>
              <a:t>matière déterminée se rapporte aux ouvrages constitués entièrement ou partiellement de</a:t>
            </a:r>
            <a:br>
              <a:rPr lang="fr-FR" sz="1800" cap="none" dirty="0">
                <a:latin typeface="Times-New-Roman"/>
              </a:rPr>
            </a:br>
            <a:r>
              <a:rPr lang="fr-FR" sz="1800" cap="none" dirty="0">
                <a:latin typeface="Times-New-Roman"/>
              </a:rPr>
              <a:t>cette matière</a:t>
            </a:r>
            <a:r>
              <a:rPr lang="fr-FR" sz="1800" cap="none" dirty="0">
                <a:solidFill>
                  <a:srgbClr val="00B0F0"/>
                </a:solidFill>
                <a:latin typeface="Times-New-Roman"/>
              </a:rPr>
              <a:t>. Le classement de ces produits mélangés ou articles composites est effectué</a:t>
            </a:r>
            <a:br>
              <a:rPr lang="fr-FR" sz="1800" cap="none" dirty="0">
                <a:solidFill>
                  <a:srgbClr val="00B0F0"/>
                </a:solidFill>
                <a:latin typeface="Times-New-Roman"/>
              </a:rPr>
            </a:br>
            <a:r>
              <a:rPr lang="fr-FR" sz="1800" cap="none" dirty="0">
                <a:solidFill>
                  <a:srgbClr val="00B0F0"/>
                </a:solidFill>
                <a:latin typeface="Times-New-Roman"/>
              </a:rPr>
              <a:t>suivant les principes énoncés dans la Règle 3..</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 </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rchivo:&lt;strong&gt;Gummihammer&lt;/strong&gt;.png - Wikipedia, la enciclopedia libr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02378" y="2236123"/>
            <a:ext cx="6074586" cy="2617833"/>
          </a:xfrm>
          <a:prstGeom prst="rect">
            <a:avLst/>
          </a:prstGeom>
        </p:spPr>
      </p:pic>
    </p:spTree>
    <p:extLst>
      <p:ext uri="{BB962C8B-B14F-4D97-AF65-F5344CB8AC3E}">
        <p14:creationId xmlns:p14="http://schemas.microsoft.com/office/powerpoint/2010/main" val="7922770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fontScale="90000"/>
          </a:bodyPr>
          <a:lstStyle/>
          <a:p>
            <a:r>
              <a:rPr lang="fr-LU" dirty="0" smtClean="0">
                <a:solidFill>
                  <a:srgbClr val="FF0000"/>
                </a:solidFill>
              </a:rPr>
              <a:t>Règle 2:  </a:t>
            </a:r>
            <a:r>
              <a:rPr lang="fr-LU" sz="1800" dirty="0" smtClean="0">
                <a:solidFill>
                  <a:srgbClr val="FF0000"/>
                </a:solidFill>
              </a:rPr>
              <a:t>«  </a:t>
            </a:r>
            <a:r>
              <a:rPr lang="fr-FR" sz="1800" cap="none" dirty="0" smtClean="0">
                <a:solidFill>
                  <a:srgbClr val="FF0000"/>
                </a:solidFill>
                <a:latin typeface="Times-New-Roman"/>
              </a:rPr>
              <a:t>b) </a:t>
            </a:r>
            <a:r>
              <a:rPr lang="fr-FR" sz="1800" cap="none" dirty="0" smtClean="0">
                <a:solidFill>
                  <a:srgbClr val="00B0F0"/>
                </a:solidFill>
                <a:latin typeface="Times-New-Roman"/>
              </a:rPr>
              <a:t>Toute </a:t>
            </a:r>
            <a:r>
              <a:rPr lang="fr-FR" sz="1800" cap="none" dirty="0">
                <a:solidFill>
                  <a:srgbClr val="00B0F0"/>
                </a:solidFill>
                <a:latin typeface="Times-New-Roman"/>
              </a:rPr>
              <a:t>mention d'une matière dans une position déterminée se rapporte à cette matière soit à </a:t>
            </a:r>
            <a:r>
              <a:rPr lang="fr-FR" sz="1800" cap="none" dirty="0" smtClean="0">
                <a:solidFill>
                  <a:srgbClr val="00B0F0"/>
                </a:solidFill>
                <a:latin typeface="Times-New-Roman"/>
              </a:rPr>
              <a:t>l'état pur</a:t>
            </a:r>
            <a:r>
              <a:rPr lang="fr-FR" sz="1800" cap="none" dirty="0">
                <a:solidFill>
                  <a:srgbClr val="00B0F0"/>
                </a:solidFill>
                <a:latin typeface="Times-New-Roman"/>
              </a:rPr>
              <a:t>, soit mélangée ou bien associée à d'autres matières. De même, toute mention d'ouvrages </a:t>
            </a:r>
            <a:r>
              <a:rPr lang="fr-FR" sz="1800" cap="none" dirty="0" smtClean="0">
                <a:solidFill>
                  <a:srgbClr val="00B0F0"/>
                </a:solidFill>
                <a:latin typeface="Times-New-Roman"/>
              </a:rPr>
              <a:t>en une </a:t>
            </a:r>
            <a:r>
              <a:rPr lang="fr-FR" sz="1800" cap="none" dirty="0">
                <a:solidFill>
                  <a:srgbClr val="00B0F0"/>
                </a:solidFill>
                <a:latin typeface="Times-New-Roman"/>
              </a:rPr>
              <a:t>matière déterminée se rapporte aux ouvrages constitués entièrement ou partiellement de</a:t>
            </a:r>
            <a:br>
              <a:rPr lang="fr-FR" sz="1800" cap="none" dirty="0">
                <a:solidFill>
                  <a:srgbClr val="00B0F0"/>
                </a:solidFill>
                <a:latin typeface="Times-New-Roman"/>
              </a:rPr>
            </a:br>
            <a:r>
              <a:rPr lang="fr-FR" sz="1800" cap="none" dirty="0">
                <a:solidFill>
                  <a:srgbClr val="00B0F0"/>
                </a:solidFill>
                <a:latin typeface="Times-New-Roman"/>
              </a:rPr>
              <a:t>cette matière. </a:t>
            </a:r>
            <a:r>
              <a:rPr lang="fr-FR" sz="1800" cap="none" dirty="0">
                <a:latin typeface="Times-New-Roman"/>
              </a:rPr>
              <a:t>Le classement de ces produits mélangés ou articles composites est effectué</a:t>
            </a:r>
            <a:br>
              <a:rPr lang="fr-FR" sz="1800" cap="none" dirty="0">
                <a:latin typeface="Times-New-Roman"/>
              </a:rPr>
            </a:br>
            <a:r>
              <a:rPr lang="fr-FR" sz="1800" cap="none" dirty="0">
                <a:latin typeface="Times-New-Roman"/>
              </a:rPr>
              <a:t>suivant les principes énoncés dans la Règle 3</a:t>
            </a:r>
            <a:r>
              <a:rPr lang="fr-FR" sz="1800" cap="none" dirty="0">
                <a:solidFill>
                  <a:srgbClr val="00B0F0"/>
                </a:solidFill>
                <a:latin typeface="Times-New-Roman"/>
              </a:rPr>
              <a:t>..</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sym typeface="Wingdings" panose="05000000000000000000" pitchFamily="2" charset="2"/>
              </a:rPr>
              <a:t> Règle 2 b fait référence à la règle 3</a:t>
            </a:r>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326603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2"/>
                                        </p:tgtEl>
                                        <p:attrNameLst>
                                          <p:attrName>ppt_x</p:attrName>
                                        </p:attrNameLst>
                                      </p:cBhvr>
                                      <p:tavLst>
                                        <p:tav tm="0">
                                          <p:val>
                                            <p:strVal val="ppt_x"/>
                                          </p:val>
                                        </p:tav>
                                        <p:tav tm="100000">
                                          <p:val>
                                            <p:strVal val="ppt_x"/>
                                          </p:val>
                                        </p:tav>
                                      </p:tavLst>
                                    </p:anim>
                                    <p:anim calcmode="lin" valueType="num">
                                      <p:cBhvr additive="base">
                                        <p:cTn id="12" dur="500"/>
                                        <p:tgtEl>
                                          <p:spTgt spid="2"/>
                                        </p:tgtEl>
                                        <p:attrNameLst>
                                          <p:attrName>ppt_y</p:attrName>
                                        </p:attrNameLst>
                                      </p:cBhvr>
                                      <p:tavLst>
                                        <p:tav tm="0">
                                          <p:val>
                                            <p:strVal val="ppt_y"/>
                                          </p:val>
                                        </p:tav>
                                        <p:tav tm="100000">
                                          <p:val>
                                            <p:strVal val="1+ppt_h/2"/>
                                          </p:val>
                                        </p:tav>
                                      </p:tavLst>
                                    </p:anim>
                                    <p:set>
                                      <p:cBhvr>
                                        <p:cTn id="1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199505"/>
            <a:ext cx="10058400" cy="4713317"/>
          </a:xfrm>
        </p:spPr>
        <p:txBody>
          <a:bodyPr>
            <a:normAutofit fontScale="90000"/>
          </a:bodyPr>
          <a:lstStyle/>
          <a:p>
            <a:r>
              <a:rPr lang="fr-LU" dirty="0" smtClean="0">
                <a:solidFill>
                  <a:srgbClr val="FF0000"/>
                </a:solidFill>
              </a:rPr>
              <a:t>Règle 3:  </a:t>
            </a:r>
            <a:r>
              <a:rPr lang="fr-LU" sz="1800" dirty="0" smtClean="0">
                <a:solidFill>
                  <a:srgbClr val="FF0000"/>
                </a:solidFill>
              </a:rPr>
              <a:t>«  </a:t>
            </a:r>
            <a:r>
              <a:rPr lang="fr-FR" sz="1800" cap="none" dirty="0" smtClean="0">
                <a:latin typeface="Times-New-Roman"/>
              </a:rPr>
              <a:t>Lorsque </a:t>
            </a:r>
            <a:r>
              <a:rPr lang="fr-FR" sz="1800" cap="none" dirty="0">
                <a:latin typeface="Times-New-Roman"/>
              </a:rPr>
              <a:t>des marchandises paraissent devoir être classées sous deux ou plusieurs positions </a:t>
            </a:r>
            <a:r>
              <a:rPr lang="fr-FR" sz="1800" cap="none" dirty="0" smtClean="0">
                <a:latin typeface="Times-New-Roman"/>
              </a:rPr>
              <a:t>par application </a:t>
            </a:r>
            <a:r>
              <a:rPr lang="fr-FR" sz="1800" cap="none" dirty="0">
                <a:latin typeface="Times-New-Roman"/>
              </a:rPr>
              <a:t>de la Règle 2 b) ou dans tout autre cas, le classement s'opère comme </a:t>
            </a:r>
            <a:r>
              <a:rPr lang="fr-FR" sz="1800" cap="none" dirty="0" smtClean="0">
                <a:latin typeface="Times-New-Roman"/>
              </a:rPr>
              <a:t>suit : </a:t>
            </a:r>
            <a:br>
              <a:rPr lang="fr-FR" sz="1800" cap="none" dirty="0" smtClean="0">
                <a:latin typeface="Times-New-Roman"/>
              </a:rPr>
            </a:br>
            <a:r>
              <a:rPr lang="fr-FR" sz="1800" cap="none" dirty="0" smtClean="0">
                <a:solidFill>
                  <a:srgbClr val="00B0F0"/>
                </a:solidFill>
                <a:latin typeface="Times-New-Roman"/>
              </a:rPr>
              <a:t>.</a:t>
            </a: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La position la plus spécifique doit avoir la priorité sur les positions d'une portée plus générale.</a:t>
            </a:r>
            <a:br>
              <a:rPr lang="fr-FR" sz="1800" cap="none" dirty="0">
                <a:latin typeface="Times-New-Roman"/>
              </a:rPr>
            </a:br>
            <a:r>
              <a:rPr lang="fr-FR" sz="1800" cap="none" dirty="0">
                <a:latin typeface="Times-New-Roman"/>
              </a:rPr>
              <a:t>Toutefois, lorsque deux ou plusieurs positions se rapportent chacune à une partie seulement des</a:t>
            </a:r>
            <a:br>
              <a:rPr lang="fr-FR" sz="1800" cap="none" dirty="0">
                <a:latin typeface="Times-New-Roman"/>
              </a:rPr>
            </a:br>
            <a:r>
              <a:rPr lang="fr-FR" sz="1800" cap="none" dirty="0">
                <a:latin typeface="Times-New-Roman"/>
              </a:rPr>
              <a:t>matières constituant un produit mélangé ou un article composite ou à une partie seulement des</a:t>
            </a:r>
            <a:br>
              <a:rPr lang="fr-FR" sz="1800" cap="none" dirty="0">
                <a:latin typeface="Times-New-Roman"/>
              </a:rPr>
            </a:br>
            <a:r>
              <a:rPr lang="fr-FR" sz="1800" cap="none" dirty="0">
                <a:latin typeface="Times-New-Roman"/>
              </a:rPr>
              <a:t>articles dans le cas de marchandises présentées en assortiments conditionnés pour la vente au</a:t>
            </a:r>
            <a:br>
              <a:rPr lang="fr-FR" sz="1800" cap="none" dirty="0">
                <a:latin typeface="Times-New-Roman"/>
              </a:rPr>
            </a:br>
            <a:r>
              <a:rPr lang="fr-FR" sz="1800" cap="none" dirty="0">
                <a:latin typeface="Times-New-Roman"/>
              </a:rPr>
              <a:t>détail, ces positions sont à considérer, au regard de ce produit ou de cet article, comme</a:t>
            </a:r>
            <a:br>
              <a:rPr lang="fr-FR" sz="1800" cap="none" dirty="0">
                <a:latin typeface="Times-New-Roman"/>
              </a:rPr>
            </a:br>
            <a:r>
              <a:rPr lang="fr-FR" sz="1800" cap="none" dirty="0">
                <a:latin typeface="Times-New-Roman"/>
              </a:rPr>
              <a:t>également spécifiques même si l'une d'elles en donne par ailleurs une description plus précise ou</a:t>
            </a:r>
            <a:br>
              <a:rPr lang="fr-FR" sz="1800" cap="none" dirty="0">
                <a:latin typeface="Times-New-Roman"/>
              </a:rPr>
            </a:br>
            <a:r>
              <a:rPr lang="fr-FR" sz="1800" cap="none" dirty="0">
                <a:latin typeface="Times-New-Roman"/>
              </a:rPr>
              <a:t>plus complète.</a:t>
            </a:r>
            <a:br>
              <a:rPr lang="fr-FR" sz="1800" cap="none" dirty="0">
                <a:latin typeface="Times-New-Roman"/>
              </a:rPr>
            </a:br>
            <a:r>
              <a:rPr lang="fr-FR" sz="1800" cap="none" dirty="0">
                <a:solidFill>
                  <a:srgbClr val="FF0000"/>
                </a:solidFill>
                <a:latin typeface="Times-New-Roman"/>
              </a:rPr>
              <a:t>b)</a:t>
            </a:r>
            <a:r>
              <a:rPr lang="fr-FR" sz="1800" cap="none" dirty="0">
                <a:latin typeface="Times-New-Roman"/>
              </a:rPr>
              <a:t> Les produits mélangés, les ouvrages composés de matières différentes ou constitués par</a:t>
            </a:r>
            <a:br>
              <a:rPr lang="fr-FR" sz="1800" cap="none" dirty="0">
                <a:latin typeface="Times-New-Roman"/>
              </a:rPr>
            </a:br>
            <a:r>
              <a:rPr lang="fr-FR" sz="1800" cap="none" dirty="0">
                <a:latin typeface="Times-New-Roman"/>
              </a:rPr>
              <a:t>l'assemblage d'articles différents et les marchandises présentées en assortiments conditionnés</a:t>
            </a:r>
            <a:br>
              <a:rPr lang="fr-FR" sz="1800" cap="none" dirty="0">
                <a:latin typeface="Times-New-Roman"/>
              </a:rPr>
            </a:br>
            <a:r>
              <a:rPr lang="fr-FR" sz="1800" cap="none" dirty="0">
                <a:latin typeface="Times-New-Roman"/>
              </a:rPr>
              <a:t>pour la vente au détail, dont le classement ne peut être effectué en application de la Règle 3 a),</a:t>
            </a:r>
            <a:br>
              <a:rPr lang="fr-FR" sz="1800" cap="none" dirty="0">
                <a:latin typeface="Times-New-Roman"/>
              </a:rPr>
            </a:br>
            <a:r>
              <a:rPr lang="fr-FR" sz="1800" cap="none" dirty="0">
                <a:latin typeface="Times-New-Roman"/>
              </a:rPr>
              <a:t>sont classés d'après la matière ou l'article qui leur confère leur caractère essentiel lorsqu'il est</a:t>
            </a:r>
            <a:br>
              <a:rPr lang="fr-FR" sz="1800" cap="none" dirty="0">
                <a:latin typeface="Times-New-Roman"/>
              </a:rPr>
            </a:br>
            <a:r>
              <a:rPr lang="fr-FR" sz="1800" cap="none" dirty="0">
                <a:latin typeface="Times-New-Roman"/>
              </a:rPr>
              <a:t>possible d'opérer cette détermination.</a:t>
            </a:r>
            <a:br>
              <a:rPr lang="fr-FR" sz="1800" cap="none" dirty="0">
                <a:latin typeface="Times-New-Roman"/>
              </a:rPr>
            </a:br>
            <a:r>
              <a:rPr lang="fr-FR" sz="1800" cap="none" dirty="0">
                <a:solidFill>
                  <a:srgbClr val="FF0000"/>
                </a:solidFill>
                <a:latin typeface="Times-New-Roman"/>
              </a:rPr>
              <a:t>c)</a:t>
            </a:r>
            <a:r>
              <a:rPr lang="fr-FR" sz="1800" cap="none" dirty="0">
                <a:latin typeface="Times-New-Roman"/>
              </a:rPr>
              <a:t> Dans le cas où les Règles 3 a) et 3 b) ne permettent pas d'effectuer le classement, la marchandise</a:t>
            </a:r>
            <a:br>
              <a:rPr lang="fr-FR" sz="1800" cap="none" dirty="0">
                <a:latin typeface="Times-New-Roman"/>
              </a:rPr>
            </a:br>
            <a:r>
              <a:rPr lang="fr-FR" sz="1800" cap="none" dirty="0">
                <a:latin typeface="Times-New-Roman"/>
              </a:rPr>
              <a:t>est classée dans la position placée la dernière par ordre de numérotation parmi celles</a:t>
            </a:r>
            <a:br>
              <a:rPr lang="fr-FR" sz="1800" cap="none" dirty="0">
                <a:latin typeface="Times-New-Roman"/>
              </a:rPr>
            </a:br>
            <a:r>
              <a:rPr lang="fr-FR" sz="1800" cap="none" dirty="0">
                <a:latin typeface="Times-New-Roman"/>
              </a:rPr>
              <a:t>susceptibles d'être valablement prises en considération.</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fr-LU" dirty="0" smtClean="0"/>
          </a:p>
          <a:p>
            <a:endParaRPr lang="fr-LU" dirty="0" smtClean="0"/>
          </a:p>
          <a:p>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0419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199506"/>
            <a:ext cx="10058400" cy="1920240"/>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smtClean="0">
                <a:latin typeface="Times-New-Roman"/>
              </a:rPr>
              <a:t>Lorsque </a:t>
            </a:r>
            <a:r>
              <a:rPr lang="fr-FR" sz="1800" cap="none" dirty="0">
                <a:latin typeface="Times-New-Roman"/>
              </a:rPr>
              <a:t>des marchandises paraissent devoir être classées sous deux ou plusieurs positions </a:t>
            </a:r>
            <a:r>
              <a:rPr lang="fr-FR" sz="1800" cap="none" dirty="0" smtClean="0">
                <a:latin typeface="Times-New-Roman"/>
              </a:rPr>
              <a:t>par application </a:t>
            </a:r>
            <a:r>
              <a:rPr lang="fr-FR" sz="1800" cap="none" dirty="0">
                <a:latin typeface="Times-New-Roman"/>
              </a:rPr>
              <a:t>de la Règle 2 b) </a:t>
            </a:r>
            <a:r>
              <a:rPr lang="fr-FR" sz="1800" b="1" cap="none" dirty="0">
                <a:latin typeface="Times-New-Roman"/>
              </a:rPr>
              <a:t>ou dans tout autre cas</a:t>
            </a:r>
            <a:r>
              <a:rPr lang="fr-FR" sz="1800" cap="none" dirty="0">
                <a:latin typeface="Times-New-Roman"/>
              </a:rPr>
              <a:t>, le classement s'opère comme </a:t>
            </a:r>
            <a:r>
              <a:rPr lang="fr-FR" sz="1800" cap="none" dirty="0" smtClean="0">
                <a:latin typeface="Times-New-Roman"/>
              </a:rPr>
              <a:t>suit :</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fr-LU" dirty="0" smtClean="0"/>
          </a:p>
          <a:p>
            <a:endParaRPr lang="fr-LU" dirty="0" smtClean="0"/>
          </a:p>
          <a:p>
            <a:r>
              <a:rPr lang="fr-LU" dirty="0" smtClean="0"/>
              <a:t>Par exemple :  </a:t>
            </a:r>
          </a:p>
          <a:p>
            <a:r>
              <a:rPr lang="fr-LU" dirty="0"/>
              <a:t>	</a:t>
            </a:r>
            <a:r>
              <a:rPr lang="fr-LU" dirty="0" smtClean="0"/>
              <a:t>			assortiment, </a:t>
            </a:r>
          </a:p>
          <a:p>
            <a:r>
              <a:rPr lang="fr-LU" dirty="0"/>
              <a:t>	</a:t>
            </a:r>
            <a:r>
              <a:rPr lang="fr-LU" dirty="0" smtClean="0"/>
              <a:t>			fonction vs matière</a:t>
            </a:r>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57276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fontScale="90000"/>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La position la plus spécifique doit avoir la priorité sur les positions d'une portée plus générale.</a:t>
            </a:r>
            <a:br>
              <a:rPr lang="fr-FR" sz="1800" cap="none" dirty="0">
                <a:latin typeface="Times-New-Roman"/>
              </a:rPr>
            </a:br>
            <a:r>
              <a:rPr lang="fr-FR" sz="1800" cap="none" dirty="0">
                <a:latin typeface="Times-New-Roman"/>
              </a:rPr>
              <a:t>Toutefois, lorsque deux ou plusieurs positions se rapportent chacune à une partie seulement des</a:t>
            </a:r>
            <a:br>
              <a:rPr lang="fr-FR" sz="1800" cap="none" dirty="0">
                <a:latin typeface="Times-New-Roman"/>
              </a:rPr>
            </a:br>
            <a:r>
              <a:rPr lang="fr-FR" sz="1800" cap="none" dirty="0">
                <a:latin typeface="Times-New-Roman"/>
              </a:rPr>
              <a:t>matières constituant un produit mélangé ou un article composite ou à une partie seulement des</a:t>
            </a:r>
            <a:br>
              <a:rPr lang="fr-FR" sz="1800" cap="none" dirty="0">
                <a:latin typeface="Times-New-Roman"/>
              </a:rPr>
            </a:br>
            <a:r>
              <a:rPr lang="fr-FR" sz="1800" cap="none" dirty="0">
                <a:latin typeface="Times-New-Roman"/>
              </a:rPr>
              <a:t>articles dans le cas de marchandises présentées en assortiments conditionnés pour la vente au</a:t>
            </a:r>
            <a:br>
              <a:rPr lang="fr-FR" sz="1800" cap="none" dirty="0">
                <a:latin typeface="Times-New-Roman"/>
              </a:rPr>
            </a:br>
            <a:r>
              <a:rPr lang="fr-FR" sz="1800" cap="none" dirty="0">
                <a:latin typeface="Times-New-Roman"/>
              </a:rPr>
              <a:t>détail, ces positions sont à considérer, au regard de ce produit ou de cet article, comme</a:t>
            </a:r>
            <a:br>
              <a:rPr lang="fr-FR" sz="1800" cap="none" dirty="0">
                <a:latin typeface="Times-New-Roman"/>
              </a:rPr>
            </a:br>
            <a:r>
              <a:rPr lang="fr-FR" sz="1800" cap="none" dirty="0">
                <a:latin typeface="Times-New-Roman"/>
              </a:rPr>
              <a:t>également spécifiques même si l'une d'elles en donne par ailleurs une description plus précise ou</a:t>
            </a:r>
            <a:br>
              <a:rPr lang="fr-FR" sz="1800" cap="none" dirty="0">
                <a:latin typeface="Times-New-Roman"/>
              </a:rPr>
            </a:br>
            <a:r>
              <a:rPr lang="fr-FR" sz="1800" cap="none" dirty="0">
                <a:latin typeface="Times-New-Roman"/>
              </a:rPr>
              <a:t>plus complète.</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fr-LU" dirty="0" smtClean="0"/>
          </a:p>
          <a:p>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32640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fontScale="90000"/>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La position la plus spécifique doit avoir la priorité sur les positions d'une portée plus générale.</a:t>
            </a:r>
            <a:br>
              <a:rPr lang="fr-FR" sz="1800" cap="none" dirty="0">
                <a:latin typeface="Times-New-Roman"/>
              </a:rPr>
            </a:br>
            <a:r>
              <a:rPr lang="fr-FR" sz="1800" cap="none" dirty="0">
                <a:solidFill>
                  <a:srgbClr val="00B0F0"/>
                </a:solidFill>
                <a:latin typeface="Times-New-Roman"/>
              </a:rPr>
              <a:t>Toutefois, lorsque deux ou plusieurs positions se rapportent chacune à une partie seulement des</a:t>
            </a:r>
            <a:br>
              <a:rPr lang="fr-FR" sz="1800" cap="none" dirty="0">
                <a:solidFill>
                  <a:srgbClr val="00B0F0"/>
                </a:solidFill>
                <a:latin typeface="Times-New-Roman"/>
              </a:rPr>
            </a:br>
            <a:r>
              <a:rPr lang="fr-FR" sz="1800" cap="none" dirty="0">
                <a:solidFill>
                  <a:srgbClr val="00B0F0"/>
                </a:solidFill>
                <a:latin typeface="Times-New-Roman"/>
              </a:rPr>
              <a:t>matières constituant un produit mélangé ou un article composite ou à une partie seulement des</a:t>
            </a:r>
            <a:br>
              <a:rPr lang="fr-FR" sz="1800" cap="none" dirty="0">
                <a:solidFill>
                  <a:srgbClr val="00B0F0"/>
                </a:solidFill>
                <a:latin typeface="Times-New-Roman"/>
              </a:rPr>
            </a:br>
            <a:r>
              <a:rPr lang="fr-FR" sz="1800" cap="none" dirty="0">
                <a:solidFill>
                  <a:srgbClr val="00B0F0"/>
                </a:solidFill>
                <a:latin typeface="Times-New-Roman"/>
              </a:rPr>
              <a:t>articles dans le cas de marchandises présentées en assortiments conditionnés pour la vente au</a:t>
            </a:r>
            <a:br>
              <a:rPr lang="fr-FR" sz="1800" cap="none" dirty="0">
                <a:solidFill>
                  <a:srgbClr val="00B0F0"/>
                </a:solidFill>
                <a:latin typeface="Times-New-Roman"/>
              </a:rPr>
            </a:br>
            <a:r>
              <a:rPr lang="fr-FR" sz="1800" cap="none" dirty="0">
                <a:solidFill>
                  <a:srgbClr val="00B0F0"/>
                </a:solidFill>
                <a:latin typeface="Times-New-Roman"/>
              </a:rPr>
              <a:t>détail, ces positions sont à considérer, au regard de ce produit ou de cet article, comme</a:t>
            </a:r>
            <a:br>
              <a:rPr lang="fr-FR" sz="1800" cap="none" dirty="0">
                <a:solidFill>
                  <a:srgbClr val="00B0F0"/>
                </a:solidFill>
                <a:latin typeface="Times-New-Roman"/>
              </a:rPr>
            </a:br>
            <a:r>
              <a:rPr lang="fr-FR" sz="1800" cap="none" dirty="0">
                <a:solidFill>
                  <a:srgbClr val="00B0F0"/>
                </a:solidFill>
                <a:latin typeface="Times-New-Roman"/>
              </a:rPr>
              <a:t>également spécifiques même si l'une d'elles en donne par ailleurs une description plus précise ou</a:t>
            </a:r>
            <a:br>
              <a:rPr lang="fr-FR" sz="1800" cap="none" dirty="0">
                <a:solidFill>
                  <a:srgbClr val="00B0F0"/>
                </a:solidFill>
                <a:latin typeface="Times-New-Roman"/>
              </a:rPr>
            </a:br>
            <a:r>
              <a:rPr lang="fr-FR" sz="1800" cap="none" dirty="0">
                <a:solidFill>
                  <a:srgbClr val="00B0F0"/>
                </a:solidFill>
                <a:latin typeface="Times-New-Roman"/>
              </a:rPr>
              <a:t>plus complète.</a:t>
            </a:r>
            <a:endParaRPr lang="en-US" sz="1800" dirty="0">
              <a:solidFill>
                <a:srgbClr val="00B0F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  </a:t>
            </a:r>
          </a:p>
          <a:p>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3325766" y="3278033"/>
            <a:ext cx="3677163" cy="2648320"/>
          </a:xfrm>
          <a:prstGeom prst="rect">
            <a:avLst/>
          </a:prstGeom>
        </p:spPr>
      </p:pic>
    </p:spTree>
    <p:extLst>
      <p:ext uri="{BB962C8B-B14F-4D97-AF65-F5344CB8AC3E}">
        <p14:creationId xmlns:p14="http://schemas.microsoft.com/office/powerpoint/2010/main" val="20907533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fontScale="90000"/>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La position la plus spécifique doit avoir la priorité sur les positions d'une portée plus générale.</a:t>
            </a:r>
            <a:br>
              <a:rPr lang="fr-FR" sz="1800" cap="none" dirty="0">
                <a:latin typeface="Times-New-Roman"/>
              </a:rPr>
            </a:br>
            <a:r>
              <a:rPr lang="fr-FR" sz="1800" cap="none" dirty="0">
                <a:solidFill>
                  <a:srgbClr val="00B0F0"/>
                </a:solidFill>
                <a:latin typeface="Times-New-Roman"/>
              </a:rPr>
              <a:t>Toutefois, lorsque deux ou plusieurs positions se rapportent chacune à une partie seulement des</a:t>
            </a:r>
            <a:br>
              <a:rPr lang="fr-FR" sz="1800" cap="none" dirty="0">
                <a:solidFill>
                  <a:srgbClr val="00B0F0"/>
                </a:solidFill>
                <a:latin typeface="Times-New-Roman"/>
              </a:rPr>
            </a:br>
            <a:r>
              <a:rPr lang="fr-FR" sz="1800" cap="none" dirty="0">
                <a:solidFill>
                  <a:srgbClr val="00B0F0"/>
                </a:solidFill>
                <a:latin typeface="Times-New-Roman"/>
              </a:rPr>
              <a:t>matières constituant un produit mélangé ou un article composite ou à une partie seulement des</a:t>
            </a:r>
            <a:br>
              <a:rPr lang="fr-FR" sz="1800" cap="none" dirty="0">
                <a:solidFill>
                  <a:srgbClr val="00B0F0"/>
                </a:solidFill>
                <a:latin typeface="Times-New-Roman"/>
              </a:rPr>
            </a:br>
            <a:r>
              <a:rPr lang="fr-FR" sz="1800" cap="none" dirty="0">
                <a:solidFill>
                  <a:srgbClr val="00B0F0"/>
                </a:solidFill>
                <a:latin typeface="Times-New-Roman"/>
              </a:rPr>
              <a:t>articles dans le cas de marchandises présentées en assortiments conditionnés pour la vente au</a:t>
            </a:r>
            <a:br>
              <a:rPr lang="fr-FR" sz="1800" cap="none" dirty="0">
                <a:solidFill>
                  <a:srgbClr val="00B0F0"/>
                </a:solidFill>
                <a:latin typeface="Times-New-Roman"/>
              </a:rPr>
            </a:br>
            <a:r>
              <a:rPr lang="fr-FR" sz="1800" cap="none" dirty="0">
                <a:solidFill>
                  <a:srgbClr val="00B0F0"/>
                </a:solidFill>
                <a:latin typeface="Times-New-Roman"/>
              </a:rPr>
              <a:t>détail, ces positions sont à considérer, au regard de ce produit ou de cet article, comme</a:t>
            </a:r>
            <a:br>
              <a:rPr lang="fr-FR" sz="1800" cap="none" dirty="0">
                <a:solidFill>
                  <a:srgbClr val="00B0F0"/>
                </a:solidFill>
                <a:latin typeface="Times-New-Roman"/>
              </a:rPr>
            </a:br>
            <a:r>
              <a:rPr lang="fr-FR" sz="1800" cap="none" dirty="0">
                <a:solidFill>
                  <a:srgbClr val="00B0F0"/>
                </a:solidFill>
                <a:latin typeface="Times-New-Roman"/>
              </a:rPr>
              <a:t>également spécifiques même si l'une d'elles en donne par ailleurs une description plus précise ou</a:t>
            </a:r>
            <a:br>
              <a:rPr lang="fr-FR" sz="1800" cap="none" dirty="0">
                <a:solidFill>
                  <a:srgbClr val="00B0F0"/>
                </a:solidFill>
                <a:latin typeface="Times-New-Roman"/>
              </a:rPr>
            </a:br>
            <a:r>
              <a:rPr lang="fr-FR" sz="1800" cap="none" dirty="0">
                <a:solidFill>
                  <a:srgbClr val="00B0F0"/>
                </a:solidFill>
                <a:latin typeface="Times-New-Roman"/>
              </a:rPr>
              <a:t>plus complète.</a:t>
            </a:r>
            <a:endParaRPr lang="en-US" sz="1800" dirty="0">
              <a:solidFill>
                <a:srgbClr val="00B0F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sym typeface="Wingdings" panose="05000000000000000000" pitchFamily="2" charset="2"/>
              </a:rPr>
              <a:t> La marchandise est classée sous la position qui fournit la meilleure description!</a:t>
            </a:r>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3634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fontScale="90000"/>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smtClean="0">
                <a:solidFill>
                  <a:srgbClr val="FF0000"/>
                </a:solidFill>
                <a:latin typeface="Times-New-Roman"/>
              </a:rPr>
              <a:t>a</a:t>
            </a:r>
            <a:r>
              <a:rPr lang="fr-FR" sz="1800" cap="none" dirty="0">
                <a:solidFill>
                  <a:srgbClr val="FF0000"/>
                </a:solidFill>
                <a:latin typeface="Times-New-Roman"/>
              </a:rPr>
              <a:t>) </a:t>
            </a:r>
            <a:r>
              <a:rPr lang="fr-FR" sz="1800" cap="none" dirty="0">
                <a:latin typeface="Times-New-Roman"/>
              </a:rPr>
              <a:t>La position la plus spécifique doit avoir la priorité sur les positions d'une portée plus générale.</a:t>
            </a:r>
            <a:br>
              <a:rPr lang="fr-FR" sz="1800" cap="none" dirty="0">
                <a:latin typeface="Times-New-Roman"/>
              </a:rPr>
            </a:br>
            <a:r>
              <a:rPr lang="fr-FR" sz="1800" cap="none" dirty="0">
                <a:latin typeface="Times-New-Roman"/>
              </a:rPr>
              <a:t>Toutefois, lorsque deux ou plusieurs positions se rapportent chacune à une partie seulement des</a:t>
            </a:r>
            <a:br>
              <a:rPr lang="fr-FR" sz="1800" cap="none" dirty="0">
                <a:latin typeface="Times-New-Roman"/>
              </a:rPr>
            </a:br>
            <a:r>
              <a:rPr lang="fr-FR" sz="1800" cap="none" dirty="0">
                <a:latin typeface="Times-New-Roman"/>
              </a:rPr>
              <a:t>matières constituant un produit mélangé ou un article composite ou à une partie seulement des</a:t>
            </a:r>
            <a:br>
              <a:rPr lang="fr-FR" sz="1800" cap="none" dirty="0">
                <a:latin typeface="Times-New-Roman"/>
              </a:rPr>
            </a:br>
            <a:r>
              <a:rPr lang="fr-FR" sz="1800" cap="none" dirty="0">
                <a:latin typeface="Times-New-Roman"/>
              </a:rPr>
              <a:t>articles dans le cas de marchandises présentées en assortiments conditionnés pour la vente au</a:t>
            </a:r>
            <a:br>
              <a:rPr lang="fr-FR" sz="1800" cap="none" dirty="0">
                <a:latin typeface="Times-New-Roman"/>
              </a:rPr>
            </a:br>
            <a:r>
              <a:rPr lang="fr-FR" sz="1800" cap="none" dirty="0">
                <a:latin typeface="Times-New-Roman"/>
              </a:rPr>
              <a:t>détail, ces positions sont à considérer, au regard de ce produit ou de cet article, comme</a:t>
            </a:r>
            <a:br>
              <a:rPr lang="fr-FR" sz="1800" cap="none" dirty="0">
                <a:latin typeface="Times-New-Roman"/>
              </a:rPr>
            </a:br>
            <a:r>
              <a:rPr lang="fr-FR" sz="1800" cap="none" dirty="0">
                <a:latin typeface="Times-New-Roman"/>
              </a:rPr>
              <a:t>également spécifiques même si l'une d'elles en donne par ailleurs une description plus précise ou</a:t>
            </a:r>
            <a:br>
              <a:rPr lang="fr-FR" sz="1800" cap="none" dirty="0">
                <a:latin typeface="Times-New-Roman"/>
              </a:rPr>
            </a:br>
            <a:r>
              <a:rPr lang="fr-FR" sz="1800" cap="none" dirty="0">
                <a:latin typeface="Times-New-Roman"/>
              </a:rPr>
              <a:t>plus complète.</a:t>
            </a:r>
            <a:endParaRPr lang="en-US" sz="1800" dirty="0"/>
          </a:p>
        </p:txBody>
      </p:sp>
      <p:sp>
        <p:nvSpPr>
          <p:cNvPr id="3" name="Text Placeholder 2"/>
          <p:cNvSpPr>
            <a:spLocks noGrp="1"/>
          </p:cNvSpPr>
          <p:nvPr>
            <p:ph type="body" idx="1"/>
          </p:nvPr>
        </p:nvSpPr>
        <p:spPr>
          <a:xfrm>
            <a:off x="684212" y="4039984"/>
            <a:ext cx="8535988" cy="2452255"/>
          </a:xfrm>
        </p:spPr>
        <p:txBody>
          <a:bodyPr>
            <a:normAutofit fontScale="85000" lnSpcReduction="10000"/>
          </a:bodyPr>
          <a:lstStyle/>
          <a:p>
            <a:r>
              <a:rPr lang="fr-LU" dirty="0" smtClean="0"/>
              <a:t> </a:t>
            </a:r>
          </a:p>
          <a:p>
            <a:endParaRPr lang="fr-LU" dirty="0" smtClean="0"/>
          </a:p>
          <a:p>
            <a:endParaRPr lang="fr-LU" dirty="0" smtClean="0"/>
          </a:p>
          <a:p>
            <a:r>
              <a:rPr lang="en-US" dirty="0" smtClean="0"/>
              <a:t>442110 </a:t>
            </a:r>
            <a:r>
              <a:rPr lang="en-US" dirty="0" err="1" smtClean="0"/>
              <a:t>Cintres</a:t>
            </a:r>
            <a:r>
              <a:rPr lang="en-US" dirty="0" smtClean="0"/>
              <a:t> pour </a:t>
            </a:r>
            <a:r>
              <a:rPr lang="en-US" dirty="0" err="1" smtClean="0"/>
              <a:t>vêtements</a:t>
            </a:r>
            <a:r>
              <a:rPr lang="en-US" dirty="0" smtClean="0"/>
              <a:t> (</a:t>
            </a:r>
            <a:r>
              <a:rPr lang="en-US" dirty="0" err="1" smtClean="0"/>
              <a:t>en</a:t>
            </a:r>
            <a:r>
              <a:rPr lang="en-US" dirty="0" smtClean="0"/>
              <a:t> bois)</a:t>
            </a:r>
          </a:p>
          <a:p>
            <a:r>
              <a:rPr lang="fr-LU" dirty="0" smtClean="0"/>
              <a:t>ou</a:t>
            </a:r>
          </a:p>
          <a:p>
            <a:r>
              <a:rPr lang="fr-LU" dirty="0" smtClean="0"/>
              <a:t>732399 (</a:t>
            </a:r>
            <a:r>
              <a:rPr lang="fr-FR" dirty="0"/>
              <a:t>Articles de ménage ou d'économie domestique </a:t>
            </a:r>
            <a:r>
              <a:rPr lang="fr-FR" dirty="0" smtClean="0"/>
              <a:t>(en fonte, fer ou acier)</a:t>
            </a:r>
            <a:endParaRPr lang="fr-LU" dirty="0" smtClean="0"/>
          </a:p>
          <a:p>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lt;strong&gt;Kleiderbügel&lt;/strong&gt; - Das sollten Sie wiss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3609" y="2558358"/>
            <a:ext cx="2907191" cy="1935359"/>
          </a:xfrm>
          <a:prstGeom prst="rect">
            <a:avLst/>
          </a:prstGeom>
        </p:spPr>
      </p:pic>
      <p:sp>
        <p:nvSpPr>
          <p:cNvPr id="6" name="TextBox 5"/>
          <p:cNvSpPr txBox="1"/>
          <p:nvPr/>
        </p:nvSpPr>
        <p:spPr>
          <a:xfrm>
            <a:off x="908504" y="3064372"/>
            <a:ext cx="1645920" cy="461665"/>
          </a:xfrm>
          <a:prstGeom prst="rect">
            <a:avLst/>
          </a:prstGeom>
          <a:noFill/>
        </p:spPr>
        <p:txBody>
          <a:bodyPr wrap="square" rtlCol="0">
            <a:spAutoFit/>
          </a:bodyPr>
          <a:lstStyle/>
          <a:p>
            <a:r>
              <a:rPr lang="fr-LU" sz="2400" dirty="0">
                <a:solidFill>
                  <a:schemeClr val="bg2">
                    <a:lumMod val="75000"/>
                  </a:schemeClr>
                </a:solidFill>
              </a:rPr>
              <a:t>Exemple:</a:t>
            </a:r>
            <a:endParaRPr lang="en-US" sz="2400" dirty="0">
              <a:solidFill>
                <a:schemeClr val="bg2">
                  <a:lumMod val="75000"/>
                </a:schemeClr>
              </a:solidFill>
            </a:endParaRPr>
          </a:p>
        </p:txBody>
      </p:sp>
    </p:spTree>
    <p:extLst>
      <p:ext uri="{BB962C8B-B14F-4D97-AF65-F5344CB8AC3E}">
        <p14:creationId xmlns:p14="http://schemas.microsoft.com/office/powerpoint/2010/main" val="3028331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a:solidFill>
                  <a:srgbClr val="FF0000"/>
                </a:solidFill>
                <a:latin typeface="Times-New-Roman"/>
              </a:rPr>
              <a:t>b</a:t>
            </a:r>
            <a:r>
              <a:rPr lang="fr-FR" sz="1800" cap="none" dirty="0" smtClean="0">
                <a:solidFill>
                  <a:srgbClr val="FF0000"/>
                </a:solidFill>
                <a:latin typeface="Times-New-Roman"/>
              </a:rPr>
              <a:t>) </a:t>
            </a:r>
            <a:r>
              <a:rPr lang="fr-FR" sz="1800" cap="none" dirty="0">
                <a:latin typeface="Times-New-Roman"/>
              </a:rPr>
              <a:t>Les produits mélangés, les ouvrages composés de matières différentes ou constitués par</a:t>
            </a:r>
            <a:br>
              <a:rPr lang="fr-FR" sz="1800" cap="none" dirty="0">
                <a:latin typeface="Times-New-Roman"/>
              </a:rPr>
            </a:br>
            <a:r>
              <a:rPr lang="fr-FR" sz="1800" cap="none" dirty="0">
                <a:latin typeface="Times-New-Roman"/>
              </a:rPr>
              <a:t>l'assemblage d'articles différents et les marchandises présentées en assortiments conditionnés</a:t>
            </a:r>
            <a:br>
              <a:rPr lang="fr-FR" sz="1800" cap="none" dirty="0">
                <a:latin typeface="Times-New-Roman"/>
              </a:rPr>
            </a:br>
            <a:r>
              <a:rPr lang="fr-FR" sz="1800" cap="none" dirty="0">
                <a:latin typeface="Times-New-Roman"/>
              </a:rPr>
              <a:t>pour la vente au détail, dont le classement ne peut être effectué en application de la Règle 3 a),</a:t>
            </a:r>
            <a:br>
              <a:rPr lang="fr-FR" sz="1800" cap="none" dirty="0">
                <a:latin typeface="Times-New-Roman"/>
              </a:rPr>
            </a:br>
            <a:r>
              <a:rPr lang="fr-FR" sz="1800" cap="none" dirty="0">
                <a:latin typeface="Times-New-Roman"/>
              </a:rPr>
              <a:t>sont classés d'après la matière ou l'article qui leur confère leur caractère essentiel lorsqu'il est</a:t>
            </a:r>
            <a:br>
              <a:rPr lang="fr-FR" sz="1800" cap="none" dirty="0">
                <a:latin typeface="Times-New-Roman"/>
              </a:rPr>
            </a:br>
            <a:r>
              <a:rPr lang="fr-FR" sz="1800" cap="none" dirty="0">
                <a:latin typeface="Times-New-Roman"/>
              </a:rPr>
              <a:t>possible d'opérer cette détermination.</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fr-LU" dirty="0" smtClean="0"/>
          </a:p>
          <a:p>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413206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a:solidFill>
                  <a:srgbClr val="FF0000"/>
                </a:solidFill>
                <a:latin typeface="Times-New-Roman"/>
              </a:rPr>
              <a:t>b</a:t>
            </a:r>
            <a:r>
              <a:rPr lang="fr-FR" sz="1800" cap="none" dirty="0" smtClean="0">
                <a:solidFill>
                  <a:srgbClr val="FF0000"/>
                </a:solidFill>
                <a:latin typeface="Times-New-Roman"/>
              </a:rPr>
              <a:t>) </a:t>
            </a:r>
            <a:r>
              <a:rPr lang="fr-FR" sz="1800" cap="none" dirty="0">
                <a:latin typeface="Times-New-Roman"/>
              </a:rPr>
              <a:t>Les produits mélangés, les ouvrages composés de matières différentes ou constitués par</a:t>
            </a:r>
            <a:br>
              <a:rPr lang="fr-FR" sz="1800" cap="none" dirty="0">
                <a:latin typeface="Times-New-Roman"/>
              </a:rPr>
            </a:br>
            <a:r>
              <a:rPr lang="fr-FR" sz="1800" cap="none" dirty="0">
                <a:latin typeface="Times-New-Roman"/>
              </a:rPr>
              <a:t>l'assemblage d'articles différents et les marchandises présentées en assortiments conditionnés</a:t>
            </a:r>
            <a:br>
              <a:rPr lang="fr-FR" sz="1800" cap="none" dirty="0">
                <a:latin typeface="Times-New-Roman"/>
              </a:rPr>
            </a:br>
            <a:r>
              <a:rPr lang="fr-FR" sz="1800" cap="none" dirty="0">
                <a:latin typeface="Times-New-Roman"/>
              </a:rPr>
              <a:t>pour la vente au détail, dont le classement ne peut être effectué en application de la Règle 3 a),</a:t>
            </a:r>
            <a:br>
              <a:rPr lang="fr-FR" sz="1800" cap="none" dirty="0">
                <a:latin typeface="Times-New-Roman"/>
              </a:rPr>
            </a:br>
            <a:r>
              <a:rPr lang="fr-FR" sz="1800" cap="none" dirty="0">
                <a:latin typeface="Times-New-Roman"/>
              </a:rPr>
              <a:t>sont classés d'après la matière ou l'article qui leur confère </a:t>
            </a:r>
            <a:r>
              <a:rPr lang="fr-FR" sz="1800" b="1" cap="none" dirty="0">
                <a:latin typeface="Times-New-Roman"/>
              </a:rPr>
              <a:t>leur caractère essentiel </a:t>
            </a:r>
            <a:r>
              <a:rPr lang="fr-FR" sz="1800" cap="none" dirty="0">
                <a:solidFill>
                  <a:srgbClr val="00B0F0"/>
                </a:solidFill>
                <a:latin typeface="Times-New-Roman"/>
              </a:rPr>
              <a:t>lorsqu'il est</a:t>
            </a:r>
            <a:br>
              <a:rPr lang="fr-FR" sz="1800" cap="none" dirty="0">
                <a:solidFill>
                  <a:srgbClr val="00B0F0"/>
                </a:solidFill>
                <a:latin typeface="Times-New-Roman"/>
              </a:rPr>
            </a:br>
            <a:r>
              <a:rPr lang="fr-FR" sz="1800" cap="none" dirty="0">
                <a:solidFill>
                  <a:srgbClr val="00B0F0"/>
                </a:solidFill>
                <a:latin typeface="Times-New-Roman"/>
              </a:rPr>
              <a:t>possible d'opérer cette détermination.</a:t>
            </a:r>
            <a:endParaRPr lang="en-US" sz="1800" dirty="0">
              <a:solidFill>
                <a:srgbClr val="00B0F0"/>
              </a:solidFill>
            </a:endParaRPr>
          </a:p>
        </p:txBody>
      </p:sp>
      <p:sp>
        <p:nvSpPr>
          <p:cNvPr id="3" name="Text Placeholder 2"/>
          <p:cNvSpPr>
            <a:spLocks noGrp="1"/>
          </p:cNvSpPr>
          <p:nvPr>
            <p:ph type="body" idx="1"/>
          </p:nvPr>
        </p:nvSpPr>
        <p:spPr>
          <a:xfrm>
            <a:off x="684212" y="2768138"/>
            <a:ext cx="8535988" cy="3226261"/>
          </a:xfrm>
        </p:spPr>
        <p:txBody>
          <a:bodyPr/>
          <a:lstStyle/>
          <a:p>
            <a:r>
              <a:rPr lang="fr-LU" dirty="0" smtClean="0"/>
              <a:t>Exemple:       </a:t>
            </a:r>
          </a:p>
          <a:p>
            <a:endParaRPr lang="fr-LU" dirty="0" smtClean="0"/>
          </a:p>
          <a:p>
            <a:endParaRPr lang="en-US" dirty="0"/>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4158" y="2768138"/>
            <a:ext cx="2885902" cy="2885902"/>
          </a:xfrm>
          <a:prstGeom prst="rect">
            <a:avLst/>
          </a:prstGeom>
        </p:spPr>
      </p:pic>
    </p:spTree>
    <p:extLst>
      <p:ext uri="{BB962C8B-B14F-4D97-AF65-F5344CB8AC3E}">
        <p14:creationId xmlns:p14="http://schemas.microsoft.com/office/powerpoint/2010/main" val="2520403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a:solidFill>
                  <a:srgbClr val="FF0000"/>
                </a:solidFill>
                <a:latin typeface="Times-New-Roman"/>
              </a:rPr>
              <a:t>b</a:t>
            </a:r>
            <a:r>
              <a:rPr lang="fr-FR" sz="1800" cap="none" dirty="0" smtClean="0">
                <a:solidFill>
                  <a:srgbClr val="FF0000"/>
                </a:solidFill>
                <a:latin typeface="Times-New-Roman"/>
              </a:rPr>
              <a:t>) </a:t>
            </a:r>
            <a:r>
              <a:rPr lang="fr-FR" sz="1800" cap="none" dirty="0">
                <a:latin typeface="Times-New-Roman"/>
              </a:rPr>
              <a:t>Les produits mélangés, les ouvrages composés de matières différentes ou constitués par</a:t>
            </a:r>
            <a:br>
              <a:rPr lang="fr-FR" sz="1800" cap="none" dirty="0">
                <a:latin typeface="Times-New-Roman"/>
              </a:rPr>
            </a:br>
            <a:r>
              <a:rPr lang="fr-FR" sz="1800" cap="none" dirty="0">
                <a:latin typeface="Times-New-Roman"/>
              </a:rPr>
              <a:t>l'assemblage d'articles différents et les marchandises présentées en assortiments conditionnés</a:t>
            </a:r>
            <a:br>
              <a:rPr lang="fr-FR" sz="1800" cap="none" dirty="0">
                <a:latin typeface="Times-New-Roman"/>
              </a:rPr>
            </a:br>
            <a:r>
              <a:rPr lang="fr-FR" sz="1800" cap="none" dirty="0">
                <a:latin typeface="Times-New-Roman"/>
              </a:rPr>
              <a:t>pour la vente au détail, dont le classement ne peut être effectué en application de la Règle 3 a),</a:t>
            </a:r>
            <a:br>
              <a:rPr lang="fr-FR" sz="1800" cap="none" dirty="0">
                <a:latin typeface="Times-New-Roman"/>
              </a:rPr>
            </a:br>
            <a:r>
              <a:rPr lang="fr-FR" sz="1800" cap="none" dirty="0">
                <a:latin typeface="Times-New-Roman"/>
              </a:rPr>
              <a:t>sont classés d'après la matière ou l'article qui leur confère </a:t>
            </a:r>
            <a:r>
              <a:rPr lang="fr-FR" sz="1800" b="1" cap="none" dirty="0">
                <a:latin typeface="Times-New-Roman"/>
              </a:rPr>
              <a:t>leur caractère essentiel </a:t>
            </a:r>
            <a:r>
              <a:rPr lang="fr-FR" sz="1800" cap="none" dirty="0">
                <a:solidFill>
                  <a:srgbClr val="00B0F0"/>
                </a:solidFill>
                <a:latin typeface="Times-New-Roman"/>
              </a:rPr>
              <a:t>lorsqu'il est</a:t>
            </a:r>
            <a:br>
              <a:rPr lang="fr-FR" sz="1800" cap="none" dirty="0">
                <a:solidFill>
                  <a:srgbClr val="00B0F0"/>
                </a:solidFill>
                <a:latin typeface="Times-New-Roman"/>
              </a:rPr>
            </a:br>
            <a:r>
              <a:rPr lang="fr-FR" sz="1800" cap="none" dirty="0">
                <a:solidFill>
                  <a:srgbClr val="00B0F0"/>
                </a:solidFill>
                <a:latin typeface="Times-New-Roman"/>
              </a:rPr>
              <a:t>possible d'opérer cette détermination.</a:t>
            </a:r>
            <a:endParaRPr lang="en-US" sz="1800" dirty="0">
              <a:solidFill>
                <a:srgbClr val="00B0F0"/>
              </a:solidFill>
            </a:endParaRPr>
          </a:p>
        </p:txBody>
      </p:sp>
      <p:sp>
        <p:nvSpPr>
          <p:cNvPr id="3" name="Text Placeholder 2"/>
          <p:cNvSpPr>
            <a:spLocks noGrp="1"/>
          </p:cNvSpPr>
          <p:nvPr>
            <p:ph type="body" idx="1"/>
          </p:nvPr>
        </p:nvSpPr>
        <p:spPr>
          <a:xfrm>
            <a:off x="684212" y="2360814"/>
            <a:ext cx="8535988" cy="3981797"/>
          </a:xfrm>
        </p:spPr>
        <p:txBody>
          <a:bodyPr/>
          <a:lstStyle/>
          <a:p>
            <a:r>
              <a:rPr lang="fr-LU" dirty="0" smtClean="0"/>
              <a:t>Facteurs pour la détermination du caractère essentiel?</a:t>
            </a:r>
          </a:p>
          <a:p>
            <a:pPr marL="342900" indent="-342900">
              <a:buFontTx/>
              <a:buChar char="-"/>
            </a:pPr>
            <a:r>
              <a:rPr lang="fr-LU" dirty="0" smtClean="0"/>
              <a:t>Volume</a:t>
            </a:r>
          </a:p>
          <a:p>
            <a:pPr marL="342900" indent="-342900">
              <a:buFontTx/>
              <a:buChar char="-"/>
            </a:pPr>
            <a:r>
              <a:rPr lang="fr-LU" dirty="0" smtClean="0"/>
              <a:t>Qualité</a:t>
            </a:r>
          </a:p>
          <a:p>
            <a:pPr marL="342900" indent="-342900">
              <a:buFontTx/>
              <a:buChar char="-"/>
            </a:pPr>
            <a:r>
              <a:rPr lang="fr-LU" dirty="0" smtClean="0"/>
              <a:t>Quantité</a:t>
            </a:r>
          </a:p>
          <a:p>
            <a:pPr marL="342900" indent="-342900">
              <a:buFontTx/>
              <a:buChar char="-"/>
            </a:pPr>
            <a:r>
              <a:rPr lang="fr-LU" dirty="0" smtClean="0"/>
              <a:t>Poids</a:t>
            </a:r>
          </a:p>
          <a:p>
            <a:pPr marL="342900" indent="-342900">
              <a:buFontTx/>
              <a:buChar char="-"/>
            </a:pPr>
            <a:r>
              <a:rPr lang="fr-LU" dirty="0" smtClean="0"/>
              <a:t>Valeur</a:t>
            </a:r>
          </a:p>
          <a:p>
            <a:pPr marL="342900" indent="-342900">
              <a:buFontTx/>
              <a:buChar char="-"/>
            </a:pPr>
            <a:r>
              <a:rPr lang="fr-LU" dirty="0" smtClean="0"/>
              <a:t>Nature d’une matière constitutive en vue de l’utilisation</a:t>
            </a:r>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447093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a:solidFill>
                  <a:srgbClr val="FF0000"/>
                </a:solidFill>
                <a:latin typeface="Times-New-Roman"/>
              </a:rPr>
              <a:t>b</a:t>
            </a:r>
            <a:r>
              <a:rPr lang="fr-FR" sz="1800" cap="none" dirty="0" smtClean="0">
                <a:solidFill>
                  <a:srgbClr val="FF0000"/>
                </a:solidFill>
                <a:latin typeface="Times-New-Roman"/>
              </a:rPr>
              <a:t>) </a:t>
            </a:r>
            <a:r>
              <a:rPr lang="fr-FR" sz="1800" cap="none" dirty="0">
                <a:latin typeface="Times-New-Roman"/>
              </a:rPr>
              <a:t>Les produits mélangés, les ouvrages composés de matières différentes ou constitués par</a:t>
            </a:r>
            <a:br>
              <a:rPr lang="fr-FR" sz="1800" cap="none" dirty="0">
                <a:latin typeface="Times-New-Roman"/>
              </a:rPr>
            </a:br>
            <a:r>
              <a:rPr lang="fr-FR" sz="1800" cap="none" dirty="0">
                <a:latin typeface="Times-New-Roman"/>
              </a:rPr>
              <a:t>l'assemblage d'articles différents et les marchandises présentées en assortiments conditionnés</a:t>
            </a:r>
            <a:br>
              <a:rPr lang="fr-FR" sz="1800" cap="none" dirty="0">
                <a:latin typeface="Times-New-Roman"/>
              </a:rPr>
            </a:br>
            <a:r>
              <a:rPr lang="fr-FR" sz="1800" cap="none" dirty="0">
                <a:latin typeface="Times-New-Roman"/>
              </a:rPr>
              <a:t>pour la vente au détail, dont le classement ne peut être effectué en application de la Règle 3 a),</a:t>
            </a:r>
            <a:br>
              <a:rPr lang="fr-FR" sz="1800" cap="none" dirty="0">
                <a:latin typeface="Times-New-Roman"/>
              </a:rPr>
            </a:br>
            <a:r>
              <a:rPr lang="fr-FR" sz="1800" cap="none" dirty="0">
                <a:latin typeface="Times-New-Roman"/>
              </a:rPr>
              <a:t>sont classés d'après la matière ou l'article qui leur confère </a:t>
            </a:r>
            <a:r>
              <a:rPr lang="fr-FR" sz="1800" b="1" cap="none" dirty="0">
                <a:latin typeface="Times-New-Roman"/>
              </a:rPr>
              <a:t>leur caractère essentiel </a:t>
            </a:r>
            <a:r>
              <a:rPr lang="fr-FR" sz="1800" cap="none" dirty="0">
                <a:solidFill>
                  <a:srgbClr val="00B0F0"/>
                </a:solidFill>
                <a:latin typeface="Times-New-Roman"/>
              </a:rPr>
              <a:t>lorsqu'il est</a:t>
            </a:r>
            <a:br>
              <a:rPr lang="fr-FR" sz="1800" cap="none" dirty="0">
                <a:solidFill>
                  <a:srgbClr val="00B0F0"/>
                </a:solidFill>
                <a:latin typeface="Times-New-Roman"/>
              </a:rPr>
            </a:br>
            <a:r>
              <a:rPr lang="fr-FR" sz="1800" cap="none" dirty="0">
                <a:solidFill>
                  <a:srgbClr val="00B0F0"/>
                </a:solidFill>
                <a:latin typeface="Times-New-Roman"/>
              </a:rPr>
              <a:t>possible d'opérer cette détermination.</a:t>
            </a:r>
            <a:endParaRPr lang="en-US" sz="1800" dirty="0">
              <a:solidFill>
                <a:srgbClr val="00B0F0"/>
              </a:solidFill>
            </a:endParaRPr>
          </a:p>
        </p:txBody>
      </p:sp>
      <p:sp>
        <p:nvSpPr>
          <p:cNvPr id="3" name="Text Placeholder 2"/>
          <p:cNvSpPr>
            <a:spLocks noGrp="1"/>
          </p:cNvSpPr>
          <p:nvPr>
            <p:ph type="body" idx="1"/>
          </p:nvPr>
        </p:nvSpPr>
        <p:spPr>
          <a:xfrm>
            <a:off x="684212" y="2360814"/>
            <a:ext cx="8535988" cy="3981797"/>
          </a:xfrm>
        </p:spPr>
        <p:txBody>
          <a:bodyPr/>
          <a:lstStyle/>
          <a:p>
            <a:r>
              <a:rPr lang="fr-LU" b="1" dirty="0" smtClean="0"/>
              <a:t>Attention</a:t>
            </a:r>
            <a:r>
              <a:rPr lang="fr-LU" dirty="0" smtClean="0"/>
              <a:t>: La détermination du caractère essentiel se fonde toujours sur des </a:t>
            </a:r>
            <a:r>
              <a:rPr lang="fr-LU" u="sng" dirty="0" smtClean="0">
                <a:effectLst>
                  <a:outerShdw blurRad="38100" dist="38100" dir="2700000" algn="tl">
                    <a:srgbClr val="000000">
                      <a:alpha val="43137"/>
                    </a:srgbClr>
                  </a:outerShdw>
                </a:effectLst>
              </a:rPr>
              <a:t>critères objectifs !</a:t>
            </a:r>
            <a:r>
              <a:rPr lang="fr-LU" dirty="0" smtClean="0"/>
              <a:t> </a:t>
            </a:r>
          </a:p>
          <a:p>
            <a:r>
              <a:rPr lang="fr-LU" dirty="0"/>
              <a:t>(</a:t>
            </a:r>
            <a:r>
              <a:rPr lang="fr-LU" dirty="0" smtClean="0"/>
              <a:t>La manière d’utilisation de la marchandise est toujours subjective)</a:t>
            </a:r>
            <a:endParaRPr lang="fr-LU" u="sng" dirty="0" smtClean="0">
              <a:effectLst>
                <a:outerShdw blurRad="38100" dist="38100" dir="2700000" algn="tl">
                  <a:srgbClr val="000000">
                    <a:alpha val="43137"/>
                  </a:srgbClr>
                </a:outerShdw>
              </a:effectLst>
            </a:endParaRPr>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22453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a:solidFill>
                  <a:srgbClr val="FF0000"/>
                </a:solidFill>
                <a:latin typeface="Times-New-Roman"/>
              </a:rPr>
              <a:t>b</a:t>
            </a:r>
            <a:r>
              <a:rPr lang="fr-FR" sz="1800" cap="none" dirty="0" smtClean="0">
                <a:solidFill>
                  <a:srgbClr val="FF0000"/>
                </a:solidFill>
                <a:latin typeface="Times-New-Roman"/>
              </a:rPr>
              <a:t>) </a:t>
            </a:r>
            <a:r>
              <a:rPr lang="fr-FR" sz="1800" cap="none" dirty="0">
                <a:latin typeface="Times-New-Roman"/>
              </a:rPr>
              <a:t>Les produits mélangés, les ouvrages composés de matières différentes ou constitués par</a:t>
            </a:r>
            <a:br>
              <a:rPr lang="fr-FR" sz="1800" cap="none" dirty="0">
                <a:latin typeface="Times-New-Roman"/>
              </a:rPr>
            </a:br>
            <a:r>
              <a:rPr lang="fr-FR" sz="1800" cap="none" dirty="0">
                <a:latin typeface="Times-New-Roman"/>
              </a:rPr>
              <a:t>l'assemblage d'articles différents et les marchandises présentées en assortiments conditionnés</a:t>
            </a:r>
            <a:br>
              <a:rPr lang="fr-FR" sz="1800" cap="none" dirty="0">
                <a:latin typeface="Times-New-Roman"/>
              </a:rPr>
            </a:br>
            <a:r>
              <a:rPr lang="fr-FR" sz="1800" cap="none" dirty="0">
                <a:latin typeface="Times-New-Roman"/>
              </a:rPr>
              <a:t>pour la vente au détail, dont le classement ne peut être effectué en application de la Règle 3 a),</a:t>
            </a:r>
            <a:br>
              <a:rPr lang="fr-FR" sz="1800" cap="none" dirty="0">
                <a:latin typeface="Times-New-Roman"/>
              </a:rPr>
            </a:br>
            <a:r>
              <a:rPr lang="fr-FR" sz="1800" cap="none" dirty="0">
                <a:latin typeface="Times-New-Roman"/>
              </a:rPr>
              <a:t>sont classés d'après la matière ou l'article qui leur confère leur caractère essentiel </a:t>
            </a:r>
            <a:r>
              <a:rPr lang="fr-FR" sz="1800" b="1" u="sng" cap="none" dirty="0">
                <a:latin typeface="Times-New-Roman"/>
              </a:rPr>
              <a:t>lorsqu'il est</a:t>
            </a:r>
            <a:br>
              <a:rPr lang="fr-FR" sz="1800" b="1" u="sng" cap="none" dirty="0">
                <a:latin typeface="Times-New-Roman"/>
              </a:rPr>
            </a:br>
            <a:r>
              <a:rPr lang="fr-FR" sz="1800" b="1" u="sng" cap="none" dirty="0">
                <a:latin typeface="Times-New-Roman"/>
              </a:rPr>
              <a:t>possible d'opérer cette détermination.</a:t>
            </a:r>
            <a:endParaRPr lang="en-US" sz="1800" b="1" u="sng" dirty="0"/>
          </a:p>
        </p:txBody>
      </p:sp>
      <p:sp>
        <p:nvSpPr>
          <p:cNvPr id="3" name="Text Placeholder 2"/>
          <p:cNvSpPr>
            <a:spLocks noGrp="1"/>
          </p:cNvSpPr>
          <p:nvPr>
            <p:ph type="body" idx="1"/>
          </p:nvPr>
        </p:nvSpPr>
        <p:spPr>
          <a:xfrm>
            <a:off x="684212" y="2360814"/>
            <a:ext cx="8535988" cy="3981797"/>
          </a:xfrm>
        </p:spPr>
        <p:txBody>
          <a:bodyPr/>
          <a:lstStyle/>
          <a:p>
            <a:r>
              <a:rPr lang="fr-LU" dirty="0" smtClean="0"/>
              <a:t>Exemple: </a:t>
            </a:r>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38979" y="2860616"/>
            <a:ext cx="3050771" cy="3050771"/>
          </a:xfrm>
          <a:prstGeom prst="rect">
            <a:avLst/>
          </a:prstGeom>
        </p:spPr>
      </p:pic>
    </p:spTree>
    <p:extLst>
      <p:ext uri="{BB962C8B-B14F-4D97-AF65-F5344CB8AC3E}">
        <p14:creationId xmlns:p14="http://schemas.microsoft.com/office/powerpoint/2010/main" val="3181301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407324"/>
            <a:ext cx="10058400" cy="2360814"/>
          </a:xfrm>
        </p:spPr>
        <p:txBody>
          <a:bodyPr>
            <a:normAutofit/>
          </a:bodyPr>
          <a:lstStyle/>
          <a:p>
            <a:r>
              <a:rPr lang="fr-LU" dirty="0" smtClean="0">
                <a:solidFill>
                  <a:srgbClr val="FF0000"/>
                </a:solidFill>
              </a:rPr>
              <a:t>Règle 3:  </a:t>
            </a:r>
            <a:r>
              <a:rPr lang="fr-LU" sz="1800" dirty="0" smtClean="0">
                <a:solidFill>
                  <a:srgbClr val="FF0000"/>
                </a:solidFill>
              </a:rPr>
              <a:t>  </a:t>
            </a:r>
            <a:r>
              <a:rPr lang="fr-FR" sz="1800" cap="none" dirty="0">
                <a:latin typeface="Times-New-Roman"/>
              </a:rPr>
              <a:t/>
            </a:r>
            <a:br>
              <a:rPr lang="fr-FR" sz="1800" cap="none" dirty="0">
                <a:latin typeface="Times-New-Roman"/>
              </a:rPr>
            </a:br>
            <a:r>
              <a:rPr lang="fr-FR" sz="1800" cap="none" dirty="0" smtClean="0">
                <a:solidFill>
                  <a:srgbClr val="FF0000"/>
                </a:solidFill>
                <a:latin typeface="Times-New-Roman"/>
              </a:rPr>
              <a:t>c) </a:t>
            </a:r>
            <a:r>
              <a:rPr lang="fr-FR" sz="1800" cap="none" dirty="0">
                <a:latin typeface="Times-New-Roman"/>
              </a:rPr>
              <a:t>Dans le cas où les Règles 3 a) et 3 b) ne permettent pas d'effectuer le classement, la </a:t>
            </a:r>
            <a:r>
              <a:rPr lang="fr-FR" sz="1800" cap="none" dirty="0" smtClean="0">
                <a:latin typeface="Times-New-Roman"/>
              </a:rPr>
              <a:t>marchandise est </a:t>
            </a:r>
            <a:r>
              <a:rPr lang="fr-FR" sz="1800" cap="none" dirty="0">
                <a:latin typeface="Times-New-Roman"/>
              </a:rPr>
              <a:t>classée dans la position placée la dernière par ordre de numérotation parmi </a:t>
            </a:r>
            <a:r>
              <a:rPr lang="fr-FR" sz="1800" cap="none" dirty="0" smtClean="0">
                <a:latin typeface="Times-New-Roman"/>
              </a:rPr>
              <a:t>celles susceptibles </a:t>
            </a:r>
            <a:r>
              <a:rPr lang="fr-FR" sz="1800" cap="none" dirty="0">
                <a:latin typeface="Times-New-Roman"/>
              </a:rPr>
              <a:t>d'être valablement prises en considération.</a:t>
            </a:r>
            <a:endParaRPr lang="en-US" sz="1800" b="1" u="sng" dirty="0"/>
          </a:p>
        </p:txBody>
      </p:sp>
      <p:sp>
        <p:nvSpPr>
          <p:cNvPr id="3" name="Text Placeholder 2"/>
          <p:cNvSpPr>
            <a:spLocks noGrp="1"/>
          </p:cNvSpPr>
          <p:nvPr>
            <p:ph type="body" idx="1"/>
          </p:nvPr>
        </p:nvSpPr>
        <p:spPr>
          <a:xfrm>
            <a:off x="684212" y="2360814"/>
            <a:ext cx="8535988" cy="3981797"/>
          </a:xfrm>
        </p:spPr>
        <p:txBody>
          <a:bodyPr/>
          <a:lstStyle/>
          <a:p>
            <a:r>
              <a:rPr lang="fr-LU" dirty="0" smtClean="0"/>
              <a:t>Exemple:</a:t>
            </a:r>
          </a:p>
          <a:p>
            <a:endParaRPr lang="fr-LU" dirty="0"/>
          </a:p>
          <a:p>
            <a:r>
              <a:rPr lang="fr-LU" dirty="0" smtClean="0"/>
              <a:t>851310</a:t>
            </a:r>
          </a:p>
          <a:p>
            <a:r>
              <a:rPr lang="fr-LU" dirty="0" smtClean="0"/>
              <a:t>ou</a:t>
            </a:r>
          </a:p>
          <a:p>
            <a:r>
              <a:rPr lang="fr-LU" dirty="0" smtClean="0"/>
              <a:t>960810 ?</a:t>
            </a:r>
          </a:p>
          <a:p>
            <a:r>
              <a:rPr lang="fr-LU" dirty="0" smtClean="0"/>
              <a:t> </a:t>
            </a:r>
          </a:p>
        </p:txBody>
      </p:sp>
      <p:sp>
        <p:nvSpPr>
          <p:cNvPr id="4" name="AutoShape 2" descr="Résultat de recherche d'images pour &quot;fahrrad ohne sattel&quot;">
            <a:hlinkClick r:id="rId2"/>
          </p:cNvPr>
          <p:cNvSpPr>
            <a:spLocks noChangeAspect="1" noChangeArrowheads="1"/>
          </p:cNvSpPr>
          <p:nvPr/>
        </p:nvSpPr>
        <p:spPr bwMode="auto">
          <a:xfrm>
            <a:off x="4984750" y="-685800"/>
            <a:ext cx="1905000" cy="1428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38979" y="2860616"/>
            <a:ext cx="3118774" cy="3050771"/>
          </a:xfrm>
          <a:prstGeom prst="rect">
            <a:avLst/>
          </a:prstGeom>
        </p:spPr>
      </p:pic>
    </p:spTree>
    <p:extLst>
      <p:ext uri="{BB962C8B-B14F-4D97-AF65-F5344CB8AC3E}">
        <p14:creationId xmlns:p14="http://schemas.microsoft.com/office/powerpoint/2010/main" val="13503677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01684"/>
          </a:xfrm>
        </p:spPr>
        <p:txBody>
          <a:bodyPr>
            <a:normAutofit/>
          </a:bodyPr>
          <a:lstStyle/>
          <a:p>
            <a:r>
              <a:rPr lang="fr-LU" dirty="0" smtClean="0">
                <a:solidFill>
                  <a:srgbClr val="FF0000"/>
                </a:solidFill>
              </a:rPr>
              <a:t>Règle 4:  </a:t>
            </a:r>
            <a:r>
              <a:rPr lang="fr-LU" sz="1800" dirty="0" smtClean="0">
                <a:solidFill>
                  <a:srgbClr val="FF0000"/>
                </a:solidFill>
              </a:rPr>
              <a:t>«  </a:t>
            </a:r>
            <a:r>
              <a:rPr lang="fr-FR" sz="1800" cap="none" dirty="0">
                <a:latin typeface="Times-New-Roman"/>
              </a:rPr>
              <a:t>Les marchandises qui ne peuvent pas être classées en vertu des Règles visées ci-dessus sont </a:t>
            </a:r>
            <a:r>
              <a:rPr lang="fr-FR" sz="1800" cap="none" dirty="0" smtClean="0">
                <a:latin typeface="Times-New-Roman"/>
              </a:rPr>
              <a:t>classées dans </a:t>
            </a:r>
            <a:r>
              <a:rPr lang="fr-FR" sz="1800" cap="none" dirty="0">
                <a:latin typeface="Times-New-Roman"/>
              </a:rPr>
              <a:t>la position afférente aux articles les plus </a:t>
            </a:r>
            <a:r>
              <a:rPr lang="fr-FR" sz="1800" cap="none" dirty="0" smtClean="0">
                <a:latin typeface="Times-New-Roman"/>
              </a:rPr>
              <a:t>analogues.</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Exemple:</a:t>
            </a:r>
          </a:p>
          <a:p>
            <a:endParaRPr lang="fr-LU" dirty="0"/>
          </a:p>
          <a:p>
            <a:endParaRPr lang="fr-LU" dirty="0" smtClean="0"/>
          </a:p>
          <a:p>
            <a:endParaRPr lang="fr-LU" dirty="0"/>
          </a:p>
          <a:p>
            <a:endParaRPr lang="fr-LU" dirty="0" smtClean="0"/>
          </a:p>
          <a:p>
            <a:r>
              <a:rPr lang="fr-LU" dirty="0" smtClean="0"/>
              <a:t>Quelle position? </a:t>
            </a:r>
          </a:p>
          <a:p>
            <a:r>
              <a:rPr lang="fr-LU" dirty="0" smtClean="0"/>
              <a:t>9603</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3323" y="2510006"/>
            <a:ext cx="6467302" cy="2209635"/>
          </a:xfrm>
          <a:prstGeom prst="rect">
            <a:avLst/>
          </a:prstGeom>
        </p:spPr>
      </p:pic>
    </p:spTree>
    <p:extLst>
      <p:ext uri="{BB962C8B-B14F-4D97-AF65-F5344CB8AC3E}">
        <p14:creationId xmlns:p14="http://schemas.microsoft.com/office/powerpoint/2010/main" val="419727547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wipe(down)">
                                      <p:cBhvr>
                                        <p:cTn id="21" dur="580">
                                          <p:stCondLst>
                                            <p:cond delay="0"/>
                                          </p:stCondLst>
                                        </p:cTn>
                                        <p:tgtEl>
                                          <p:spTgt spid="3">
                                            <p:txEl>
                                              <p:pRg st="6" end="6"/>
                                            </p:txEl>
                                          </p:spTgt>
                                        </p:tgtEl>
                                      </p:cBhvr>
                                    </p:animEffect>
                                    <p:anim calcmode="lin" valueType="num">
                                      <p:cBhvr>
                                        <p:cTn id="22"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27" dur="26">
                                          <p:stCondLst>
                                            <p:cond delay="650"/>
                                          </p:stCondLst>
                                        </p:cTn>
                                        <p:tgtEl>
                                          <p:spTgt spid="3">
                                            <p:txEl>
                                              <p:pRg st="6" end="6"/>
                                            </p:txEl>
                                          </p:spTgt>
                                        </p:tgtEl>
                                      </p:cBhvr>
                                      <p:to x="100000" y="60000"/>
                                    </p:animScale>
                                    <p:animScale>
                                      <p:cBhvr>
                                        <p:cTn id="28" dur="166" decel="50000">
                                          <p:stCondLst>
                                            <p:cond delay="676"/>
                                          </p:stCondLst>
                                        </p:cTn>
                                        <p:tgtEl>
                                          <p:spTgt spid="3">
                                            <p:txEl>
                                              <p:pRg st="6" end="6"/>
                                            </p:txEl>
                                          </p:spTgt>
                                        </p:tgtEl>
                                      </p:cBhvr>
                                      <p:to x="100000" y="100000"/>
                                    </p:animScale>
                                    <p:animScale>
                                      <p:cBhvr>
                                        <p:cTn id="29" dur="26">
                                          <p:stCondLst>
                                            <p:cond delay="1312"/>
                                          </p:stCondLst>
                                        </p:cTn>
                                        <p:tgtEl>
                                          <p:spTgt spid="3">
                                            <p:txEl>
                                              <p:pRg st="6" end="6"/>
                                            </p:txEl>
                                          </p:spTgt>
                                        </p:tgtEl>
                                      </p:cBhvr>
                                      <p:to x="100000" y="80000"/>
                                    </p:animScale>
                                    <p:animScale>
                                      <p:cBhvr>
                                        <p:cTn id="30" dur="166" decel="50000">
                                          <p:stCondLst>
                                            <p:cond delay="1338"/>
                                          </p:stCondLst>
                                        </p:cTn>
                                        <p:tgtEl>
                                          <p:spTgt spid="3">
                                            <p:txEl>
                                              <p:pRg st="6" end="6"/>
                                            </p:txEl>
                                          </p:spTgt>
                                        </p:tgtEl>
                                      </p:cBhvr>
                                      <p:to x="100000" y="100000"/>
                                    </p:animScale>
                                    <p:animScale>
                                      <p:cBhvr>
                                        <p:cTn id="31" dur="26">
                                          <p:stCondLst>
                                            <p:cond delay="1642"/>
                                          </p:stCondLst>
                                        </p:cTn>
                                        <p:tgtEl>
                                          <p:spTgt spid="3">
                                            <p:txEl>
                                              <p:pRg st="6" end="6"/>
                                            </p:txEl>
                                          </p:spTgt>
                                        </p:tgtEl>
                                      </p:cBhvr>
                                      <p:to x="100000" y="90000"/>
                                    </p:animScale>
                                    <p:animScale>
                                      <p:cBhvr>
                                        <p:cTn id="32" dur="166" decel="50000">
                                          <p:stCondLst>
                                            <p:cond delay="1668"/>
                                          </p:stCondLst>
                                        </p:cTn>
                                        <p:tgtEl>
                                          <p:spTgt spid="3">
                                            <p:txEl>
                                              <p:pRg st="6" end="6"/>
                                            </p:txEl>
                                          </p:spTgt>
                                        </p:tgtEl>
                                      </p:cBhvr>
                                      <p:to x="100000" y="100000"/>
                                    </p:animScale>
                                    <p:animScale>
                                      <p:cBhvr>
                                        <p:cTn id="33" dur="26">
                                          <p:stCondLst>
                                            <p:cond delay="1808"/>
                                          </p:stCondLst>
                                        </p:cTn>
                                        <p:tgtEl>
                                          <p:spTgt spid="3">
                                            <p:txEl>
                                              <p:pRg st="6" end="6"/>
                                            </p:txEl>
                                          </p:spTgt>
                                        </p:tgtEl>
                                      </p:cBhvr>
                                      <p:to x="100000" y="95000"/>
                                    </p:animScale>
                                    <p:animScale>
                                      <p:cBhvr>
                                        <p:cTn id="34"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026622"/>
          </a:xfrm>
        </p:spPr>
        <p:txBody>
          <a:bodyPr>
            <a:normAutofit/>
          </a:bodyPr>
          <a:lstStyle/>
          <a:p>
            <a:r>
              <a:rPr lang="fr-LU" dirty="0" smtClean="0">
                <a:solidFill>
                  <a:srgbClr val="FF0000"/>
                </a:solidFill>
              </a:rPr>
              <a:t>Règle 5: </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r>
              <a:rPr lang="fr-LU" dirty="0" smtClean="0"/>
              <a:t>Les étuis, emballages etc. présentent un « problème » spécial pour le classement:</a:t>
            </a:r>
          </a:p>
          <a:p>
            <a:r>
              <a:rPr lang="fr-LU" dirty="0" smtClean="0"/>
              <a:t>Sont-ils classés avec le contenu ou comme un article propre?</a:t>
            </a:r>
            <a:endParaRPr lang="fr-LU" dirty="0"/>
          </a:p>
          <a:p>
            <a:endParaRPr lang="fr-LU" dirty="0" smtClean="0"/>
          </a:p>
          <a:p>
            <a:endParaRPr lang="fr-LU" dirty="0"/>
          </a:p>
          <a:p>
            <a:endParaRPr lang="fr-LU" dirty="0" smtClean="0"/>
          </a:p>
        </p:txBody>
      </p:sp>
    </p:spTree>
    <p:extLst>
      <p:ext uri="{BB962C8B-B14F-4D97-AF65-F5344CB8AC3E}">
        <p14:creationId xmlns:p14="http://schemas.microsoft.com/office/powerpoint/2010/main" val="4244316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3636818"/>
          </a:xfrm>
        </p:spPr>
        <p:txBody>
          <a:bodyPr>
            <a:normAutofit fontScale="90000"/>
          </a:bodyPr>
          <a:lstStyle/>
          <a:p>
            <a:r>
              <a:rPr lang="fr-LU" dirty="0" smtClean="0">
                <a:solidFill>
                  <a:srgbClr val="FF0000"/>
                </a:solidFill>
              </a:rPr>
              <a:t>Règle 5:  </a:t>
            </a:r>
            <a:r>
              <a:rPr lang="fr-LU" sz="1800" dirty="0" smtClean="0">
                <a:solidFill>
                  <a:srgbClr val="FF0000"/>
                </a:solidFill>
              </a:rPr>
              <a:t>«  </a:t>
            </a:r>
            <a:r>
              <a:rPr lang="fr-FR" sz="1800" cap="none" dirty="0">
                <a:latin typeface="Times-New-Roman"/>
              </a:rPr>
              <a:t>Outre les dispositions qui précèdent, les Règles suivantes sont applicables aux marchandises </a:t>
            </a:r>
            <a:r>
              <a:rPr lang="fr-FR" sz="1800" cap="none" dirty="0" smtClean="0">
                <a:latin typeface="Times-New-Roman"/>
              </a:rPr>
              <a:t>reprises ci-après :</a:t>
            </a:r>
            <a:br>
              <a:rPr lang="fr-FR" sz="1800" cap="none" dirty="0" smtClean="0">
                <a:latin typeface="Times-New-Roman"/>
              </a:rPr>
            </a:br>
            <a:r>
              <a:rPr lang="fr-FR" sz="1800" cap="none" dirty="0">
                <a:latin typeface="Times-New-Roman"/>
              </a:rPr>
              <a:t/>
            </a:r>
            <a:br>
              <a:rPr lang="fr-FR" sz="1800" cap="none" dirty="0">
                <a:latin typeface="Times-New-Roman"/>
              </a:rPr>
            </a:br>
            <a:r>
              <a:rPr lang="fr-FR" sz="1800" cap="none" dirty="0">
                <a:latin typeface="Times-New-Roman"/>
              </a:rPr>
              <a:t>a) Les étuis pour appareils photographiques, pour instruments de musique, pour armes, pour</a:t>
            </a:r>
            <a:br>
              <a:rPr lang="fr-FR" sz="1800" cap="none" dirty="0">
                <a:latin typeface="Times-New-Roman"/>
              </a:rPr>
            </a:br>
            <a:r>
              <a:rPr lang="fr-FR" sz="1800" cap="none" dirty="0">
                <a:latin typeface="Times-New-Roman"/>
              </a:rPr>
              <a:t>instruments de dessin, les écrins et les contenants similaires, spécialement aménagés pour</a:t>
            </a:r>
            <a:br>
              <a:rPr lang="fr-FR" sz="1800" cap="none" dirty="0">
                <a:latin typeface="Times-New-Roman"/>
              </a:rPr>
            </a:br>
            <a:r>
              <a:rPr lang="fr-FR" sz="1800" cap="none" dirty="0">
                <a:latin typeface="Times-New-Roman"/>
              </a:rPr>
              <a:t>recevoir un article déterminé ou un assortiment, susceptibles d'un usage prolongé et présentés</a:t>
            </a:r>
            <a:br>
              <a:rPr lang="fr-FR" sz="1800" cap="none" dirty="0">
                <a:latin typeface="Times-New-Roman"/>
              </a:rPr>
            </a:br>
            <a:r>
              <a:rPr lang="fr-FR" sz="1800" cap="none" dirty="0">
                <a:latin typeface="Times-New-Roman"/>
              </a:rPr>
              <a:t>avec les articles auxquels ils sont destinés, sont classés avec ces articles lorsqu'ils sont du type</a:t>
            </a:r>
            <a:br>
              <a:rPr lang="fr-FR" sz="1800" cap="none" dirty="0">
                <a:latin typeface="Times-New-Roman"/>
              </a:rPr>
            </a:br>
            <a:r>
              <a:rPr lang="fr-FR" sz="1800" cap="none" dirty="0">
                <a:latin typeface="Times-New-Roman"/>
              </a:rPr>
              <a:t>normalement vendu avec ceux-ci. Cette Règle ne concerne pas, toutefois, les contenants qui</a:t>
            </a:r>
            <a:br>
              <a:rPr lang="fr-FR" sz="1800" cap="none" dirty="0">
                <a:latin typeface="Times-New-Roman"/>
              </a:rPr>
            </a:br>
            <a:r>
              <a:rPr lang="fr-FR" sz="1800" cap="none" dirty="0">
                <a:latin typeface="Times-New-Roman"/>
              </a:rPr>
              <a:t>confèrent à l'ensemble son caractère essentiel</a:t>
            </a:r>
            <a:r>
              <a:rPr lang="fr-FR" sz="1800" cap="none" dirty="0" smtClean="0">
                <a:latin typeface="Times-New-Roman"/>
              </a:rPr>
              <a:t>.</a:t>
            </a:r>
            <a:br>
              <a:rPr lang="fr-FR" sz="1800" cap="none" dirty="0" smtClean="0">
                <a:latin typeface="Times-New-Roman"/>
              </a:rPr>
            </a:br>
            <a:r>
              <a:rPr lang="fr-FR" sz="1800" cap="none" dirty="0">
                <a:latin typeface="Times-New-Roman"/>
              </a:rPr>
              <a:t/>
            </a:r>
            <a:br>
              <a:rPr lang="fr-FR" sz="1800" cap="none" dirty="0">
                <a:latin typeface="Times-New-Roman"/>
              </a:rPr>
            </a:br>
            <a:r>
              <a:rPr lang="fr-FR" sz="1800" cap="none" dirty="0">
                <a:latin typeface="Times-New-Roman"/>
              </a:rPr>
              <a:t>b) Sous réserve des dispositions de la Règle 5 a) ci-dessus, les emballages contenant des</a:t>
            </a:r>
            <a:br>
              <a:rPr lang="fr-FR" sz="1800" cap="none" dirty="0">
                <a:latin typeface="Times-New-Roman"/>
              </a:rPr>
            </a:br>
            <a:r>
              <a:rPr lang="fr-FR" sz="1800" cap="none" dirty="0">
                <a:latin typeface="Times-New-Roman"/>
              </a:rPr>
              <a:t>marchandises sont classés avec ces dernières lorsqu'ils sont du type normalement utilisé pour ce</a:t>
            </a:r>
            <a:br>
              <a:rPr lang="fr-FR" sz="1800" cap="none" dirty="0">
                <a:latin typeface="Times-New-Roman"/>
              </a:rPr>
            </a:br>
            <a:r>
              <a:rPr lang="fr-FR" sz="1800" cap="none" dirty="0">
                <a:latin typeface="Times-New-Roman"/>
              </a:rPr>
              <a:t>genre de marchandises. Toutefois, cette disposition n'est pas obligatoire lorsque les emballages</a:t>
            </a:r>
            <a:br>
              <a:rPr lang="fr-FR" sz="1800" cap="none" dirty="0">
                <a:latin typeface="Times-New-Roman"/>
              </a:rPr>
            </a:br>
            <a:r>
              <a:rPr lang="fr-FR" sz="1800" cap="none" dirty="0">
                <a:latin typeface="Times-New-Roman"/>
              </a:rPr>
              <a:t>sont susceptibles d'être utilisés valablement d'une façon répétée</a:t>
            </a:r>
            <a:r>
              <a:rPr lang="fr-FR" sz="1800" cap="none" dirty="0" smtClean="0">
                <a:latin typeface="Times-New-Roman"/>
              </a:rPr>
              <a:t>. </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fr-LU" dirty="0"/>
          </a:p>
          <a:p>
            <a:endParaRPr lang="fr-LU" dirty="0" smtClean="0"/>
          </a:p>
          <a:p>
            <a:endParaRPr lang="fr-LU" dirty="0"/>
          </a:p>
          <a:p>
            <a:endParaRPr lang="fr-LU" dirty="0" smtClean="0"/>
          </a:p>
        </p:txBody>
      </p:sp>
    </p:spTree>
    <p:extLst>
      <p:ext uri="{BB962C8B-B14F-4D97-AF65-F5344CB8AC3E}">
        <p14:creationId xmlns:p14="http://schemas.microsoft.com/office/powerpoint/2010/main" val="703010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866207"/>
          </a:xfrm>
        </p:spPr>
        <p:txBody>
          <a:bodyPr>
            <a:normAutofit fontScale="90000"/>
          </a:bodyPr>
          <a:lstStyle/>
          <a:p>
            <a:r>
              <a:rPr lang="fr-LU" dirty="0" smtClean="0">
                <a:solidFill>
                  <a:srgbClr val="FF0000"/>
                </a:solidFill>
              </a:rPr>
              <a:t>Règle 5:  </a:t>
            </a:r>
            <a:r>
              <a:rPr lang="fr-LU" sz="1800" dirty="0" smtClean="0">
                <a:solidFill>
                  <a:srgbClr val="FF0000"/>
                </a:solidFill>
              </a:rPr>
              <a:t> </a:t>
            </a:r>
            <a:r>
              <a:rPr lang="fr-FR" sz="1800" cap="none" dirty="0">
                <a:latin typeface="Times-New-Roman"/>
              </a:rPr>
              <a:t>a) Les étuis pour appareils photographiques, pour instruments de musique, pour armes, </a:t>
            </a:r>
            <a:r>
              <a:rPr lang="fr-FR" sz="1800" cap="none" dirty="0" smtClean="0">
                <a:latin typeface="Times-New-Roman"/>
              </a:rPr>
              <a:t>pour instruments </a:t>
            </a:r>
            <a:r>
              <a:rPr lang="fr-FR" sz="1800" cap="none" dirty="0">
                <a:latin typeface="Times-New-Roman"/>
              </a:rPr>
              <a:t>de dessin, les écrins et les contenants similaires, spécialement aménagés </a:t>
            </a:r>
            <a:r>
              <a:rPr lang="fr-FR" sz="1800" cap="none" dirty="0" smtClean="0">
                <a:latin typeface="Times-New-Roman"/>
              </a:rPr>
              <a:t>pour recevoir </a:t>
            </a:r>
            <a:r>
              <a:rPr lang="fr-FR" sz="1800" cap="none" dirty="0">
                <a:latin typeface="Times-New-Roman"/>
              </a:rPr>
              <a:t>un article déterminé ou un assortiment, susceptibles d'un usage prolongé et </a:t>
            </a:r>
            <a:r>
              <a:rPr lang="fr-FR" sz="1800" cap="none" dirty="0" smtClean="0">
                <a:latin typeface="Times-New-Roman"/>
              </a:rPr>
              <a:t>présentés avec </a:t>
            </a:r>
            <a:r>
              <a:rPr lang="fr-FR" sz="1800" cap="none" dirty="0">
                <a:latin typeface="Times-New-Roman"/>
              </a:rPr>
              <a:t>les articles auxquels ils sont destinés, sont classés avec ces articles lorsqu'ils sont du </a:t>
            </a:r>
            <a:r>
              <a:rPr lang="fr-FR" sz="1800" cap="none" dirty="0" smtClean="0">
                <a:latin typeface="Times-New-Roman"/>
              </a:rPr>
              <a:t>type normalement </a:t>
            </a:r>
            <a:r>
              <a:rPr lang="fr-FR" sz="1800" cap="none" dirty="0">
                <a:latin typeface="Times-New-Roman"/>
              </a:rPr>
              <a:t>vendu avec ceux-ci. Cette Règle ne concerne pas, toutefois, les contenants </a:t>
            </a:r>
            <a:r>
              <a:rPr lang="fr-FR" sz="1800" cap="none" dirty="0" smtClean="0">
                <a:latin typeface="Times-New-Roman"/>
              </a:rPr>
              <a:t>qui confèrent </a:t>
            </a:r>
            <a:r>
              <a:rPr lang="fr-FR" sz="1800" cap="none" dirty="0">
                <a:latin typeface="Times-New-Roman"/>
              </a:rPr>
              <a:t>à l'ensemble son caractère essentiel</a:t>
            </a:r>
            <a:r>
              <a:rPr lang="fr-FR" sz="1800" cap="none" dirty="0" smtClean="0">
                <a:latin typeface="Times-New-Roman"/>
              </a:rPr>
              <a:t>.</a:t>
            </a:r>
            <a:endParaRPr lang="en-US" sz="1800" dirty="0">
              <a:solidFill>
                <a:srgbClr val="FF0000"/>
              </a:solidFill>
            </a:endParaRPr>
          </a:p>
        </p:txBody>
      </p:sp>
      <p:sp>
        <p:nvSpPr>
          <p:cNvPr id="3" name="Text Placeholder 2"/>
          <p:cNvSpPr>
            <a:spLocks noGrp="1"/>
          </p:cNvSpPr>
          <p:nvPr>
            <p:ph type="body" idx="1"/>
          </p:nvPr>
        </p:nvSpPr>
        <p:spPr>
          <a:xfrm>
            <a:off x="684212" y="3616036"/>
            <a:ext cx="8535988" cy="2419004"/>
          </a:xfrm>
        </p:spPr>
        <p:txBody>
          <a:bodyPr>
            <a:normAutofit fontScale="92500" lnSpcReduction="20000"/>
          </a:bodyPr>
          <a:lstStyle/>
          <a:p>
            <a:r>
              <a:rPr lang="fr-LU" sz="2600" b="1" dirty="0" smtClean="0"/>
              <a:t>5 conditions: </a:t>
            </a:r>
          </a:p>
          <a:p>
            <a:pPr marL="342900" indent="-342900">
              <a:buFontTx/>
              <a:buChar char="-"/>
            </a:pPr>
            <a:r>
              <a:rPr lang="fr-LU" dirty="0"/>
              <a:t>s</a:t>
            </a:r>
            <a:r>
              <a:rPr lang="fr-LU" dirty="0" smtClean="0"/>
              <a:t>pécialement aménagés pour recevoir un article déterminé</a:t>
            </a:r>
          </a:p>
          <a:p>
            <a:pPr marL="342900" indent="-342900">
              <a:buFontTx/>
              <a:buChar char="-"/>
            </a:pPr>
            <a:r>
              <a:rPr lang="fr-LU" dirty="0"/>
              <a:t>s</a:t>
            </a:r>
            <a:r>
              <a:rPr lang="fr-LU" dirty="0" smtClean="0"/>
              <a:t>usceptibles d’un usage prolongé</a:t>
            </a:r>
          </a:p>
          <a:p>
            <a:pPr marL="342900" indent="-342900">
              <a:buFontTx/>
              <a:buChar char="-"/>
            </a:pPr>
            <a:r>
              <a:rPr lang="fr-LU" dirty="0"/>
              <a:t>p</a:t>
            </a:r>
            <a:r>
              <a:rPr lang="fr-LU" dirty="0" smtClean="0"/>
              <a:t>résentés avec l’article auxquels ils se rapportent</a:t>
            </a:r>
          </a:p>
          <a:p>
            <a:pPr marL="342900" indent="-342900">
              <a:buFontTx/>
              <a:buChar char="-"/>
            </a:pPr>
            <a:r>
              <a:rPr lang="fr-LU" dirty="0"/>
              <a:t>s</a:t>
            </a:r>
            <a:r>
              <a:rPr lang="fr-LU" dirty="0" smtClean="0"/>
              <a:t>ont du type normalement vendu avec lesdits articles</a:t>
            </a:r>
          </a:p>
          <a:p>
            <a:pPr marL="342900" indent="-342900">
              <a:buFontTx/>
              <a:buChar char="-"/>
            </a:pPr>
            <a:r>
              <a:rPr lang="fr-LU" dirty="0"/>
              <a:t>n</a:t>
            </a:r>
            <a:r>
              <a:rPr lang="fr-LU" dirty="0" smtClean="0"/>
              <a:t>e confèrent pas à l’ensemble son caractère essentiel</a:t>
            </a:r>
          </a:p>
          <a:p>
            <a:endParaRPr lang="fr-LU" dirty="0"/>
          </a:p>
          <a:p>
            <a:endParaRPr lang="fr-LU" dirty="0" smtClean="0"/>
          </a:p>
        </p:txBody>
      </p:sp>
    </p:spTree>
    <p:extLst>
      <p:ext uri="{BB962C8B-B14F-4D97-AF65-F5344CB8AC3E}">
        <p14:creationId xmlns:p14="http://schemas.microsoft.com/office/powerpoint/2010/main" val="1441509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anim calcmode="lin" valueType="num">
                                      <p:cBhvr>
                                        <p:cTn id="1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866207"/>
          </a:xfrm>
        </p:spPr>
        <p:txBody>
          <a:bodyPr>
            <a:normAutofit fontScale="90000"/>
          </a:bodyPr>
          <a:lstStyle/>
          <a:p>
            <a:r>
              <a:rPr lang="fr-LU" dirty="0" smtClean="0">
                <a:solidFill>
                  <a:srgbClr val="FF0000"/>
                </a:solidFill>
              </a:rPr>
              <a:t>Règle 5:  </a:t>
            </a:r>
            <a:r>
              <a:rPr lang="fr-LU" sz="1800" dirty="0" smtClean="0">
                <a:solidFill>
                  <a:srgbClr val="FF0000"/>
                </a:solidFill>
              </a:rPr>
              <a:t> </a:t>
            </a:r>
            <a:r>
              <a:rPr lang="fr-FR" sz="1800" cap="none" dirty="0">
                <a:latin typeface="Times-New-Roman"/>
              </a:rPr>
              <a:t>b) Sous réserve des dispositions de la Règle 5 a) ci-dessus, les emballages contenant </a:t>
            </a:r>
            <a:r>
              <a:rPr lang="fr-FR" sz="1800" cap="none" dirty="0" smtClean="0">
                <a:latin typeface="Times-New-Roman"/>
              </a:rPr>
              <a:t>des marchandises </a:t>
            </a:r>
            <a:r>
              <a:rPr lang="fr-FR" sz="1800" cap="none" dirty="0">
                <a:latin typeface="Times-New-Roman"/>
              </a:rPr>
              <a:t>sont classés avec ces dernières lorsqu'ils sont du type normalement utilisé pour </a:t>
            </a:r>
            <a:r>
              <a:rPr lang="fr-FR" sz="1800" cap="none" dirty="0" smtClean="0">
                <a:latin typeface="Times-New-Roman"/>
              </a:rPr>
              <a:t>ce genre </a:t>
            </a:r>
            <a:r>
              <a:rPr lang="fr-FR" sz="1800" cap="none" dirty="0">
                <a:latin typeface="Times-New-Roman"/>
              </a:rPr>
              <a:t>de marchandises. </a:t>
            </a:r>
            <a:r>
              <a:rPr lang="fr-FR" sz="1800" cap="none" dirty="0" smtClean="0">
                <a:latin typeface="Times-New-Roman"/>
              </a:rPr>
              <a:t/>
            </a:r>
            <a:br>
              <a:rPr lang="fr-FR" sz="1800" cap="none" dirty="0" smtClean="0">
                <a:latin typeface="Times-New-Roman"/>
              </a:rPr>
            </a:br>
            <a:r>
              <a:rPr lang="fr-FR" sz="1800" cap="none" dirty="0" smtClean="0">
                <a:solidFill>
                  <a:srgbClr val="00B0F0"/>
                </a:solidFill>
                <a:latin typeface="Times-New-Roman"/>
              </a:rPr>
              <a:t>Toutefois</a:t>
            </a:r>
            <a:r>
              <a:rPr lang="fr-FR" sz="1800" cap="none" dirty="0">
                <a:solidFill>
                  <a:srgbClr val="00B0F0"/>
                </a:solidFill>
                <a:latin typeface="Times-New-Roman"/>
              </a:rPr>
              <a:t>, cette disposition n'est pas obligatoire lorsque les </a:t>
            </a:r>
            <a:r>
              <a:rPr lang="fr-FR" sz="1800" cap="none" dirty="0" smtClean="0">
                <a:solidFill>
                  <a:srgbClr val="00B0F0"/>
                </a:solidFill>
                <a:latin typeface="Times-New-Roman"/>
              </a:rPr>
              <a:t>emballages sont </a:t>
            </a:r>
            <a:r>
              <a:rPr lang="fr-FR" sz="1800" cap="none" dirty="0">
                <a:solidFill>
                  <a:srgbClr val="00B0F0"/>
                </a:solidFill>
                <a:latin typeface="Times-New-Roman"/>
              </a:rPr>
              <a:t>susceptibles d'être utilisés valablement d'une façon répétée</a:t>
            </a:r>
            <a:r>
              <a:rPr lang="fr-FR" sz="1800" cap="none" dirty="0" smtClean="0">
                <a:solidFill>
                  <a:srgbClr val="00B0F0"/>
                </a:solidFill>
                <a:latin typeface="Times-New-Roman"/>
              </a:rPr>
              <a:t>.</a:t>
            </a:r>
            <a:br>
              <a:rPr lang="fr-FR" sz="1800" cap="none" dirty="0" smtClean="0">
                <a:solidFill>
                  <a:srgbClr val="00B0F0"/>
                </a:solidFill>
                <a:latin typeface="Times-New-Roman"/>
              </a:rPr>
            </a:br>
            <a:r>
              <a:rPr lang="fr-FR" sz="1800" cap="none" dirty="0">
                <a:solidFill>
                  <a:srgbClr val="00B0F0"/>
                </a:solidFill>
                <a:latin typeface="Times-New-Roman"/>
              </a:rPr>
              <a:t/>
            </a:r>
            <a:br>
              <a:rPr lang="fr-FR" sz="1800" cap="none" dirty="0">
                <a:solidFill>
                  <a:srgbClr val="00B0F0"/>
                </a:solidFill>
                <a:latin typeface="Times-New-Roman"/>
              </a:rPr>
            </a:br>
            <a:r>
              <a:rPr lang="fr-FR" sz="1800" cap="none" dirty="0" smtClean="0">
                <a:solidFill>
                  <a:srgbClr val="00B0F0"/>
                </a:solidFill>
                <a:latin typeface="Times-New-Roman"/>
              </a:rPr>
              <a:t/>
            </a:r>
            <a:br>
              <a:rPr lang="fr-FR" sz="1800" cap="none" dirty="0" smtClean="0">
                <a:solidFill>
                  <a:srgbClr val="00B0F0"/>
                </a:solidFill>
                <a:latin typeface="Times-New-Roman"/>
              </a:rPr>
            </a:br>
            <a:endParaRPr lang="en-US" sz="3100" dirty="0">
              <a:solidFill>
                <a:schemeClr val="bg2"/>
              </a:solidFill>
            </a:endParaRPr>
          </a:p>
        </p:txBody>
      </p:sp>
      <p:sp>
        <p:nvSpPr>
          <p:cNvPr id="3" name="Text Placeholder 2"/>
          <p:cNvSpPr>
            <a:spLocks noGrp="1"/>
          </p:cNvSpPr>
          <p:nvPr>
            <p:ph type="body" idx="1"/>
          </p:nvPr>
        </p:nvSpPr>
        <p:spPr>
          <a:xfrm>
            <a:off x="684212" y="3616036"/>
            <a:ext cx="8535988" cy="2419004"/>
          </a:xfrm>
        </p:spPr>
        <p:txBody>
          <a:bodyPr>
            <a:normAutofit/>
          </a:bodyPr>
          <a:lstStyle/>
          <a:p>
            <a:endParaRPr lang="fr-LU" dirty="0"/>
          </a:p>
          <a:p>
            <a:endParaRPr lang="fr-LU" dirty="0" smtClean="0"/>
          </a:p>
        </p:txBody>
      </p:sp>
      <p:pic>
        <p:nvPicPr>
          <p:cNvPr id="4" name="Picture 3" descr="Parodontax &lt;strong&gt;Zahnpasta&lt;/strong&gt; extra frisch, 75 ml - bei Venti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444" y="2227810"/>
            <a:ext cx="3873731" cy="3873731"/>
          </a:xfrm>
          <a:prstGeom prst="rect">
            <a:avLst/>
          </a:prstGeom>
        </p:spPr>
      </p:pic>
      <p:pic>
        <p:nvPicPr>
          <p:cNvPr id="5" name="Picture 4" descr="&lt;strong&gt;Zahnpasta&lt;/strong&gt; - Ventio.eu"/>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737" y="3167794"/>
            <a:ext cx="2380952" cy="2380952"/>
          </a:xfrm>
          <a:prstGeom prst="rect">
            <a:avLst/>
          </a:prstGeom>
        </p:spPr>
      </p:pic>
      <p:sp>
        <p:nvSpPr>
          <p:cNvPr id="6" name="TextBox 5"/>
          <p:cNvSpPr txBox="1"/>
          <p:nvPr/>
        </p:nvSpPr>
        <p:spPr>
          <a:xfrm>
            <a:off x="881149" y="2743200"/>
            <a:ext cx="1695796" cy="461665"/>
          </a:xfrm>
          <a:prstGeom prst="rect">
            <a:avLst/>
          </a:prstGeom>
          <a:noFill/>
        </p:spPr>
        <p:txBody>
          <a:bodyPr wrap="square" rtlCol="0">
            <a:spAutoFit/>
          </a:bodyPr>
          <a:lstStyle/>
          <a:p>
            <a:r>
              <a:rPr lang="fr-FR" sz="2400" dirty="0">
                <a:solidFill>
                  <a:schemeClr val="bg2"/>
                </a:solidFill>
                <a:latin typeface="Times-New-Roman"/>
              </a:rPr>
              <a:t>Exemples:</a:t>
            </a:r>
            <a:endParaRPr lang="en-US" sz="2400" dirty="0"/>
          </a:p>
        </p:txBody>
      </p:sp>
    </p:spTree>
    <p:extLst>
      <p:ext uri="{BB962C8B-B14F-4D97-AF65-F5344CB8AC3E}">
        <p14:creationId xmlns:p14="http://schemas.microsoft.com/office/powerpoint/2010/main" val="3165182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style.rotation</p:attrName>
                                        </p:attrNameLst>
                                      </p:cBhvr>
                                      <p:tavLst>
                                        <p:tav tm="0">
                                          <p:val>
                                            <p:fltVal val="90"/>
                                          </p:val>
                                        </p:tav>
                                        <p:tav tm="100000">
                                          <p:val>
                                            <p:fltVal val="0"/>
                                          </p:val>
                                        </p:tav>
                                      </p:tavLst>
                                    </p:anim>
                                    <p:animEffect transition="in" filter="fade">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80">
                                          <p:stCondLst>
                                            <p:cond delay="0"/>
                                          </p:stCondLst>
                                        </p:cTn>
                                        <p:tgtEl>
                                          <p:spTgt spid="5"/>
                                        </p:tgtEl>
                                      </p:cBhvr>
                                    </p:animEffect>
                                    <p:anim calcmode="lin" valueType="num">
                                      <p:cBhvr>
                                        <p:cTn id="21"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6" dur="26">
                                          <p:stCondLst>
                                            <p:cond delay="650"/>
                                          </p:stCondLst>
                                        </p:cTn>
                                        <p:tgtEl>
                                          <p:spTgt spid="5"/>
                                        </p:tgtEl>
                                      </p:cBhvr>
                                      <p:to x="100000" y="60000"/>
                                    </p:animScale>
                                    <p:animScale>
                                      <p:cBhvr>
                                        <p:cTn id="27" dur="166" decel="50000">
                                          <p:stCondLst>
                                            <p:cond delay="676"/>
                                          </p:stCondLst>
                                        </p:cTn>
                                        <p:tgtEl>
                                          <p:spTgt spid="5"/>
                                        </p:tgtEl>
                                      </p:cBhvr>
                                      <p:to x="100000" y="100000"/>
                                    </p:animScale>
                                    <p:animScale>
                                      <p:cBhvr>
                                        <p:cTn id="28" dur="26">
                                          <p:stCondLst>
                                            <p:cond delay="1312"/>
                                          </p:stCondLst>
                                        </p:cTn>
                                        <p:tgtEl>
                                          <p:spTgt spid="5"/>
                                        </p:tgtEl>
                                      </p:cBhvr>
                                      <p:to x="100000" y="80000"/>
                                    </p:animScale>
                                    <p:animScale>
                                      <p:cBhvr>
                                        <p:cTn id="29" dur="166" decel="50000">
                                          <p:stCondLst>
                                            <p:cond delay="1338"/>
                                          </p:stCondLst>
                                        </p:cTn>
                                        <p:tgtEl>
                                          <p:spTgt spid="5"/>
                                        </p:tgtEl>
                                      </p:cBhvr>
                                      <p:to x="100000" y="100000"/>
                                    </p:animScale>
                                    <p:animScale>
                                      <p:cBhvr>
                                        <p:cTn id="30" dur="26">
                                          <p:stCondLst>
                                            <p:cond delay="1642"/>
                                          </p:stCondLst>
                                        </p:cTn>
                                        <p:tgtEl>
                                          <p:spTgt spid="5"/>
                                        </p:tgtEl>
                                      </p:cBhvr>
                                      <p:to x="100000" y="90000"/>
                                    </p:animScale>
                                    <p:animScale>
                                      <p:cBhvr>
                                        <p:cTn id="31" dur="166" decel="50000">
                                          <p:stCondLst>
                                            <p:cond delay="1668"/>
                                          </p:stCondLst>
                                        </p:cTn>
                                        <p:tgtEl>
                                          <p:spTgt spid="5"/>
                                        </p:tgtEl>
                                      </p:cBhvr>
                                      <p:to x="100000" y="100000"/>
                                    </p:animScale>
                                    <p:animScale>
                                      <p:cBhvr>
                                        <p:cTn id="32" dur="26">
                                          <p:stCondLst>
                                            <p:cond delay="1808"/>
                                          </p:stCondLst>
                                        </p:cTn>
                                        <p:tgtEl>
                                          <p:spTgt spid="5"/>
                                        </p:tgtEl>
                                      </p:cBhvr>
                                      <p:to x="100000" y="95000"/>
                                    </p:animScale>
                                    <p:animScale>
                                      <p:cBhvr>
                                        <p:cTn id="33"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1866207"/>
          </a:xfrm>
        </p:spPr>
        <p:txBody>
          <a:bodyPr>
            <a:normAutofit fontScale="90000"/>
          </a:bodyPr>
          <a:lstStyle/>
          <a:p>
            <a:r>
              <a:rPr lang="fr-LU" dirty="0" smtClean="0">
                <a:solidFill>
                  <a:srgbClr val="FF0000"/>
                </a:solidFill>
              </a:rPr>
              <a:t>Règle 5:  </a:t>
            </a:r>
            <a:r>
              <a:rPr lang="fr-LU" sz="1800" dirty="0" smtClean="0">
                <a:solidFill>
                  <a:srgbClr val="FF0000"/>
                </a:solidFill>
              </a:rPr>
              <a:t> </a:t>
            </a:r>
            <a:r>
              <a:rPr lang="fr-FR" sz="1800" cap="none" dirty="0">
                <a:solidFill>
                  <a:srgbClr val="00B0F0"/>
                </a:solidFill>
                <a:latin typeface="Times-New-Roman"/>
              </a:rPr>
              <a:t>b) Sous réserve des dispositions de la Règle 5 a) ci-dessus, les emballages contenant </a:t>
            </a:r>
            <a:r>
              <a:rPr lang="fr-FR" sz="1800" cap="none" dirty="0" smtClean="0">
                <a:solidFill>
                  <a:srgbClr val="00B0F0"/>
                </a:solidFill>
                <a:latin typeface="Times-New-Roman"/>
              </a:rPr>
              <a:t>des marchandises </a:t>
            </a:r>
            <a:r>
              <a:rPr lang="fr-FR" sz="1800" cap="none" dirty="0">
                <a:solidFill>
                  <a:srgbClr val="00B0F0"/>
                </a:solidFill>
                <a:latin typeface="Times-New-Roman"/>
              </a:rPr>
              <a:t>sont classés avec ces dernières lorsqu'ils sont du type normalement utilisé pour </a:t>
            </a:r>
            <a:r>
              <a:rPr lang="fr-FR" sz="1800" cap="none" dirty="0" smtClean="0">
                <a:solidFill>
                  <a:srgbClr val="00B0F0"/>
                </a:solidFill>
                <a:latin typeface="Times-New-Roman"/>
              </a:rPr>
              <a:t>ce genre </a:t>
            </a:r>
            <a:r>
              <a:rPr lang="fr-FR" sz="1800" cap="none" dirty="0">
                <a:solidFill>
                  <a:srgbClr val="00B0F0"/>
                </a:solidFill>
                <a:latin typeface="Times-New-Roman"/>
              </a:rPr>
              <a:t>de marchandises. </a:t>
            </a:r>
            <a:r>
              <a:rPr lang="fr-FR" sz="1800" cap="none" dirty="0" smtClean="0">
                <a:latin typeface="Times-New-Roman"/>
              </a:rPr>
              <a:t/>
            </a:r>
            <a:br>
              <a:rPr lang="fr-FR" sz="1800" cap="none" dirty="0" smtClean="0">
                <a:latin typeface="Times-New-Roman"/>
              </a:rPr>
            </a:br>
            <a:r>
              <a:rPr lang="fr-FR" sz="1800" cap="none" dirty="0" smtClean="0">
                <a:latin typeface="Times-New-Roman"/>
              </a:rPr>
              <a:t>Toutefois</a:t>
            </a:r>
            <a:r>
              <a:rPr lang="fr-FR" sz="1800" cap="none" dirty="0">
                <a:latin typeface="Times-New-Roman"/>
              </a:rPr>
              <a:t>, cette disposition n'est pas obligatoire lorsque les </a:t>
            </a:r>
            <a:r>
              <a:rPr lang="fr-FR" sz="1800" cap="none" dirty="0" smtClean="0">
                <a:latin typeface="Times-New-Roman"/>
              </a:rPr>
              <a:t>emballages sont </a:t>
            </a:r>
            <a:r>
              <a:rPr lang="fr-FR" sz="1800" cap="none" dirty="0">
                <a:latin typeface="Times-New-Roman"/>
              </a:rPr>
              <a:t>susceptibles d'être utilisés valablement d'une façon répétée</a:t>
            </a:r>
            <a:r>
              <a:rPr lang="fr-FR" sz="1800" cap="none" dirty="0" smtClean="0">
                <a:latin typeface="Times-New-Roman"/>
              </a:rPr>
              <a:t>.</a:t>
            </a:r>
            <a:br>
              <a:rPr lang="fr-FR" sz="1800" cap="none" dirty="0" smtClean="0">
                <a:latin typeface="Times-New-Roman"/>
              </a:rPr>
            </a:br>
            <a:r>
              <a:rPr lang="fr-FR" sz="1800" cap="none" dirty="0">
                <a:latin typeface="Times-New-Roman"/>
              </a:rPr>
              <a:t/>
            </a:r>
            <a:br>
              <a:rPr lang="fr-FR" sz="1800" cap="none" dirty="0">
                <a:latin typeface="Times-New-Roman"/>
              </a:rPr>
            </a:br>
            <a:r>
              <a:rPr lang="fr-FR" sz="1800" cap="none" dirty="0" smtClean="0">
                <a:solidFill>
                  <a:srgbClr val="00B0F0"/>
                </a:solidFill>
                <a:latin typeface="Times-New-Roman"/>
              </a:rPr>
              <a:t/>
            </a:r>
            <a:br>
              <a:rPr lang="fr-FR" sz="1800" cap="none" dirty="0" smtClean="0">
                <a:solidFill>
                  <a:srgbClr val="00B0F0"/>
                </a:solidFill>
                <a:latin typeface="Times-New-Roman"/>
              </a:rPr>
            </a:br>
            <a:endParaRPr lang="en-US" sz="3100" dirty="0">
              <a:solidFill>
                <a:schemeClr val="bg2"/>
              </a:solidFill>
            </a:endParaRPr>
          </a:p>
        </p:txBody>
      </p:sp>
      <p:sp>
        <p:nvSpPr>
          <p:cNvPr id="3" name="Text Placeholder 2"/>
          <p:cNvSpPr>
            <a:spLocks noGrp="1"/>
          </p:cNvSpPr>
          <p:nvPr>
            <p:ph type="body" idx="1"/>
          </p:nvPr>
        </p:nvSpPr>
        <p:spPr>
          <a:xfrm>
            <a:off x="684212" y="3616036"/>
            <a:ext cx="8535988" cy="2419004"/>
          </a:xfrm>
        </p:spPr>
        <p:txBody>
          <a:bodyPr>
            <a:normAutofit/>
          </a:bodyPr>
          <a:lstStyle/>
          <a:p>
            <a:endParaRPr lang="fr-LU" dirty="0"/>
          </a:p>
          <a:p>
            <a:endParaRPr lang="fr-LU" dirty="0" smtClean="0"/>
          </a:p>
        </p:txBody>
      </p:sp>
      <p:sp>
        <p:nvSpPr>
          <p:cNvPr id="6" name="TextBox 5"/>
          <p:cNvSpPr txBox="1"/>
          <p:nvPr/>
        </p:nvSpPr>
        <p:spPr>
          <a:xfrm>
            <a:off x="881149" y="2743200"/>
            <a:ext cx="1695796" cy="461665"/>
          </a:xfrm>
          <a:prstGeom prst="rect">
            <a:avLst/>
          </a:prstGeom>
          <a:noFill/>
        </p:spPr>
        <p:txBody>
          <a:bodyPr wrap="square" rtlCol="0">
            <a:spAutoFit/>
          </a:bodyPr>
          <a:lstStyle/>
          <a:p>
            <a:r>
              <a:rPr lang="fr-FR" sz="2400" dirty="0" smtClean="0">
                <a:solidFill>
                  <a:schemeClr val="bg2"/>
                </a:solidFill>
                <a:latin typeface="Times-New-Roman"/>
              </a:rPr>
              <a:t>Exemple:</a:t>
            </a:r>
            <a:endParaRPr lang="en-US" sz="2400" dirty="0"/>
          </a:p>
        </p:txBody>
      </p:sp>
      <p:pic>
        <p:nvPicPr>
          <p:cNvPr id="8" name="Picture 7" descr="3D &lt;strong&gt;Metall Bierfass&lt;/strong&gt; — Stockfoto #320060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5886" y="2044930"/>
            <a:ext cx="3507971" cy="3507971"/>
          </a:xfrm>
          <a:prstGeom prst="rect">
            <a:avLst/>
          </a:prstGeom>
        </p:spPr>
      </p:pic>
    </p:spTree>
    <p:extLst>
      <p:ext uri="{BB962C8B-B14F-4D97-AF65-F5344CB8AC3E}">
        <p14:creationId xmlns:p14="http://schemas.microsoft.com/office/powerpoint/2010/main" val="2512507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amond(in)">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3636818"/>
          </a:xfrm>
        </p:spPr>
        <p:txBody>
          <a:bodyPr>
            <a:normAutofit/>
          </a:bodyPr>
          <a:lstStyle/>
          <a:p>
            <a:r>
              <a:rPr lang="fr-LU" dirty="0" smtClean="0">
                <a:solidFill>
                  <a:srgbClr val="FF0000"/>
                </a:solidFill>
              </a:rPr>
              <a:t>Règle 6:  </a:t>
            </a:r>
            <a:r>
              <a:rPr lang="fr-LU" sz="1800" dirty="0" smtClean="0">
                <a:solidFill>
                  <a:srgbClr val="FF0000"/>
                </a:solidFill>
              </a:rPr>
              <a:t>«</a:t>
            </a:r>
            <a:r>
              <a:rPr lang="fr-FR" sz="1800" cap="none" dirty="0" smtClean="0">
                <a:latin typeface="Times-New-Roman"/>
              </a:rPr>
              <a:t> </a:t>
            </a:r>
            <a:r>
              <a:rPr lang="fr-FR" sz="1800" cap="none" dirty="0">
                <a:latin typeface="Times-New-Roman"/>
              </a:rPr>
              <a:t>Le classement des marchandises dans les sous-positions d'une même position est </a:t>
            </a:r>
            <a:r>
              <a:rPr lang="fr-FR" sz="1800" cap="none" dirty="0" smtClean="0">
                <a:latin typeface="Times-New-Roman"/>
              </a:rPr>
              <a:t>déterminé légalement </a:t>
            </a:r>
            <a:r>
              <a:rPr lang="fr-FR" sz="1800" cap="none" dirty="0">
                <a:latin typeface="Times-New-Roman"/>
              </a:rPr>
              <a:t>d'après les termes de ces sous-positions et des Notes de sous-positions ainsi que, </a:t>
            </a:r>
            <a:r>
              <a:rPr lang="fr-FR" sz="1800" cap="none" dirty="0" smtClean="0">
                <a:latin typeface="Times-New-Roman"/>
              </a:rPr>
              <a:t>mutatis mutandis</a:t>
            </a:r>
            <a:r>
              <a:rPr lang="fr-FR" sz="1800" cap="none" dirty="0">
                <a:latin typeface="Times-New-Roman"/>
              </a:rPr>
              <a:t>, d'après les Règles ci-dessus, étant entendu que ne peuvent être comparées que </a:t>
            </a:r>
            <a:r>
              <a:rPr lang="fr-FR" sz="1800" cap="none" dirty="0" smtClean="0">
                <a:latin typeface="Times-New-Roman"/>
              </a:rPr>
              <a:t>les sous-positions </a:t>
            </a:r>
            <a:r>
              <a:rPr lang="fr-FR" sz="1800" cap="none" dirty="0">
                <a:latin typeface="Times-New-Roman"/>
              </a:rPr>
              <a:t>de même niveau. </a:t>
            </a:r>
            <a:r>
              <a:rPr lang="fr-FR" sz="1800" cap="none" dirty="0" smtClean="0">
                <a:latin typeface="Times-New-Roman"/>
              </a:rPr>
              <a:t/>
            </a:r>
            <a:br>
              <a:rPr lang="fr-FR" sz="1800" cap="none" dirty="0" smtClean="0">
                <a:latin typeface="Times-New-Roman"/>
              </a:rPr>
            </a:br>
            <a:r>
              <a:rPr lang="fr-FR" sz="1800" cap="none" dirty="0" smtClean="0">
                <a:latin typeface="Times-New-Roman"/>
              </a:rPr>
              <a:t>Aux </a:t>
            </a:r>
            <a:r>
              <a:rPr lang="fr-FR" sz="1800" cap="none" dirty="0">
                <a:latin typeface="Times-New-Roman"/>
              </a:rPr>
              <a:t>fins de cette Règle, les Notes de Sections et de Chapitres </a:t>
            </a:r>
            <a:r>
              <a:rPr lang="fr-FR" sz="1800" cap="none" dirty="0" smtClean="0">
                <a:latin typeface="Times-New-Roman"/>
              </a:rPr>
              <a:t>sont également </a:t>
            </a:r>
            <a:r>
              <a:rPr lang="fr-FR" sz="1800" cap="none" dirty="0">
                <a:latin typeface="Times-New-Roman"/>
              </a:rPr>
              <a:t>applicables sauf dispositions contraires</a:t>
            </a:r>
            <a:r>
              <a:rPr lang="fr-FR" sz="1800" cap="none" dirty="0" smtClean="0">
                <a:latin typeface="Times-New-Roman"/>
              </a:rPr>
              <a:t>.</a:t>
            </a:r>
            <a:r>
              <a:rPr lang="fr-FR" sz="1800" dirty="0" smtClean="0">
                <a:solidFill>
                  <a:srgbClr val="FF0000"/>
                </a:solidFill>
              </a:rPr>
              <a:t>»</a:t>
            </a:r>
            <a:endParaRPr lang="en-US" sz="1800" dirty="0">
              <a:solidFill>
                <a:srgbClr val="FF0000"/>
              </a:solidFill>
            </a:endParaRPr>
          </a:p>
        </p:txBody>
      </p:sp>
      <p:sp>
        <p:nvSpPr>
          <p:cNvPr id="3" name="Text Placeholder 2"/>
          <p:cNvSpPr>
            <a:spLocks noGrp="1"/>
          </p:cNvSpPr>
          <p:nvPr>
            <p:ph type="body" idx="1"/>
          </p:nvPr>
        </p:nvSpPr>
        <p:spPr>
          <a:xfrm>
            <a:off x="684212" y="2360814"/>
            <a:ext cx="8535988" cy="3633585"/>
          </a:xfrm>
        </p:spPr>
        <p:txBody>
          <a:bodyPr/>
          <a:lstStyle/>
          <a:p>
            <a:endParaRPr lang="fr-LU" dirty="0"/>
          </a:p>
          <a:p>
            <a:endParaRPr lang="fr-LU" dirty="0" smtClean="0"/>
          </a:p>
          <a:p>
            <a:endParaRPr lang="fr-LU" dirty="0"/>
          </a:p>
          <a:p>
            <a:endParaRPr lang="fr-LU" dirty="0" smtClean="0"/>
          </a:p>
        </p:txBody>
      </p:sp>
    </p:spTree>
    <p:extLst>
      <p:ext uri="{BB962C8B-B14F-4D97-AF65-F5344CB8AC3E}">
        <p14:creationId xmlns:p14="http://schemas.microsoft.com/office/powerpoint/2010/main" val="1103387584"/>
      </p:ext>
    </p:extLst>
  </p:cSld>
  <p:clrMapOvr>
    <a:masterClrMapping/>
  </p:clrMapOvr>
  <p:transition spd="slow">
    <p:wheel spokes="1"/>
  </p:transition>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594D413724C84DBC52E19F2035DA73" ma:contentTypeVersion="" ma:contentTypeDescription="Crée un document." ma:contentTypeScope="" ma:versionID="6be60aed9bf2246e6faa0417455f3c0c">
  <xsd:schema xmlns:xsd="http://www.w3.org/2001/XMLSchema" xmlns:xs="http://www.w3.org/2001/XMLSchema" xmlns:p="http://schemas.microsoft.com/office/2006/metadata/properties" targetNamespace="http://schemas.microsoft.com/office/2006/metadata/properties" ma:root="true" ma:fieldsID="530ed06cadc9c5daf8dab6f76759a2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E2C7D9-EA55-4083-BA42-458EFBD5E53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F21EB2C-3924-4C02-BDA3-A00507CA510B}">
  <ds:schemaRefs>
    <ds:schemaRef ds:uri="http://schemas.microsoft.com/sharepoint/v3/contenttype/forms"/>
  </ds:schemaRefs>
</ds:datastoreItem>
</file>

<file path=customXml/itemProps3.xml><?xml version="1.0" encoding="utf-8"?>
<ds:datastoreItem xmlns:ds="http://schemas.openxmlformats.org/officeDocument/2006/customXml" ds:itemID="{2708FDF4-8020-4B3C-8C9E-804D672F83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Slice</Template>
  <TotalTime>0</TotalTime>
  <Words>2958</Words>
  <Application>Microsoft Office PowerPoint</Application>
  <PresentationFormat>Widescreen</PresentationFormat>
  <Paragraphs>117</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Century Gothic</vt:lpstr>
      <vt:lpstr>Times-New-Roman</vt:lpstr>
      <vt:lpstr>Wingdings</vt:lpstr>
      <vt:lpstr>Wingdings 3</vt:lpstr>
      <vt:lpstr>Slice</vt:lpstr>
      <vt:lpstr>Les règles générales interprétatives (RGI)</vt:lpstr>
      <vt:lpstr>Utilisateurs des RGI ? </vt:lpstr>
      <vt:lpstr>But des RGI ?</vt:lpstr>
      <vt:lpstr>Valeur légale ?</vt:lpstr>
      <vt:lpstr>6 règles générales </vt:lpstr>
      <vt:lpstr>PowerPoint Presentation</vt:lpstr>
      <vt:lpstr>Règle 1:  « Le libellé des titres de Sections, de Chapitres ou de Sous-Chapitres est considéré comme n'ayant qu'une valeur indicative, le classement étant déterminé légalement d'après les termes des positions et des Notes de Sections ou de Chapitres et, lorsqu'elles ne sont pas contraires aux termes desdites positions et Notes, d'après les Règles suivantes : »</vt:lpstr>
      <vt:lpstr>Règle 1:  « Le libellé des titres de Sections, de Chapitres ou de Sous-Chapitres est considéré comme n'ayant qu'une valeur indicative, le classement étant déterminé légalement d'après les termes des positions et des Notes de Sections ou de Chapitres et, lorsqu'elles ne sont pas contraires aux termes desdites positions et Notes, d'après les Règles suivantes : »</vt:lpstr>
      <vt:lpstr>Règle 1:  « Le libellé des titres de Sections, de Chapitres ou de Sous-Chapitres est considéré comme n'ayant qu'une valeur indicative, le classement étant déterminé légalement d'après les termes des positions et des Notes de Sections ou de Chapitres et, lorsqu'elles ne sont pas contraires aux termes desdites positions et Notes, d'après les Règles suivantes : »</vt:lpstr>
      <vt:lpstr>Règle 1:  « Le libellé des titres de Sections, de Chapitres ou de Sous-Chapitres est considéré comme n'ayant qu'une valeur indicative, le classement étant déterminé légalement d'après les termes des positions et des Notes de Sections ou de Chapitres et, lorsqu'elles ne sont pas contraires aux termes desdites positions et Notes, d'après les Règles suivantes : »</vt:lpstr>
      <vt:lpstr>Règle 2:  «  a) Toute référence à un article dans une position déterminée couvre cet article même incomplet ou non fini à la condition qu'il présente, en l'état, les caractéristiques essentielles de l'article complet ou fini. Elle couvre également l'article complet ou fini, ou à considérer comme tel en vertu des dispositions qui précèdent, lorsqu'il est présenté à l'état démonté ou non monté.»</vt:lpstr>
      <vt:lpstr>Règle 2:  «  a) Toute référence à un article dans une position déterminée couvre cet article même incomplet ou non fini à la condition qu'il présente, en l'état, les caractéristiques essentielles de l'article complet ou fini. Elle couvre également l'article complet ou fini, ou à considérer comme tel en vertu des dispositions qui précèdent, lorsqu'il est présenté à l'état démonté ou non monté.»</vt:lpstr>
      <vt:lpstr>Règle 2:  «  a) Toute référence à un article dans une position déterminée couvre cet article même incomplet ou non fini à la condition qu'il présente, en l'état, les caractéristiques essentielles de l'article complet ou fini. Elle couvre également l'article complet ou fini, ou à considérer comme tel en vertu des dispositions qui précèdent, lorsqu'il est présenté à l'état démonté ou non monté.»</vt:lpstr>
      <vt:lpstr>Règle 2:  «  a) Toute référence à un article dans une position déterminée couvre cet article même incomplet ou non fini à la condition qu'il présente, en l'état, les caractéristiques essentielles de l'article complet ou fini. Elle couvre également l'article complet ou fini, ou à considérer comme tel en vertu des dispositions qui précèdent, lorsqu'il est présenté à l'état démonté ou non monté.»</vt:lpstr>
      <vt:lpstr>Règle 2:  «  a) Toute référence à un article dans une position déterminée couvre cet article même incomplet ou non fini à la condition qu'il présente, en l'état, les caractéristiques essentielles de l'article complet ou fini. Elle couvre également l'article complet ou fini, ou à considérer comme tel en vertu des dispositions qui précèdent, lorsqu'il est présenté à l'état démonté ou non monté.»</vt:lpstr>
      <vt:lpstr>Règle 2:  «  b) Toute mention d'une matière dans une position déterminée se rapporte à cette matière soit à l'état pur, soit mélangée ou bien associée à d'autres matières. De même, toute mention d'ouvrages en une matière déterminée se rapporte aux ouvrages constitués entièrement ou partiellement de cette matière. Le classement de ces produits mélangés ou articles composites est effectué suivant les principes énoncés dans la Règle 3..»</vt:lpstr>
      <vt:lpstr>Règle 2:  «  b) Toute mention d'une matière dans une position déterminée se rapporte à cette matière soit à l'état pur, soit mélangée ou bien associée à d'autres matières. De même, toute mention d'ouvrages en une matière déterminée se rapporte aux ouvrages constitués entièrement ou partiellement de cette matière. Le classement de ces produits mélangés ou articles composites est effectué suivant les principes énoncés dans la Règle 3..»</vt:lpstr>
      <vt:lpstr>Règle 2:  «  b) Toute mention d'une matière dans une position déterminée se rapporte à cette matière soit à l'état pur, soit mélangée ou bien associée à d'autres matières. De même, toute mention d'ouvrages en une matière déterminée se rapporte aux ouvrages constitués entièrement ou partiellement de cette matière. Le classement de ces produits mélangés ou articles composites est effectué suivant les principes énoncés dans la Règle 3..»</vt:lpstr>
      <vt:lpstr>Règle 2:  «  b) Toute mention d'une matière dans une position déterminée se rapporte à cette matière soit à l'état pur, soit mélangée ou bien associée à d'autres matières. De même, toute mention d'ouvrages en une matière déterminée se rapporte aux ouvrages constitués entièrement ou partiellement de cette matière. Le classement de ces produits mélangés ou articles composites est effectué suivant les principes énoncés dans la Règle 3..»</vt:lpstr>
      <vt:lpstr>Règle 3:  «  Lorsque des marchandises paraissent devoir être classées sous deux ou plusieurs positions par application de la Règle 2 b) ou dans tout autre cas, le classement s'opère comme suit :  .a) La position la plus spécifique doit avoir la priorité sur les positions d'une portée plus générale. Toutefois, lorsque deux ou plusieurs positions se rapportent chacune à une partie seulement des matières constituant un produit mélangé ou un article composite ou à une partie seulement des articles dans le cas de marchandises présentées en assortiments conditionnés pour la vente au détail, ces positions sont à considérer, au regard de ce produit ou de cet article, comme également spécifiques même si l'une d'elles en donne par ailleurs une description plus précise ou plus complète. b) Les produits mélangés, les ouvrages composés de matières différentes ou constitués par l'assemblage d'articles différents et les marchandises présentées en assortiments conditionnés pour la vente au détail, dont le classement ne peut être effectué en application de la Règle 3 a), sont classés d'après la matière ou l'article qui leur confère leur caractère essentiel lorsqu'il est possible d'opérer cette détermination. c) Dans le cas où les Règles 3 a) et 3 b) ne permettent pas d'effectuer le classement, la marchandise est classée dans la position placée la dernière par ordre de numérotation parmi celles susceptibles d'être valablement prises en considération.»</vt:lpstr>
      <vt:lpstr>Règle 3:  «  Lorsque des marchandises paraissent devoir être classées sous deux ou plusieurs positions par application de la Règle 2 b) ou dans tout autre cas, le classement s'opère comme suit :</vt:lpstr>
      <vt:lpstr>Règle 3:     a) La position la plus spécifique doit avoir la priorité sur les positions d'une portée plus générale. Toutefois, lorsque deux ou plusieurs positions se rapportent chacune à une partie seulement des matières constituant un produit mélangé ou un article composite ou à une partie seulement des articles dans le cas de marchandises présentées en assortiments conditionnés pour la vente au détail, ces positions sont à considérer, au regard de ce produit ou de cet article, comme également spécifiques même si l'une d'elles en donne par ailleurs une description plus précise ou plus complète.</vt:lpstr>
      <vt:lpstr>Règle 3:     a) La position la plus spécifique doit avoir la priorité sur les positions d'une portée plus générale. Toutefois, lorsque deux ou plusieurs positions se rapportent chacune à une partie seulement des matières constituant un produit mélangé ou un article composite ou à une partie seulement des articles dans le cas de marchandises présentées en assortiments conditionnés pour la vente au détail, ces positions sont à considérer, au regard de ce produit ou de cet article, comme également spécifiques même si l'une d'elles en donne par ailleurs une description plus précise ou plus complète.</vt:lpstr>
      <vt:lpstr>Règle 3:     a) La position la plus spécifique doit avoir la priorité sur les positions d'une portée plus générale. Toutefois, lorsque deux ou plusieurs positions se rapportent chacune à une partie seulement des matières constituant un produit mélangé ou un article composite ou à une partie seulement des articles dans le cas de marchandises présentées en assortiments conditionnés pour la vente au détail, ces positions sont à considérer, au regard de ce produit ou de cet article, comme également spécifiques même si l'une d'elles en donne par ailleurs une description plus précise ou plus complète.</vt:lpstr>
      <vt:lpstr>Règle 3:     a) La position la plus spécifique doit avoir la priorité sur les positions d'une portée plus générale. Toutefois, lorsque deux ou plusieurs positions se rapportent chacune à une partie seulement des matières constituant un produit mélangé ou un article composite ou à une partie seulement des articles dans le cas de marchandises présentées en assortiments conditionnés pour la vente au détail, ces positions sont à considérer, au regard de ce produit ou de cet article, comme également spécifiques même si l'une d'elles en donne par ailleurs une description plus précise ou plus complète.</vt:lpstr>
      <vt:lpstr>Règle 3:     b) Les produits mélangés, les ouvrages composés de matières différentes ou constitués par l'assemblage d'articles différents et les marchandises présentées en assortiments conditionnés pour la vente au détail, dont le classement ne peut être effectué en application de la Règle 3 a), sont classés d'après la matière ou l'article qui leur confère leur caractère essentiel lorsqu'il est possible d'opérer cette détermination.</vt:lpstr>
      <vt:lpstr>Règle 3:     b) Les produits mélangés, les ouvrages composés de matières différentes ou constitués par l'assemblage d'articles différents et les marchandises présentées en assortiments conditionnés pour la vente au détail, dont le classement ne peut être effectué en application de la Règle 3 a), sont classés d'après la matière ou l'article qui leur confère leur caractère essentiel lorsqu'il est possible d'opérer cette détermination.</vt:lpstr>
      <vt:lpstr>Règle 3:     b) Les produits mélangés, les ouvrages composés de matières différentes ou constitués par l'assemblage d'articles différents et les marchandises présentées en assortiments conditionnés pour la vente au détail, dont le classement ne peut être effectué en application de la Règle 3 a), sont classés d'après la matière ou l'article qui leur confère leur caractère essentiel lorsqu'il est possible d'opérer cette détermination.</vt:lpstr>
      <vt:lpstr>Règle 3:     b) Les produits mélangés, les ouvrages composés de matières différentes ou constitués par l'assemblage d'articles différents et les marchandises présentées en assortiments conditionnés pour la vente au détail, dont le classement ne peut être effectué en application de la Règle 3 a), sont classés d'après la matière ou l'article qui leur confère leur caractère essentiel lorsqu'il est possible d'opérer cette détermination.</vt:lpstr>
      <vt:lpstr>Règle 3:     b) Les produits mélangés, les ouvrages composés de matières différentes ou constitués par l'assemblage d'articles différents et les marchandises présentées en assortiments conditionnés pour la vente au détail, dont le classement ne peut être effectué en application de la Règle 3 a), sont classés d'après la matière ou l'article qui leur confère leur caractère essentiel lorsqu'il est possible d'opérer cette détermination.</vt:lpstr>
      <vt:lpstr>Règle 3:     c) Dans le cas où les Règles 3 a) et 3 b) ne permettent pas d'effectuer le classement, la marchandise est classée dans la position placée la dernière par ordre de numérotation parmi celles susceptibles d'être valablement prises en considération.</vt:lpstr>
      <vt:lpstr>Règle 4:  «  Les marchandises qui ne peuvent pas être classées en vertu des Règles visées ci-dessus sont classées dans la position afférente aux articles les plus analogues.»</vt:lpstr>
      <vt:lpstr>Règle 5: </vt:lpstr>
      <vt:lpstr>Règle 5:  «  Outre les dispositions qui précèdent, les Règles suivantes sont applicables aux marchandises reprises ci-après :  a) Les étuis pour appareils photographiques, pour instruments de musique, pour armes, pour instruments de dessin, les écrins et les contenants similaires, spécialement aménagés pour recevoir un article déterminé ou un assortiment, susceptibles d'un usage prolongé et présentés avec les articles auxquels ils sont destinés, sont classés avec ces articles lorsqu'ils sont du type normalement vendu avec ceux-ci. Cette Règle ne concerne pas, toutefois, les contenants qui confèrent à l'ensemble son caractère essentiel.  b) Sous réserve des dispositions de la Règle 5 a) ci-dessus, les emballages contenant des marchandises sont classés avec ces dernières lorsqu'ils sont du type normalement utilisé pour ce genre de marchandises. Toutefois, cette disposition n'est pas obligatoire lorsque les emballages sont susceptibles d'être utilisés valablement d'une façon répétée. »</vt:lpstr>
      <vt:lpstr>Règle 5:   a) Les étuis pour appareils photographiques, pour instruments de musique, pour armes, pour instruments de dessin, les écrins et les contenants similaires, spécialement aménagés pour recevoir un article déterminé ou un assortiment, susceptibles d'un usage prolongé et présentés avec les articles auxquels ils sont destinés, sont classés avec ces articles lorsqu'ils sont du type normalement vendu avec ceux-ci. Cette Règle ne concerne pas, toutefois, les contenants qui confèrent à l'ensemble son caractère essentiel.</vt:lpstr>
      <vt:lpstr>Règle 5:   b) Sous réserve des dispositions de la Règle 5 a) ci-dessus, les emballages contenant des marchandises sont classés avec ces dernières lorsqu'ils sont du type normalement utilisé pour ce genre de marchandises.  Toutefois, cette disposition n'est pas obligatoire lorsque les emballages sont susceptibles d'être utilisés valablement d'une façon répétée.   </vt:lpstr>
      <vt:lpstr>Règle 5:   b) Sous réserve des dispositions de la Règle 5 a) ci-dessus, les emballages contenant des marchandises sont classés avec ces dernières lorsqu'ils sont du type normalement utilisé pour ce genre de marchandises.  Toutefois, cette disposition n'est pas obligatoire lorsque les emballages sont susceptibles d'être utilisés valablement d'une façon répétée.   </vt:lpstr>
      <vt:lpstr>Règle 6:  « Le classement des marchandises dans les sous-positions d'une même position est déterminé légalement d'après les termes de ces sous-positions et des Notes de sous-positions ainsi que, mutatis mutandis, d'après les Règles ci-dessus, étant entendu que ne peuvent être comparées que les sous-positions de même niveau.  Aux fins de cette Règle, les Notes de Sections et de Chapitres sont également applicables sauf dispositions contraires.»</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règles générales interprétatives (RGI)</dc:title>
  <dc:creator>bofferdingd</dc:creator>
  <cp:lastModifiedBy>bofferdingd</cp:lastModifiedBy>
  <cp:revision>40</cp:revision>
  <dcterms:created xsi:type="dcterms:W3CDTF">2017-09-26T16:22:47Z</dcterms:created>
  <dcterms:modified xsi:type="dcterms:W3CDTF">2024-11-04T17:24:00Z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0x010100F8594D413724C84DBC52E19F2035DA73</vt:lpwstr>
  </property>
</Properties>
</file>