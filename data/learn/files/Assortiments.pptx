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0"/>
  </p:handoutMasterIdLst>
  <p:sldIdLst>
    <p:sldId id="256" r:id="rId2"/>
    <p:sldId id="258" r:id="rId3"/>
    <p:sldId id="259" r:id="rId4"/>
    <p:sldId id="260" r:id="rId5"/>
    <p:sldId id="261" r:id="rId6"/>
    <p:sldId id="262" r:id="rId7"/>
    <p:sldId id="263" r:id="rId8"/>
    <p:sldId id="264" r:id="rId9"/>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chlink" initials="m" lastIdx="2" clrIdx="0">
    <p:extLst>
      <p:ext uri="{19B8F6BF-5375-455C-9EA6-DF929625EA0E}">
        <p15:presenceInfo xmlns:p15="http://schemas.microsoft.com/office/powerpoint/2012/main" userId="mschlin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ittlere Formatvorlage 4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00" autoAdjust="0"/>
    <p:restoredTop sz="94660"/>
  </p:normalViewPr>
  <p:slideViewPr>
    <p:cSldViewPr snapToGrid="0">
      <p:cViewPr varScale="1">
        <p:scale>
          <a:sx n="115" d="100"/>
          <a:sy n="115" d="100"/>
        </p:scale>
        <p:origin x="79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CH"/>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6AB039E8-4792-4DE3-AA83-F7516F3B65D7}" type="datetimeFigureOut">
              <a:rPr lang="fr-CH" smtClean="0"/>
              <a:t>22.10.2019</a:t>
            </a:fld>
            <a:endParaRPr lang="fr-CH"/>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CH"/>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3207A034-ED28-44E1-8859-77E415D3450D}" type="slidenum">
              <a:rPr lang="fr-CH" smtClean="0"/>
              <a:t>‹#›</a:t>
            </a:fld>
            <a:endParaRPr lang="fr-CH"/>
          </a:p>
        </p:txBody>
      </p:sp>
    </p:spTree>
    <p:extLst>
      <p:ext uri="{BB962C8B-B14F-4D97-AF65-F5344CB8AC3E}">
        <p14:creationId xmlns:p14="http://schemas.microsoft.com/office/powerpoint/2010/main" val="201691176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fr-CH"/>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22.10.2019</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990715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22.10.2019</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0607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fr-CH"/>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5AFC1B58-A5CB-4888-98D1-673EE0D4D308}" type="datetimeFigureOut">
              <a:rPr lang="fr-CH" smtClean="0"/>
              <a:t>22.10.2019</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993807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Datumsplatzhalter 4"/>
          <p:cNvSpPr>
            <a:spLocks noGrp="1"/>
          </p:cNvSpPr>
          <p:nvPr>
            <p:ph type="dt" sz="half" idx="10"/>
          </p:nvPr>
        </p:nvSpPr>
        <p:spPr/>
        <p:txBody>
          <a:bodyPr/>
          <a:lstStyle/>
          <a:p>
            <a:fld id="{5AFC1B58-A5CB-4888-98D1-673EE0D4D308}" type="datetimeFigureOut">
              <a:rPr lang="fr-CH" smtClean="0"/>
              <a:t>22.10.2019</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38195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fr-CH"/>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7" name="Datumsplatzhalter 6"/>
          <p:cNvSpPr>
            <a:spLocks noGrp="1"/>
          </p:cNvSpPr>
          <p:nvPr>
            <p:ph type="dt" sz="half" idx="10"/>
          </p:nvPr>
        </p:nvSpPr>
        <p:spPr/>
        <p:txBody>
          <a:bodyPr/>
          <a:lstStyle/>
          <a:p>
            <a:fld id="{5AFC1B58-A5CB-4888-98D1-673EE0D4D308}" type="datetimeFigureOut">
              <a:rPr lang="fr-CH" smtClean="0"/>
              <a:t>22.10.2019</a:t>
            </a:fld>
            <a:endParaRPr lang="fr-CH"/>
          </a:p>
        </p:txBody>
      </p:sp>
      <p:sp>
        <p:nvSpPr>
          <p:cNvPr id="8" name="Fußzeilenplatzhalter 7"/>
          <p:cNvSpPr>
            <a:spLocks noGrp="1"/>
          </p:cNvSpPr>
          <p:nvPr>
            <p:ph type="ftr" sz="quarter" idx="11"/>
          </p:nvPr>
        </p:nvSpPr>
        <p:spPr/>
        <p:txBody>
          <a:bodyPr/>
          <a:lstStyle/>
          <a:p>
            <a:endParaRPr lang="fr-CH"/>
          </a:p>
        </p:txBody>
      </p:sp>
      <p:sp>
        <p:nvSpPr>
          <p:cNvPr id="9" name="Foliennummernplatzhalter 8"/>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172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Datumsplatzhalter 2"/>
          <p:cNvSpPr>
            <a:spLocks noGrp="1"/>
          </p:cNvSpPr>
          <p:nvPr>
            <p:ph type="dt" sz="half" idx="10"/>
          </p:nvPr>
        </p:nvSpPr>
        <p:spPr/>
        <p:txBody>
          <a:bodyPr/>
          <a:lstStyle/>
          <a:p>
            <a:fld id="{5AFC1B58-A5CB-4888-98D1-673EE0D4D308}" type="datetimeFigureOut">
              <a:rPr lang="fr-CH" smtClean="0"/>
              <a:t>22.10.2019</a:t>
            </a:fld>
            <a:endParaRPr lang="fr-CH"/>
          </a:p>
        </p:txBody>
      </p:sp>
      <p:sp>
        <p:nvSpPr>
          <p:cNvPr id="4" name="Fußzeilenplatzhalter 3"/>
          <p:cNvSpPr>
            <a:spLocks noGrp="1"/>
          </p:cNvSpPr>
          <p:nvPr>
            <p:ph type="ftr" sz="quarter" idx="11"/>
          </p:nvPr>
        </p:nvSpPr>
        <p:spPr/>
        <p:txBody>
          <a:bodyPr/>
          <a:lstStyle/>
          <a:p>
            <a:endParaRPr lang="fr-CH"/>
          </a:p>
        </p:txBody>
      </p:sp>
      <p:sp>
        <p:nvSpPr>
          <p:cNvPr id="5" name="Foliennummernplatzhalter 4"/>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68235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FC1B58-A5CB-4888-98D1-673EE0D4D308}" type="datetimeFigureOut">
              <a:rPr lang="fr-CH" smtClean="0"/>
              <a:t>22.10.2019</a:t>
            </a:fld>
            <a:endParaRPr lang="fr-CH"/>
          </a:p>
        </p:txBody>
      </p:sp>
      <p:sp>
        <p:nvSpPr>
          <p:cNvPr id="3" name="Fußzeilenplatzhalter 2"/>
          <p:cNvSpPr>
            <a:spLocks noGrp="1"/>
          </p:cNvSpPr>
          <p:nvPr>
            <p:ph type="ftr" sz="quarter" idx="11"/>
          </p:nvPr>
        </p:nvSpPr>
        <p:spPr/>
        <p:txBody>
          <a:bodyPr/>
          <a:lstStyle/>
          <a:p>
            <a:endParaRPr lang="fr-CH"/>
          </a:p>
        </p:txBody>
      </p:sp>
      <p:sp>
        <p:nvSpPr>
          <p:cNvPr id="4" name="Foliennummernplatzhalter 3"/>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82519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22.10.2019</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92002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22.10.2019</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2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22.10.2019</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7018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fr-CH"/>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22.10.2019</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952568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2000" b="-12000"/>
          </a:stretch>
        </a:blip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fr-CH"/>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C1B58-A5CB-4888-98D1-673EE0D4D308}" type="datetimeFigureOut">
              <a:rPr lang="fr-CH" smtClean="0"/>
              <a:t>22.10.2019</a:t>
            </a:fld>
            <a:endParaRPr lang="fr-CH"/>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1F01A-B187-4E96-A42F-7B20626A13B5}" type="slidenum">
              <a:rPr lang="fr-CH" smtClean="0"/>
              <a:t>‹#›</a:t>
            </a:fld>
            <a:endParaRPr lang="fr-CH"/>
          </a:p>
        </p:txBody>
      </p:sp>
    </p:spTree>
    <p:extLst>
      <p:ext uri="{BB962C8B-B14F-4D97-AF65-F5344CB8AC3E}">
        <p14:creationId xmlns:p14="http://schemas.microsoft.com/office/powerpoint/2010/main" val="2775136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fr-LU" sz="5400" b="1" dirty="0" smtClean="0">
                <a:ln w="9525">
                  <a:solidFill>
                    <a:schemeClr val="accent1"/>
                  </a:solidFill>
                  <a:prstDash val="solid"/>
                </a:ln>
                <a:effectLst>
                  <a:outerShdw blurRad="12700" dist="38100" dir="2700000" algn="tl" rotWithShape="0">
                    <a:schemeClr val="bg1">
                      <a:lumMod val="50000"/>
                    </a:schemeClr>
                  </a:outerShdw>
                </a:effectLst>
              </a:rPr>
              <a:t/>
            </a:r>
            <a:br>
              <a:rPr lang="fr-LU" sz="5400" b="1" dirty="0" smtClean="0">
                <a:ln w="9525">
                  <a:solidFill>
                    <a:schemeClr val="accent1"/>
                  </a:solidFill>
                  <a:prstDash val="solid"/>
                </a:ln>
                <a:effectLst>
                  <a:outerShdw blurRad="12700" dist="38100" dir="2700000" algn="tl" rotWithShape="0">
                    <a:schemeClr val="bg1">
                      <a:lumMod val="50000"/>
                    </a:schemeClr>
                  </a:outerShdw>
                </a:effectLst>
              </a:rPr>
            </a:br>
            <a:endParaRPr lang="fr-CH" sz="5400" b="1" dirty="0">
              <a:ln w="9525">
                <a:solidFill>
                  <a:schemeClr val="accent1"/>
                </a:solidFill>
                <a:prstDash val="solid"/>
              </a:ln>
              <a:effectLst>
                <a:outerShdw blurRad="12700" dist="38100" dir="2700000" algn="tl" rotWithShape="0">
                  <a:schemeClr val="bg1">
                    <a:lumMod val="50000"/>
                  </a:schemeClr>
                </a:outerShdw>
              </a:effectLst>
            </a:endParaRPr>
          </a:p>
        </p:txBody>
      </p:sp>
      <p:sp>
        <p:nvSpPr>
          <p:cNvPr id="3" name="Subtitle 2"/>
          <p:cNvSpPr>
            <a:spLocks noGrp="1"/>
          </p:cNvSpPr>
          <p:nvPr>
            <p:ph type="subTitle" idx="1"/>
          </p:nvPr>
        </p:nvSpPr>
        <p:spPr>
          <a:xfrm>
            <a:off x="1524000" y="2767075"/>
            <a:ext cx="9144000" cy="1655762"/>
          </a:xfrm>
        </p:spPr>
        <p:txBody>
          <a:bodyPr>
            <a:normAutofit/>
          </a:bodyPr>
          <a:lstStyle/>
          <a:p>
            <a:r>
              <a:rPr lang="fr-FR" sz="5400" b="1" dirty="0">
                <a:ln w="9525">
                  <a:solidFill>
                    <a:schemeClr val="accent1"/>
                  </a:solidFill>
                  <a:prstDash val="solid"/>
                </a:ln>
                <a:effectLst>
                  <a:outerShdw blurRad="12700" dist="38100" dir="2700000" algn="tl" rotWithShape="0">
                    <a:schemeClr val="bg1">
                      <a:lumMod val="50000"/>
                    </a:schemeClr>
                  </a:outerShdw>
                </a:effectLst>
                <a:latin typeface="+mj-lt"/>
                <a:ea typeface="+mj-ea"/>
                <a:cs typeface="+mj-cs"/>
              </a:rPr>
              <a:t>Assortiments</a:t>
            </a:r>
          </a:p>
        </p:txBody>
      </p:sp>
      <p:pic>
        <p:nvPicPr>
          <p:cNvPr id="5" name="Grafik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064" y="219138"/>
            <a:ext cx="3031402" cy="818232"/>
          </a:xfrm>
          <a:prstGeom prst="rect">
            <a:avLst/>
          </a:prstGeom>
        </p:spPr>
      </p:pic>
      <p:sp>
        <p:nvSpPr>
          <p:cNvPr id="7" name="Titel 3"/>
          <p:cNvSpPr txBox="1">
            <a:spLocks/>
          </p:cNvSpPr>
          <p:nvPr/>
        </p:nvSpPr>
        <p:spPr>
          <a:xfrm>
            <a:off x="644770" y="5003800"/>
            <a:ext cx="11547230" cy="1295400"/>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fr-CH" sz="2800" b="1" dirty="0"/>
          </a:p>
        </p:txBody>
      </p:sp>
    </p:spTree>
    <p:extLst>
      <p:ext uri="{BB962C8B-B14F-4D97-AF65-F5344CB8AC3E}">
        <p14:creationId xmlns:p14="http://schemas.microsoft.com/office/powerpoint/2010/main" val="4120300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CH" dirty="0"/>
              <a:t>Assortiments</a:t>
            </a:r>
          </a:p>
        </p:txBody>
      </p:sp>
      <p:sp>
        <p:nvSpPr>
          <p:cNvPr id="3" name="Inhaltsplatzhalter 2"/>
          <p:cNvSpPr>
            <a:spLocks noGrp="1"/>
          </p:cNvSpPr>
          <p:nvPr>
            <p:ph idx="1"/>
          </p:nvPr>
        </p:nvSpPr>
        <p:spPr/>
        <p:txBody>
          <a:bodyPr>
            <a:normAutofit lnSpcReduction="10000"/>
          </a:bodyPr>
          <a:lstStyle/>
          <a:p>
            <a:r>
              <a:rPr lang="lb-LU" dirty="0"/>
              <a:t>RGI 3b</a:t>
            </a:r>
            <a:r>
              <a:rPr lang="lb-LU"/>
              <a:t>) </a:t>
            </a:r>
            <a:r>
              <a:rPr lang="lb-LU" smtClean="0"/>
              <a:t>vise </a:t>
            </a:r>
            <a:r>
              <a:rPr lang="lb-LU" dirty="0"/>
              <a:t>aussi les assortiments</a:t>
            </a:r>
          </a:p>
          <a:p>
            <a:r>
              <a:rPr lang="lb-LU" dirty="0"/>
              <a:t>À considérer comme marchandises </a:t>
            </a:r>
            <a:r>
              <a:rPr lang="fr-FR" dirty="0"/>
              <a:t>«</a:t>
            </a:r>
            <a:r>
              <a:rPr lang="fr-FR" i="1" dirty="0"/>
              <a:t>présentées en </a:t>
            </a:r>
          </a:p>
          <a:p>
            <a:pPr marL="0" indent="0">
              <a:buNone/>
            </a:pPr>
            <a:r>
              <a:rPr lang="fr-FR" i="1" dirty="0"/>
              <a:t>   assortiments conditionnés pour la vente au détail</a:t>
            </a:r>
            <a:r>
              <a:rPr lang="fr-FR" dirty="0"/>
              <a:t>»:</a:t>
            </a:r>
          </a:p>
          <a:p>
            <a:pPr lvl="1"/>
            <a:r>
              <a:rPr lang="fr-FR" dirty="0"/>
              <a:t>composées d’au moins deux articles différents qui, à première vue, seraient susceptibles de relever de positions différentes;</a:t>
            </a:r>
          </a:p>
          <a:p>
            <a:pPr lvl="1"/>
            <a:r>
              <a:rPr lang="fr-FR" dirty="0"/>
              <a:t>être composées de produits ou d’articles présentés </a:t>
            </a:r>
          </a:p>
          <a:p>
            <a:pPr marL="457200" lvl="1" indent="0">
              <a:buNone/>
            </a:pPr>
            <a:r>
              <a:rPr lang="fr-FR" dirty="0"/>
              <a:t>   ensemble pour la satisfaction d’un besoin spécifique </a:t>
            </a:r>
          </a:p>
          <a:p>
            <a:pPr marL="457200" lvl="1" indent="0">
              <a:buNone/>
            </a:pPr>
            <a:r>
              <a:rPr lang="fr-FR" dirty="0"/>
              <a:t>   ou l’exercice d’une activité déterminée;	</a:t>
            </a:r>
          </a:p>
          <a:p>
            <a:pPr lvl="1"/>
            <a:r>
              <a:rPr lang="fr-FR" dirty="0"/>
              <a:t>être conditionnées de façon à pouvoir être vendues </a:t>
            </a:r>
          </a:p>
          <a:p>
            <a:pPr marL="457200" lvl="1" indent="0">
              <a:buNone/>
            </a:pPr>
            <a:r>
              <a:rPr lang="fr-FR" dirty="0"/>
              <a:t>   directement aux utilisateurs sans reconditionnement </a:t>
            </a:r>
          </a:p>
          <a:p>
            <a:pPr marL="457200" lvl="1" indent="0">
              <a:buNone/>
            </a:pPr>
            <a:r>
              <a:rPr lang="fr-FR" dirty="0"/>
              <a:t>   (en boîtes, coffrets, panoplies, par exemple).</a:t>
            </a:r>
            <a:endParaRPr lang="en-US" dirty="0"/>
          </a:p>
          <a:p>
            <a:endParaRPr lang="fr-CH" dirty="0"/>
          </a:p>
        </p:txBody>
      </p:sp>
    </p:spTree>
    <p:extLst>
      <p:ext uri="{BB962C8B-B14F-4D97-AF65-F5344CB8AC3E}">
        <p14:creationId xmlns:p14="http://schemas.microsoft.com/office/powerpoint/2010/main" val="167661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CH" dirty="0"/>
              <a:t>Assortiments</a:t>
            </a:r>
          </a:p>
        </p:txBody>
      </p:sp>
      <p:sp>
        <p:nvSpPr>
          <p:cNvPr id="3" name="Inhaltsplatzhalter 2"/>
          <p:cNvSpPr>
            <a:spLocks noGrp="1"/>
          </p:cNvSpPr>
          <p:nvPr>
            <p:ph idx="1"/>
          </p:nvPr>
        </p:nvSpPr>
        <p:spPr/>
        <p:txBody>
          <a:bodyPr/>
          <a:lstStyle/>
          <a:p>
            <a:r>
              <a:rPr lang="lb-LU" dirty="0"/>
              <a:t>Ne s’applique pas aux marchandises classées dans une position ayant comme intitulé «assortiment», p.ex.:</a:t>
            </a:r>
          </a:p>
          <a:p>
            <a:pPr lvl="1"/>
            <a:r>
              <a:rPr lang="fr-FR" dirty="0"/>
              <a:t>6308 00 00 — assortiments composés de pièces de tissus et de fils … en emballages pour la vente au détail …</a:t>
            </a:r>
          </a:p>
          <a:p>
            <a:pPr lvl="1"/>
            <a:r>
              <a:rPr lang="fr-FR" dirty="0"/>
              <a:t>8206 00 00 — Outils d’au moins deux positions … conditionnés en assortiments pour la vente au détail</a:t>
            </a:r>
          </a:p>
          <a:p>
            <a:pPr lvl="1"/>
            <a:r>
              <a:rPr lang="fr-FR" dirty="0"/>
              <a:t>9503 00 70 — autres jouets, présentés en assortiments ou en panoplies</a:t>
            </a:r>
            <a:endParaRPr lang="lb-LU" dirty="0"/>
          </a:p>
          <a:p>
            <a:r>
              <a:rPr lang="lb-LU" dirty="0"/>
              <a:t>Et ne s’applique pas lorsque des dispositions spécifiques existent, p.ex.:</a:t>
            </a:r>
          </a:p>
          <a:p>
            <a:pPr lvl="1"/>
            <a:r>
              <a:rPr lang="lb-LU" dirty="0"/>
              <a:t>Note 3 section VI</a:t>
            </a:r>
            <a:endParaRPr lang="en-US" dirty="0"/>
          </a:p>
          <a:p>
            <a:endParaRPr lang="fr-CH" dirty="0"/>
          </a:p>
        </p:txBody>
      </p:sp>
    </p:spTree>
    <p:extLst>
      <p:ext uri="{BB962C8B-B14F-4D97-AF65-F5344CB8AC3E}">
        <p14:creationId xmlns:p14="http://schemas.microsoft.com/office/powerpoint/2010/main" val="252391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Critère 1</a:t>
            </a:r>
          </a:p>
        </p:txBody>
      </p:sp>
      <p:sp>
        <p:nvSpPr>
          <p:cNvPr id="3" name="Content Placeholder 2"/>
          <p:cNvSpPr>
            <a:spLocks noGrp="1"/>
          </p:cNvSpPr>
          <p:nvPr>
            <p:ph idx="1"/>
          </p:nvPr>
        </p:nvSpPr>
        <p:spPr/>
        <p:txBody>
          <a:bodyPr/>
          <a:lstStyle/>
          <a:p>
            <a:pPr marL="0" indent="0">
              <a:buNone/>
            </a:pPr>
            <a:r>
              <a:rPr lang="fr-FR" b="1" dirty="0"/>
              <a:t>«à première vue, seraient susceptibles de relever de positions différentes»</a:t>
            </a:r>
          </a:p>
          <a:p>
            <a:r>
              <a:rPr lang="fr-FR" dirty="0"/>
              <a:t>Peut aussi être appliqué pour des marchandises susceptible de relever de sous-positions différentes</a:t>
            </a:r>
          </a:p>
          <a:p>
            <a:r>
              <a:rPr lang="fr-FR" dirty="0"/>
              <a:t>Exemple:</a:t>
            </a:r>
          </a:p>
          <a:p>
            <a:pPr lvl="1"/>
            <a:r>
              <a:rPr lang="fr-FR" dirty="0"/>
              <a:t>Des marchandises présentées en assortiments conditionnés pour la vente au détail et composés d’une bouteille de shampooing (3305 10 00) et d’une bouteille de lotion capillaire (3305 90 00) destinées au soin des cheveux sont considérées comme un assortiment relevant de la position 3305.</a:t>
            </a:r>
            <a:endParaRPr lang="en-US" dirty="0"/>
          </a:p>
          <a:p>
            <a:endParaRPr lang="fr-FR" dirty="0"/>
          </a:p>
        </p:txBody>
      </p:sp>
    </p:spTree>
    <p:extLst>
      <p:ext uri="{BB962C8B-B14F-4D97-AF65-F5344CB8AC3E}">
        <p14:creationId xmlns:p14="http://schemas.microsoft.com/office/powerpoint/2010/main" val="249574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Critère 2</a:t>
            </a:r>
          </a:p>
        </p:txBody>
      </p:sp>
      <p:sp>
        <p:nvSpPr>
          <p:cNvPr id="3" name="Content Placeholder 2"/>
          <p:cNvSpPr>
            <a:spLocks noGrp="1"/>
          </p:cNvSpPr>
          <p:nvPr>
            <p:ph idx="1"/>
          </p:nvPr>
        </p:nvSpPr>
        <p:spPr/>
        <p:txBody>
          <a:bodyPr/>
          <a:lstStyle/>
          <a:p>
            <a:pPr marL="0" indent="0">
              <a:buNone/>
            </a:pPr>
            <a:r>
              <a:rPr lang="fr-FR" b="1" dirty="0"/>
              <a:t>«présentés ensemble pour la satisfaction d’un besoin spécifique ou l’exercice d’une activité déterminée»</a:t>
            </a:r>
          </a:p>
          <a:p>
            <a:r>
              <a:rPr lang="lb-LU" dirty="0"/>
              <a:t>Besoin spécifique: </a:t>
            </a:r>
          </a:p>
          <a:p>
            <a:pPr lvl="1"/>
            <a:r>
              <a:rPr lang="lb-LU" dirty="0"/>
              <a:t>interprétation relativement large</a:t>
            </a:r>
          </a:p>
          <a:p>
            <a:r>
              <a:rPr lang="lb-LU" dirty="0"/>
              <a:t>Activité déterminée: </a:t>
            </a:r>
          </a:p>
          <a:p>
            <a:pPr lvl="1"/>
            <a:r>
              <a:rPr lang="fr-FR" dirty="0"/>
              <a:t>une action réalisée à une occasion précise/spécifique et pour laquelle il est courant d’utiliser les articles de l’assortiment</a:t>
            </a:r>
            <a:endParaRPr lang="en-US" dirty="0"/>
          </a:p>
          <a:p>
            <a:endParaRPr lang="fr-FR" dirty="0"/>
          </a:p>
        </p:txBody>
      </p:sp>
    </p:spTree>
    <p:extLst>
      <p:ext uri="{BB962C8B-B14F-4D97-AF65-F5344CB8AC3E}">
        <p14:creationId xmlns:p14="http://schemas.microsoft.com/office/powerpoint/2010/main" val="61874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Critère 2</a:t>
            </a:r>
          </a:p>
        </p:txBody>
      </p:sp>
      <p:sp>
        <p:nvSpPr>
          <p:cNvPr id="3" name="Content Placeholder 2"/>
          <p:cNvSpPr>
            <a:spLocks noGrp="1"/>
          </p:cNvSpPr>
          <p:nvPr>
            <p:ph idx="1"/>
          </p:nvPr>
        </p:nvSpPr>
        <p:spPr/>
        <p:txBody>
          <a:bodyPr/>
          <a:lstStyle/>
          <a:p>
            <a:r>
              <a:rPr lang="lb-LU" dirty="0"/>
              <a:t>Faux assortiments:</a:t>
            </a:r>
          </a:p>
          <a:p>
            <a:pPr lvl="1"/>
            <a:r>
              <a:rPr lang="lb-LU" dirty="0"/>
              <a:t>Si les marchandises ne sont pas à considérer comme assortiment, CHAQUE article est à classer séparément</a:t>
            </a:r>
          </a:p>
          <a:p>
            <a:pPr lvl="1"/>
            <a:r>
              <a:rPr lang="fr-FR" dirty="0"/>
              <a:t>Il n’est pas possible de composer un assortiment à partir d’un «faux assortiment» en écartant uniquement certains articles</a:t>
            </a:r>
            <a:endParaRPr lang="en-US" dirty="0"/>
          </a:p>
          <a:p>
            <a:endParaRPr lang="fr-FR" dirty="0"/>
          </a:p>
        </p:txBody>
      </p:sp>
    </p:spTree>
    <p:extLst>
      <p:ext uri="{BB962C8B-B14F-4D97-AF65-F5344CB8AC3E}">
        <p14:creationId xmlns:p14="http://schemas.microsoft.com/office/powerpoint/2010/main" val="351792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Critère 2</a:t>
            </a:r>
          </a:p>
        </p:txBody>
      </p:sp>
      <p:sp>
        <p:nvSpPr>
          <p:cNvPr id="3" name="Content Placeholder 2"/>
          <p:cNvSpPr>
            <a:spLocks noGrp="1"/>
          </p:cNvSpPr>
          <p:nvPr>
            <p:ph idx="1"/>
          </p:nvPr>
        </p:nvSpPr>
        <p:spPr/>
        <p:txBody>
          <a:bodyPr/>
          <a:lstStyle/>
          <a:p>
            <a:r>
              <a:rPr lang="fr-FR" dirty="0"/>
              <a:t>Assortiments comprenant un article de moindre importance/insignifiant</a:t>
            </a:r>
          </a:p>
          <a:p>
            <a:r>
              <a:rPr lang="fr-FR" dirty="0"/>
              <a:t>La présence d’un tel article peut être ignorée si:</a:t>
            </a:r>
          </a:p>
          <a:p>
            <a:pPr lvl="1"/>
            <a:r>
              <a:rPr lang="fr-FR" dirty="0"/>
              <a:t>l’article n’est qu’un élément accessoire/sans importance de l’assortiment, par exemple un article surprise</a:t>
            </a:r>
          </a:p>
          <a:p>
            <a:pPr lvl="1"/>
            <a:r>
              <a:rPr lang="fr-FR" dirty="0"/>
              <a:t>il ne modifie pas le caractère essentiel de l’assortiment</a:t>
            </a:r>
          </a:p>
          <a:p>
            <a:pPr lvl="1"/>
            <a:r>
              <a:rPr lang="fr-FR" dirty="0"/>
              <a:t>la valeur de l’article est négligeable par rapport à la valeur totale des marchandises présentées dans l’assortiment</a:t>
            </a:r>
          </a:p>
          <a:p>
            <a:pPr lvl="1"/>
            <a:r>
              <a:rPr lang="fr-FR" dirty="0"/>
              <a:t>l’article en lui-même ne présente qu’une utilité pratique secondaire/insignifiante ou une utilité limitée</a:t>
            </a:r>
          </a:p>
          <a:p>
            <a:endParaRPr lang="fr-FR" dirty="0"/>
          </a:p>
        </p:txBody>
      </p:sp>
    </p:spTree>
    <p:extLst>
      <p:ext uri="{BB962C8B-B14F-4D97-AF65-F5344CB8AC3E}">
        <p14:creationId xmlns:p14="http://schemas.microsoft.com/office/powerpoint/2010/main" val="425701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Critère 3</a:t>
            </a:r>
          </a:p>
        </p:txBody>
      </p:sp>
      <p:sp>
        <p:nvSpPr>
          <p:cNvPr id="3" name="Content Placeholder 2"/>
          <p:cNvSpPr>
            <a:spLocks noGrp="1"/>
          </p:cNvSpPr>
          <p:nvPr>
            <p:ph idx="1"/>
          </p:nvPr>
        </p:nvSpPr>
        <p:spPr/>
        <p:txBody>
          <a:bodyPr/>
          <a:lstStyle/>
          <a:p>
            <a:pPr marL="0" indent="0">
              <a:buNone/>
            </a:pPr>
            <a:r>
              <a:rPr lang="fr-FR" b="1" dirty="0"/>
              <a:t>«être conditionnées de façon à pouvoir être vendues directement aux utilisateurs sans reconditionnement»</a:t>
            </a:r>
          </a:p>
          <a:p>
            <a:pPr lvl="1"/>
            <a:r>
              <a:rPr lang="fr-FR" dirty="0"/>
              <a:t>tous les articles de l’«assortiment» sont présentés en même temps et dans une même déclaration</a:t>
            </a:r>
          </a:p>
          <a:p>
            <a:pPr lvl="1"/>
            <a:r>
              <a:rPr lang="fr-FR" dirty="0"/>
              <a:t>tous les articles sont présentés dans le même emballage, par exemple un coffret de transport, un sac en plastique, une boîte, un filet ou attachés ensemble (emballés ou non) par du ruban adhésif renforcé, etc.</a:t>
            </a:r>
          </a:p>
          <a:p>
            <a:pPr lvl="1"/>
            <a:r>
              <a:rPr lang="fr-FR" dirty="0"/>
              <a:t>tous les articles sont conditionnés afin de pouvoir être vendus directement aux utilisateurs sans reconditionnement</a:t>
            </a:r>
          </a:p>
          <a:p>
            <a:endParaRPr lang="fr-FR" dirty="0"/>
          </a:p>
        </p:txBody>
      </p:sp>
    </p:spTree>
    <p:extLst>
      <p:ext uri="{BB962C8B-B14F-4D97-AF65-F5344CB8AC3E}">
        <p14:creationId xmlns:p14="http://schemas.microsoft.com/office/powerpoint/2010/main" val="312474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594D413724C84DBC52E19F2035DA73" ma:contentTypeVersion="" ma:contentTypeDescription="Crée un document." ma:contentTypeScope="" ma:versionID="6be60aed9bf2246e6faa0417455f3c0c">
  <xsd:schema xmlns:xsd="http://www.w3.org/2001/XMLSchema" xmlns:xs="http://www.w3.org/2001/XMLSchema" xmlns:p="http://schemas.microsoft.com/office/2006/metadata/properties" targetNamespace="http://schemas.microsoft.com/office/2006/metadata/properties" ma:root="true" ma:fieldsID="530ed06cadc9c5daf8dab6f76759a2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6D107ED-60F3-450E-A9A5-34008E59382F}"/>
</file>

<file path=customXml/itemProps2.xml><?xml version="1.0" encoding="utf-8"?>
<ds:datastoreItem xmlns:ds="http://schemas.openxmlformats.org/officeDocument/2006/customXml" ds:itemID="{26FC0225-5D23-49AE-A9A8-8A16E6F0F6C6}"/>
</file>

<file path=customXml/itemProps3.xml><?xml version="1.0" encoding="utf-8"?>
<ds:datastoreItem xmlns:ds="http://schemas.openxmlformats.org/officeDocument/2006/customXml" ds:itemID="{27BC65B1-0EDD-45D6-A29C-142C0967CB65}"/>
</file>

<file path=docProps/app.xml><?xml version="1.0" encoding="utf-8"?>
<Properties xmlns="http://schemas.openxmlformats.org/officeDocument/2006/extended-properties" xmlns:vt="http://schemas.openxmlformats.org/officeDocument/2006/docPropsVTypes">
  <TotalTime>0</TotalTime>
  <Words>484</Words>
  <Application>Microsoft Office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vt:lpstr>
      <vt:lpstr> </vt:lpstr>
      <vt:lpstr>Assortiments</vt:lpstr>
      <vt:lpstr>Assortiments</vt:lpstr>
      <vt:lpstr>Critère 1</vt:lpstr>
      <vt:lpstr>Critère 2</vt:lpstr>
      <vt:lpstr>Critère 2</vt:lpstr>
      <vt:lpstr>Critère 2</vt:lpstr>
      <vt:lpstr>Critère 3</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Taxe sur les boissons non alcoolisées sucrées</dc:title>
  <dc:creator>mschlink</dc:creator>
  <cp:lastModifiedBy>lthilges</cp:lastModifiedBy>
  <cp:revision>49</cp:revision>
  <cp:lastPrinted>2017-07-12T12:12:41Z</cp:lastPrinted>
  <dcterms:created xsi:type="dcterms:W3CDTF">2017-07-11T09:59:41Z</dcterms:created>
  <dcterms:modified xsi:type="dcterms:W3CDTF">2019-10-22T06:32:12Z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0x010100F8594D413724C84DBC52E19F2035DA73</vt:lpwstr>
  </property>
</Properties>
</file>