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313" r:id="rId3"/>
    <p:sldId id="311" r:id="rId4"/>
    <p:sldId id="320" r:id="rId5"/>
    <p:sldId id="323" r:id="rId6"/>
    <p:sldId id="315" r:id="rId7"/>
    <p:sldId id="314" r:id="rId8"/>
    <p:sldId id="316" r:id="rId9"/>
    <p:sldId id="321" r:id="rId10"/>
    <p:sldId id="286" r:id="rId11"/>
  </p:sldIdLst>
  <p:sldSz cx="12192000" cy="6858000"/>
  <p:notesSz cx="6797675" cy="9926638"/>
  <p:defaultText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DAB54C-C006-4778-8816-C7BE3D647D69}" type="doc">
      <dgm:prSet loTypeId="urn:microsoft.com/office/officeart/2005/8/layout/chevron1" loCatId="process" qsTypeId="urn:microsoft.com/office/officeart/2005/8/quickstyle/simple1" qsCatId="simple" csTypeId="urn:microsoft.com/office/officeart/2005/8/colors/accent1_2" csCatId="accent1" phldr="1"/>
      <dgm:spPr/>
    </dgm:pt>
    <dgm:pt modelId="{EEDA01B9-824A-4D50-8730-C21CF83970BA}">
      <dgm:prSet phldrT="[Text]"/>
      <dgm:spPr/>
      <dgm:t>
        <a:bodyPr/>
        <a:lstStyle/>
        <a:p>
          <a:r>
            <a:rPr lang="fr-FR" dirty="0" smtClean="0"/>
            <a:t>présentation</a:t>
          </a:r>
          <a:endParaRPr lang="en-US" dirty="0"/>
        </a:p>
      </dgm:t>
    </dgm:pt>
    <dgm:pt modelId="{7B589AD6-4EC2-443F-A2BF-9F290B7E0DA8}" type="parTrans" cxnId="{8AAA758E-4543-4490-BE8E-09B92E3BA088}">
      <dgm:prSet/>
      <dgm:spPr/>
      <dgm:t>
        <a:bodyPr/>
        <a:lstStyle/>
        <a:p>
          <a:endParaRPr lang="en-US"/>
        </a:p>
      </dgm:t>
    </dgm:pt>
    <dgm:pt modelId="{B1EDE0AA-FBA2-468A-906E-7827005E50FF}" type="sibTrans" cxnId="{8AAA758E-4543-4490-BE8E-09B92E3BA088}">
      <dgm:prSet/>
      <dgm:spPr/>
      <dgm:t>
        <a:bodyPr/>
        <a:lstStyle/>
        <a:p>
          <a:endParaRPr lang="en-US"/>
        </a:p>
      </dgm:t>
    </dgm:pt>
    <dgm:pt modelId="{2CDDBFD3-7EC1-4E7E-8923-EF64E70DFBFB}">
      <dgm:prSet phldrT="[Text]"/>
      <dgm:spPr/>
      <dgm:t>
        <a:bodyPr/>
        <a:lstStyle/>
        <a:p>
          <a:r>
            <a:rPr lang="fr-FR" dirty="0" smtClean="0"/>
            <a:t>(dépôt temporaire)</a:t>
          </a:r>
          <a:endParaRPr lang="en-US" dirty="0"/>
        </a:p>
      </dgm:t>
    </dgm:pt>
    <dgm:pt modelId="{2C2963E4-BFC4-481C-9BFA-2A75C698ACC7}" type="parTrans" cxnId="{D9E2186C-3B5E-49CD-8666-33136FF41AF9}">
      <dgm:prSet/>
      <dgm:spPr/>
      <dgm:t>
        <a:bodyPr/>
        <a:lstStyle/>
        <a:p>
          <a:endParaRPr lang="en-US"/>
        </a:p>
      </dgm:t>
    </dgm:pt>
    <dgm:pt modelId="{3CB4009A-AE1F-4779-B096-CD1440022A3D}" type="sibTrans" cxnId="{D9E2186C-3B5E-49CD-8666-33136FF41AF9}">
      <dgm:prSet/>
      <dgm:spPr/>
      <dgm:t>
        <a:bodyPr/>
        <a:lstStyle/>
        <a:p>
          <a:endParaRPr lang="en-US"/>
        </a:p>
      </dgm:t>
    </dgm:pt>
    <dgm:pt modelId="{BD81AE09-F469-481E-BBAD-C15E918723FC}">
      <dgm:prSet phldrT="[Text]"/>
      <dgm:spPr/>
      <dgm:t>
        <a:bodyPr/>
        <a:lstStyle/>
        <a:p>
          <a:r>
            <a:rPr lang="fr-FR" dirty="0" smtClean="0"/>
            <a:t>Déclaration pour un régime</a:t>
          </a:r>
          <a:endParaRPr lang="en-US" dirty="0"/>
        </a:p>
      </dgm:t>
    </dgm:pt>
    <dgm:pt modelId="{E6A83F9E-8FE6-495D-849B-6167CA9AA991}" type="parTrans" cxnId="{E8F08256-6E6D-4F99-B3A8-57AACFA253AB}">
      <dgm:prSet/>
      <dgm:spPr/>
      <dgm:t>
        <a:bodyPr/>
        <a:lstStyle/>
        <a:p>
          <a:endParaRPr lang="en-US"/>
        </a:p>
      </dgm:t>
    </dgm:pt>
    <dgm:pt modelId="{9101F737-E3A0-4C55-B9B3-DBBDB9776707}" type="sibTrans" cxnId="{E8F08256-6E6D-4F99-B3A8-57AACFA253AB}">
      <dgm:prSet/>
      <dgm:spPr/>
      <dgm:t>
        <a:bodyPr/>
        <a:lstStyle/>
        <a:p>
          <a:endParaRPr lang="en-US"/>
        </a:p>
      </dgm:t>
    </dgm:pt>
    <dgm:pt modelId="{FED4853B-B4EB-40A8-896F-997E8EC1F0C7}">
      <dgm:prSet phldrT="[Text]"/>
      <dgm:spPr/>
      <dgm:t>
        <a:bodyPr/>
        <a:lstStyle/>
        <a:p>
          <a:r>
            <a:rPr lang="fr-FR" dirty="0" smtClean="0"/>
            <a:t>Mainlevée pour le régime</a:t>
          </a:r>
          <a:endParaRPr lang="en-US" dirty="0"/>
        </a:p>
      </dgm:t>
    </dgm:pt>
    <dgm:pt modelId="{A1476F7A-F47A-4B5B-848B-2E51780227FF}" type="parTrans" cxnId="{1D040EB4-E8BE-42CA-8846-48E92A390932}">
      <dgm:prSet/>
      <dgm:spPr/>
      <dgm:t>
        <a:bodyPr/>
        <a:lstStyle/>
        <a:p>
          <a:endParaRPr lang="en-US"/>
        </a:p>
      </dgm:t>
    </dgm:pt>
    <dgm:pt modelId="{E496918E-1E10-4D9F-A6A3-A5D21214636D}" type="sibTrans" cxnId="{1D040EB4-E8BE-42CA-8846-48E92A390932}">
      <dgm:prSet/>
      <dgm:spPr/>
      <dgm:t>
        <a:bodyPr/>
        <a:lstStyle/>
        <a:p>
          <a:endParaRPr lang="en-US"/>
        </a:p>
      </dgm:t>
    </dgm:pt>
    <dgm:pt modelId="{F7FC0C6B-898C-42BD-B20F-080FF95DF06D}">
      <dgm:prSet phldrT="[Text]"/>
      <dgm:spPr/>
      <dgm:t>
        <a:bodyPr/>
        <a:lstStyle/>
        <a:p>
          <a:r>
            <a:rPr lang="fr-FR" dirty="0" smtClean="0"/>
            <a:t>Acceptation</a:t>
          </a:r>
          <a:endParaRPr lang="en-US" dirty="0"/>
        </a:p>
      </dgm:t>
    </dgm:pt>
    <dgm:pt modelId="{03315BBB-2EE1-47C9-9E4E-5E97DCFF1324}" type="parTrans" cxnId="{B5FB4964-41C9-4E46-B264-518F4234779F}">
      <dgm:prSet/>
      <dgm:spPr/>
      <dgm:t>
        <a:bodyPr/>
        <a:lstStyle/>
        <a:p>
          <a:endParaRPr lang="en-US"/>
        </a:p>
      </dgm:t>
    </dgm:pt>
    <dgm:pt modelId="{0817C6D9-8249-474B-9821-EB6EA7DE96E4}" type="sibTrans" cxnId="{B5FB4964-41C9-4E46-B264-518F4234779F}">
      <dgm:prSet/>
      <dgm:spPr/>
      <dgm:t>
        <a:bodyPr/>
        <a:lstStyle/>
        <a:p>
          <a:endParaRPr lang="en-US"/>
        </a:p>
      </dgm:t>
    </dgm:pt>
    <dgm:pt modelId="{900106B2-03F7-489C-9E41-B8CFDE175C49}">
      <dgm:prSet phldrT="[Text]"/>
      <dgm:spPr/>
      <dgm:t>
        <a:bodyPr/>
        <a:lstStyle/>
        <a:p>
          <a:r>
            <a:rPr lang="fr-FR" dirty="0" smtClean="0"/>
            <a:t>(contrôle douanier)</a:t>
          </a:r>
          <a:endParaRPr lang="en-US" dirty="0"/>
        </a:p>
      </dgm:t>
    </dgm:pt>
    <dgm:pt modelId="{5EACD8E3-923B-41D5-A7EE-8F0922650F87}" type="parTrans" cxnId="{BD950F51-442E-4637-A3C9-2FAD9963B3E5}">
      <dgm:prSet/>
      <dgm:spPr/>
      <dgm:t>
        <a:bodyPr/>
        <a:lstStyle/>
        <a:p>
          <a:endParaRPr lang="en-US"/>
        </a:p>
      </dgm:t>
    </dgm:pt>
    <dgm:pt modelId="{EB8303E3-56BD-4432-B235-1C600528062F}" type="sibTrans" cxnId="{BD950F51-442E-4637-A3C9-2FAD9963B3E5}">
      <dgm:prSet/>
      <dgm:spPr/>
      <dgm:t>
        <a:bodyPr/>
        <a:lstStyle/>
        <a:p>
          <a:endParaRPr lang="en-US"/>
        </a:p>
      </dgm:t>
    </dgm:pt>
    <dgm:pt modelId="{5202AE63-4B0E-4049-BCA7-5D64F2928D32}" type="pres">
      <dgm:prSet presAssocID="{5EDAB54C-C006-4778-8816-C7BE3D647D69}" presName="Name0" presStyleCnt="0">
        <dgm:presLayoutVars>
          <dgm:dir/>
          <dgm:animLvl val="lvl"/>
          <dgm:resizeHandles val="exact"/>
        </dgm:presLayoutVars>
      </dgm:prSet>
      <dgm:spPr/>
    </dgm:pt>
    <dgm:pt modelId="{FDD356FF-FF6B-4565-940C-1BF214EEFA5B}" type="pres">
      <dgm:prSet presAssocID="{EEDA01B9-824A-4D50-8730-C21CF83970BA}" presName="parTxOnly" presStyleLbl="node1" presStyleIdx="0" presStyleCnt="6">
        <dgm:presLayoutVars>
          <dgm:chMax val="0"/>
          <dgm:chPref val="0"/>
          <dgm:bulletEnabled val="1"/>
        </dgm:presLayoutVars>
      </dgm:prSet>
      <dgm:spPr/>
      <dgm:t>
        <a:bodyPr/>
        <a:lstStyle/>
        <a:p>
          <a:endParaRPr lang="en-US"/>
        </a:p>
      </dgm:t>
    </dgm:pt>
    <dgm:pt modelId="{7AB71468-4DBF-4F3D-8493-7FE3E92633EE}" type="pres">
      <dgm:prSet presAssocID="{B1EDE0AA-FBA2-468A-906E-7827005E50FF}" presName="parTxOnlySpace" presStyleCnt="0"/>
      <dgm:spPr/>
    </dgm:pt>
    <dgm:pt modelId="{D0EB61FD-D4F3-4F26-9325-F4D17B7065D6}" type="pres">
      <dgm:prSet presAssocID="{2CDDBFD3-7EC1-4E7E-8923-EF64E70DFBFB}" presName="parTxOnly" presStyleLbl="node1" presStyleIdx="1" presStyleCnt="6">
        <dgm:presLayoutVars>
          <dgm:chMax val="0"/>
          <dgm:chPref val="0"/>
          <dgm:bulletEnabled val="1"/>
        </dgm:presLayoutVars>
      </dgm:prSet>
      <dgm:spPr/>
      <dgm:t>
        <a:bodyPr/>
        <a:lstStyle/>
        <a:p>
          <a:endParaRPr lang="en-US"/>
        </a:p>
      </dgm:t>
    </dgm:pt>
    <dgm:pt modelId="{98C8BD9C-CD9F-4016-8E14-F918C3123994}" type="pres">
      <dgm:prSet presAssocID="{3CB4009A-AE1F-4779-B096-CD1440022A3D}" presName="parTxOnlySpace" presStyleCnt="0"/>
      <dgm:spPr/>
    </dgm:pt>
    <dgm:pt modelId="{BB441DDA-34EF-498A-828C-0B9377C5849C}" type="pres">
      <dgm:prSet presAssocID="{BD81AE09-F469-481E-BBAD-C15E918723FC}" presName="parTxOnly" presStyleLbl="node1" presStyleIdx="2" presStyleCnt="6" custScaleY="96570">
        <dgm:presLayoutVars>
          <dgm:chMax val="0"/>
          <dgm:chPref val="0"/>
          <dgm:bulletEnabled val="1"/>
        </dgm:presLayoutVars>
      </dgm:prSet>
      <dgm:spPr/>
      <dgm:t>
        <a:bodyPr/>
        <a:lstStyle/>
        <a:p>
          <a:endParaRPr lang="en-US"/>
        </a:p>
      </dgm:t>
    </dgm:pt>
    <dgm:pt modelId="{B5791207-F516-48F5-A121-BD0B4F34C768}" type="pres">
      <dgm:prSet presAssocID="{9101F737-E3A0-4C55-B9B3-DBBDB9776707}" presName="parTxOnlySpace" presStyleCnt="0"/>
      <dgm:spPr/>
    </dgm:pt>
    <dgm:pt modelId="{8E6F9CB2-99DE-445E-87AC-FDE89067B812}" type="pres">
      <dgm:prSet presAssocID="{F7FC0C6B-898C-42BD-B20F-080FF95DF06D}" presName="parTxOnly" presStyleLbl="node1" presStyleIdx="3" presStyleCnt="6">
        <dgm:presLayoutVars>
          <dgm:chMax val="0"/>
          <dgm:chPref val="0"/>
          <dgm:bulletEnabled val="1"/>
        </dgm:presLayoutVars>
      </dgm:prSet>
      <dgm:spPr/>
      <dgm:t>
        <a:bodyPr/>
        <a:lstStyle/>
        <a:p>
          <a:endParaRPr lang="en-US"/>
        </a:p>
      </dgm:t>
    </dgm:pt>
    <dgm:pt modelId="{698365CB-56E6-4B88-AB38-9357904F4F40}" type="pres">
      <dgm:prSet presAssocID="{0817C6D9-8249-474B-9821-EB6EA7DE96E4}" presName="parTxOnlySpace" presStyleCnt="0"/>
      <dgm:spPr/>
    </dgm:pt>
    <dgm:pt modelId="{FB3BB8F2-F34E-4C14-B7A1-26AD60FCBA62}" type="pres">
      <dgm:prSet presAssocID="{900106B2-03F7-489C-9E41-B8CFDE175C49}" presName="parTxOnly" presStyleLbl="node1" presStyleIdx="4" presStyleCnt="6">
        <dgm:presLayoutVars>
          <dgm:chMax val="0"/>
          <dgm:chPref val="0"/>
          <dgm:bulletEnabled val="1"/>
        </dgm:presLayoutVars>
      </dgm:prSet>
      <dgm:spPr/>
      <dgm:t>
        <a:bodyPr/>
        <a:lstStyle/>
        <a:p>
          <a:endParaRPr lang="en-US"/>
        </a:p>
      </dgm:t>
    </dgm:pt>
    <dgm:pt modelId="{6D6EA2AA-B2E5-48D0-B82E-89EFFD964A99}" type="pres">
      <dgm:prSet presAssocID="{EB8303E3-56BD-4432-B235-1C600528062F}" presName="parTxOnlySpace" presStyleCnt="0"/>
      <dgm:spPr/>
    </dgm:pt>
    <dgm:pt modelId="{87D09868-B0E2-4259-A7CE-53EF4F6169C2}" type="pres">
      <dgm:prSet presAssocID="{FED4853B-B4EB-40A8-896F-997E8EC1F0C7}" presName="parTxOnly" presStyleLbl="node1" presStyleIdx="5" presStyleCnt="6">
        <dgm:presLayoutVars>
          <dgm:chMax val="0"/>
          <dgm:chPref val="0"/>
          <dgm:bulletEnabled val="1"/>
        </dgm:presLayoutVars>
      </dgm:prSet>
      <dgm:spPr/>
      <dgm:t>
        <a:bodyPr/>
        <a:lstStyle/>
        <a:p>
          <a:endParaRPr lang="en-US"/>
        </a:p>
      </dgm:t>
    </dgm:pt>
  </dgm:ptLst>
  <dgm:cxnLst>
    <dgm:cxn modelId="{8AAA758E-4543-4490-BE8E-09B92E3BA088}" srcId="{5EDAB54C-C006-4778-8816-C7BE3D647D69}" destId="{EEDA01B9-824A-4D50-8730-C21CF83970BA}" srcOrd="0" destOrd="0" parTransId="{7B589AD6-4EC2-443F-A2BF-9F290B7E0DA8}" sibTransId="{B1EDE0AA-FBA2-468A-906E-7827005E50FF}"/>
    <dgm:cxn modelId="{D9E2186C-3B5E-49CD-8666-33136FF41AF9}" srcId="{5EDAB54C-C006-4778-8816-C7BE3D647D69}" destId="{2CDDBFD3-7EC1-4E7E-8923-EF64E70DFBFB}" srcOrd="1" destOrd="0" parTransId="{2C2963E4-BFC4-481C-9BFA-2A75C698ACC7}" sibTransId="{3CB4009A-AE1F-4779-B096-CD1440022A3D}"/>
    <dgm:cxn modelId="{740C0D05-D7C9-4688-9B30-03FADD880B92}" type="presOf" srcId="{F7FC0C6B-898C-42BD-B20F-080FF95DF06D}" destId="{8E6F9CB2-99DE-445E-87AC-FDE89067B812}" srcOrd="0" destOrd="0" presId="urn:microsoft.com/office/officeart/2005/8/layout/chevron1"/>
    <dgm:cxn modelId="{E8F08256-6E6D-4F99-B3A8-57AACFA253AB}" srcId="{5EDAB54C-C006-4778-8816-C7BE3D647D69}" destId="{BD81AE09-F469-481E-BBAD-C15E918723FC}" srcOrd="2" destOrd="0" parTransId="{E6A83F9E-8FE6-495D-849B-6167CA9AA991}" sibTransId="{9101F737-E3A0-4C55-B9B3-DBBDB9776707}"/>
    <dgm:cxn modelId="{C971606F-5AE1-4148-8B44-0DEAAE429EBF}" type="presOf" srcId="{5EDAB54C-C006-4778-8816-C7BE3D647D69}" destId="{5202AE63-4B0E-4049-BCA7-5D64F2928D32}" srcOrd="0" destOrd="0" presId="urn:microsoft.com/office/officeart/2005/8/layout/chevron1"/>
    <dgm:cxn modelId="{40F76DB7-13AE-4647-888A-2F1977FCC11B}" type="presOf" srcId="{EEDA01B9-824A-4D50-8730-C21CF83970BA}" destId="{FDD356FF-FF6B-4565-940C-1BF214EEFA5B}" srcOrd="0" destOrd="0" presId="urn:microsoft.com/office/officeart/2005/8/layout/chevron1"/>
    <dgm:cxn modelId="{EAF69CBC-225E-4E7A-8172-0262368FE5C1}" type="presOf" srcId="{2CDDBFD3-7EC1-4E7E-8923-EF64E70DFBFB}" destId="{D0EB61FD-D4F3-4F26-9325-F4D17B7065D6}" srcOrd="0" destOrd="0" presId="urn:microsoft.com/office/officeart/2005/8/layout/chevron1"/>
    <dgm:cxn modelId="{1D040EB4-E8BE-42CA-8846-48E92A390932}" srcId="{5EDAB54C-C006-4778-8816-C7BE3D647D69}" destId="{FED4853B-B4EB-40A8-896F-997E8EC1F0C7}" srcOrd="5" destOrd="0" parTransId="{A1476F7A-F47A-4B5B-848B-2E51780227FF}" sibTransId="{E496918E-1E10-4D9F-A6A3-A5D21214636D}"/>
    <dgm:cxn modelId="{7F4BB71E-8A29-435C-8470-AD2673DF186F}" type="presOf" srcId="{FED4853B-B4EB-40A8-896F-997E8EC1F0C7}" destId="{87D09868-B0E2-4259-A7CE-53EF4F6169C2}" srcOrd="0" destOrd="0" presId="urn:microsoft.com/office/officeart/2005/8/layout/chevron1"/>
    <dgm:cxn modelId="{B5FB4964-41C9-4E46-B264-518F4234779F}" srcId="{5EDAB54C-C006-4778-8816-C7BE3D647D69}" destId="{F7FC0C6B-898C-42BD-B20F-080FF95DF06D}" srcOrd="3" destOrd="0" parTransId="{03315BBB-2EE1-47C9-9E4E-5E97DCFF1324}" sibTransId="{0817C6D9-8249-474B-9821-EB6EA7DE96E4}"/>
    <dgm:cxn modelId="{953B6BD1-1670-4F7E-90AF-B0362E83FFB2}" type="presOf" srcId="{900106B2-03F7-489C-9E41-B8CFDE175C49}" destId="{FB3BB8F2-F34E-4C14-B7A1-26AD60FCBA62}" srcOrd="0" destOrd="0" presId="urn:microsoft.com/office/officeart/2005/8/layout/chevron1"/>
    <dgm:cxn modelId="{32EB6278-2AAD-40AD-9F73-7816825F8206}" type="presOf" srcId="{BD81AE09-F469-481E-BBAD-C15E918723FC}" destId="{BB441DDA-34EF-498A-828C-0B9377C5849C}" srcOrd="0" destOrd="0" presId="urn:microsoft.com/office/officeart/2005/8/layout/chevron1"/>
    <dgm:cxn modelId="{BD950F51-442E-4637-A3C9-2FAD9963B3E5}" srcId="{5EDAB54C-C006-4778-8816-C7BE3D647D69}" destId="{900106B2-03F7-489C-9E41-B8CFDE175C49}" srcOrd="4" destOrd="0" parTransId="{5EACD8E3-923B-41D5-A7EE-8F0922650F87}" sibTransId="{EB8303E3-56BD-4432-B235-1C600528062F}"/>
    <dgm:cxn modelId="{515699A3-A002-4504-9DD0-BD5C321FA669}" type="presParOf" srcId="{5202AE63-4B0E-4049-BCA7-5D64F2928D32}" destId="{FDD356FF-FF6B-4565-940C-1BF214EEFA5B}" srcOrd="0" destOrd="0" presId="urn:microsoft.com/office/officeart/2005/8/layout/chevron1"/>
    <dgm:cxn modelId="{D4486BAC-7F6C-404D-A596-2F891E7F4E4B}" type="presParOf" srcId="{5202AE63-4B0E-4049-BCA7-5D64F2928D32}" destId="{7AB71468-4DBF-4F3D-8493-7FE3E92633EE}" srcOrd="1" destOrd="0" presId="urn:microsoft.com/office/officeart/2005/8/layout/chevron1"/>
    <dgm:cxn modelId="{D60675F7-20A6-4937-BC8D-90AE4AEAB213}" type="presParOf" srcId="{5202AE63-4B0E-4049-BCA7-5D64F2928D32}" destId="{D0EB61FD-D4F3-4F26-9325-F4D17B7065D6}" srcOrd="2" destOrd="0" presId="urn:microsoft.com/office/officeart/2005/8/layout/chevron1"/>
    <dgm:cxn modelId="{C49B1EC2-5EDA-48F6-8655-6CB9A5990536}" type="presParOf" srcId="{5202AE63-4B0E-4049-BCA7-5D64F2928D32}" destId="{98C8BD9C-CD9F-4016-8E14-F918C3123994}" srcOrd="3" destOrd="0" presId="urn:microsoft.com/office/officeart/2005/8/layout/chevron1"/>
    <dgm:cxn modelId="{B623BF70-64EF-4D3A-9F32-31BBD047900E}" type="presParOf" srcId="{5202AE63-4B0E-4049-BCA7-5D64F2928D32}" destId="{BB441DDA-34EF-498A-828C-0B9377C5849C}" srcOrd="4" destOrd="0" presId="urn:microsoft.com/office/officeart/2005/8/layout/chevron1"/>
    <dgm:cxn modelId="{BB695F4A-653A-4D62-9BD9-AAD0BBA858D3}" type="presParOf" srcId="{5202AE63-4B0E-4049-BCA7-5D64F2928D32}" destId="{B5791207-F516-48F5-A121-BD0B4F34C768}" srcOrd="5" destOrd="0" presId="urn:microsoft.com/office/officeart/2005/8/layout/chevron1"/>
    <dgm:cxn modelId="{2CAA4431-7138-4479-9F14-BBABB1D39BBB}" type="presParOf" srcId="{5202AE63-4B0E-4049-BCA7-5D64F2928D32}" destId="{8E6F9CB2-99DE-445E-87AC-FDE89067B812}" srcOrd="6" destOrd="0" presId="urn:microsoft.com/office/officeart/2005/8/layout/chevron1"/>
    <dgm:cxn modelId="{D8CB0960-0E95-4252-800D-4091CB196556}" type="presParOf" srcId="{5202AE63-4B0E-4049-BCA7-5D64F2928D32}" destId="{698365CB-56E6-4B88-AB38-9357904F4F40}" srcOrd="7" destOrd="0" presId="urn:microsoft.com/office/officeart/2005/8/layout/chevron1"/>
    <dgm:cxn modelId="{81FBD618-090F-4AA7-81EF-07FD5EF43787}" type="presParOf" srcId="{5202AE63-4B0E-4049-BCA7-5D64F2928D32}" destId="{FB3BB8F2-F34E-4C14-B7A1-26AD60FCBA62}" srcOrd="8" destOrd="0" presId="urn:microsoft.com/office/officeart/2005/8/layout/chevron1"/>
    <dgm:cxn modelId="{387B3CC3-9847-4DB5-A6FA-5710778ACE5C}" type="presParOf" srcId="{5202AE63-4B0E-4049-BCA7-5D64F2928D32}" destId="{6D6EA2AA-B2E5-48D0-B82E-89EFFD964A99}" srcOrd="9" destOrd="0" presId="urn:microsoft.com/office/officeart/2005/8/layout/chevron1"/>
    <dgm:cxn modelId="{23A6F4A9-3628-4C90-B6A0-D4685B8888F5}" type="presParOf" srcId="{5202AE63-4B0E-4049-BCA7-5D64F2928D32}" destId="{87D09868-B0E2-4259-A7CE-53EF4F6169C2}" srcOrd="10"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D356FF-FF6B-4565-940C-1BF214EEFA5B}">
      <dsp:nvSpPr>
        <dsp:cNvPr id="0" name=""/>
        <dsp:cNvSpPr/>
      </dsp:nvSpPr>
      <dsp:spPr>
        <a:xfrm>
          <a:off x="4874" y="2656605"/>
          <a:ext cx="1813424" cy="725369"/>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lvl="0" algn="ctr" defTabSz="666750">
            <a:lnSpc>
              <a:spcPct val="90000"/>
            </a:lnSpc>
            <a:spcBef>
              <a:spcPct val="0"/>
            </a:spcBef>
            <a:spcAft>
              <a:spcPct val="35000"/>
            </a:spcAft>
          </a:pPr>
          <a:r>
            <a:rPr lang="fr-FR" sz="1500" kern="1200" dirty="0" smtClean="0"/>
            <a:t>présentation</a:t>
          </a:r>
          <a:endParaRPr lang="en-US" sz="1500" kern="1200" dirty="0"/>
        </a:p>
      </dsp:txBody>
      <dsp:txXfrm>
        <a:off x="367559" y="2656605"/>
        <a:ext cx="1088055" cy="725369"/>
      </dsp:txXfrm>
    </dsp:sp>
    <dsp:sp modelId="{D0EB61FD-D4F3-4F26-9325-F4D17B7065D6}">
      <dsp:nvSpPr>
        <dsp:cNvPr id="0" name=""/>
        <dsp:cNvSpPr/>
      </dsp:nvSpPr>
      <dsp:spPr>
        <a:xfrm>
          <a:off x="1636956" y="2656605"/>
          <a:ext cx="1813424" cy="725369"/>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lvl="0" algn="ctr" defTabSz="666750">
            <a:lnSpc>
              <a:spcPct val="90000"/>
            </a:lnSpc>
            <a:spcBef>
              <a:spcPct val="0"/>
            </a:spcBef>
            <a:spcAft>
              <a:spcPct val="35000"/>
            </a:spcAft>
          </a:pPr>
          <a:r>
            <a:rPr lang="fr-FR" sz="1500" kern="1200" dirty="0" smtClean="0"/>
            <a:t>(dépôt temporaire)</a:t>
          </a:r>
          <a:endParaRPr lang="en-US" sz="1500" kern="1200" dirty="0"/>
        </a:p>
      </dsp:txBody>
      <dsp:txXfrm>
        <a:off x="1999641" y="2656605"/>
        <a:ext cx="1088055" cy="725369"/>
      </dsp:txXfrm>
    </dsp:sp>
    <dsp:sp modelId="{BB441DDA-34EF-498A-828C-0B9377C5849C}">
      <dsp:nvSpPr>
        <dsp:cNvPr id="0" name=""/>
        <dsp:cNvSpPr/>
      </dsp:nvSpPr>
      <dsp:spPr>
        <a:xfrm>
          <a:off x="3269039" y="2669045"/>
          <a:ext cx="1813424" cy="700489"/>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lvl="0" algn="ctr" defTabSz="666750">
            <a:lnSpc>
              <a:spcPct val="90000"/>
            </a:lnSpc>
            <a:spcBef>
              <a:spcPct val="0"/>
            </a:spcBef>
            <a:spcAft>
              <a:spcPct val="35000"/>
            </a:spcAft>
          </a:pPr>
          <a:r>
            <a:rPr lang="fr-FR" sz="1500" kern="1200" dirty="0" smtClean="0"/>
            <a:t>Déclaration pour un régime</a:t>
          </a:r>
          <a:endParaRPr lang="en-US" sz="1500" kern="1200" dirty="0"/>
        </a:p>
      </dsp:txBody>
      <dsp:txXfrm>
        <a:off x="3619284" y="2669045"/>
        <a:ext cx="1112935" cy="700489"/>
      </dsp:txXfrm>
    </dsp:sp>
    <dsp:sp modelId="{8E6F9CB2-99DE-445E-87AC-FDE89067B812}">
      <dsp:nvSpPr>
        <dsp:cNvPr id="0" name=""/>
        <dsp:cNvSpPr/>
      </dsp:nvSpPr>
      <dsp:spPr>
        <a:xfrm>
          <a:off x="4901121" y="2656605"/>
          <a:ext cx="1813424" cy="725369"/>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lvl="0" algn="ctr" defTabSz="666750">
            <a:lnSpc>
              <a:spcPct val="90000"/>
            </a:lnSpc>
            <a:spcBef>
              <a:spcPct val="0"/>
            </a:spcBef>
            <a:spcAft>
              <a:spcPct val="35000"/>
            </a:spcAft>
          </a:pPr>
          <a:r>
            <a:rPr lang="fr-FR" sz="1500" kern="1200" dirty="0" smtClean="0"/>
            <a:t>Acceptation</a:t>
          </a:r>
          <a:endParaRPr lang="en-US" sz="1500" kern="1200" dirty="0"/>
        </a:p>
      </dsp:txBody>
      <dsp:txXfrm>
        <a:off x="5263806" y="2656605"/>
        <a:ext cx="1088055" cy="725369"/>
      </dsp:txXfrm>
    </dsp:sp>
    <dsp:sp modelId="{FB3BB8F2-F34E-4C14-B7A1-26AD60FCBA62}">
      <dsp:nvSpPr>
        <dsp:cNvPr id="0" name=""/>
        <dsp:cNvSpPr/>
      </dsp:nvSpPr>
      <dsp:spPr>
        <a:xfrm>
          <a:off x="6533203" y="2656605"/>
          <a:ext cx="1813424" cy="725369"/>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lvl="0" algn="ctr" defTabSz="666750">
            <a:lnSpc>
              <a:spcPct val="90000"/>
            </a:lnSpc>
            <a:spcBef>
              <a:spcPct val="0"/>
            </a:spcBef>
            <a:spcAft>
              <a:spcPct val="35000"/>
            </a:spcAft>
          </a:pPr>
          <a:r>
            <a:rPr lang="fr-FR" sz="1500" kern="1200" dirty="0" smtClean="0"/>
            <a:t>(contrôle douanier)</a:t>
          </a:r>
          <a:endParaRPr lang="en-US" sz="1500" kern="1200" dirty="0"/>
        </a:p>
      </dsp:txBody>
      <dsp:txXfrm>
        <a:off x="6895888" y="2656605"/>
        <a:ext cx="1088055" cy="725369"/>
      </dsp:txXfrm>
    </dsp:sp>
    <dsp:sp modelId="{87D09868-B0E2-4259-A7CE-53EF4F6169C2}">
      <dsp:nvSpPr>
        <dsp:cNvPr id="0" name=""/>
        <dsp:cNvSpPr/>
      </dsp:nvSpPr>
      <dsp:spPr>
        <a:xfrm>
          <a:off x="8165285" y="2656605"/>
          <a:ext cx="1813424" cy="725369"/>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8" tIns="20003" rIns="20003" bIns="20003" numCol="1" spcCol="1270" anchor="ctr" anchorCtr="0">
          <a:noAutofit/>
        </a:bodyPr>
        <a:lstStyle/>
        <a:p>
          <a:pPr lvl="0" algn="ctr" defTabSz="666750">
            <a:lnSpc>
              <a:spcPct val="90000"/>
            </a:lnSpc>
            <a:spcBef>
              <a:spcPct val="0"/>
            </a:spcBef>
            <a:spcAft>
              <a:spcPct val="35000"/>
            </a:spcAft>
          </a:pPr>
          <a:r>
            <a:rPr lang="fr-FR" sz="1500" kern="1200" dirty="0" smtClean="0"/>
            <a:t>Mainlevée pour le régime</a:t>
          </a:r>
          <a:endParaRPr lang="en-US" sz="1500" kern="1200" dirty="0"/>
        </a:p>
      </dsp:txBody>
      <dsp:txXfrm>
        <a:off x="8527970" y="2656605"/>
        <a:ext cx="1088055" cy="725369"/>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lb-LU"/>
          </a:p>
        </p:txBody>
      </p:sp>
      <p:sp>
        <p:nvSpPr>
          <p:cNvPr id="3" name="Espace réservé de la date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81F1B515-D64E-4A6D-86DE-D44065EC59AD}" type="datetimeFigureOut">
              <a:rPr lang="lb-LU" smtClean="0"/>
              <a:t>04.10.24</a:t>
            </a:fld>
            <a:endParaRPr lang="lb-LU"/>
          </a:p>
        </p:txBody>
      </p:sp>
      <p:sp>
        <p:nvSpPr>
          <p:cNvPr id="4" name="Espace réservé de l'image des diapositives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lb-LU"/>
          </a:p>
        </p:txBody>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6" name="Espace réservé du pied de page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lb-LU"/>
          </a:p>
        </p:txBody>
      </p:sp>
      <p:sp>
        <p:nvSpPr>
          <p:cNvPr id="7" name="Espace réservé du numéro de diapositive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BA5962E4-1040-4138-BC49-5558BF59E7C5}" type="slidenum">
              <a:rPr lang="lb-LU" smtClean="0"/>
              <a:t>‹#›</a:t>
            </a:fld>
            <a:endParaRPr lang="lb-LU"/>
          </a:p>
        </p:txBody>
      </p:sp>
    </p:spTree>
    <p:extLst>
      <p:ext uri="{BB962C8B-B14F-4D97-AF65-F5344CB8AC3E}">
        <p14:creationId xmlns:p14="http://schemas.microsoft.com/office/powerpoint/2010/main" val="902354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lb-LU"/>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1955355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05E49347-3AF1-433D-A682-80E91A771D46}"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50758819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lb-LU"/>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72073C46-185D-4256-90CD-D943250C7625}"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04876373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3E70FD8A-EB44-4576-A5EB-59CF14C2E478}" type="datetime1">
              <a:rPr lang="lb-LU" smtClean="0"/>
              <a:t>04.10.24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678963005"/>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lb-LU"/>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7" name="Espace réservé de la date 6"/>
          <p:cNvSpPr>
            <a:spLocks noGrp="1"/>
          </p:cNvSpPr>
          <p:nvPr>
            <p:ph type="dt" sz="half" idx="10"/>
          </p:nvPr>
        </p:nvSpPr>
        <p:spPr>
          <a:xfrm>
            <a:off x="838200" y="6356350"/>
            <a:ext cx="2743200" cy="365125"/>
          </a:xfrm>
          <a:prstGeom prst="rect">
            <a:avLst/>
          </a:prstGeom>
        </p:spPr>
        <p:txBody>
          <a:bodyPr/>
          <a:lstStyle/>
          <a:p>
            <a:fld id="{B9B4AD55-9D76-419E-82AD-D8F8B1803E1E}" type="datetime1">
              <a:rPr lang="lb-LU" smtClean="0"/>
              <a:t>04.10.24</a:t>
            </a:fld>
            <a:endParaRPr lang="lb-LU"/>
          </a:p>
        </p:txBody>
      </p:sp>
      <p:sp>
        <p:nvSpPr>
          <p:cNvPr id="8" name="Espace réservé du pied de page 7"/>
          <p:cNvSpPr>
            <a:spLocks noGrp="1"/>
          </p:cNvSpPr>
          <p:nvPr>
            <p:ph type="ftr" sz="quarter" idx="11"/>
          </p:nvPr>
        </p:nvSpPr>
        <p:spPr>
          <a:xfrm>
            <a:off x="4038600" y="6356350"/>
            <a:ext cx="4114800" cy="365125"/>
          </a:xfrm>
          <a:prstGeom prst="rect">
            <a:avLst/>
          </a:prstGeom>
        </p:spPr>
        <p:txBody>
          <a:bodyPr/>
          <a:lstStyle/>
          <a:p>
            <a:endParaRPr lang="lb-LU"/>
          </a:p>
        </p:txBody>
      </p:sp>
      <p:sp>
        <p:nvSpPr>
          <p:cNvPr id="9" name="Espace réservé du numéro de diapositive 8"/>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327699419"/>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e la date 2"/>
          <p:cNvSpPr>
            <a:spLocks noGrp="1"/>
          </p:cNvSpPr>
          <p:nvPr>
            <p:ph type="dt" sz="half" idx="10"/>
          </p:nvPr>
        </p:nvSpPr>
        <p:spPr>
          <a:xfrm>
            <a:off x="838200" y="6356350"/>
            <a:ext cx="2743200" cy="365125"/>
          </a:xfrm>
          <a:prstGeom prst="rect">
            <a:avLst/>
          </a:prstGeom>
        </p:spPr>
        <p:txBody>
          <a:bodyPr/>
          <a:lstStyle/>
          <a:p>
            <a:fld id="{353E7AE7-6380-4DBB-8393-DA4B838F9DF2}" type="datetime1">
              <a:rPr lang="lb-LU" smtClean="0"/>
              <a:t>04.10.24</a:t>
            </a:fld>
            <a:endParaRPr lang="lb-LU"/>
          </a:p>
        </p:txBody>
      </p:sp>
      <p:sp>
        <p:nvSpPr>
          <p:cNvPr id="4" name="Espace réservé du pied de page 3"/>
          <p:cNvSpPr>
            <a:spLocks noGrp="1"/>
          </p:cNvSpPr>
          <p:nvPr>
            <p:ph type="ftr" sz="quarter" idx="11"/>
          </p:nvPr>
        </p:nvSpPr>
        <p:spPr>
          <a:xfrm>
            <a:off x="4038600" y="6356350"/>
            <a:ext cx="4114800" cy="365125"/>
          </a:xfrm>
          <a:prstGeom prst="rect">
            <a:avLst/>
          </a:prstGeom>
        </p:spPr>
        <p:txBody>
          <a:bodyPr/>
          <a:lstStyle/>
          <a:p>
            <a:endParaRPr lang="lb-LU"/>
          </a:p>
        </p:txBody>
      </p:sp>
      <p:sp>
        <p:nvSpPr>
          <p:cNvPr id="5" name="Espace réservé du numéro de diapositive 4"/>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99934537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838200" y="6356350"/>
            <a:ext cx="2743200" cy="365125"/>
          </a:xfrm>
          <a:prstGeom prst="rect">
            <a:avLst/>
          </a:prstGeom>
        </p:spPr>
        <p:txBody>
          <a:bodyPr/>
          <a:lstStyle/>
          <a:p>
            <a:fld id="{8C3A6886-80EF-4C3D-B97B-EB4BA09BA0D9}" type="datetime1">
              <a:rPr lang="lb-LU" smtClean="0"/>
              <a:t>04.10.24</a:t>
            </a:fld>
            <a:endParaRPr lang="lb-LU"/>
          </a:p>
        </p:txBody>
      </p:sp>
      <p:sp>
        <p:nvSpPr>
          <p:cNvPr id="3" name="Espace réservé du pied de page 2"/>
          <p:cNvSpPr>
            <a:spLocks noGrp="1"/>
          </p:cNvSpPr>
          <p:nvPr>
            <p:ph type="ftr" sz="quarter" idx="11"/>
          </p:nvPr>
        </p:nvSpPr>
        <p:spPr>
          <a:xfrm>
            <a:off x="4038600" y="6356350"/>
            <a:ext cx="4114800" cy="365125"/>
          </a:xfrm>
          <a:prstGeom prst="rect">
            <a:avLst/>
          </a:prstGeom>
        </p:spPr>
        <p:txBody>
          <a:bodyPr/>
          <a:lstStyle/>
          <a:p>
            <a:endParaRPr lang="lb-LU"/>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3614428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lb-LU"/>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6B07343E-EECC-477D-ADB1-BE348E75B209}" type="datetime1">
              <a:rPr lang="lb-LU" smtClean="0"/>
              <a:t>04.10.24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564585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lb-LU"/>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FF41995F-23F3-4ACB-B0E6-81B3B11AF4D1}" type="datetime1">
              <a:rPr lang="lb-LU" smtClean="0"/>
              <a:t>04.10.24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965934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lb-LU"/>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D9AF1255-0305-47BF-B8FF-F11D3278E29F}"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66557692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lb-LU"/>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BAA19295-06D0-4606-8969-0296AE3C0540}" type="datetime1">
              <a:rPr lang="lb-LU" smtClean="0"/>
              <a:t>04.10.24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95661645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Image 10"/>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29625" y="1294065"/>
            <a:ext cx="3744806" cy="5563935"/>
          </a:xfrm>
          <a:prstGeom prst="rect">
            <a:avLst/>
          </a:prstGeom>
        </p:spPr>
      </p:pic>
      <p:sp>
        <p:nvSpPr>
          <p:cNvPr id="2" name="Espace réservé du titre 1"/>
          <p:cNvSpPr>
            <a:spLocks noGrp="1"/>
          </p:cNvSpPr>
          <p:nvPr>
            <p:ph type="title"/>
          </p:nvPr>
        </p:nvSpPr>
        <p:spPr>
          <a:xfrm>
            <a:off x="838200" y="1060450"/>
            <a:ext cx="10515600" cy="662187"/>
          </a:xfrm>
          <a:prstGeom prst="rect">
            <a:avLst/>
          </a:prstGeom>
        </p:spPr>
        <p:txBody>
          <a:bodyPr vert="horz" lIns="91440" tIns="45720" rIns="91440" bIns="45720" rtlCol="0" anchor="ctr">
            <a:normAutofit/>
          </a:bodyPr>
          <a:lstStyle/>
          <a:p>
            <a:r>
              <a:rPr lang="fr-FR" smtClean="0"/>
              <a:t>Modifiez le style du titre</a:t>
            </a:r>
            <a:endParaRPr lang="lb-LU"/>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smtClean="0"/>
              <a:t>Modifier les styles du texte du masque</a:t>
            </a:r>
          </a:p>
          <a:p>
            <a:pPr lvl="1"/>
            <a:r>
              <a:rPr lang="fr-FR" dirty="0" smtClean="0"/>
              <a:t>Deuxième niveau</a:t>
            </a:r>
          </a:p>
          <a:p>
            <a:pPr lvl="2"/>
            <a:r>
              <a:rPr lang="fr-FR" dirty="0" smtClean="0"/>
              <a:t>Troisième niveau</a:t>
            </a:r>
          </a:p>
          <a:p>
            <a:pPr lvl="3"/>
            <a:r>
              <a:rPr lang="fr-FR" dirty="0" smtClean="0"/>
              <a:t>Quatrième niveau</a:t>
            </a:r>
          </a:p>
          <a:p>
            <a:pPr lvl="4"/>
            <a:r>
              <a:rPr lang="fr-FR" dirty="0" smtClean="0"/>
              <a:t>Cinquième niveau</a:t>
            </a:r>
            <a:endParaRPr lang="lb-LU" dirty="0"/>
          </a:p>
        </p:txBody>
      </p:sp>
      <p:pic>
        <p:nvPicPr>
          <p:cNvPr id="7"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5976851"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0"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5331229" y="102988"/>
            <a:ext cx="3347258" cy="815640"/>
          </a:xfrm>
          <a:prstGeom prst="rect">
            <a:avLst/>
          </a:prstGeom>
        </p:spPr>
      </p:pic>
      <p:sp>
        <p:nvSpPr>
          <p:cNvPr id="6" name="Espace réservé du numéro de diapositive 5"/>
          <p:cNvSpPr>
            <a:spLocks noGrp="1"/>
          </p:cNvSpPr>
          <p:nvPr>
            <p:ph type="sldNum" sz="quarter" idx="4"/>
          </p:nvPr>
        </p:nvSpPr>
        <p:spPr>
          <a:xfrm>
            <a:off x="9324108" y="328245"/>
            <a:ext cx="2743200" cy="365125"/>
          </a:xfrm>
          <a:prstGeom prst="rect">
            <a:avLst/>
          </a:prstGeom>
        </p:spPr>
        <p:txBody>
          <a:bodyPr vert="horz" lIns="91440" tIns="45720" rIns="91440" bIns="45720" rtlCol="0" anchor="ctr"/>
          <a:lstStyle>
            <a:lvl1pPr algn="r">
              <a:defRPr sz="1400">
                <a:solidFill>
                  <a:schemeClr val="bg1"/>
                </a:solidFill>
              </a:defRPr>
            </a:lvl1pPr>
          </a:lstStyle>
          <a:p>
            <a:fld id="{C58F520E-0D3C-4C73-96DF-B271C0F692B0}" type="slidenum">
              <a:rPr lang="lb-LU" smtClean="0"/>
              <a:pPr/>
              <a:t>‹#›</a:t>
            </a:fld>
            <a:endParaRPr lang="lb-LU" dirty="0"/>
          </a:p>
        </p:txBody>
      </p:sp>
      <p:pic>
        <p:nvPicPr>
          <p:cNvPr id="10" name="Image 9"/>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0" y="2442"/>
            <a:ext cx="1389210" cy="1019174"/>
          </a:xfrm>
          <a:prstGeom prst="rect">
            <a:avLst/>
          </a:prstGeom>
        </p:spPr>
      </p:pic>
    </p:spTree>
    <p:extLst>
      <p:ext uri="{BB962C8B-B14F-4D97-AF65-F5344CB8AC3E}">
        <p14:creationId xmlns:p14="http://schemas.microsoft.com/office/powerpoint/2010/main" val="3962272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lb-LU" dirty="0"/>
          </a:p>
        </p:txBody>
      </p:sp>
      <p:sp>
        <p:nvSpPr>
          <p:cNvPr id="3" name="Espace réservé du contenu 2"/>
          <p:cNvSpPr>
            <a:spLocks noGrp="1"/>
          </p:cNvSpPr>
          <p:nvPr>
            <p:ph idx="1"/>
          </p:nvPr>
        </p:nvSpPr>
        <p:spPr/>
        <p:txBody>
          <a:bodyPr/>
          <a:lstStyle/>
          <a:p>
            <a:pPr marL="0" indent="0">
              <a:buNone/>
            </a:pPr>
            <a:endParaRPr lang="lb-LU" dirty="0" smtClean="0"/>
          </a:p>
          <a:p>
            <a:pPr marL="0" indent="0">
              <a:buNone/>
            </a:pPr>
            <a:endParaRPr lang="lb-LU" dirty="0"/>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1</a:t>
            </a:fld>
            <a:endParaRPr lang="lb-LU" dirty="0"/>
          </a:p>
        </p:txBody>
      </p:sp>
      <p:sp>
        <p:nvSpPr>
          <p:cNvPr id="6" name="Titre 1"/>
          <p:cNvSpPr txBox="1">
            <a:spLocks/>
          </p:cNvSpPr>
          <p:nvPr/>
        </p:nvSpPr>
        <p:spPr>
          <a:xfrm>
            <a:off x="918402" y="2867891"/>
            <a:ext cx="10355195" cy="1454728"/>
          </a:xfrm>
          <a:prstGeom prst="rect">
            <a:avLst/>
          </a:prstGeom>
          <a:solidFill>
            <a:schemeClr val="accent5"/>
          </a:solidFill>
          <a:effectLst>
            <a:innerShdw blurRad="63500" dist="50800" dir="13500000">
              <a:prstClr val="black">
                <a:alpha val="50000"/>
              </a:prstClr>
            </a:innerShdw>
            <a:reflection blurRad="6350" stA="50000" endA="300" endPos="55000" dir="5400000" sy="-100000" algn="bl" rotWithShape="0"/>
          </a:effectLst>
          <a:scene3d>
            <a:camera prst="perspectiveContrastingRightFacing"/>
            <a:lightRig rig="threePt" dir="t"/>
          </a:scene3d>
        </p:spPr>
        <p:style>
          <a:lnRef idx="3">
            <a:schemeClr val="lt1"/>
          </a:lnRef>
          <a:fillRef idx="1">
            <a:schemeClr val="accent4"/>
          </a:fillRef>
          <a:effectRef idx="1">
            <a:schemeClr val="accent4"/>
          </a:effectRef>
          <a:fontRef idx="minor">
            <a:schemeClr val="lt1"/>
          </a:fontRef>
        </p:style>
        <p:txBody>
          <a:bodyPr vert="horz" lIns="91440" tIns="45720" rIns="91440" bIns="45720" rtlCol="0" anchor="ctr">
            <a:normAutofit fontScale="97500"/>
          </a:bodyPr>
          <a:lstStyle>
            <a:lvl1pPr algn="l" defTabSz="914400" rtl="0" eaLnBrk="1" latinLnBrk="0" hangingPunct="1">
              <a:lnSpc>
                <a:spcPct val="90000"/>
              </a:lnSpc>
              <a:spcBef>
                <a:spcPct val="0"/>
              </a:spcBef>
              <a:buNone/>
              <a:defRPr sz="3200" b="1"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a:r>
              <a:rPr lang="lb-LU" sz="4100" dirty="0" smtClean="0"/>
              <a:t>Mainlevée</a:t>
            </a:r>
            <a:endParaRPr lang="fr-LU" sz="4100" dirty="0"/>
          </a:p>
        </p:txBody>
      </p:sp>
    </p:spTree>
    <p:extLst>
      <p:ext uri="{BB962C8B-B14F-4D97-AF65-F5344CB8AC3E}">
        <p14:creationId xmlns:p14="http://schemas.microsoft.com/office/powerpoint/2010/main" val="40978680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smtClean="0"/>
              <a:t>Processus de placement d’une marchandise sous un régime douanier:</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2</a:t>
            </a:fld>
            <a:endParaRPr lang="lb-LU"/>
          </a:p>
        </p:txBody>
      </p:sp>
      <p:graphicFrame>
        <p:nvGraphicFramePr>
          <p:cNvPr id="15" name="Diagram 14"/>
          <p:cNvGraphicFramePr/>
          <p:nvPr>
            <p:extLst>
              <p:ext uri="{D42A27DB-BD31-4B8C-83A1-F6EECF244321}">
                <p14:modId xmlns:p14="http://schemas.microsoft.com/office/powerpoint/2010/main" val="3838663096"/>
              </p:ext>
            </p:extLst>
          </p:nvPr>
        </p:nvGraphicFramePr>
        <p:xfrm>
          <a:off x="897775" y="719665"/>
          <a:ext cx="9983585" cy="60385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Content Placeholder 2"/>
          <p:cNvSpPr>
            <a:spLocks noGrp="1"/>
          </p:cNvSpPr>
          <p:nvPr>
            <p:ph idx="1"/>
          </p:nvPr>
        </p:nvSpPr>
        <p:spPr>
          <a:xfrm>
            <a:off x="776377" y="1825625"/>
            <a:ext cx="10577423" cy="4351338"/>
          </a:xfrm>
        </p:spPr>
        <p:txBody>
          <a:bodyPr/>
          <a:lstStyle/>
          <a:p>
            <a:endParaRPr lang="en-US" dirty="0"/>
          </a:p>
        </p:txBody>
      </p:sp>
    </p:spTree>
    <p:extLst>
      <p:ext uri="{BB962C8B-B14F-4D97-AF65-F5344CB8AC3E}">
        <p14:creationId xmlns:p14="http://schemas.microsoft.com/office/powerpoint/2010/main" val="3820567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graphicEl>
                                              <a:dgm id="{FDD356FF-FF6B-4565-940C-1BF214EEFA5B}"/>
                                            </p:graphicEl>
                                          </p:spTgt>
                                        </p:tgtEl>
                                        <p:attrNameLst>
                                          <p:attrName>style.visibility</p:attrName>
                                        </p:attrNameLst>
                                      </p:cBhvr>
                                      <p:to>
                                        <p:strVal val="visible"/>
                                      </p:to>
                                    </p:set>
                                    <p:animEffect transition="in" filter="barn(inVertical)">
                                      <p:cBhvr>
                                        <p:cTn id="7" dur="500"/>
                                        <p:tgtEl>
                                          <p:spTgt spid="15">
                                            <p:graphicEl>
                                              <a:dgm id="{FDD356FF-FF6B-4565-940C-1BF214EEFA5B}"/>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5">
                                            <p:graphicEl>
                                              <a:dgm id="{D0EB61FD-D4F3-4F26-9325-F4D17B7065D6}"/>
                                            </p:graphicEl>
                                          </p:spTgt>
                                        </p:tgtEl>
                                        <p:attrNameLst>
                                          <p:attrName>style.visibility</p:attrName>
                                        </p:attrNameLst>
                                      </p:cBhvr>
                                      <p:to>
                                        <p:strVal val="visible"/>
                                      </p:to>
                                    </p:set>
                                    <p:animEffect transition="in" filter="barn(inVertical)">
                                      <p:cBhvr>
                                        <p:cTn id="12" dur="500"/>
                                        <p:tgtEl>
                                          <p:spTgt spid="15">
                                            <p:graphicEl>
                                              <a:dgm id="{D0EB61FD-D4F3-4F26-9325-F4D17B7065D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5">
                                            <p:graphicEl>
                                              <a:dgm id="{BB441DDA-34EF-498A-828C-0B9377C5849C}"/>
                                            </p:graphicEl>
                                          </p:spTgt>
                                        </p:tgtEl>
                                        <p:attrNameLst>
                                          <p:attrName>style.visibility</p:attrName>
                                        </p:attrNameLst>
                                      </p:cBhvr>
                                      <p:to>
                                        <p:strVal val="visible"/>
                                      </p:to>
                                    </p:set>
                                    <p:animEffect transition="in" filter="barn(inVertical)">
                                      <p:cBhvr>
                                        <p:cTn id="17" dur="500"/>
                                        <p:tgtEl>
                                          <p:spTgt spid="15">
                                            <p:graphicEl>
                                              <a:dgm id="{BB441DDA-34EF-498A-828C-0B9377C5849C}"/>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5">
                                            <p:graphicEl>
                                              <a:dgm id="{8E6F9CB2-99DE-445E-87AC-FDE89067B812}"/>
                                            </p:graphicEl>
                                          </p:spTgt>
                                        </p:tgtEl>
                                        <p:attrNameLst>
                                          <p:attrName>style.visibility</p:attrName>
                                        </p:attrNameLst>
                                      </p:cBhvr>
                                      <p:to>
                                        <p:strVal val="visible"/>
                                      </p:to>
                                    </p:set>
                                    <p:animEffect transition="in" filter="barn(inVertical)">
                                      <p:cBhvr>
                                        <p:cTn id="22" dur="500"/>
                                        <p:tgtEl>
                                          <p:spTgt spid="15">
                                            <p:graphicEl>
                                              <a:dgm id="{8E6F9CB2-99DE-445E-87AC-FDE89067B812}"/>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5">
                                            <p:graphicEl>
                                              <a:dgm id="{FB3BB8F2-F34E-4C14-B7A1-26AD60FCBA62}"/>
                                            </p:graphicEl>
                                          </p:spTgt>
                                        </p:tgtEl>
                                        <p:attrNameLst>
                                          <p:attrName>style.visibility</p:attrName>
                                        </p:attrNameLst>
                                      </p:cBhvr>
                                      <p:to>
                                        <p:strVal val="visible"/>
                                      </p:to>
                                    </p:set>
                                    <p:animEffect transition="in" filter="barn(inVertical)">
                                      <p:cBhvr>
                                        <p:cTn id="27" dur="500"/>
                                        <p:tgtEl>
                                          <p:spTgt spid="15">
                                            <p:graphicEl>
                                              <a:dgm id="{FB3BB8F2-F34E-4C14-B7A1-26AD60FCBA62}"/>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5">
                                            <p:graphicEl>
                                              <a:dgm id="{87D09868-B0E2-4259-A7CE-53EF4F6169C2}"/>
                                            </p:graphicEl>
                                          </p:spTgt>
                                        </p:tgtEl>
                                        <p:attrNameLst>
                                          <p:attrName>style.visibility</p:attrName>
                                        </p:attrNameLst>
                                      </p:cBhvr>
                                      <p:to>
                                        <p:strVal val="visible"/>
                                      </p:to>
                                    </p:set>
                                    <p:animEffect transition="in" filter="barn(inVertical)">
                                      <p:cBhvr>
                                        <p:cTn id="32" dur="500"/>
                                        <p:tgtEl>
                                          <p:spTgt spid="15">
                                            <p:graphicEl>
                                              <a:dgm id="{87D09868-B0E2-4259-A7CE-53EF4F6169C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5"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
            </a:r>
            <a:br>
              <a:rPr lang="fr-CH" dirty="0" smtClean="0"/>
            </a:br>
            <a:r>
              <a:rPr lang="fr-CH" dirty="0" smtClean="0"/>
              <a:t>Définition:‎ mainlevée </a:t>
            </a:r>
            <a:r>
              <a:rPr lang="fr-CH" dirty="0"/>
              <a:t>d'une </a:t>
            </a:r>
            <a:r>
              <a:rPr lang="fr-CH" dirty="0" smtClean="0"/>
              <a:t>marchandise (CDU art.5) : </a:t>
            </a:r>
            <a:r>
              <a:rPr lang="fr-CH" dirty="0"/>
              <a:t/>
            </a:r>
            <a:br>
              <a:rPr lang="fr-CH" dirty="0"/>
            </a:br>
            <a:endParaRPr lang="en-US" dirty="0"/>
          </a:p>
        </p:txBody>
      </p:sp>
      <p:sp>
        <p:nvSpPr>
          <p:cNvPr id="3" name="Content Placeholder 2"/>
          <p:cNvSpPr>
            <a:spLocks noGrp="1"/>
          </p:cNvSpPr>
          <p:nvPr>
            <p:ph idx="1"/>
          </p:nvPr>
        </p:nvSpPr>
        <p:spPr/>
        <p:txBody>
          <a:bodyPr>
            <a:normAutofit/>
          </a:bodyPr>
          <a:lstStyle/>
          <a:p>
            <a:pPr marL="0" indent="0">
              <a:buNone/>
            </a:pPr>
            <a:endParaRPr lang="fr-CH" dirty="0" smtClean="0"/>
          </a:p>
          <a:p>
            <a:r>
              <a:rPr lang="fr-CH" dirty="0" smtClean="0"/>
              <a:t>l'acte </a:t>
            </a:r>
            <a:r>
              <a:rPr lang="fr-CH" dirty="0"/>
              <a:t>par lequel les autorités douanières mettent à </a:t>
            </a:r>
            <a:r>
              <a:rPr lang="fr-CH" dirty="0" smtClean="0"/>
              <a:t>disposition une   marchandise </a:t>
            </a:r>
            <a:r>
              <a:rPr lang="fr-CH" dirty="0"/>
              <a:t>aux fins prévues par le régime douanier sous </a:t>
            </a:r>
            <a:r>
              <a:rPr lang="fr-CH" dirty="0" smtClean="0"/>
              <a:t>lequel </a:t>
            </a:r>
            <a:r>
              <a:rPr lang="fr-CH" dirty="0"/>
              <a:t>elle est placée</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a:t>
            </a:fld>
            <a:endParaRPr lang="lb-LU"/>
          </a:p>
        </p:txBody>
      </p:sp>
    </p:spTree>
    <p:extLst>
      <p:ext uri="{BB962C8B-B14F-4D97-AF65-F5344CB8AC3E}">
        <p14:creationId xmlns:p14="http://schemas.microsoft.com/office/powerpoint/2010/main" val="425002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Conditions:</a:t>
            </a:r>
            <a:endParaRPr lang="en-US" dirty="0"/>
          </a:p>
        </p:txBody>
      </p:sp>
      <p:sp>
        <p:nvSpPr>
          <p:cNvPr id="3" name="Content Placeholder 2"/>
          <p:cNvSpPr>
            <a:spLocks noGrp="1"/>
          </p:cNvSpPr>
          <p:nvPr>
            <p:ph idx="1"/>
          </p:nvPr>
        </p:nvSpPr>
        <p:spPr/>
        <p:txBody>
          <a:bodyPr>
            <a:normAutofit fontScale="85000" lnSpcReduction="20000"/>
          </a:bodyPr>
          <a:lstStyle/>
          <a:p>
            <a:pPr marL="0" indent="0">
              <a:buNone/>
            </a:pPr>
            <a:endParaRPr lang="fr-CH" dirty="0" smtClean="0">
              <a:sym typeface="Wingdings" panose="05000000000000000000" pitchFamily="2" charset="2"/>
            </a:endParaRPr>
          </a:p>
          <a:p>
            <a:pPr marL="0" indent="0">
              <a:buNone/>
            </a:pPr>
            <a:r>
              <a:rPr lang="fr-CH" dirty="0" smtClean="0">
                <a:sym typeface="Wingdings" panose="05000000000000000000" pitchFamily="2" charset="2"/>
              </a:rPr>
              <a:t>les </a:t>
            </a:r>
            <a:r>
              <a:rPr lang="fr-CH" dirty="0" smtClean="0"/>
              <a:t>conditions </a:t>
            </a:r>
            <a:r>
              <a:rPr lang="fr-CH" dirty="0"/>
              <a:t>de placement sous le régime concerné sont </a:t>
            </a:r>
            <a:r>
              <a:rPr lang="fr-CH" dirty="0" smtClean="0"/>
              <a:t>réunies,</a:t>
            </a:r>
          </a:p>
          <a:p>
            <a:pPr marL="0" indent="0">
              <a:buNone/>
            </a:pPr>
            <a:r>
              <a:rPr lang="fr-CH" dirty="0" smtClean="0"/>
              <a:t>   (p.ex. autorisation «Perfectionnement actif», scellement en cas de transit..)</a:t>
            </a:r>
          </a:p>
          <a:p>
            <a:pPr>
              <a:buFont typeface="Wingdings" panose="05000000000000000000" pitchFamily="2" charset="2"/>
              <a:buChar char="à"/>
            </a:pPr>
            <a:r>
              <a:rPr lang="fr-CH" dirty="0" smtClean="0"/>
              <a:t>les marchandises ne font pas l'objet de mesures de prohibition,</a:t>
            </a:r>
          </a:p>
          <a:p>
            <a:pPr>
              <a:buFont typeface="Wingdings" panose="05000000000000000000" pitchFamily="2" charset="2"/>
              <a:buChar char="à"/>
            </a:pPr>
            <a:r>
              <a:rPr lang="fr-CH" dirty="0"/>
              <a:t>l</a:t>
            </a:r>
            <a:r>
              <a:rPr lang="fr-CH" dirty="0" smtClean="0"/>
              <a:t>’application des mesures de restriction </a:t>
            </a:r>
          </a:p>
          <a:p>
            <a:pPr>
              <a:buFont typeface="Wingdings" panose="05000000000000000000" pitchFamily="2" charset="2"/>
              <a:buChar char="à"/>
            </a:pPr>
            <a:r>
              <a:rPr lang="fr-CH" dirty="0" smtClean="0"/>
              <a:t>les énonciations de la déclaration en douane ont été </a:t>
            </a:r>
            <a:r>
              <a:rPr lang="fr-CH" dirty="0" smtClean="0"/>
              <a:t>vérifiées,</a:t>
            </a:r>
            <a:endParaRPr lang="fr-CH" dirty="0" smtClean="0"/>
          </a:p>
          <a:p>
            <a:pPr>
              <a:buFont typeface="Wingdings" panose="05000000000000000000" pitchFamily="2" charset="2"/>
              <a:buChar char="à"/>
            </a:pPr>
            <a:r>
              <a:rPr lang="fr-CH" dirty="0"/>
              <a:t>Lorsque le placement des marchandises sous un régime douanier entraîne la naissance d'une dette douanière, l'octroi de la mainlevée des marchandises est subordonné au paiement du montant des droits correspondant à la dette douanière ou à la constitution d'une garantie pour couvrir cette dette</a:t>
            </a:r>
            <a:r>
              <a:rPr lang="fr-CH" dirty="0" smtClean="0"/>
              <a:t>.</a:t>
            </a:r>
          </a:p>
          <a:p>
            <a:pPr marL="0" indent="0">
              <a:buNone/>
            </a:pPr>
            <a:endParaRPr lang="fr-CH" sz="2800" dirty="0"/>
          </a:p>
          <a:p>
            <a:pPr lvl="1">
              <a:buFont typeface="Wingdings" panose="05000000000000000000" pitchFamily="2" charset="2"/>
              <a:buChar char="à"/>
            </a:pPr>
            <a:r>
              <a:rPr lang="fr-CH" sz="2800" b="1" dirty="0" smtClean="0"/>
              <a:t> La Mainlevée est octroyée par les autorités douanières</a:t>
            </a:r>
            <a:endParaRPr lang="en-US" sz="2800" b="1" dirty="0"/>
          </a:p>
        </p:txBody>
      </p:sp>
      <p:sp>
        <p:nvSpPr>
          <p:cNvPr id="4" name="Slide Number Placeholder 3"/>
          <p:cNvSpPr>
            <a:spLocks noGrp="1"/>
          </p:cNvSpPr>
          <p:nvPr>
            <p:ph type="sldNum" sz="quarter" idx="12"/>
          </p:nvPr>
        </p:nvSpPr>
        <p:spPr/>
        <p:txBody>
          <a:bodyPr/>
          <a:lstStyle/>
          <a:p>
            <a:fld id="{C58F520E-0D3C-4C73-96DF-B271C0F692B0}" type="slidenum">
              <a:rPr lang="lb-LU" smtClean="0"/>
              <a:t>4</a:t>
            </a:fld>
            <a:endParaRPr lang="lb-LU"/>
          </a:p>
        </p:txBody>
      </p:sp>
    </p:spTree>
    <p:extLst>
      <p:ext uri="{BB962C8B-B14F-4D97-AF65-F5344CB8AC3E}">
        <p14:creationId xmlns:p14="http://schemas.microsoft.com/office/powerpoint/2010/main" val="2319515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1"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p:cTn id="37" dur="1000" fill="hold"/>
                                        <p:tgtEl>
                                          <p:spTgt spid="3">
                                            <p:txEl>
                                              <p:pRg st="8" end="8"/>
                                            </p:txEl>
                                          </p:spTgt>
                                        </p:tgtEl>
                                        <p:attrNameLst>
                                          <p:attrName>ppt_w</p:attrName>
                                        </p:attrNameLst>
                                      </p:cBhvr>
                                      <p:tavLst>
                                        <p:tav tm="0">
                                          <p:val>
                                            <p:fltVal val="0"/>
                                          </p:val>
                                        </p:tav>
                                        <p:tav tm="100000">
                                          <p:val>
                                            <p:strVal val="#ppt_w"/>
                                          </p:val>
                                        </p:tav>
                                      </p:tavLst>
                                    </p:anim>
                                    <p:anim calcmode="lin" valueType="num">
                                      <p:cBhvr>
                                        <p:cTn id="38" dur="1000" fill="hold"/>
                                        <p:tgtEl>
                                          <p:spTgt spid="3">
                                            <p:txEl>
                                              <p:pRg st="8" end="8"/>
                                            </p:txEl>
                                          </p:spTgt>
                                        </p:tgtEl>
                                        <p:attrNameLst>
                                          <p:attrName>ppt_h</p:attrName>
                                        </p:attrNameLst>
                                      </p:cBhvr>
                                      <p:tavLst>
                                        <p:tav tm="0">
                                          <p:val>
                                            <p:fltVal val="0"/>
                                          </p:val>
                                        </p:tav>
                                        <p:tav tm="100000">
                                          <p:val>
                                            <p:strVal val="#ppt_h"/>
                                          </p:val>
                                        </p:tav>
                                      </p:tavLst>
                                    </p:anim>
                                    <p:anim calcmode="lin" valueType="num">
                                      <p:cBhvr>
                                        <p:cTn id="39" dur="1000" fill="hold"/>
                                        <p:tgtEl>
                                          <p:spTgt spid="3">
                                            <p:txEl>
                                              <p:pRg st="8" end="8"/>
                                            </p:txEl>
                                          </p:spTgt>
                                        </p:tgtEl>
                                        <p:attrNameLst>
                                          <p:attrName>style.rotation</p:attrName>
                                        </p:attrNameLst>
                                      </p:cBhvr>
                                      <p:tavLst>
                                        <p:tav tm="0">
                                          <p:val>
                                            <p:fltVal val="90"/>
                                          </p:val>
                                        </p:tav>
                                        <p:tav tm="100000">
                                          <p:val>
                                            <p:fltVal val="0"/>
                                          </p:val>
                                        </p:tav>
                                      </p:tavLst>
                                    </p:anim>
                                    <p:animEffect transition="in" filter="fade">
                                      <p:cBhvr>
                                        <p:cTn id="40"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Conditions:</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fr-CH" dirty="0" smtClean="0">
                <a:sym typeface="Wingdings" panose="05000000000000000000" pitchFamily="2" charset="2"/>
              </a:rPr>
              <a:t>Lorsque les </a:t>
            </a:r>
            <a:r>
              <a:rPr lang="fr-CH" dirty="0">
                <a:sym typeface="Wingdings" panose="05000000000000000000" pitchFamily="2" charset="2"/>
              </a:rPr>
              <a:t>marchandises ne peuvent donner lieu à </a:t>
            </a:r>
            <a:r>
              <a:rPr lang="fr-CH" dirty="0" smtClean="0">
                <a:sym typeface="Wingdings" panose="05000000000000000000" pitchFamily="2" charset="2"/>
              </a:rPr>
              <a:t>la mainlevée si </a:t>
            </a:r>
          </a:p>
          <a:p>
            <a:r>
              <a:rPr lang="fr-CH" dirty="0" smtClean="0">
                <a:sym typeface="Wingdings" panose="05000000000000000000" pitchFamily="2" charset="2"/>
              </a:rPr>
              <a:t>leur </a:t>
            </a:r>
            <a:r>
              <a:rPr lang="fr-CH" dirty="0">
                <a:sym typeface="Wingdings" panose="05000000000000000000" pitchFamily="2" charset="2"/>
              </a:rPr>
              <a:t>examen n'a pu, pour des motifs imputables au déclarant, être entrepris ou poursuivi dans les délais fixés par les autorités douanières;</a:t>
            </a:r>
          </a:p>
          <a:p>
            <a:r>
              <a:rPr lang="fr-CH" dirty="0">
                <a:sym typeface="Wingdings" panose="05000000000000000000" pitchFamily="2" charset="2"/>
              </a:rPr>
              <a:t>les documents dont la présentation conditionne le placement sous le régime douanier sollicité ou la mainlevée pour ce régime n'ont pas été fournis;</a:t>
            </a:r>
          </a:p>
          <a:p>
            <a:r>
              <a:rPr lang="fr-CH" dirty="0">
                <a:sym typeface="Wingdings" panose="05000000000000000000" pitchFamily="2" charset="2"/>
              </a:rPr>
              <a:t>les paiements ou garanties qui auraient dû être effectués ou constitués en rapport avec les droits à l'importation ou à l'exportation, selon le cas, n'ont pas été opérés ou fournis dans les délais prescrits</a:t>
            </a:r>
            <a:r>
              <a:rPr lang="fr-CH" dirty="0" smtClean="0">
                <a:sym typeface="Wingdings" panose="05000000000000000000" pitchFamily="2" charset="2"/>
              </a:rPr>
              <a:t>;)</a:t>
            </a:r>
            <a:endParaRPr lang="fr-CH" dirty="0">
              <a:sym typeface="Wingdings" panose="05000000000000000000" pitchFamily="2" charset="2"/>
            </a:endParaRPr>
          </a:p>
          <a:p>
            <a:pPr marL="0" indent="0">
              <a:buNone/>
            </a:pPr>
            <a:endParaRPr lang="fr-CH" dirty="0" smtClean="0">
              <a:sym typeface="Wingdings" panose="05000000000000000000" pitchFamily="2" charset="2"/>
            </a:endParaRPr>
          </a:p>
          <a:p>
            <a:pPr marL="0" indent="0">
              <a:buNone/>
            </a:pPr>
            <a:r>
              <a:rPr lang="fr-CH" dirty="0" smtClean="0">
                <a:sym typeface="Wingdings" panose="05000000000000000000" pitchFamily="2" charset="2"/>
              </a:rPr>
              <a:t>      	les </a:t>
            </a:r>
            <a:r>
              <a:rPr lang="fr-CH" dirty="0">
                <a:sym typeface="Wingdings" panose="05000000000000000000" pitchFamily="2" charset="2"/>
              </a:rPr>
              <a:t>autorités douanières accordent au déclarant un délai raisonnable pour </a:t>
            </a:r>
            <a:r>
              <a:rPr lang="fr-CH" dirty="0" smtClean="0">
                <a:sym typeface="Wingdings" panose="05000000000000000000" pitchFamily="2" charset="2"/>
              </a:rPr>
              <a:t>	remédier </a:t>
            </a:r>
            <a:r>
              <a:rPr lang="fr-CH" dirty="0">
                <a:sym typeface="Wingdings" panose="05000000000000000000" pitchFamily="2" charset="2"/>
              </a:rPr>
              <a:t>à la situation des marchandises. </a:t>
            </a:r>
          </a:p>
          <a:p>
            <a:pPr marL="0" indent="0">
              <a:buNone/>
            </a:pPr>
            <a:r>
              <a:rPr lang="fr-CH" dirty="0" smtClean="0">
                <a:sym typeface="Wingdings" panose="05000000000000000000" pitchFamily="2" charset="2"/>
              </a:rPr>
              <a:t>NB: Les </a:t>
            </a:r>
            <a:r>
              <a:rPr lang="fr-CH" dirty="0">
                <a:sym typeface="Wingdings" panose="05000000000000000000" pitchFamily="2" charset="2"/>
              </a:rPr>
              <a:t>autorités douanières peuvent, aux risques et aux frais du déclarant, transférer </a:t>
            </a:r>
            <a:r>
              <a:rPr lang="fr-CH" dirty="0" smtClean="0">
                <a:sym typeface="Wingdings" panose="05000000000000000000" pitchFamily="2" charset="2"/>
              </a:rPr>
              <a:t>ces </a:t>
            </a:r>
            <a:r>
              <a:rPr lang="fr-CH" dirty="0">
                <a:sym typeface="Wingdings" panose="05000000000000000000" pitchFamily="2" charset="2"/>
              </a:rPr>
              <a:t>marchandises </a:t>
            </a:r>
            <a:r>
              <a:rPr lang="fr-CH" dirty="0" smtClean="0">
                <a:sym typeface="Wingdings" panose="05000000000000000000" pitchFamily="2" charset="2"/>
              </a:rPr>
              <a:t>dans </a:t>
            </a:r>
            <a:r>
              <a:rPr lang="fr-CH" dirty="0">
                <a:sym typeface="Wingdings" panose="05000000000000000000" pitchFamily="2" charset="2"/>
              </a:rPr>
              <a:t>un lieu spécial placé sous la surveillance des autorités </a:t>
            </a:r>
            <a:r>
              <a:rPr lang="fr-CH" dirty="0" smtClean="0">
                <a:sym typeface="Wingdings" panose="05000000000000000000" pitchFamily="2" charset="2"/>
              </a:rPr>
              <a:t>douanières.</a:t>
            </a:r>
            <a:endParaRPr lang="fr-CH" dirty="0">
              <a:sym typeface="Wingdings" panose="05000000000000000000" pitchFamily="2" charset="2"/>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5</a:t>
            </a:fld>
            <a:endParaRPr lang="lb-LU"/>
          </a:p>
        </p:txBody>
      </p:sp>
    </p:spTree>
    <p:extLst>
      <p:ext uri="{BB962C8B-B14F-4D97-AF65-F5344CB8AC3E}">
        <p14:creationId xmlns:p14="http://schemas.microsoft.com/office/powerpoint/2010/main" val="2545610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Notification de la mainlevée:</a:t>
            </a:r>
            <a:endParaRPr lang="en-US" dirty="0"/>
          </a:p>
        </p:txBody>
      </p:sp>
      <p:sp>
        <p:nvSpPr>
          <p:cNvPr id="3" name="Content Placeholder 2"/>
          <p:cNvSpPr>
            <a:spLocks noGrp="1"/>
          </p:cNvSpPr>
          <p:nvPr>
            <p:ph idx="1"/>
          </p:nvPr>
        </p:nvSpPr>
        <p:spPr/>
        <p:txBody>
          <a:bodyPr>
            <a:normAutofit lnSpcReduction="10000"/>
          </a:bodyPr>
          <a:lstStyle/>
          <a:p>
            <a:pPr marL="0" indent="0">
              <a:buNone/>
            </a:pPr>
            <a:endParaRPr lang="fr-CH" dirty="0"/>
          </a:p>
          <a:p>
            <a:pPr marL="0" indent="0">
              <a:buNone/>
            </a:pPr>
            <a:r>
              <a:rPr lang="fr-CH" dirty="0" smtClean="0"/>
              <a:t>Les </a:t>
            </a:r>
            <a:r>
              <a:rPr lang="fr-CH" dirty="0"/>
              <a:t>autorités douanières notifient la mainlevée des marchandises au déclarant</a:t>
            </a:r>
            <a:r>
              <a:rPr lang="fr-CH" dirty="0" smtClean="0"/>
              <a:t>. </a:t>
            </a:r>
            <a:endParaRPr lang="fr-CH" dirty="0"/>
          </a:p>
          <a:p>
            <a:pPr marL="0" indent="0">
              <a:buNone/>
            </a:pPr>
            <a:r>
              <a:rPr lang="fr-CH" dirty="0" smtClean="0">
                <a:sym typeface="Wingdings" panose="05000000000000000000" pitchFamily="2" charset="2"/>
              </a:rPr>
              <a:t> </a:t>
            </a:r>
            <a:r>
              <a:rPr lang="fr-CH" dirty="0" smtClean="0"/>
              <a:t>La notification se fait par le système électronique de dédouanement.</a:t>
            </a:r>
            <a:endParaRPr lang="fr-CH" dirty="0"/>
          </a:p>
          <a:p>
            <a:pPr marL="0" indent="0">
              <a:buNone/>
            </a:pPr>
            <a:r>
              <a:rPr lang="fr-CH" dirty="0" smtClean="0"/>
              <a:t>(Lorsque </a:t>
            </a:r>
            <a:r>
              <a:rPr lang="fr-CH" dirty="0"/>
              <a:t>la déclaration pour un régime douanier ou la réexportation est déposée par des moyens autres que des procédés informatiques de traitement des données, les autorités douanières peuvent, aux fins de la notification au déclarant de la mainlevée des marchandises, utiliser des moyens autres que des procédés informatiques de traitement des données</a:t>
            </a:r>
            <a:r>
              <a:rPr lang="fr-CH" dirty="0" smtClean="0"/>
              <a:t>.)</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6</a:t>
            </a:fld>
            <a:endParaRPr lang="lb-LU"/>
          </a:p>
        </p:txBody>
      </p:sp>
    </p:spTree>
    <p:extLst>
      <p:ext uri="{BB962C8B-B14F-4D97-AF65-F5344CB8AC3E}">
        <p14:creationId xmlns:p14="http://schemas.microsoft.com/office/powerpoint/2010/main" val="2278211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000"/>
                                        <p:tgtEl>
                                          <p:spTgt spid="3">
                                            <p:txEl>
                                              <p:pRg st="2" end="2"/>
                                            </p:txEl>
                                          </p:spTgt>
                                        </p:tgtEl>
                                      </p:cBhvr>
                                    </p:animEffect>
                                    <p:anim calcmode="lin" valueType="num">
                                      <p:cBhvr>
                                        <p:cTn id="1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1000"/>
                                        <p:tgtEl>
                                          <p:spTgt spid="3">
                                            <p:txEl>
                                              <p:pRg st="3" end="3"/>
                                            </p:txEl>
                                          </p:spTgt>
                                        </p:tgtEl>
                                      </p:cBhvr>
                                    </p:animEffect>
                                    <p:anim calcmode="lin" valueType="num">
                                      <p:cBhvr>
                                        <p:cTn id="2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Mainlevée partielle?</a:t>
            </a:r>
            <a:endParaRPr lang="en-US" dirty="0"/>
          </a:p>
        </p:txBody>
      </p:sp>
      <p:sp>
        <p:nvSpPr>
          <p:cNvPr id="3" name="Content Placeholder 2"/>
          <p:cNvSpPr>
            <a:spLocks noGrp="1"/>
          </p:cNvSpPr>
          <p:nvPr>
            <p:ph idx="1"/>
          </p:nvPr>
        </p:nvSpPr>
        <p:spPr/>
        <p:txBody>
          <a:bodyPr/>
          <a:lstStyle/>
          <a:p>
            <a:endParaRPr lang="fr-CH" dirty="0" smtClean="0"/>
          </a:p>
          <a:p>
            <a:r>
              <a:rPr lang="fr-CH" dirty="0" smtClean="0"/>
              <a:t>La </a:t>
            </a:r>
            <a:r>
              <a:rPr lang="fr-CH" dirty="0"/>
              <a:t>mainlevée est donnée en une seule fois pour la totalité des marchandises faisant l'objet d'une ‎même déclaration </a:t>
            </a:r>
            <a:endParaRPr lang="fr-CH" dirty="0" smtClean="0"/>
          </a:p>
          <a:p>
            <a:pPr marL="0" indent="0">
              <a:buNone/>
            </a:pPr>
            <a:endParaRPr lang="fr-CH" dirty="0" smtClean="0"/>
          </a:p>
          <a:p>
            <a:pPr marL="0" indent="0">
              <a:buNone/>
            </a:pPr>
            <a:r>
              <a:rPr lang="fr-CH" dirty="0" smtClean="0"/>
              <a:t>NB: 	Lorsqu'une </a:t>
            </a:r>
            <a:r>
              <a:rPr lang="fr-CH" dirty="0"/>
              <a:t>déclaration en douane couvre des marchandises </a:t>
            </a:r>
            <a:r>
              <a:rPr lang="fr-CH" dirty="0" smtClean="0"/>
              <a:t>	relevant </a:t>
            </a:r>
            <a:r>
              <a:rPr lang="fr-CH" dirty="0"/>
              <a:t>de deux ou ‎plusieurs rubriques, les énonciations </a:t>
            </a:r>
            <a:r>
              <a:rPr lang="fr-CH" dirty="0" smtClean="0"/>
              <a:t>	relatives </a:t>
            </a:r>
            <a:r>
              <a:rPr lang="fr-CH" dirty="0"/>
              <a:t>aux marchandises relevant de chaque rubrique </a:t>
            </a:r>
            <a:r>
              <a:rPr lang="fr-CH" dirty="0" smtClean="0"/>
              <a:t>	sont </a:t>
            </a:r>
            <a:r>
              <a:rPr lang="fr-CH" dirty="0"/>
              <a:t>‎considérées comme constituant une déclaration en douane </a:t>
            </a:r>
            <a:r>
              <a:rPr lang="fr-CH" dirty="0" smtClean="0"/>
              <a:t>	séparée.</a:t>
            </a:r>
            <a:r>
              <a:rPr lang="fr-CH" dirty="0"/>
              <a:t>‎</a:t>
            </a:r>
          </a:p>
          <a:p>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7</a:t>
            </a:fld>
            <a:endParaRPr lang="lb-LU"/>
          </a:p>
        </p:txBody>
      </p:sp>
    </p:spTree>
    <p:extLst>
      <p:ext uri="{BB962C8B-B14F-4D97-AF65-F5344CB8AC3E}">
        <p14:creationId xmlns:p14="http://schemas.microsoft.com/office/powerpoint/2010/main" val="3923191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circle(in)">
                                      <p:cBhvr>
                                        <p:cTn id="14"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Contrôle a posteriori ‎après la mainlevée :‎</a:t>
            </a:r>
            <a:endParaRPr lang="en-US" dirty="0"/>
          </a:p>
        </p:txBody>
      </p:sp>
      <p:sp>
        <p:nvSpPr>
          <p:cNvPr id="3" name="Content Placeholder 2"/>
          <p:cNvSpPr>
            <a:spLocks noGrp="1"/>
          </p:cNvSpPr>
          <p:nvPr>
            <p:ph idx="1"/>
          </p:nvPr>
        </p:nvSpPr>
        <p:spPr/>
        <p:txBody>
          <a:bodyPr/>
          <a:lstStyle/>
          <a:p>
            <a:endParaRPr lang="fr-CH" dirty="0" smtClean="0"/>
          </a:p>
          <a:p>
            <a:r>
              <a:rPr lang="fr-CH" dirty="0" smtClean="0"/>
              <a:t>Après </a:t>
            </a:r>
            <a:r>
              <a:rPr lang="fr-CH" dirty="0"/>
              <a:t>octroi de la mainlevée, les autorités douanières gardent le droit de vérifier l'exactitude et le ‎caractère complet des informations fournies dans une déclaration en douane, une déclaration de ‎dépôt temporaire, une déclaration sommaire d'entrée, une déclaration sommaire de sortie, une ‎déclaration de réexportation ou une notification de réexportation</a:t>
            </a:r>
            <a:r>
              <a:rPr lang="fr-CH" dirty="0" smtClean="0"/>
              <a:t>‎</a:t>
            </a:r>
          </a:p>
          <a:p>
            <a:r>
              <a:rPr lang="fr-CH" dirty="0" smtClean="0"/>
              <a:t>3 ans</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8</a:t>
            </a:fld>
            <a:endParaRPr lang="lb-LU"/>
          </a:p>
        </p:txBody>
      </p:sp>
    </p:spTree>
    <p:extLst>
      <p:ext uri="{BB962C8B-B14F-4D97-AF65-F5344CB8AC3E}">
        <p14:creationId xmlns:p14="http://schemas.microsoft.com/office/powerpoint/2010/main" val="2950358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wipe(down)">
                                      <p:cBhvr>
                                        <p:cTn id="14" dur="580">
                                          <p:stCondLst>
                                            <p:cond delay="0"/>
                                          </p:stCondLst>
                                        </p:cTn>
                                        <p:tgtEl>
                                          <p:spTgt spid="3">
                                            <p:txEl>
                                              <p:pRg st="2" end="2"/>
                                            </p:txEl>
                                          </p:spTgt>
                                        </p:tgtEl>
                                      </p:cBhvr>
                                    </p:animEffect>
                                    <p:anim calcmode="lin" valueType="num">
                                      <p:cBhvr>
                                        <p:cTn id="15"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2" end="2"/>
                                            </p:txEl>
                                          </p:spTgt>
                                        </p:tgtEl>
                                      </p:cBhvr>
                                      <p:to x="100000" y="60000"/>
                                    </p:animScale>
                                    <p:animScale>
                                      <p:cBhvr>
                                        <p:cTn id="21" dur="166" decel="50000">
                                          <p:stCondLst>
                                            <p:cond delay="676"/>
                                          </p:stCondLst>
                                        </p:cTn>
                                        <p:tgtEl>
                                          <p:spTgt spid="3">
                                            <p:txEl>
                                              <p:pRg st="2" end="2"/>
                                            </p:txEl>
                                          </p:spTgt>
                                        </p:tgtEl>
                                      </p:cBhvr>
                                      <p:to x="100000" y="100000"/>
                                    </p:animScale>
                                    <p:animScale>
                                      <p:cBhvr>
                                        <p:cTn id="22" dur="26">
                                          <p:stCondLst>
                                            <p:cond delay="1312"/>
                                          </p:stCondLst>
                                        </p:cTn>
                                        <p:tgtEl>
                                          <p:spTgt spid="3">
                                            <p:txEl>
                                              <p:pRg st="2" end="2"/>
                                            </p:txEl>
                                          </p:spTgt>
                                        </p:tgtEl>
                                      </p:cBhvr>
                                      <p:to x="100000" y="80000"/>
                                    </p:animScale>
                                    <p:animScale>
                                      <p:cBhvr>
                                        <p:cTn id="23" dur="166" decel="50000">
                                          <p:stCondLst>
                                            <p:cond delay="1338"/>
                                          </p:stCondLst>
                                        </p:cTn>
                                        <p:tgtEl>
                                          <p:spTgt spid="3">
                                            <p:txEl>
                                              <p:pRg st="2" end="2"/>
                                            </p:txEl>
                                          </p:spTgt>
                                        </p:tgtEl>
                                      </p:cBhvr>
                                      <p:to x="100000" y="100000"/>
                                    </p:animScale>
                                    <p:animScale>
                                      <p:cBhvr>
                                        <p:cTn id="24" dur="26">
                                          <p:stCondLst>
                                            <p:cond delay="1642"/>
                                          </p:stCondLst>
                                        </p:cTn>
                                        <p:tgtEl>
                                          <p:spTgt spid="3">
                                            <p:txEl>
                                              <p:pRg st="2" end="2"/>
                                            </p:txEl>
                                          </p:spTgt>
                                        </p:tgtEl>
                                      </p:cBhvr>
                                      <p:to x="100000" y="90000"/>
                                    </p:animScale>
                                    <p:animScale>
                                      <p:cBhvr>
                                        <p:cTn id="25" dur="166" decel="50000">
                                          <p:stCondLst>
                                            <p:cond delay="1668"/>
                                          </p:stCondLst>
                                        </p:cTn>
                                        <p:tgtEl>
                                          <p:spTgt spid="3">
                                            <p:txEl>
                                              <p:pRg st="2" end="2"/>
                                            </p:txEl>
                                          </p:spTgt>
                                        </p:tgtEl>
                                      </p:cBhvr>
                                      <p:to x="100000" y="100000"/>
                                    </p:animScale>
                                    <p:animScale>
                                      <p:cBhvr>
                                        <p:cTn id="26" dur="26">
                                          <p:stCondLst>
                                            <p:cond delay="1808"/>
                                          </p:stCondLst>
                                        </p:cTn>
                                        <p:tgtEl>
                                          <p:spTgt spid="3">
                                            <p:txEl>
                                              <p:pRg st="2" end="2"/>
                                            </p:txEl>
                                          </p:spTgt>
                                        </p:tgtEl>
                                      </p:cBhvr>
                                      <p:to x="100000" y="95000"/>
                                    </p:animScale>
                                    <p:animScale>
                                      <p:cBhvr>
                                        <p:cTn id="27"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CH" dirty="0" smtClean="0"/>
              <a:t>Cas particulier</a:t>
            </a:r>
            <a:br>
              <a:rPr lang="fr-CH" dirty="0" smtClean="0"/>
            </a:br>
            <a:endParaRPr lang="en-US" dirty="0"/>
          </a:p>
        </p:txBody>
      </p:sp>
      <p:sp>
        <p:nvSpPr>
          <p:cNvPr id="3" name="Content Placeholder 2"/>
          <p:cNvSpPr>
            <a:spLocks noGrp="1"/>
          </p:cNvSpPr>
          <p:nvPr>
            <p:ph idx="1"/>
          </p:nvPr>
        </p:nvSpPr>
        <p:spPr/>
        <p:txBody>
          <a:bodyPr>
            <a:normAutofit/>
          </a:bodyPr>
          <a:lstStyle/>
          <a:p>
            <a:pPr marL="0" indent="0">
              <a:buNone/>
            </a:pPr>
            <a:r>
              <a:rPr lang="fr-CH" dirty="0"/>
              <a:t>Autorisation « inscription dans les écritures </a:t>
            </a:r>
            <a:r>
              <a:rPr lang="fr-CH" dirty="0" smtClean="0"/>
              <a:t>»:</a:t>
            </a:r>
          </a:p>
          <a:p>
            <a:pPr marL="0" indent="0">
              <a:buNone/>
            </a:pPr>
            <a:endParaRPr lang="fr-CH" dirty="0" smtClean="0"/>
          </a:p>
          <a:p>
            <a:r>
              <a:rPr lang="fr-CH" dirty="0" smtClean="0"/>
              <a:t>Si dispense de présentation:  mainlevée immédiate</a:t>
            </a:r>
          </a:p>
          <a:p>
            <a:r>
              <a:rPr lang="fr-CH" dirty="0" smtClean="0"/>
              <a:t>Si </a:t>
            </a:r>
            <a:r>
              <a:rPr lang="fr-CH" dirty="0"/>
              <a:t>délai </a:t>
            </a:r>
            <a:r>
              <a:rPr lang="fr-CH" dirty="0" smtClean="0"/>
              <a:t>fixé: </a:t>
            </a:r>
            <a:r>
              <a:rPr lang="fr-CH" dirty="0"/>
              <a:t>la mainlevée des marchandises est considérée comme octroyée à l’expiration de ce délai, à moins que le bureau de douane de contrôle ait mentionné dans ce délai son intention de procéder à un contrôle. </a:t>
            </a:r>
            <a:endParaRPr lang="fr-CH" dirty="0" smtClean="0"/>
          </a:p>
          <a:p>
            <a:r>
              <a:rPr lang="fr-CH" dirty="0" smtClean="0"/>
              <a:t>Si pas de délai fixé: mainlevée communiquée par la douane</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9</a:t>
            </a:fld>
            <a:endParaRPr lang="lb-LU"/>
          </a:p>
        </p:txBody>
      </p:sp>
    </p:spTree>
    <p:extLst>
      <p:ext uri="{BB962C8B-B14F-4D97-AF65-F5344CB8AC3E}">
        <p14:creationId xmlns:p14="http://schemas.microsoft.com/office/powerpoint/2010/main" val="1066226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anim calcmode="lin" valueType="num">
                                      <p:cBhvr>
                                        <p:cTn id="2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93370"/>
            <a:ext cx="10515600" cy="1449994"/>
          </a:xfrm>
        </p:spPr>
        <p:txBody>
          <a:bodyPr>
            <a:normAutofit/>
          </a:bodyPr>
          <a:lstStyle/>
          <a:p>
            <a:r>
              <a:rPr lang="fr-FR" dirty="0" smtClean="0"/>
              <a:t/>
            </a:r>
            <a:br>
              <a:rPr lang="fr-FR" dirty="0" smtClean="0"/>
            </a:br>
            <a:r>
              <a:rPr lang="fr-FR" dirty="0" smtClean="0"/>
              <a:t>Merci pour votre attention</a:t>
            </a:r>
            <a:endParaRPr lang="en-US" dirty="0"/>
          </a:p>
        </p:txBody>
      </p:sp>
      <p:sp>
        <p:nvSpPr>
          <p:cNvPr id="3" name="Content Placeholder 2"/>
          <p:cNvSpPr>
            <a:spLocks noGrp="1"/>
          </p:cNvSpPr>
          <p:nvPr>
            <p:ph idx="1"/>
          </p:nvPr>
        </p:nvSpPr>
        <p:spPr>
          <a:xfrm>
            <a:off x="838200" y="1487978"/>
            <a:ext cx="10515600" cy="4688985"/>
          </a:xfrm>
        </p:spPr>
        <p:txBody>
          <a:bodyPr/>
          <a:lstStyle/>
          <a:p>
            <a:pPr marL="0" indent="0">
              <a:buNone/>
            </a:pPr>
            <a:endParaRPr lang="fr-FR" dirty="0" smtClean="0"/>
          </a:p>
          <a:p>
            <a:pPr marL="0" indent="0">
              <a:buNone/>
            </a:pPr>
            <a:endParaRPr lang="fr-FR" dirty="0"/>
          </a:p>
          <a:p>
            <a:pPr marL="0" indent="0">
              <a:buNone/>
            </a:pPr>
            <a:endParaRPr lang="fr-FR" dirty="0" smtClean="0"/>
          </a:p>
          <a:p>
            <a:pPr marL="0" indent="0">
              <a:buNone/>
            </a:pPr>
            <a:r>
              <a:rPr lang="fr-FR" sz="3200" dirty="0" smtClean="0"/>
              <a:t>Questions ?</a:t>
            </a:r>
            <a:endParaRPr lang="en-US" sz="3200" dirty="0"/>
          </a:p>
        </p:txBody>
      </p:sp>
      <p:sp>
        <p:nvSpPr>
          <p:cNvPr id="4" name="Slide Number Placeholder 3"/>
          <p:cNvSpPr>
            <a:spLocks noGrp="1"/>
          </p:cNvSpPr>
          <p:nvPr>
            <p:ph type="sldNum" sz="quarter" idx="12"/>
          </p:nvPr>
        </p:nvSpPr>
        <p:spPr/>
        <p:txBody>
          <a:bodyPr/>
          <a:lstStyle/>
          <a:p>
            <a:fld id="{C58F520E-0D3C-4C73-96DF-B271C0F692B0}" type="slidenum">
              <a:rPr lang="lb-LU" smtClean="0"/>
              <a:t>10</a:t>
            </a:fld>
            <a:endParaRPr lang="lb-LU"/>
          </a:p>
        </p:txBody>
      </p:sp>
    </p:spTree>
    <p:extLst>
      <p:ext uri="{BB962C8B-B14F-4D97-AF65-F5344CB8AC3E}">
        <p14:creationId xmlns:p14="http://schemas.microsoft.com/office/powerpoint/2010/main" val="1913422702"/>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630</Words>
  <Application>Microsoft Office PowerPoint</Application>
  <PresentationFormat>Widescreen</PresentationFormat>
  <Paragraphs>64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Wingdings</vt:lpstr>
      <vt:lpstr>Thème Office</vt:lpstr>
      <vt:lpstr>PowerPoint Presentation</vt:lpstr>
      <vt:lpstr>Processus de placement d’une marchandise sous un régime douanier:</vt:lpstr>
      <vt:lpstr> Définition:‎ mainlevée d'une marchandise (CDU art.5) :  </vt:lpstr>
      <vt:lpstr>Conditions:</vt:lpstr>
      <vt:lpstr>Conditions:</vt:lpstr>
      <vt:lpstr>Notification de la mainlevée:</vt:lpstr>
      <vt:lpstr>Mainlevée partielle?</vt:lpstr>
      <vt:lpstr>Contrôle a posteriori ‎après la mainlevée :‎</vt:lpstr>
      <vt:lpstr>Cas particulier </vt:lpstr>
      <vt:lpstr> Merci pour votre attention</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ferring</dc:creator>
  <cp:lastModifiedBy>bofferdingd</cp:lastModifiedBy>
  <cp:revision>147</cp:revision>
  <cp:lastPrinted>2024-10-04T12:05:12Z</cp:lastPrinted>
  <dcterms:created xsi:type="dcterms:W3CDTF">2018-09-26T09:04:10Z</dcterms:created>
  <dcterms:modified xsi:type="dcterms:W3CDTF">2024-10-04T12:05:19Z</dcterms:modified>
</cp:coreProperties>
</file>