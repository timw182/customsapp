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5"/>
  </p:notesMasterIdLst>
  <p:handoutMasterIdLst>
    <p:handoutMasterId r:id="rId116"/>
  </p:handoutMasterIdLst>
  <p:sldIdLst>
    <p:sldId id="256" r:id="rId2"/>
    <p:sldId id="307" r:id="rId3"/>
    <p:sldId id="317" r:id="rId4"/>
    <p:sldId id="259" r:id="rId5"/>
    <p:sldId id="264" r:id="rId6"/>
    <p:sldId id="360" r:id="rId7"/>
    <p:sldId id="268" r:id="rId8"/>
    <p:sldId id="361" r:id="rId9"/>
    <p:sldId id="269" r:id="rId10"/>
    <p:sldId id="362" r:id="rId11"/>
    <p:sldId id="270" r:id="rId12"/>
    <p:sldId id="363" r:id="rId13"/>
    <p:sldId id="396" r:id="rId14"/>
    <p:sldId id="369" r:id="rId15"/>
    <p:sldId id="370" r:id="rId16"/>
    <p:sldId id="364" r:id="rId17"/>
    <p:sldId id="365" r:id="rId18"/>
    <p:sldId id="367" r:id="rId19"/>
    <p:sldId id="366" r:id="rId20"/>
    <p:sldId id="368" r:id="rId21"/>
    <p:sldId id="371" r:id="rId22"/>
    <p:sldId id="308" r:id="rId23"/>
    <p:sldId id="323" r:id="rId24"/>
    <p:sldId id="354" r:id="rId25"/>
    <p:sldId id="353" r:id="rId26"/>
    <p:sldId id="355" r:id="rId27"/>
    <p:sldId id="356" r:id="rId28"/>
    <p:sldId id="357" r:id="rId29"/>
    <p:sldId id="358" r:id="rId30"/>
    <p:sldId id="359" r:id="rId31"/>
    <p:sldId id="309" r:id="rId32"/>
    <p:sldId id="310" r:id="rId33"/>
    <p:sldId id="311" r:id="rId34"/>
    <p:sldId id="312" r:id="rId35"/>
    <p:sldId id="314" r:id="rId36"/>
    <p:sldId id="313" r:id="rId37"/>
    <p:sldId id="315" r:id="rId38"/>
    <p:sldId id="316" r:id="rId39"/>
    <p:sldId id="318" r:id="rId40"/>
    <p:sldId id="272" r:id="rId41"/>
    <p:sldId id="273" r:id="rId42"/>
    <p:sldId id="274" r:id="rId43"/>
    <p:sldId id="372" r:id="rId44"/>
    <p:sldId id="373" r:id="rId45"/>
    <p:sldId id="275" r:id="rId46"/>
    <p:sldId id="292" r:id="rId47"/>
    <p:sldId id="324" r:id="rId48"/>
    <p:sldId id="325" r:id="rId49"/>
    <p:sldId id="327" r:id="rId50"/>
    <p:sldId id="328" r:id="rId51"/>
    <p:sldId id="329" r:id="rId52"/>
    <p:sldId id="330" r:id="rId53"/>
    <p:sldId id="375" r:id="rId54"/>
    <p:sldId id="376" r:id="rId55"/>
    <p:sldId id="332" r:id="rId56"/>
    <p:sldId id="333" r:id="rId57"/>
    <p:sldId id="334" r:id="rId58"/>
    <p:sldId id="335" r:id="rId59"/>
    <p:sldId id="336" r:id="rId60"/>
    <p:sldId id="337" r:id="rId61"/>
    <p:sldId id="338" r:id="rId62"/>
    <p:sldId id="339" r:id="rId63"/>
    <p:sldId id="340" r:id="rId64"/>
    <p:sldId id="341" r:id="rId65"/>
    <p:sldId id="342" r:id="rId66"/>
    <p:sldId id="343" r:id="rId67"/>
    <p:sldId id="344" r:id="rId68"/>
    <p:sldId id="345" r:id="rId69"/>
    <p:sldId id="346" r:id="rId70"/>
    <p:sldId id="347" r:id="rId71"/>
    <p:sldId id="348" r:id="rId72"/>
    <p:sldId id="349" r:id="rId73"/>
    <p:sldId id="350" r:id="rId74"/>
    <p:sldId id="351" r:id="rId75"/>
    <p:sldId id="352" r:id="rId76"/>
    <p:sldId id="319" r:id="rId77"/>
    <p:sldId id="378" r:id="rId78"/>
    <p:sldId id="377" r:id="rId79"/>
    <p:sldId id="379" r:id="rId80"/>
    <p:sldId id="380" r:id="rId81"/>
    <p:sldId id="293" r:id="rId82"/>
    <p:sldId id="394" r:id="rId83"/>
    <p:sldId id="277" r:id="rId84"/>
    <p:sldId id="382" r:id="rId85"/>
    <p:sldId id="278" r:id="rId86"/>
    <p:sldId id="320" r:id="rId87"/>
    <p:sldId id="392" r:id="rId88"/>
    <p:sldId id="383" r:id="rId89"/>
    <p:sldId id="385" r:id="rId90"/>
    <p:sldId id="386" r:id="rId91"/>
    <p:sldId id="294" r:id="rId92"/>
    <p:sldId id="387" r:id="rId93"/>
    <p:sldId id="279" r:id="rId94"/>
    <p:sldId id="388" r:id="rId95"/>
    <p:sldId id="280" r:id="rId96"/>
    <p:sldId id="281" r:id="rId97"/>
    <p:sldId id="282" r:id="rId98"/>
    <p:sldId id="283" r:id="rId99"/>
    <p:sldId id="284" r:id="rId100"/>
    <p:sldId id="285" r:id="rId101"/>
    <p:sldId id="286" r:id="rId102"/>
    <p:sldId id="295" r:id="rId103"/>
    <p:sldId id="299" r:id="rId104"/>
    <p:sldId id="296" r:id="rId105"/>
    <p:sldId id="297" r:id="rId106"/>
    <p:sldId id="390" r:id="rId107"/>
    <p:sldId id="298" r:id="rId108"/>
    <p:sldId id="391" r:id="rId109"/>
    <p:sldId id="301" r:id="rId110"/>
    <p:sldId id="306" r:id="rId111"/>
    <p:sldId id="393" r:id="rId112"/>
    <p:sldId id="302" r:id="rId113"/>
    <p:sldId id="395" r:id="rId114"/>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schlink" initials="m" lastIdx="2" clrIdx="0">
    <p:extLst>
      <p:ext uri="{19B8F6BF-5375-455C-9EA6-DF929625EA0E}">
        <p15:presenceInfo xmlns:p15="http://schemas.microsoft.com/office/powerpoint/2012/main" userId="mschlink"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2DE63D5-997A-4646-A377-4702673A728D}" styleName="Helle Formatvorlage 2 - Akz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CF1AB2-1976-4502-BF36-3FF5EA218861}" styleName="Mittlere Formatvorlage 4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ittlere Formatvorlage 4 - Akz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700" autoAdjust="0"/>
    <p:restoredTop sz="94651" autoAdjust="0"/>
  </p:normalViewPr>
  <p:slideViewPr>
    <p:cSldViewPr snapToGrid="0">
      <p:cViewPr varScale="1">
        <p:scale>
          <a:sx n="109" d="100"/>
          <a:sy n="109" d="100"/>
        </p:scale>
        <p:origin x="1032"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commentAuthors" Target="commentAuthor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fr-CH"/>
          </a:p>
        </p:txBody>
      </p:sp>
      <p:sp>
        <p:nvSpPr>
          <p:cNvPr id="3" name="Datumsplatzhalter 2"/>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a:lvl1pPr>
          </a:lstStyle>
          <a:p>
            <a:fld id="{6AB039E8-4792-4DE3-AA83-F7516F3B65D7}" type="datetimeFigureOut">
              <a:rPr lang="fr-CH" smtClean="0"/>
              <a:t>18.10.2024</a:t>
            </a:fld>
            <a:endParaRPr lang="fr-CH"/>
          </a:p>
        </p:txBody>
      </p:sp>
      <p:sp>
        <p:nvSpPr>
          <p:cNvPr id="4" name="Fußzeilenplatzhalter 3"/>
          <p:cNvSpPr>
            <a:spLocks noGrp="1"/>
          </p:cNvSpPr>
          <p:nvPr>
            <p:ph type="ftr" sz="quarter" idx="2"/>
          </p:nvPr>
        </p:nvSpPr>
        <p:spPr>
          <a:xfrm>
            <a:off x="0" y="9429750"/>
            <a:ext cx="2946400" cy="496888"/>
          </a:xfrm>
          <a:prstGeom prst="rect">
            <a:avLst/>
          </a:prstGeom>
        </p:spPr>
        <p:txBody>
          <a:bodyPr vert="horz" lIns="91440" tIns="45720" rIns="91440" bIns="45720" rtlCol="0" anchor="b"/>
          <a:lstStyle>
            <a:lvl1pPr algn="l">
              <a:defRPr sz="1200"/>
            </a:lvl1pPr>
          </a:lstStyle>
          <a:p>
            <a:endParaRPr lang="fr-CH"/>
          </a:p>
        </p:txBody>
      </p:sp>
      <p:sp>
        <p:nvSpPr>
          <p:cNvPr id="5" name="Foliennummernplatzhalter 4"/>
          <p:cNvSpPr>
            <a:spLocks noGrp="1"/>
          </p:cNvSpPr>
          <p:nvPr>
            <p:ph type="sldNum" sz="quarter" idx="3"/>
          </p:nvPr>
        </p:nvSpPr>
        <p:spPr>
          <a:xfrm>
            <a:off x="3849688" y="9429750"/>
            <a:ext cx="2946400" cy="496888"/>
          </a:xfrm>
          <a:prstGeom prst="rect">
            <a:avLst/>
          </a:prstGeom>
        </p:spPr>
        <p:txBody>
          <a:bodyPr vert="horz" lIns="91440" tIns="45720" rIns="91440" bIns="45720" rtlCol="0" anchor="b"/>
          <a:lstStyle>
            <a:lvl1pPr algn="r">
              <a:defRPr sz="1200"/>
            </a:lvl1pPr>
          </a:lstStyle>
          <a:p>
            <a:fld id="{3207A034-ED28-44E1-8859-77E415D3450D}" type="slidenum">
              <a:rPr lang="fr-CH" smtClean="0"/>
              <a:t>‹#›</a:t>
            </a:fld>
            <a:endParaRPr lang="fr-CH"/>
          </a:p>
        </p:txBody>
      </p:sp>
    </p:spTree>
    <p:extLst>
      <p:ext uri="{BB962C8B-B14F-4D97-AF65-F5344CB8AC3E}">
        <p14:creationId xmlns:p14="http://schemas.microsoft.com/office/powerpoint/2010/main" val="20169117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a:defRPr sz="1200"/>
            </a:lvl1pPr>
          </a:lstStyle>
          <a:p>
            <a:fld id="{9C1C606E-37B3-4E9D-A207-96CC5C5DA815}" type="datetimeFigureOut">
              <a:rPr lang="en-US" smtClean="0"/>
              <a:t>18/10/2024</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450" y="4776788"/>
            <a:ext cx="5438775" cy="3908425"/>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lIns="91440" tIns="45720" rIns="91440" bIns="45720" rtlCol="0" anchor="b"/>
          <a:lstStyle>
            <a:lvl1pPr algn="r">
              <a:defRPr sz="1200"/>
            </a:lvl1pPr>
          </a:lstStyle>
          <a:p>
            <a:fld id="{B10B0FB6-EC6C-4176-81F7-17887AAC5679}" type="slidenum">
              <a:rPr lang="en-US" smtClean="0"/>
              <a:t>‹#›</a:t>
            </a:fld>
            <a:endParaRPr lang="en-US"/>
          </a:p>
        </p:txBody>
      </p:sp>
    </p:spTree>
    <p:extLst>
      <p:ext uri="{BB962C8B-B14F-4D97-AF65-F5344CB8AC3E}">
        <p14:creationId xmlns:p14="http://schemas.microsoft.com/office/powerpoint/2010/main" val="2636771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pic>
        <p:nvPicPr>
          <p:cNvPr id="11"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955472" y="363356"/>
            <a:ext cx="2908964" cy="785184"/>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3355973" y="439189"/>
            <a:ext cx="1968142" cy="639226"/>
          </a:xfrm>
          <a:prstGeom prst="rect">
            <a:avLst/>
          </a:prstGeom>
        </p:spPr>
      </p:pic>
    </p:spTree>
    <p:extLst>
      <p:ext uri="{BB962C8B-B14F-4D97-AF65-F5344CB8AC3E}">
        <p14:creationId xmlns:p14="http://schemas.microsoft.com/office/powerpoint/2010/main" val="30710898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userDrawn="1"/>
        </p:nvSpPr>
        <p:spPr>
          <a:xfrm>
            <a:off x="0" y="6432404"/>
            <a:ext cx="12192000" cy="468658"/>
          </a:xfrm>
          <a:prstGeom prst="rect">
            <a:avLst/>
          </a:prstGeom>
          <a:gradFill>
            <a:gsLst>
              <a:gs pos="55000">
                <a:schemeClr val="bg1"/>
              </a:gs>
              <a:gs pos="0">
                <a:schemeClr val="bg1">
                  <a:lumMod val="8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91692" y="6486541"/>
            <a:ext cx="1352727" cy="365126"/>
          </a:xfrm>
          <a:prstGeom prst="rect">
            <a:avLst/>
          </a:prstGeom>
        </p:spPr>
      </p:pic>
      <p:pic>
        <p:nvPicPr>
          <p:cNvPr id="9" name="Picture 8"/>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785947" y="6513813"/>
            <a:ext cx="990600" cy="321734"/>
          </a:xfrm>
          <a:prstGeom prst="rect">
            <a:avLst/>
          </a:prstGeom>
        </p:spPr>
      </p:pic>
      <p:sp>
        <p:nvSpPr>
          <p:cNvPr id="10" name="Slide Number Placeholder 5"/>
          <p:cNvSpPr>
            <a:spLocks noGrp="1"/>
          </p:cNvSpPr>
          <p:nvPr>
            <p:ph type="sldNum" sz="quarter" idx="12"/>
          </p:nvPr>
        </p:nvSpPr>
        <p:spPr>
          <a:xfrm>
            <a:off x="9915180" y="6483675"/>
            <a:ext cx="1438619" cy="365125"/>
          </a:xfrm>
        </p:spPr>
        <p:txBody>
          <a:bodyPr/>
          <a:lstStyle/>
          <a:p>
            <a:fld id="{AC11F01A-B187-4E96-A42F-7B20626A13B5}" type="slidenum">
              <a:rPr lang="fr-CH" smtClean="0"/>
              <a:t>‹#›</a:t>
            </a:fld>
            <a:endParaRPr lang="fr-CH"/>
          </a:p>
        </p:txBody>
      </p:sp>
      <p:sp>
        <p:nvSpPr>
          <p:cNvPr id="11" name="Rectangle 10"/>
          <p:cNvSpPr/>
          <p:nvPr userDrawn="1"/>
        </p:nvSpPr>
        <p:spPr>
          <a:xfrm>
            <a:off x="3953100" y="6527737"/>
            <a:ext cx="6355616" cy="276999"/>
          </a:xfrm>
          <a:prstGeom prst="rect">
            <a:avLst/>
          </a:prstGeom>
        </p:spPr>
        <p:txBody>
          <a:bodyPr wrap="square">
            <a:spAutoFit/>
          </a:bodyPr>
          <a:lstStyle/>
          <a:p>
            <a:pPr algn="ctr"/>
            <a:r>
              <a:rPr lang="fr-CH" sz="1200" dirty="0" smtClean="0">
                <a:solidFill>
                  <a:schemeClr val="bg1">
                    <a:lumMod val="50000"/>
                  </a:schemeClr>
                </a:solidFill>
              </a:rPr>
              <a:t>Formation des Opérateurs économiques agréés et des Représentants en douane | </a:t>
            </a:r>
            <a:r>
              <a:rPr lang="fr-CH" sz="1200" smtClean="0">
                <a:solidFill>
                  <a:schemeClr val="bg1">
                    <a:lumMod val="50000"/>
                  </a:schemeClr>
                </a:solidFill>
              </a:rPr>
              <a:t>Session 2024</a:t>
            </a:r>
            <a:endParaRPr lang="fr-CH" sz="1200" dirty="0" smtClean="0">
              <a:solidFill>
                <a:schemeClr val="bg1">
                  <a:lumMod val="50000"/>
                </a:schemeClr>
              </a:solidFill>
            </a:endParaRPr>
          </a:p>
        </p:txBody>
      </p:sp>
    </p:spTree>
    <p:extLst>
      <p:ext uri="{BB962C8B-B14F-4D97-AF65-F5344CB8AC3E}">
        <p14:creationId xmlns:p14="http://schemas.microsoft.com/office/powerpoint/2010/main" val="1299505886"/>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7" name="Rectangle 6"/>
          <p:cNvSpPr/>
          <p:nvPr userDrawn="1"/>
        </p:nvSpPr>
        <p:spPr>
          <a:xfrm>
            <a:off x="0" y="6390282"/>
            <a:ext cx="12192000" cy="468658"/>
          </a:xfrm>
          <a:prstGeom prst="rect">
            <a:avLst/>
          </a:prstGeom>
          <a:gradFill>
            <a:gsLst>
              <a:gs pos="55000">
                <a:schemeClr val="bg1"/>
              </a:gs>
              <a:gs pos="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91692" y="6451816"/>
            <a:ext cx="1352727" cy="365126"/>
          </a:xfrm>
          <a:prstGeom prst="rect">
            <a:avLst/>
          </a:prstGeom>
        </p:spPr>
      </p:pic>
      <p:pic>
        <p:nvPicPr>
          <p:cNvPr id="9" name="Picture 8"/>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785947" y="6479088"/>
            <a:ext cx="990600" cy="321734"/>
          </a:xfrm>
          <a:prstGeom prst="rect">
            <a:avLst/>
          </a:prstGeom>
        </p:spPr>
      </p:pic>
      <p:sp>
        <p:nvSpPr>
          <p:cNvPr id="10" name="Slide Number Placeholder 5"/>
          <p:cNvSpPr>
            <a:spLocks noGrp="1"/>
          </p:cNvSpPr>
          <p:nvPr>
            <p:ph type="sldNum" sz="quarter" idx="12"/>
          </p:nvPr>
        </p:nvSpPr>
        <p:spPr>
          <a:xfrm>
            <a:off x="9915180" y="6460525"/>
            <a:ext cx="1438619" cy="365125"/>
          </a:xfrm>
        </p:spPr>
        <p:txBody>
          <a:bodyPr/>
          <a:lstStyle/>
          <a:p>
            <a:fld id="{AC11F01A-B187-4E96-A42F-7B20626A13B5}" type="slidenum">
              <a:rPr lang="fr-CH" smtClean="0"/>
              <a:t>‹#›</a:t>
            </a:fld>
            <a:endParaRPr lang="fr-CH"/>
          </a:p>
        </p:txBody>
      </p:sp>
      <p:sp>
        <p:nvSpPr>
          <p:cNvPr id="11" name="Rectangle 10"/>
          <p:cNvSpPr/>
          <p:nvPr userDrawn="1"/>
        </p:nvSpPr>
        <p:spPr>
          <a:xfrm>
            <a:off x="3559564" y="6504587"/>
            <a:ext cx="6355616" cy="276999"/>
          </a:xfrm>
          <a:prstGeom prst="rect">
            <a:avLst/>
          </a:prstGeom>
        </p:spPr>
        <p:txBody>
          <a:bodyPr wrap="square">
            <a:spAutoFit/>
          </a:bodyPr>
          <a:lstStyle/>
          <a:p>
            <a:pPr algn="ctr"/>
            <a:r>
              <a:rPr lang="fr-CH" sz="1200" dirty="0" smtClean="0">
                <a:solidFill>
                  <a:schemeClr val="bg1">
                    <a:lumMod val="50000"/>
                  </a:schemeClr>
                </a:solidFill>
              </a:rPr>
              <a:t>Formation des Opérateurs économiques agréés et des Représentants en douane</a:t>
            </a:r>
          </a:p>
        </p:txBody>
      </p:sp>
    </p:spTree>
    <p:extLst>
      <p:ext uri="{BB962C8B-B14F-4D97-AF65-F5344CB8AC3E}">
        <p14:creationId xmlns:p14="http://schemas.microsoft.com/office/powerpoint/2010/main" val="1737295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Rectangle 7"/>
          <p:cNvSpPr/>
          <p:nvPr userDrawn="1"/>
        </p:nvSpPr>
        <p:spPr>
          <a:xfrm>
            <a:off x="0" y="6390282"/>
            <a:ext cx="12192000" cy="468658"/>
          </a:xfrm>
          <a:prstGeom prst="rect">
            <a:avLst/>
          </a:prstGeom>
          <a:gradFill>
            <a:gsLst>
              <a:gs pos="55000">
                <a:schemeClr val="bg1"/>
              </a:gs>
              <a:gs pos="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91692" y="6451816"/>
            <a:ext cx="1352727" cy="365126"/>
          </a:xfrm>
          <a:prstGeom prst="rect">
            <a:avLst/>
          </a:prstGeom>
        </p:spPr>
      </p:pic>
      <p:pic>
        <p:nvPicPr>
          <p:cNvPr id="10" name="Picture 9"/>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785947" y="6479088"/>
            <a:ext cx="990600" cy="321734"/>
          </a:xfrm>
          <a:prstGeom prst="rect">
            <a:avLst/>
          </a:prstGeom>
        </p:spPr>
      </p:pic>
      <p:sp>
        <p:nvSpPr>
          <p:cNvPr id="11" name="Slide Number Placeholder 5"/>
          <p:cNvSpPr>
            <a:spLocks noGrp="1"/>
          </p:cNvSpPr>
          <p:nvPr>
            <p:ph type="sldNum" sz="quarter" idx="12"/>
          </p:nvPr>
        </p:nvSpPr>
        <p:spPr>
          <a:xfrm>
            <a:off x="9915180" y="6460525"/>
            <a:ext cx="1438619" cy="365125"/>
          </a:xfrm>
        </p:spPr>
        <p:txBody>
          <a:bodyPr/>
          <a:lstStyle/>
          <a:p>
            <a:fld id="{AC11F01A-B187-4E96-A42F-7B20626A13B5}" type="slidenum">
              <a:rPr lang="fr-CH" smtClean="0"/>
              <a:t>‹#›</a:t>
            </a:fld>
            <a:endParaRPr lang="fr-CH"/>
          </a:p>
        </p:txBody>
      </p:sp>
      <p:sp>
        <p:nvSpPr>
          <p:cNvPr id="12" name="Rectangle 11"/>
          <p:cNvSpPr/>
          <p:nvPr userDrawn="1"/>
        </p:nvSpPr>
        <p:spPr>
          <a:xfrm>
            <a:off x="3559564" y="6504587"/>
            <a:ext cx="6355616" cy="276999"/>
          </a:xfrm>
          <a:prstGeom prst="rect">
            <a:avLst/>
          </a:prstGeom>
        </p:spPr>
        <p:txBody>
          <a:bodyPr wrap="square">
            <a:spAutoFit/>
          </a:bodyPr>
          <a:lstStyle/>
          <a:p>
            <a:pPr algn="ctr"/>
            <a:r>
              <a:rPr lang="fr-CH" sz="1200" dirty="0" smtClean="0">
                <a:solidFill>
                  <a:schemeClr val="bg1">
                    <a:lumMod val="50000"/>
                  </a:schemeClr>
                </a:solidFill>
              </a:rPr>
              <a:t>Formation des Opérateurs économiques agréés et des Représentants en douane</a:t>
            </a:r>
          </a:p>
        </p:txBody>
      </p:sp>
    </p:spTree>
    <p:extLst>
      <p:ext uri="{BB962C8B-B14F-4D97-AF65-F5344CB8AC3E}">
        <p14:creationId xmlns:p14="http://schemas.microsoft.com/office/powerpoint/2010/main" val="2236084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0" name="Rectangle 9"/>
          <p:cNvSpPr/>
          <p:nvPr userDrawn="1"/>
        </p:nvSpPr>
        <p:spPr>
          <a:xfrm>
            <a:off x="0" y="6390282"/>
            <a:ext cx="12192000" cy="468658"/>
          </a:xfrm>
          <a:prstGeom prst="rect">
            <a:avLst/>
          </a:prstGeom>
          <a:gradFill>
            <a:gsLst>
              <a:gs pos="55000">
                <a:schemeClr val="bg1"/>
              </a:gs>
              <a:gs pos="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91692" y="6451816"/>
            <a:ext cx="1352727" cy="365126"/>
          </a:xfrm>
          <a:prstGeom prst="rect">
            <a:avLst/>
          </a:prstGeom>
        </p:spPr>
      </p:pic>
      <p:pic>
        <p:nvPicPr>
          <p:cNvPr id="12" name="Pictur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785947" y="6479088"/>
            <a:ext cx="990600" cy="321734"/>
          </a:xfrm>
          <a:prstGeom prst="rect">
            <a:avLst/>
          </a:prstGeom>
        </p:spPr>
      </p:pic>
      <p:sp>
        <p:nvSpPr>
          <p:cNvPr id="13" name="Slide Number Placeholder 5"/>
          <p:cNvSpPr>
            <a:spLocks noGrp="1"/>
          </p:cNvSpPr>
          <p:nvPr>
            <p:ph type="sldNum" sz="quarter" idx="12"/>
          </p:nvPr>
        </p:nvSpPr>
        <p:spPr>
          <a:xfrm>
            <a:off x="9915180" y="6460525"/>
            <a:ext cx="1438619" cy="365125"/>
          </a:xfrm>
        </p:spPr>
        <p:txBody>
          <a:bodyPr/>
          <a:lstStyle/>
          <a:p>
            <a:fld id="{AC11F01A-B187-4E96-A42F-7B20626A13B5}" type="slidenum">
              <a:rPr lang="fr-CH" smtClean="0"/>
              <a:t>‹#›</a:t>
            </a:fld>
            <a:endParaRPr lang="fr-CH"/>
          </a:p>
        </p:txBody>
      </p:sp>
      <p:sp>
        <p:nvSpPr>
          <p:cNvPr id="14" name="Rectangle 13"/>
          <p:cNvSpPr/>
          <p:nvPr userDrawn="1"/>
        </p:nvSpPr>
        <p:spPr>
          <a:xfrm>
            <a:off x="3559564" y="6504587"/>
            <a:ext cx="6355616" cy="276999"/>
          </a:xfrm>
          <a:prstGeom prst="rect">
            <a:avLst/>
          </a:prstGeom>
        </p:spPr>
        <p:txBody>
          <a:bodyPr wrap="square">
            <a:spAutoFit/>
          </a:bodyPr>
          <a:lstStyle/>
          <a:p>
            <a:pPr algn="ctr"/>
            <a:r>
              <a:rPr lang="fr-CH" sz="1200" dirty="0" smtClean="0">
                <a:solidFill>
                  <a:schemeClr val="bg1">
                    <a:lumMod val="50000"/>
                  </a:schemeClr>
                </a:solidFill>
              </a:rPr>
              <a:t>Formation des Opérateurs économiques agréés et des Représentants en douane</a:t>
            </a:r>
          </a:p>
        </p:txBody>
      </p:sp>
    </p:spTree>
    <p:extLst>
      <p:ext uri="{BB962C8B-B14F-4D97-AF65-F5344CB8AC3E}">
        <p14:creationId xmlns:p14="http://schemas.microsoft.com/office/powerpoint/2010/main" val="1894918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6" name="Rectangle 5"/>
          <p:cNvSpPr/>
          <p:nvPr userDrawn="1"/>
        </p:nvSpPr>
        <p:spPr>
          <a:xfrm>
            <a:off x="0" y="6390282"/>
            <a:ext cx="12192000" cy="468658"/>
          </a:xfrm>
          <a:prstGeom prst="rect">
            <a:avLst/>
          </a:prstGeom>
          <a:gradFill>
            <a:gsLst>
              <a:gs pos="55000">
                <a:schemeClr val="bg1"/>
              </a:gs>
              <a:gs pos="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91692" y="6451816"/>
            <a:ext cx="1352727" cy="365126"/>
          </a:xfrm>
          <a:prstGeom prst="rect">
            <a:avLst/>
          </a:prstGeom>
        </p:spPr>
      </p:pic>
      <p:pic>
        <p:nvPicPr>
          <p:cNvPr id="8" name="Picture 7"/>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785947" y="6479088"/>
            <a:ext cx="990600" cy="321734"/>
          </a:xfrm>
          <a:prstGeom prst="rect">
            <a:avLst/>
          </a:prstGeom>
        </p:spPr>
      </p:pic>
      <p:sp>
        <p:nvSpPr>
          <p:cNvPr id="9" name="Slide Number Placeholder 5"/>
          <p:cNvSpPr>
            <a:spLocks noGrp="1"/>
          </p:cNvSpPr>
          <p:nvPr>
            <p:ph type="sldNum" sz="quarter" idx="12"/>
          </p:nvPr>
        </p:nvSpPr>
        <p:spPr>
          <a:xfrm>
            <a:off x="9915180" y="6460525"/>
            <a:ext cx="1438619" cy="365125"/>
          </a:xfrm>
        </p:spPr>
        <p:txBody>
          <a:bodyPr/>
          <a:lstStyle/>
          <a:p>
            <a:fld id="{AC11F01A-B187-4E96-A42F-7B20626A13B5}" type="slidenum">
              <a:rPr lang="fr-CH" smtClean="0"/>
              <a:t>‹#›</a:t>
            </a:fld>
            <a:endParaRPr lang="fr-CH"/>
          </a:p>
        </p:txBody>
      </p:sp>
      <p:sp>
        <p:nvSpPr>
          <p:cNvPr id="10" name="Rectangle 9"/>
          <p:cNvSpPr/>
          <p:nvPr userDrawn="1"/>
        </p:nvSpPr>
        <p:spPr>
          <a:xfrm>
            <a:off x="3559564" y="6504587"/>
            <a:ext cx="6355616" cy="276999"/>
          </a:xfrm>
          <a:prstGeom prst="rect">
            <a:avLst/>
          </a:prstGeom>
        </p:spPr>
        <p:txBody>
          <a:bodyPr wrap="square">
            <a:spAutoFit/>
          </a:bodyPr>
          <a:lstStyle/>
          <a:p>
            <a:pPr algn="ctr"/>
            <a:r>
              <a:rPr lang="fr-CH" sz="1200" dirty="0" smtClean="0">
                <a:solidFill>
                  <a:schemeClr val="bg1">
                    <a:lumMod val="50000"/>
                  </a:schemeClr>
                </a:solidFill>
              </a:rPr>
              <a:t>Formation des Opérateurs économiques agréés et des Représentants en douane</a:t>
            </a:r>
          </a:p>
        </p:txBody>
      </p:sp>
    </p:spTree>
    <p:extLst>
      <p:ext uri="{BB962C8B-B14F-4D97-AF65-F5344CB8AC3E}">
        <p14:creationId xmlns:p14="http://schemas.microsoft.com/office/powerpoint/2010/main" val="2689048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5" name="Rectangle 4"/>
          <p:cNvSpPr/>
          <p:nvPr userDrawn="1"/>
        </p:nvSpPr>
        <p:spPr>
          <a:xfrm>
            <a:off x="0" y="6390282"/>
            <a:ext cx="12192000" cy="468658"/>
          </a:xfrm>
          <a:prstGeom prst="rect">
            <a:avLst/>
          </a:prstGeom>
          <a:gradFill>
            <a:gsLst>
              <a:gs pos="55000">
                <a:schemeClr val="bg1"/>
              </a:gs>
              <a:gs pos="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91692" y="6451816"/>
            <a:ext cx="1352727" cy="365126"/>
          </a:xfrm>
          <a:prstGeom prst="rect">
            <a:avLst/>
          </a:prstGeom>
        </p:spPr>
      </p:pic>
      <p:pic>
        <p:nvPicPr>
          <p:cNvPr id="7" name="Picture 6"/>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785947" y="6479088"/>
            <a:ext cx="990600" cy="321734"/>
          </a:xfrm>
          <a:prstGeom prst="rect">
            <a:avLst/>
          </a:prstGeom>
        </p:spPr>
      </p:pic>
      <p:sp>
        <p:nvSpPr>
          <p:cNvPr id="8" name="Slide Number Placeholder 5"/>
          <p:cNvSpPr>
            <a:spLocks noGrp="1"/>
          </p:cNvSpPr>
          <p:nvPr>
            <p:ph type="sldNum" sz="quarter" idx="12"/>
          </p:nvPr>
        </p:nvSpPr>
        <p:spPr>
          <a:xfrm>
            <a:off x="9915180" y="6460525"/>
            <a:ext cx="1438619" cy="365125"/>
          </a:xfrm>
        </p:spPr>
        <p:txBody>
          <a:bodyPr/>
          <a:lstStyle/>
          <a:p>
            <a:fld id="{AC11F01A-B187-4E96-A42F-7B20626A13B5}" type="slidenum">
              <a:rPr lang="fr-CH" smtClean="0"/>
              <a:t>‹#›</a:t>
            </a:fld>
            <a:endParaRPr lang="fr-CH"/>
          </a:p>
        </p:txBody>
      </p:sp>
      <p:sp>
        <p:nvSpPr>
          <p:cNvPr id="9" name="Rectangle 8"/>
          <p:cNvSpPr/>
          <p:nvPr userDrawn="1"/>
        </p:nvSpPr>
        <p:spPr>
          <a:xfrm>
            <a:off x="3559564" y="6504587"/>
            <a:ext cx="6355616" cy="276999"/>
          </a:xfrm>
          <a:prstGeom prst="rect">
            <a:avLst/>
          </a:prstGeom>
        </p:spPr>
        <p:txBody>
          <a:bodyPr wrap="square">
            <a:spAutoFit/>
          </a:bodyPr>
          <a:lstStyle/>
          <a:p>
            <a:pPr algn="ctr"/>
            <a:r>
              <a:rPr lang="fr-CH" sz="1200" dirty="0" smtClean="0">
                <a:solidFill>
                  <a:schemeClr val="bg1">
                    <a:lumMod val="50000"/>
                  </a:schemeClr>
                </a:solidFill>
              </a:rPr>
              <a:t>Formation des Opérateurs économiques agréés et des Représentants en douane</a:t>
            </a:r>
          </a:p>
        </p:txBody>
      </p:sp>
    </p:spTree>
    <p:extLst>
      <p:ext uri="{BB962C8B-B14F-4D97-AF65-F5344CB8AC3E}">
        <p14:creationId xmlns:p14="http://schemas.microsoft.com/office/powerpoint/2010/main" val="33201802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8" name="Rectangle 7"/>
          <p:cNvSpPr/>
          <p:nvPr userDrawn="1"/>
        </p:nvSpPr>
        <p:spPr>
          <a:xfrm>
            <a:off x="0" y="6390282"/>
            <a:ext cx="12192000" cy="468658"/>
          </a:xfrm>
          <a:prstGeom prst="rect">
            <a:avLst/>
          </a:prstGeom>
          <a:gradFill>
            <a:gsLst>
              <a:gs pos="55000">
                <a:schemeClr val="bg1"/>
              </a:gs>
              <a:gs pos="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91692" y="6451816"/>
            <a:ext cx="1352727" cy="365126"/>
          </a:xfrm>
          <a:prstGeom prst="rect">
            <a:avLst/>
          </a:prstGeom>
        </p:spPr>
      </p:pic>
      <p:pic>
        <p:nvPicPr>
          <p:cNvPr id="10" name="Picture 9"/>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785947" y="6479088"/>
            <a:ext cx="990600" cy="321734"/>
          </a:xfrm>
          <a:prstGeom prst="rect">
            <a:avLst/>
          </a:prstGeom>
        </p:spPr>
      </p:pic>
      <p:sp>
        <p:nvSpPr>
          <p:cNvPr id="11" name="Slide Number Placeholder 5"/>
          <p:cNvSpPr>
            <a:spLocks noGrp="1"/>
          </p:cNvSpPr>
          <p:nvPr>
            <p:ph type="sldNum" sz="quarter" idx="12"/>
          </p:nvPr>
        </p:nvSpPr>
        <p:spPr>
          <a:xfrm>
            <a:off x="9915180" y="6460525"/>
            <a:ext cx="1438619" cy="365125"/>
          </a:xfrm>
        </p:spPr>
        <p:txBody>
          <a:bodyPr/>
          <a:lstStyle/>
          <a:p>
            <a:fld id="{AC11F01A-B187-4E96-A42F-7B20626A13B5}" type="slidenum">
              <a:rPr lang="fr-CH" smtClean="0"/>
              <a:t>‹#›</a:t>
            </a:fld>
            <a:endParaRPr lang="fr-CH"/>
          </a:p>
        </p:txBody>
      </p:sp>
      <p:sp>
        <p:nvSpPr>
          <p:cNvPr id="12" name="Rectangle 11"/>
          <p:cNvSpPr/>
          <p:nvPr userDrawn="1"/>
        </p:nvSpPr>
        <p:spPr>
          <a:xfrm>
            <a:off x="3559564" y="6504587"/>
            <a:ext cx="6355616" cy="276999"/>
          </a:xfrm>
          <a:prstGeom prst="rect">
            <a:avLst/>
          </a:prstGeom>
        </p:spPr>
        <p:txBody>
          <a:bodyPr wrap="square">
            <a:spAutoFit/>
          </a:bodyPr>
          <a:lstStyle/>
          <a:p>
            <a:pPr algn="ctr"/>
            <a:r>
              <a:rPr lang="fr-CH" sz="1200" dirty="0" smtClean="0">
                <a:solidFill>
                  <a:schemeClr val="bg1">
                    <a:lumMod val="50000"/>
                  </a:schemeClr>
                </a:solidFill>
              </a:rPr>
              <a:t>Formation des Opérateurs économiques agréés et des Représentants en douane</a:t>
            </a:r>
          </a:p>
        </p:txBody>
      </p:sp>
    </p:spTree>
    <p:extLst>
      <p:ext uri="{BB962C8B-B14F-4D97-AF65-F5344CB8AC3E}">
        <p14:creationId xmlns:p14="http://schemas.microsoft.com/office/powerpoint/2010/main" val="1553986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8" name="Rectangle 7"/>
          <p:cNvSpPr/>
          <p:nvPr userDrawn="1"/>
        </p:nvSpPr>
        <p:spPr>
          <a:xfrm>
            <a:off x="0" y="6390282"/>
            <a:ext cx="12192000" cy="468658"/>
          </a:xfrm>
          <a:prstGeom prst="rect">
            <a:avLst/>
          </a:prstGeom>
          <a:gradFill>
            <a:gsLst>
              <a:gs pos="55000">
                <a:schemeClr val="bg1"/>
              </a:gs>
              <a:gs pos="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91692" y="6451816"/>
            <a:ext cx="1352727" cy="365126"/>
          </a:xfrm>
          <a:prstGeom prst="rect">
            <a:avLst/>
          </a:prstGeom>
        </p:spPr>
      </p:pic>
      <p:pic>
        <p:nvPicPr>
          <p:cNvPr id="10" name="Picture 9"/>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785947" y="6479088"/>
            <a:ext cx="990600" cy="321734"/>
          </a:xfrm>
          <a:prstGeom prst="rect">
            <a:avLst/>
          </a:prstGeom>
        </p:spPr>
      </p:pic>
      <p:sp>
        <p:nvSpPr>
          <p:cNvPr id="11" name="Slide Number Placeholder 5"/>
          <p:cNvSpPr>
            <a:spLocks noGrp="1"/>
          </p:cNvSpPr>
          <p:nvPr>
            <p:ph type="sldNum" sz="quarter" idx="12"/>
          </p:nvPr>
        </p:nvSpPr>
        <p:spPr>
          <a:xfrm>
            <a:off x="9915180" y="6460525"/>
            <a:ext cx="1438619" cy="365125"/>
          </a:xfrm>
        </p:spPr>
        <p:txBody>
          <a:bodyPr/>
          <a:lstStyle/>
          <a:p>
            <a:fld id="{AC11F01A-B187-4E96-A42F-7B20626A13B5}" type="slidenum">
              <a:rPr lang="fr-CH" smtClean="0"/>
              <a:t>‹#›</a:t>
            </a:fld>
            <a:endParaRPr lang="fr-CH"/>
          </a:p>
        </p:txBody>
      </p:sp>
      <p:sp>
        <p:nvSpPr>
          <p:cNvPr id="12" name="Rectangle 11"/>
          <p:cNvSpPr/>
          <p:nvPr userDrawn="1"/>
        </p:nvSpPr>
        <p:spPr>
          <a:xfrm>
            <a:off x="3559564" y="6504587"/>
            <a:ext cx="6355616" cy="276999"/>
          </a:xfrm>
          <a:prstGeom prst="rect">
            <a:avLst/>
          </a:prstGeom>
        </p:spPr>
        <p:txBody>
          <a:bodyPr wrap="square">
            <a:spAutoFit/>
          </a:bodyPr>
          <a:lstStyle/>
          <a:p>
            <a:pPr algn="ctr"/>
            <a:r>
              <a:rPr lang="fr-CH" sz="1200" dirty="0" smtClean="0">
                <a:solidFill>
                  <a:schemeClr val="bg1">
                    <a:lumMod val="50000"/>
                  </a:schemeClr>
                </a:solidFill>
              </a:rPr>
              <a:t>Formation des Opérateurs économiques agréés et des Représentants en douane</a:t>
            </a:r>
          </a:p>
        </p:txBody>
      </p:sp>
    </p:spTree>
    <p:extLst>
      <p:ext uri="{BB962C8B-B14F-4D97-AF65-F5344CB8AC3E}">
        <p14:creationId xmlns:p14="http://schemas.microsoft.com/office/powerpoint/2010/main" val="33061477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userDrawn="1"/>
        </p:nvSpPr>
        <p:spPr>
          <a:xfrm>
            <a:off x="0" y="6390282"/>
            <a:ext cx="12192000" cy="468658"/>
          </a:xfrm>
          <a:prstGeom prst="rect">
            <a:avLst/>
          </a:prstGeom>
          <a:gradFill>
            <a:gsLst>
              <a:gs pos="55000">
                <a:schemeClr val="bg1"/>
              </a:gs>
              <a:gs pos="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91692" y="6451816"/>
            <a:ext cx="1352727" cy="365126"/>
          </a:xfrm>
          <a:prstGeom prst="rect">
            <a:avLst/>
          </a:prstGeom>
        </p:spPr>
      </p:pic>
      <p:pic>
        <p:nvPicPr>
          <p:cNvPr id="9" name="Picture 8"/>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785947" y="6479088"/>
            <a:ext cx="990600" cy="321734"/>
          </a:xfrm>
          <a:prstGeom prst="rect">
            <a:avLst/>
          </a:prstGeom>
        </p:spPr>
      </p:pic>
      <p:sp>
        <p:nvSpPr>
          <p:cNvPr id="10" name="Slide Number Placeholder 5"/>
          <p:cNvSpPr>
            <a:spLocks noGrp="1"/>
          </p:cNvSpPr>
          <p:nvPr>
            <p:ph type="sldNum" sz="quarter" idx="12"/>
          </p:nvPr>
        </p:nvSpPr>
        <p:spPr>
          <a:xfrm>
            <a:off x="9915180" y="6460525"/>
            <a:ext cx="1438619" cy="365125"/>
          </a:xfrm>
        </p:spPr>
        <p:txBody>
          <a:bodyPr/>
          <a:lstStyle/>
          <a:p>
            <a:fld id="{AC11F01A-B187-4E96-A42F-7B20626A13B5}" type="slidenum">
              <a:rPr lang="fr-CH" smtClean="0"/>
              <a:t>‹#›</a:t>
            </a:fld>
            <a:endParaRPr lang="fr-CH"/>
          </a:p>
        </p:txBody>
      </p:sp>
      <p:sp>
        <p:nvSpPr>
          <p:cNvPr id="11" name="Rectangle 10"/>
          <p:cNvSpPr/>
          <p:nvPr userDrawn="1"/>
        </p:nvSpPr>
        <p:spPr>
          <a:xfrm>
            <a:off x="3559564" y="6504587"/>
            <a:ext cx="6355616" cy="276999"/>
          </a:xfrm>
          <a:prstGeom prst="rect">
            <a:avLst/>
          </a:prstGeom>
        </p:spPr>
        <p:txBody>
          <a:bodyPr wrap="square">
            <a:spAutoFit/>
          </a:bodyPr>
          <a:lstStyle/>
          <a:p>
            <a:pPr algn="ctr"/>
            <a:r>
              <a:rPr lang="fr-CH" sz="1200" dirty="0" smtClean="0">
                <a:solidFill>
                  <a:schemeClr val="bg1">
                    <a:lumMod val="50000"/>
                  </a:schemeClr>
                </a:solidFill>
              </a:rPr>
              <a:t>Formation des Opérateurs économiques agréés et des Représentants en douane</a:t>
            </a:r>
          </a:p>
        </p:txBody>
      </p:sp>
    </p:spTree>
    <p:extLst>
      <p:ext uri="{BB962C8B-B14F-4D97-AF65-F5344CB8AC3E}">
        <p14:creationId xmlns:p14="http://schemas.microsoft.com/office/powerpoint/2010/main" val="2533992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Rectangle 6"/>
          <p:cNvSpPr/>
          <p:nvPr userDrawn="1"/>
        </p:nvSpPr>
        <p:spPr>
          <a:xfrm>
            <a:off x="0" y="6390282"/>
            <a:ext cx="12192000" cy="468658"/>
          </a:xfrm>
          <a:prstGeom prst="rect">
            <a:avLst/>
          </a:prstGeom>
          <a:gradFill>
            <a:gsLst>
              <a:gs pos="55000">
                <a:schemeClr val="bg1"/>
              </a:gs>
              <a:gs pos="0">
                <a:schemeClr val="accent1">
                  <a:lumMod val="30000"/>
                  <a:lumOff val="70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fik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991692" y="6451816"/>
            <a:ext cx="1352727" cy="365126"/>
          </a:xfrm>
          <a:prstGeom prst="rect">
            <a:avLst/>
          </a:prstGeom>
        </p:spPr>
      </p:pic>
      <p:pic>
        <p:nvPicPr>
          <p:cNvPr id="9" name="Picture 8"/>
          <p:cNvPicPr>
            <a:picLocks noChangeAspect="1"/>
          </p:cNvPicPr>
          <p:nvPr userDrawn="1"/>
        </p:nvPicPr>
        <p:blipFill rotWithShape="1">
          <a:blip r:embed="rId3" cstate="print">
            <a:extLst>
              <a:ext uri="{28A0092B-C50C-407E-A947-70E740481C1C}">
                <a14:useLocalDpi xmlns:a14="http://schemas.microsoft.com/office/drawing/2010/main" val="0"/>
              </a:ext>
            </a:extLst>
          </a:blip>
          <a:srcRect l="20711" t="32118" r="20187" b="31320"/>
          <a:stretch/>
        </p:blipFill>
        <p:spPr>
          <a:xfrm>
            <a:off x="785947" y="6479088"/>
            <a:ext cx="990600" cy="321734"/>
          </a:xfrm>
          <a:prstGeom prst="rect">
            <a:avLst/>
          </a:prstGeom>
        </p:spPr>
      </p:pic>
      <p:sp>
        <p:nvSpPr>
          <p:cNvPr id="10" name="Slide Number Placeholder 5"/>
          <p:cNvSpPr>
            <a:spLocks noGrp="1"/>
          </p:cNvSpPr>
          <p:nvPr>
            <p:ph type="sldNum" sz="quarter" idx="12"/>
          </p:nvPr>
        </p:nvSpPr>
        <p:spPr>
          <a:xfrm>
            <a:off x="9915180" y="6460525"/>
            <a:ext cx="1438619" cy="365125"/>
          </a:xfrm>
        </p:spPr>
        <p:txBody>
          <a:bodyPr/>
          <a:lstStyle/>
          <a:p>
            <a:fld id="{AC11F01A-B187-4E96-A42F-7B20626A13B5}" type="slidenum">
              <a:rPr lang="fr-CH" smtClean="0"/>
              <a:t>‹#›</a:t>
            </a:fld>
            <a:endParaRPr lang="fr-CH"/>
          </a:p>
        </p:txBody>
      </p:sp>
      <p:sp>
        <p:nvSpPr>
          <p:cNvPr id="11" name="Rectangle 10"/>
          <p:cNvSpPr/>
          <p:nvPr userDrawn="1"/>
        </p:nvSpPr>
        <p:spPr>
          <a:xfrm>
            <a:off x="3559564" y="6504587"/>
            <a:ext cx="6355616" cy="276999"/>
          </a:xfrm>
          <a:prstGeom prst="rect">
            <a:avLst/>
          </a:prstGeom>
        </p:spPr>
        <p:txBody>
          <a:bodyPr wrap="square">
            <a:spAutoFit/>
          </a:bodyPr>
          <a:lstStyle/>
          <a:p>
            <a:pPr algn="ctr"/>
            <a:r>
              <a:rPr lang="fr-CH" sz="1200" dirty="0" smtClean="0">
                <a:solidFill>
                  <a:schemeClr val="bg1">
                    <a:lumMod val="50000"/>
                  </a:schemeClr>
                </a:solidFill>
              </a:rPr>
              <a:t>Formation des Opérateurs économiques agréés et des Représentants en douane</a:t>
            </a:r>
          </a:p>
        </p:txBody>
      </p:sp>
    </p:spTree>
    <p:extLst>
      <p:ext uri="{BB962C8B-B14F-4D97-AF65-F5344CB8AC3E}">
        <p14:creationId xmlns:p14="http://schemas.microsoft.com/office/powerpoint/2010/main" val="34488811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30000">
              <a:schemeClr val="bg1"/>
            </a:gs>
            <a:gs pos="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fr-CH"/>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CH" smtClean="0"/>
              <a:t>Session 2024</a:t>
            </a:r>
            <a:endParaRPr lang="fr-CH"/>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C11F01A-B187-4E96-A42F-7B20626A13B5}" type="slidenum">
              <a:rPr lang="fr-CH" smtClean="0"/>
              <a:t>‹#›</a:t>
            </a:fld>
            <a:endParaRPr lang="fr-CH"/>
          </a:p>
        </p:txBody>
      </p:sp>
    </p:spTree>
    <p:extLst>
      <p:ext uri="{BB962C8B-B14F-4D97-AF65-F5344CB8AC3E}">
        <p14:creationId xmlns:p14="http://schemas.microsoft.com/office/powerpoint/2010/main" val="5591801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eur-lex.europa.eu/legal-content/FR/TXT/PDF/?uri=CELEX:02015R2446-20220101&amp;from=FR#page=127"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hyperlink" Target="https://eur-lex.europa.eu/legal-content/FR/TXT/PDF/?uri=CELEX:02015R2446-20220101&amp;from=FR#page=842" TargetMode="Externa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ubtitle 2"/>
          <p:cNvSpPr txBox="1">
            <a:spLocks/>
          </p:cNvSpPr>
          <p:nvPr/>
        </p:nvSpPr>
        <p:spPr>
          <a:xfrm>
            <a:off x="2181726" y="5390611"/>
            <a:ext cx="7845401" cy="117431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600"/>
              </a:spcAft>
            </a:pPr>
            <a:r>
              <a:rPr lang="en-US" sz="2800" dirty="0" smtClean="0"/>
              <a:t>Formation des </a:t>
            </a:r>
            <a:r>
              <a:rPr lang="en-US" sz="2800" dirty="0" err="1" smtClean="0"/>
              <a:t>Opérateurs</a:t>
            </a:r>
            <a:r>
              <a:rPr lang="en-US" sz="2800" dirty="0" smtClean="0"/>
              <a:t> </a:t>
            </a:r>
            <a:r>
              <a:rPr lang="en-US" sz="2800" dirty="0" err="1" smtClean="0"/>
              <a:t>économiques</a:t>
            </a:r>
            <a:r>
              <a:rPr lang="en-US" sz="2800" dirty="0" smtClean="0"/>
              <a:t> </a:t>
            </a:r>
            <a:r>
              <a:rPr lang="en-US" sz="2800" dirty="0" err="1" smtClean="0"/>
              <a:t>agréés</a:t>
            </a:r>
            <a:r>
              <a:rPr lang="en-US" sz="2800" dirty="0" smtClean="0"/>
              <a:t> </a:t>
            </a:r>
            <a:br>
              <a:rPr lang="en-US" sz="2800" dirty="0" smtClean="0"/>
            </a:br>
            <a:r>
              <a:rPr lang="en-US" sz="2800" dirty="0" smtClean="0"/>
              <a:t>et des </a:t>
            </a:r>
            <a:r>
              <a:rPr lang="en-US" sz="2800" dirty="0" err="1" smtClean="0"/>
              <a:t>Représentants</a:t>
            </a:r>
            <a:r>
              <a:rPr lang="en-US" sz="2800" dirty="0" smtClean="0"/>
              <a:t> </a:t>
            </a:r>
            <a:r>
              <a:rPr lang="en-US" sz="2800" dirty="0" err="1" smtClean="0"/>
              <a:t>en</a:t>
            </a:r>
            <a:r>
              <a:rPr lang="en-US" sz="2800" dirty="0" smtClean="0"/>
              <a:t> </a:t>
            </a:r>
            <a:r>
              <a:rPr lang="en-US" sz="2800" dirty="0" err="1" smtClean="0"/>
              <a:t>douane</a:t>
            </a:r>
            <a:endParaRPr lang="en-US" sz="2800" dirty="0" smtClean="0"/>
          </a:p>
          <a:p>
            <a:pPr lvl="1"/>
            <a:r>
              <a:rPr lang="en-US" sz="1800" smtClean="0"/>
              <a:t>Session 2024</a:t>
            </a:r>
            <a:endParaRPr lang="en-US" sz="1800" dirty="0"/>
          </a:p>
        </p:txBody>
      </p:sp>
      <p:pic>
        <p:nvPicPr>
          <p:cNvPr id="14" name="Picture 13"/>
          <p:cNvPicPr>
            <a:picLocks noChangeAspect="1"/>
          </p:cNvPicPr>
          <p:nvPr/>
        </p:nvPicPr>
        <p:blipFill>
          <a:blip r:embed="rId2"/>
          <a:stretch>
            <a:fillRect/>
          </a:stretch>
        </p:blipFill>
        <p:spPr>
          <a:xfrm>
            <a:off x="2598821" y="1542895"/>
            <a:ext cx="7058526" cy="3733251"/>
          </a:xfrm>
          <a:prstGeom prst="rect">
            <a:avLst/>
          </a:prstGeom>
        </p:spPr>
      </p:pic>
      <p:sp>
        <p:nvSpPr>
          <p:cNvPr id="15" name="Titel 1"/>
          <p:cNvSpPr txBox="1">
            <a:spLocks/>
          </p:cNvSpPr>
          <p:nvPr/>
        </p:nvSpPr>
        <p:spPr>
          <a:xfrm>
            <a:off x="2181727" y="1644491"/>
            <a:ext cx="7845400" cy="949325"/>
          </a:xfrm>
          <a:prstGeom prst="rect">
            <a:avLst/>
          </a:prstGeom>
          <a:effectLst>
            <a:outerShdw blurRad="50800" dist="38100" dir="2700000" algn="tl" rotWithShape="0">
              <a:prstClr val="black">
                <a:alpha val="66000"/>
              </a:prstClr>
            </a:outerShdw>
          </a:effectLst>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6600" b="1" dirty="0" smtClean="0">
                <a:solidFill>
                  <a:schemeClr val="bg1"/>
                </a:solidFill>
              </a:rPr>
              <a:t>Régimes </a:t>
            </a:r>
            <a:r>
              <a:rPr lang="en-US" sz="6600" b="1" dirty="0" err="1" smtClean="0">
                <a:solidFill>
                  <a:schemeClr val="bg1"/>
                </a:solidFill>
              </a:rPr>
              <a:t>particuliers</a:t>
            </a:r>
            <a:endParaRPr lang="fr-CH" sz="6600" b="1" dirty="0">
              <a:solidFill>
                <a:schemeClr val="bg1"/>
              </a:solidFill>
            </a:endParaRPr>
          </a:p>
        </p:txBody>
      </p:sp>
    </p:spTree>
    <p:extLst>
      <p:ext uri="{BB962C8B-B14F-4D97-AF65-F5344CB8AC3E}">
        <p14:creationId xmlns:p14="http://schemas.microsoft.com/office/powerpoint/2010/main" val="412030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Mission des régimes particuliers</a:t>
            </a:r>
            <a:endParaRPr lang="fr-CH" dirty="0"/>
          </a:p>
        </p:txBody>
      </p:sp>
      <p:sp>
        <p:nvSpPr>
          <p:cNvPr id="3" name="Content Placeholder 2"/>
          <p:cNvSpPr>
            <a:spLocks noGrp="1"/>
          </p:cNvSpPr>
          <p:nvPr>
            <p:ph idx="1"/>
          </p:nvPr>
        </p:nvSpPr>
        <p:spPr/>
        <p:txBody>
          <a:bodyPr/>
          <a:lstStyle/>
          <a:p>
            <a:r>
              <a:rPr lang="en-US" smtClean="0"/>
              <a:t>“Régime </a:t>
            </a:r>
            <a:r>
              <a:rPr lang="en-US" dirty="0" err="1" smtClean="0"/>
              <a:t>classique</a:t>
            </a:r>
            <a:r>
              <a:rPr lang="en-US" smtClean="0"/>
              <a:t>” est </a:t>
            </a:r>
            <a:r>
              <a:rPr lang="en-US" dirty="0" err="1" smtClean="0"/>
              <a:t>inapproprié</a:t>
            </a:r>
            <a:r>
              <a:rPr lang="en-US" dirty="0" smtClean="0"/>
              <a:t> </a:t>
            </a:r>
            <a:r>
              <a:rPr lang="en-US" dirty="0" err="1" smtClean="0"/>
              <a:t>dans</a:t>
            </a:r>
            <a:r>
              <a:rPr lang="en-US" dirty="0" smtClean="0"/>
              <a:t> </a:t>
            </a:r>
            <a:r>
              <a:rPr lang="en-US" dirty="0" err="1" smtClean="0"/>
              <a:t>certaines</a:t>
            </a:r>
            <a:r>
              <a:rPr lang="en-US" dirty="0" smtClean="0"/>
              <a:t> situations:</a:t>
            </a:r>
          </a:p>
          <a:p>
            <a:pPr lvl="1"/>
            <a:r>
              <a:rPr lang="en-US" smtClean="0"/>
              <a:t>Marchandises importées puis exportées en l’état</a:t>
            </a:r>
            <a:endParaRPr lang="en-US" dirty="0" smtClean="0"/>
          </a:p>
          <a:p>
            <a:pPr lvl="1"/>
            <a:r>
              <a:rPr lang="en-US"/>
              <a:t>Marchandises </a:t>
            </a:r>
            <a:r>
              <a:rPr lang="en-US" smtClean="0"/>
              <a:t>exportées </a:t>
            </a:r>
            <a:r>
              <a:rPr lang="en-US"/>
              <a:t>puis </a:t>
            </a:r>
            <a:r>
              <a:rPr lang="en-US" smtClean="0"/>
              <a:t>importées </a:t>
            </a:r>
            <a:r>
              <a:rPr lang="en-US"/>
              <a:t>en l’état</a:t>
            </a:r>
          </a:p>
          <a:p>
            <a:pPr lvl="1"/>
            <a:r>
              <a:rPr lang="en-US"/>
              <a:t>Marchandises importées puis exportées </a:t>
            </a:r>
            <a:r>
              <a:rPr lang="en-US" smtClean="0"/>
              <a:t>après ouvraison</a:t>
            </a:r>
            <a:endParaRPr lang="en-US"/>
          </a:p>
          <a:p>
            <a:pPr lvl="1"/>
            <a:r>
              <a:rPr lang="en-US"/>
              <a:t>Marchandises </a:t>
            </a:r>
            <a:r>
              <a:rPr lang="en-US" smtClean="0"/>
              <a:t>exportées </a:t>
            </a:r>
            <a:r>
              <a:rPr lang="en-US"/>
              <a:t>puis </a:t>
            </a:r>
            <a:r>
              <a:rPr lang="en-US" smtClean="0"/>
              <a:t>importées </a:t>
            </a:r>
            <a:r>
              <a:rPr lang="en-US"/>
              <a:t>après ouvraison</a:t>
            </a:r>
          </a:p>
          <a:p>
            <a:pPr lvl="1"/>
            <a:r>
              <a:rPr lang="en-US" smtClean="0"/>
              <a:t>…</a:t>
            </a:r>
            <a:endParaRPr lang="en-US" dirty="0" smtClean="0"/>
          </a:p>
          <a:p>
            <a:r>
              <a:rPr lang="en-US" smtClean="0"/>
              <a:t>But: soutenir </a:t>
            </a:r>
            <a:r>
              <a:rPr lang="en-US" dirty="0" smtClean="0"/>
              <a:t>les </a:t>
            </a:r>
            <a:r>
              <a:rPr lang="en-US" dirty="0" err="1" smtClean="0"/>
              <a:t>entreprises</a:t>
            </a:r>
            <a:r>
              <a:rPr lang="en-US" dirty="0" smtClean="0"/>
              <a:t> et </a:t>
            </a:r>
            <a:r>
              <a:rPr lang="en-US" dirty="0" err="1" smtClean="0"/>
              <a:t>personnes</a:t>
            </a:r>
            <a:r>
              <a:rPr lang="en-US" dirty="0" smtClean="0"/>
              <a:t> </a:t>
            </a:r>
            <a:r>
              <a:rPr lang="en-US" dirty="0" err="1" smtClean="0"/>
              <a:t>privées</a:t>
            </a:r>
            <a:r>
              <a:rPr lang="en-US" dirty="0" smtClean="0"/>
              <a:t> de </a:t>
            </a:r>
            <a:r>
              <a:rPr lang="en-US" dirty="0" err="1" smtClean="0"/>
              <a:t>l’Union</a:t>
            </a:r>
            <a:r>
              <a:rPr lang="en-US" dirty="0" smtClean="0"/>
              <a:t> et </a:t>
            </a:r>
            <a:r>
              <a:rPr lang="en-US" dirty="0" err="1" smtClean="0"/>
              <a:t>répondre</a:t>
            </a:r>
            <a:r>
              <a:rPr lang="en-US" dirty="0" smtClean="0"/>
              <a:t> à </a:t>
            </a:r>
            <a:r>
              <a:rPr lang="en-US" err="1" smtClean="0"/>
              <a:t>leurs</a:t>
            </a:r>
            <a:r>
              <a:rPr lang="en-US" smtClean="0"/>
              <a:t> flux spécifiques de marchandises</a:t>
            </a:r>
            <a:endParaRPr lang="fr-CH" dirty="0"/>
          </a:p>
        </p:txBody>
      </p:sp>
    </p:spTree>
    <p:extLst>
      <p:ext uri="{BB962C8B-B14F-4D97-AF65-F5344CB8AC3E}">
        <p14:creationId xmlns:p14="http://schemas.microsoft.com/office/powerpoint/2010/main" val="4194159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Effet des régimes particuliers</a:t>
            </a:r>
            <a:endParaRPr lang="fr-CH" dirty="0"/>
          </a:p>
        </p:txBody>
      </p:sp>
      <p:sp>
        <p:nvSpPr>
          <p:cNvPr id="3" name="Content Placeholder 2"/>
          <p:cNvSpPr>
            <a:spLocks noGrp="1"/>
          </p:cNvSpPr>
          <p:nvPr>
            <p:ph idx="1"/>
          </p:nvPr>
        </p:nvSpPr>
        <p:spPr/>
        <p:txBody>
          <a:bodyPr/>
          <a:lstStyle/>
          <a:p>
            <a:r>
              <a:rPr lang="en-US" smtClean="0"/>
              <a:t>Effet suspensif</a:t>
            </a:r>
            <a:r>
              <a:rPr lang="en-US" dirty="0" smtClean="0"/>
              <a:t>:</a:t>
            </a:r>
          </a:p>
          <a:p>
            <a:pPr lvl="1"/>
            <a:r>
              <a:rPr lang="en-US" dirty="0" smtClean="0"/>
              <a:t>Dispenser les </a:t>
            </a:r>
            <a:r>
              <a:rPr lang="en-US" dirty="0" err="1" smtClean="0"/>
              <a:t>opérateurs</a:t>
            </a:r>
            <a:r>
              <a:rPr lang="en-US" dirty="0" smtClean="0"/>
              <a:t> de </a:t>
            </a:r>
            <a:r>
              <a:rPr lang="en-US" dirty="0" err="1" smtClean="0"/>
              <a:t>certaines</a:t>
            </a:r>
            <a:r>
              <a:rPr lang="en-US" dirty="0" smtClean="0"/>
              <a:t> obligations </a:t>
            </a:r>
            <a:r>
              <a:rPr lang="en-US" dirty="0" err="1" smtClean="0"/>
              <a:t>normalement</a:t>
            </a:r>
            <a:r>
              <a:rPr lang="en-US" dirty="0" smtClean="0"/>
              <a:t> </a:t>
            </a:r>
            <a:r>
              <a:rPr lang="en-US" dirty="0" err="1" smtClean="0"/>
              <a:t>liées</a:t>
            </a:r>
            <a:r>
              <a:rPr lang="en-US" dirty="0" smtClean="0"/>
              <a:t> à </a:t>
            </a:r>
            <a:r>
              <a:rPr lang="en-US" dirty="0" err="1" smtClean="0"/>
              <a:t>l’importation</a:t>
            </a:r>
            <a:r>
              <a:rPr lang="en-US" dirty="0" smtClean="0"/>
              <a:t> </a:t>
            </a:r>
            <a:r>
              <a:rPr lang="en-US" dirty="0" err="1" smtClean="0"/>
              <a:t>respectivement</a:t>
            </a:r>
            <a:r>
              <a:rPr lang="en-US" dirty="0" smtClean="0"/>
              <a:t> </a:t>
            </a:r>
            <a:r>
              <a:rPr lang="en-US" smtClean="0"/>
              <a:t>à l’exportation.</a:t>
            </a:r>
            <a:endParaRPr lang="en-US" dirty="0" smtClean="0">
              <a:solidFill>
                <a:srgbClr val="00B050"/>
              </a:solidFill>
            </a:endParaRPr>
          </a:p>
          <a:p>
            <a:r>
              <a:rPr lang="en-US" smtClean="0"/>
              <a:t>Effet économique</a:t>
            </a:r>
            <a:r>
              <a:rPr lang="en-US" dirty="0" smtClean="0"/>
              <a:t>:</a:t>
            </a:r>
          </a:p>
          <a:p>
            <a:pPr lvl="1"/>
            <a:r>
              <a:rPr lang="en-US" dirty="0" err="1" smtClean="0"/>
              <a:t>Permettre</a:t>
            </a:r>
            <a:r>
              <a:rPr lang="en-US" dirty="0" smtClean="0"/>
              <a:t> aux </a:t>
            </a:r>
            <a:r>
              <a:rPr lang="en-US" dirty="0" err="1" smtClean="0"/>
              <a:t>opérateurs</a:t>
            </a:r>
            <a:r>
              <a:rPr lang="en-US" dirty="0" smtClean="0"/>
              <a:t> </a:t>
            </a:r>
            <a:r>
              <a:rPr lang="en-US" err="1" smtClean="0"/>
              <a:t>d’agir</a:t>
            </a:r>
            <a:r>
              <a:rPr lang="en-US" smtClean="0"/>
              <a:t> sur un pied d’égalité respectivement dans une position </a:t>
            </a:r>
            <a:r>
              <a:rPr lang="en-US" dirty="0" smtClean="0"/>
              <a:t>favorable face à la concurrence </a:t>
            </a:r>
            <a:r>
              <a:rPr lang="en-US" dirty="0" err="1" smtClean="0"/>
              <a:t>internationale</a:t>
            </a:r>
            <a:r>
              <a:rPr lang="en-US" smtClean="0"/>
              <a:t>. La </a:t>
            </a:r>
            <a:r>
              <a:rPr lang="en-US" dirty="0" err="1" smtClean="0"/>
              <a:t>diversité</a:t>
            </a:r>
            <a:r>
              <a:rPr lang="en-US" dirty="0" smtClean="0"/>
              <a:t> des régimes </a:t>
            </a:r>
            <a:r>
              <a:rPr lang="en-US" dirty="0" err="1" smtClean="0"/>
              <a:t>économiques</a:t>
            </a:r>
            <a:r>
              <a:rPr lang="en-US" dirty="0" smtClean="0"/>
              <a:t> </a:t>
            </a:r>
            <a:r>
              <a:rPr lang="en-US" dirty="0" err="1" smtClean="0"/>
              <a:t>permet</a:t>
            </a:r>
            <a:r>
              <a:rPr lang="en-US" dirty="0" smtClean="0"/>
              <a:t> aux </a:t>
            </a:r>
            <a:r>
              <a:rPr lang="en-US" dirty="0" err="1" smtClean="0"/>
              <a:t>entreprises</a:t>
            </a:r>
            <a:r>
              <a:rPr lang="en-US" dirty="0" smtClean="0"/>
              <a:t> de </a:t>
            </a:r>
            <a:r>
              <a:rPr lang="en-US" dirty="0" err="1" smtClean="0"/>
              <a:t>l’Union</a:t>
            </a:r>
            <a:r>
              <a:rPr lang="en-US" dirty="0" smtClean="0"/>
              <a:t> de </a:t>
            </a:r>
            <a:r>
              <a:rPr lang="en-US" dirty="0" err="1" smtClean="0"/>
              <a:t>renforcer</a:t>
            </a:r>
            <a:r>
              <a:rPr lang="en-US" dirty="0" smtClean="0"/>
              <a:t> </a:t>
            </a:r>
            <a:r>
              <a:rPr lang="en-US" dirty="0" err="1" smtClean="0"/>
              <a:t>leurs</a:t>
            </a:r>
            <a:r>
              <a:rPr lang="en-US" dirty="0" smtClean="0"/>
              <a:t> positions sur le </a:t>
            </a:r>
            <a:r>
              <a:rPr lang="en-US" dirty="0" err="1" smtClean="0"/>
              <a:t>marché</a:t>
            </a:r>
            <a:r>
              <a:rPr lang="en-US" dirty="0" smtClean="0"/>
              <a:t> international.</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3</a:t>
            </a:fld>
            <a:endParaRPr lang="fr-CH"/>
          </a:p>
        </p:txBody>
      </p:sp>
    </p:spTree>
    <p:extLst>
      <p:ext uri="{BB962C8B-B14F-4D97-AF65-F5344CB8AC3E}">
        <p14:creationId xmlns:p14="http://schemas.microsoft.com/office/powerpoint/2010/main" val="2866226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pPr algn="ctr"/>
            <a:r>
              <a:rPr lang="fr-CH" smtClean="0"/>
              <a:t>Régimes particuliers applicables dans l’UE</a:t>
            </a:r>
            <a:endParaRPr lang="fr-CH" dirty="0"/>
          </a:p>
        </p:txBody>
      </p:sp>
      <p:sp>
        <p:nvSpPr>
          <p:cNvPr id="3" name="Inhaltsplatzhalter 2"/>
          <p:cNvSpPr>
            <a:spLocks noGrp="1"/>
          </p:cNvSpPr>
          <p:nvPr>
            <p:ph idx="1"/>
          </p:nvPr>
        </p:nvSpPr>
        <p:spPr>
          <a:xfrm>
            <a:off x="838200" y="1825624"/>
            <a:ext cx="10515600" cy="4733117"/>
          </a:xfrm>
        </p:spPr>
        <p:txBody>
          <a:bodyPr>
            <a:normAutofit fontScale="92500" lnSpcReduction="10000"/>
          </a:bodyPr>
          <a:lstStyle/>
          <a:p>
            <a:r>
              <a:rPr lang="fr-FR" dirty="0" smtClean="0"/>
              <a:t>‎Transit</a:t>
            </a:r>
          </a:p>
          <a:p>
            <a:pPr lvl="1"/>
            <a:r>
              <a:rPr lang="fr-FR" dirty="0" smtClean="0"/>
              <a:t>Transit interne</a:t>
            </a:r>
          </a:p>
          <a:p>
            <a:pPr lvl="1"/>
            <a:r>
              <a:rPr lang="fr-FR" dirty="0" smtClean="0"/>
              <a:t>Transit externe</a:t>
            </a:r>
          </a:p>
          <a:p>
            <a:r>
              <a:rPr lang="fr-FR" dirty="0" smtClean="0"/>
              <a:t>Stockage</a:t>
            </a:r>
          </a:p>
          <a:p>
            <a:pPr lvl="1"/>
            <a:r>
              <a:rPr lang="fr-FR" dirty="0" smtClean="0"/>
              <a:t>Entrepôt douanier</a:t>
            </a:r>
          </a:p>
          <a:p>
            <a:pPr lvl="1"/>
            <a:r>
              <a:rPr lang="fr-FR" dirty="0" smtClean="0"/>
              <a:t>Zone franche</a:t>
            </a:r>
          </a:p>
          <a:p>
            <a:r>
              <a:rPr lang="fr-FR" dirty="0" smtClean="0"/>
              <a:t>Utilisation spécifique</a:t>
            </a:r>
          </a:p>
          <a:p>
            <a:pPr lvl="1"/>
            <a:r>
              <a:rPr lang="fr-FR" dirty="0" smtClean="0"/>
              <a:t>Admission temporaire</a:t>
            </a:r>
          </a:p>
          <a:p>
            <a:pPr lvl="1"/>
            <a:r>
              <a:rPr lang="fr-FR" dirty="0" smtClean="0"/>
              <a:t>Destination particulière</a:t>
            </a:r>
          </a:p>
          <a:p>
            <a:r>
              <a:rPr lang="fr-CH" dirty="0" smtClean="0"/>
              <a:t>Transformation</a:t>
            </a:r>
          </a:p>
          <a:p>
            <a:pPr lvl="1"/>
            <a:r>
              <a:rPr lang="fr-CH" dirty="0" smtClean="0"/>
              <a:t>Perfectionnement actif</a:t>
            </a:r>
          </a:p>
          <a:p>
            <a:pPr lvl="1"/>
            <a:r>
              <a:rPr lang="fr-CH" dirty="0" smtClean="0"/>
              <a:t>Perfectionnement passif</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4</a:t>
            </a:fld>
            <a:endParaRPr lang="fr-CH"/>
          </a:p>
        </p:txBody>
      </p:sp>
    </p:spTree>
    <p:extLst>
      <p:ext uri="{BB962C8B-B14F-4D97-AF65-F5344CB8AC3E}">
        <p14:creationId xmlns:p14="http://schemas.microsoft.com/office/powerpoint/2010/main" val="252391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Transit</a:t>
            </a:r>
            <a:endParaRPr lang="fr-FR" dirty="0"/>
          </a:p>
        </p:txBody>
      </p:sp>
      <p:sp>
        <p:nvSpPr>
          <p:cNvPr id="3" name="Content Placeholder 2"/>
          <p:cNvSpPr>
            <a:spLocks noGrp="1"/>
          </p:cNvSpPr>
          <p:nvPr>
            <p:ph idx="1"/>
          </p:nvPr>
        </p:nvSpPr>
        <p:spPr/>
        <p:txBody>
          <a:bodyPr/>
          <a:lstStyle/>
          <a:p>
            <a:r>
              <a:rPr lang="fr-FR" dirty="0" smtClean="0"/>
              <a:t>Vu que le régime du transit sera traité dans un module à part, toute référence à un régime particulier dans ce document exclut le transit</a:t>
            </a:r>
            <a:r>
              <a:rPr lang="fr-FR" dirty="0"/>
              <a:t>.</a:t>
            </a:r>
            <a:endParaRPr lang="fr-FR" dirty="0" smtClean="0"/>
          </a:p>
        </p:txBody>
      </p:sp>
      <p:sp>
        <p:nvSpPr>
          <p:cNvPr id="4" name="Slide Number Placeholder 3"/>
          <p:cNvSpPr>
            <a:spLocks noGrp="1"/>
          </p:cNvSpPr>
          <p:nvPr>
            <p:ph type="sldNum" sz="quarter" idx="12"/>
          </p:nvPr>
        </p:nvSpPr>
        <p:spPr/>
        <p:txBody>
          <a:bodyPr/>
          <a:lstStyle/>
          <a:p>
            <a:fld id="{AC11F01A-B187-4E96-A42F-7B20626A13B5}" type="slidenum">
              <a:rPr lang="fr-CH" smtClean="0"/>
              <a:t>5</a:t>
            </a:fld>
            <a:endParaRPr lang="fr-CH"/>
          </a:p>
        </p:txBody>
      </p:sp>
    </p:spTree>
    <p:extLst>
      <p:ext uri="{BB962C8B-B14F-4D97-AF65-F5344CB8AC3E}">
        <p14:creationId xmlns:p14="http://schemas.microsoft.com/office/powerpoint/2010/main" val="2079489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Stockage</a:t>
            </a:r>
            <a:endParaRPr lang="fr-CH" dirty="0"/>
          </a:p>
        </p:txBody>
      </p:sp>
      <p:pic>
        <p:nvPicPr>
          <p:cNvPr id="1026" name="Picture 2" descr="See the source imag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90702" y="1690688"/>
            <a:ext cx="5810596" cy="387566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p:cNvSpPr>
            <a:spLocks noGrp="1"/>
          </p:cNvSpPr>
          <p:nvPr>
            <p:ph type="sldNum" sz="quarter" idx="12"/>
          </p:nvPr>
        </p:nvSpPr>
        <p:spPr/>
        <p:txBody>
          <a:bodyPr/>
          <a:lstStyle/>
          <a:p>
            <a:fld id="{AC11F01A-B187-4E96-A42F-7B20626A13B5}" type="slidenum">
              <a:rPr lang="fr-CH" smtClean="0"/>
              <a:t>6</a:t>
            </a:fld>
            <a:endParaRPr lang="fr-CH"/>
          </a:p>
        </p:txBody>
      </p:sp>
    </p:spTree>
    <p:extLst>
      <p:ext uri="{BB962C8B-B14F-4D97-AF65-F5344CB8AC3E}">
        <p14:creationId xmlns:p14="http://schemas.microsoft.com/office/powerpoint/2010/main" val="4138061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smtClean="0"/>
              <a:t>Stockage de marchandises non Union</a:t>
            </a:r>
            <a:endParaRPr lang="fr-FR" dirty="0"/>
          </a:p>
        </p:txBody>
      </p:sp>
      <p:sp>
        <p:nvSpPr>
          <p:cNvPr id="3" name="Content Placeholder 2"/>
          <p:cNvSpPr>
            <a:spLocks noGrp="1"/>
          </p:cNvSpPr>
          <p:nvPr>
            <p:ph idx="1"/>
          </p:nvPr>
        </p:nvSpPr>
        <p:spPr/>
        <p:txBody>
          <a:bodyPr>
            <a:normAutofit/>
          </a:bodyPr>
          <a:lstStyle/>
          <a:p>
            <a:r>
              <a:rPr lang="fr-FR" dirty="0"/>
              <a:t>Un régime de stockage permet de stocker des marchandises non Union dans le territoire douanier de l'Union sans que ces marchandises ne soient soumises:</a:t>
            </a:r>
          </a:p>
          <a:p>
            <a:pPr lvl="1"/>
            <a:r>
              <a:rPr lang="fr-FR" dirty="0" smtClean="0"/>
              <a:t>aux </a:t>
            </a:r>
            <a:r>
              <a:rPr lang="fr-FR" dirty="0"/>
              <a:t>droits à l'importation;</a:t>
            </a:r>
          </a:p>
          <a:p>
            <a:pPr lvl="1"/>
            <a:r>
              <a:rPr lang="fr-FR" dirty="0" smtClean="0"/>
              <a:t>aux </a:t>
            </a:r>
            <a:r>
              <a:rPr lang="fr-FR" dirty="0"/>
              <a:t>autres </a:t>
            </a:r>
            <a:r>
              <a:rPr lang="fr-FR" dirty="0" smtClean="0"/>
              <a:t>impositions;</a:t>
            </a:r>
            <a:endParaRPr lang="fr-FR" dirty="0"/>
          </a:p>
          <a:p>
            <a:pPr lvl="1"/>
            <a:r>
              <a:rPr lang="fr-FR" dirty="0" smtClean="0"/>
              <a:t>aux </a:t>
            </a:r>
            <a:r>
              <a:rPr lang="fr-FR" dirty="0"/>
              <a:t>mesures de politique commerciale dans la mesure où elles n'interdisent pas l'entrée de marchandises dans le territoire douanier de l'Union ou leur sortie de ce territoire</a:t>
            </a:r>
            <a:r>
              <a:rPr lang="fr-FR" dirty="0" smtClean="0"/>
              <a:t>.</a:t>
            </a:r>
          </a:p>
        </p:txBody>
      </p:sp>
      <p:sp>
        <p:nvSpPr>
          <p:cNvPr id="4" name="Slide Number Placeholder 3"/>
          <p:cNvSpPr>
            <a:spLocks noGrp="1"/>
          </p:cNvSpPr>
          <p:nvPr>
            <p:ph type="sldNum" sz="quarter" idx="12"/>
          </p:nvPr>
        </p:nvSpPr>
        <p:spPr/>
        <p:txBody>
          <a:bodyPr/>
          <a:lstStyle/>
          <a:p>
            <a:fld id="{AC11F01A-B187-4E96-A42F-7B20626A13B5}" type="slidenum">
              <a:rPr lang="fr-CH" smtClean="0"/>
              <a:t>7</a:t>
            </a:fld>
            <a:endParaRPr lang="fr-CH"/>
          </a:p>
        </p:txBody>
      </p:sp>
    </p:spTree>
    <p:extLst>
      <p:ext uri="{BB962C8B-B14F-4D97-AF65-F5344CB8AC3E}">
        <p14:creationId xmlns:p14="http://schemas.microsoft.com/office/powerpoint/2010/main" val="1957291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Stockage de marchandises </a:t>
            </a:r>
            <a:r>
              <a:rPr lang="en-US" dirty="0" smtClean="0"/>
              <a:t>de </a:t>
            </a:r>
            <a:r>
              <a:rPr lang="en-US" dirty="0" err="1" smtClean="0"/>
              <a:t>l’Union</a:t>
            </a:r>
            <a:endParaRPr lang="fr-CH" dirty="0"/>
          </a:p>
        </p:txBody>
      </p:sp>
      <p:sp>
        <p:nvSpPr>
          <p:cNvPr id="3" name="Content Placeholder 2"/>
          <p:cNvSpPr>
            <a:spLocks noGrp="1"/>
          </p:cNvSpPr>
          <p:nvPr>
            <p:ph idx="1"/>
          </p:nvPr>
        </p:nvSpPr>
        <p:spPr/>
        <p:txBody>
          <a:bodyPr>
            <a:normAutofit/>
          </a:bodyPr>
          <a:lstStyle/>
          <a:p>
            <a:r>
              <a:rPr lang="fr-CH" dirty="0"/>
              <a:t>Les marchandises de l'Union peuvent être admises sous </a:t>
            </a:r>
            <a:r>
              <a:rPr lang="fr-CH"/>
              <a:t>le </a:t>
            </a:r>
            <a:r>
              <a:rPr lang="fr-CH" smtClean="0"/>
              <a:t>régime de </a:t>
            </a:r>
            <a:r>
              <a:rPr lang="fr-CH" dirty="0"/>
              <a:t>l'entrepôt douanier ou des zones franches conformément à la </a:t>
            </a:r>
            <a:r>
              <a:rPr lang="fr-CH" dirty="0" smtClean="0"/>
              <a:t>législation </a:t>
            </a:r>
            <a:r>
              <a:rPr lang="fr-CH" dirty="0"/>
              <a:t>de l'Union régissant des domaines spécifiques ou pour bénéficier d'une décision accordant le remboursement ou la remise des droits à l'importation</a:t>
            </a:r>
            <a:r>
              <a:rPr lang="fr-CH" dirty="0" smtClean="0"/>
              <a:t>.</a:t>
            </a:r>
          </a:p>
          <a:p>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8</a:t>
            </a:fld>
            <a:endParaRPr lang="fr-CH"/>
          </a:p>
        </p:txBody>
      </p:sp>
    </p:spTree>
    <p:extLst>
      <p:ext uri="{BB962C8B-B14F-4D97-AF65-F5344CB8AC3E}">
        <p14:creationId xmlns:p14="http://schemas.microsoft.com/office/powerpoint/2010/main" val="32177672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a:t>Durée d'un régime de stockage</a:t>
            </a:r>
          </a:p>
        </p:txBody>
      </p:sp>
      <p:sp>
        <p:nvSpPr>
          <p:cNvPr id="3" name="Content Placeholder 2"/>
          <p:cNvSpPr>
            <a:spLocks noGrp="1"/>
          </p:cNvSpPr>
          <p:nvPr>
            <p:ph idx="1"/>
          </p:nvPr>
        </p:nvSpPr>
        <p:spPr/>
        <p:txBody>
          <a:bodyPr/>
          <a:lstStyle/>
          <a:p>
            <a:r>
              <a:rPr lang="fr-FR" dirty="0"/>
              <a:t>La durée du séjour des marchandises sous un régime de stockage n'est pas limitée</a:t>
            </a:r>
            <a:r>
              <a:rPr lang="fr-FR" dirty="0" smtClean="0"/>
              <a:t>.</a:t>
            </a:r>
          </a:p>
          <a:p>
            <a:r>
              <a:rPr lang="fr-FR" dirty="0"/>
              <a:t>Dans des circonstances exceptionnelles, les autorités douanières peuvent fixer un délai dans lequel un régime de stockage doit être apuré, plus particulièrement lorsque le type et la nature des marchandises peuvent, en cas de stockage à long terme, constituer une menace </a:t>
            </a:r>
            <a:r>
              <a:rPr lang="fr-FR" dirty="0" smtClean="0"/>
              <a:t>pour:</a:t>
            </a:r>
          </a:p>
          <a:p>
            <a:pPr lvl="1"/>
            <a:r>
              <a:rPr lang="fr-FR" dirty="0" smtClean="0"/>
              <a:t>la </a:t>
            </a:r>
            <a:r>
              <a:rPr lang="fr-FR" dirty="0"/>
              <a:t>santé des personnes, des animaux ou des végétaux, </a:t>
            </a:r>
            <a:endParaRPr lang="fr-FR" dirty="0" smtClean="0"/>
          </a:p>
          <a:p>
            <a:pPr lvl="1"/>
            <a:r>
              <a:rPr lang="fr-FR" dirty="0" smtClean="0"/>
              <a:t>ou </a:t>
            </a:r>
            <a:r>
              <a:rPr lang="fr-FR" dirty="0"/>
              <a:t>pour l'environnement.</a:t>
            </a:r>
          </a:p>
        </p:txBody>
      </p:sp>
      <p:sp>
        <p:nvSpPr>
          <p:cNvPr id="4" name="Slide Number Placeholder 3"/>
          <p:cNvSpPr>
            <a:spLocks noGrp="1"/>
          </p:cNvSpPr>
          <p:nvPr>
            <p:ph type="sldNum" sz="quarter" idx="12"/>
          </p:nvPr>
        </p:nvSpPr>
        <p:spPr/>
        <p:txBody>
          <a:bodyPr/>
          <a:lstStyle/>
          <a:p>
            <a:fld id="{AC11F01A-B187-4E96-A42F-7B20626A13B5}" type="slidenum">
              <a:rPr lang="fr-CH" smtClean="0"/>
              <a:t>9</a:t>
            </a:fld>
            <a:endParaRPr lang="fr-CH"/>
          </a:p>
        </p:txBody>
      </p:sp>
    </p:spTree>
    <p:extLst>
      <p:ext uri="{BB962C8B-B14F-4D97-AF65-F5344CB8AC3E}">
        <p14:creationId xmlns:p14="http://schemas.microsoft.com/office/powerpoint/2010/main" val="4093929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Régime Entrepôt douanier- Utilité</a:t>
            </a:r>
            <a:endParaRPr lang="fr-CH" dirty="0"/>
          </a:p>
        </p:txBody>
      </p:sp>
      <p:sp>
        <p:nvSpPr>
          <p:cNvPr id="3" name="Content Placeholder 2"/>
          <p:cNvSpPr>
            <a:spLocks noGrp="1"/>
          </p:cNvSpPr>
          <p:nvPr>
            <p:ph idx="1"/>
          </p:nvPr>
        </p:nvSpPr>
        <p:spPr/>
        <p:txBody>
          <a:bodyPr/>
          <a:lstStyle/>
          <a:p>
            <a:r>
              <a:rPr lang="en-US" smtClean="0"/>
              <a:t>Permet de globaliser les flux des marchandises d’un OE</a:t>
            </a:r>
            <a:endParaRPr lang="en-US" dirty="0"/>
          </a:p>
          <a:p>
            <a:r>
              <a:rPr lang="en-US" smtClean="0"/>
              <a:t>Permet à l’OE de </a:t>
            </a:r>
            <a:r>
              <a:rPr lang="en-US"/>
              <a:t>stocker </a:t>
            </a:r>
            <a:r>
              <a:rPr lang="en-US" smtClean="0"/>
              <a:t>temporairement des marchandises en suspension des droits et taxes pour utilisation ultérieure</a:t>
            </a:r>
            <a:endParaRPr lang="en-US" dirty="0"/>
          </a:p>
          <a:p>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10</a:t>
            </a:fld>
            <a:endParaRPr lang="fr-CH"/>
          </a:p>
        </p:txBody>
      </p:sp>
    </p:spTree>
    <p:extLst>
      <p:ext uri="{BB962C8B-B14F-4D97-AF65-F5344CB8AC3E}">
        <p14:creationId xmlns:p14="http://schemas.microsoft.com/office/powerpoint/2010/main" val="388690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a:t>Stockage </a:t>
            </a:r>
            <a:r>
              <a:rPr lang="fr-FR"/>
              <a:t>dans </a:t>
            </a:r>
            <a:r>
              <a:rPr lang="fr-FR" smtClean="0"/>
              <a:t>l’entrepôt douanier</a:t>
            </a:r>
            <a:endParaRPr lang="fr-FR" dirty="0"/>
          </a:p>
        </p:txBody>
      </p:sp>
      <p:sp>
        <p:nvSpPr>
          <p:cNvPr id="3" name="Content Placeholder 2"/>
          <p:cNvSpPr>
            <a:spLocks noGrp="1"/>
          </p:cNvSpPr>
          <p:nvPr>
            <p:ph idx="1"/>
          </p:nvPr>
        </p:nvSpPr>
        <p:spPr/>
        <p:txBody>
          <a:bodyPr>
            <a:normAutofit/>
          </a:bodyPr>
          <a:lstStyle/>
          <a:p>
            <a:r>
              <a:rPr lang="fr-FR" dirty="0"/>
              <a:t>Les marchandises non Union placées sous le régime de l'entrepôt douanier peuvent être stockées dans des </a:t>
            </a:r>
            <a:r>
              <a:rPr lang="fr-FR"/>
              <a:t>locaux </a:t>
            </a:r>
            <a:r>
              <a:rPr lang="fr-FR" smtClean="0"/>
              <a:t>agréés </a:t>
            </a:r>
            <a:r>
              <a:rPr lang="fr-FR" dirty="0"/>
              <a:t>pour ce régime par les autorités douanières et soumis à la surveillance </a:t>
            </a:r>
            <a:r>
              <a:rPr lang="fr-FR" dirty="0" smtClean="0"/>
              <a:t>douanière.</a:t>
            </a:r>
          </a:p>
          <a:p>
            <a:r>
              <a:rPr lang="fr-CH" dirty="0"/>
              <a:t>Lorsque des marchandises présentent un danger ou sont </a:t>
            </a:r>
            <a:r>
              <a:rPr lang="fr-CH" dirty="0" smtClean="0"/>
              <a:t>susceptibles d’altérer </a:t>
            </a:r>
            <a:r>
              <a:rPr lang="fr-CH" dirty="0"/>
              <a:t>d’autres marchandises ou encore nécessitent, pour d’autres </a:t>
            </a:r>
            <a:r>
              <a:rPr lang="fr-CH" dirty="0" smtClean="0"/>
              <a:t>motifs</a:t>
            </a:r>
            <a:r>
              <a:rPr lang="fr-CH" dirty="0"/>
              <a:t>, des installations particulières</a:t>
            </a:r>
            <a:r>
              <a:rPr lang="fr-CH"/>
              <a:t>, </a:t>
            </a:r>
            <a:r>
              <a:rPr lang="fr-CH" smtClean="0"/>
              <a:t>l’autorisation «entrepôt douanier» respective peut </a:t>
            </a:r>
            <a:r>
              <a:rPr lang="fr-CH" dirty="0"/>
              <a:t>prévoir que les </a:t>
            </a:r>
            <a:r>
              <a:rPr lang="fr-CH"/>
              <a:t>marchandises </a:t>
            </a:r>
            <a:r>
              <a:rPr lang="fr-CH" smtClean="0"/>
              <a:t>sont </a:t>
            </a:r>
            <a:r>
              <a:rPr lang="fr-CH" dirty="0"/>
              <a:t>stockées uniquement dans </a:t>
            </a:r>
            <a:r>
              <a:rPr lang="fr-CH" dirty="0" smtClean="0"/>
              <a:t>des </a:t>
            </a:r>
            <a:r>
              <a:rPr lang="fr-CH" dirty="0"/>
              <a:t>installations de stockage spécialement équipées pour les recevoir.</a:t>
            </a:r>
            <a:endParaRPr lang="fr-FR" dirty="0" smtClean="0"/>
          </a:p>
        </p:txBody>
      </p:sp>
      <p:sp>
        <p:nvSpPr>
          <p:cNvPr id="4" name="Slide Number Placeholder 3"/>
          <p:cNvSpPr>
            <a:spLocks noGrp="1"/>
          </p:cNvSpPr>
          <p:nvPr>
            <p:ph type="sldNum" sz="quarter" idx="12"/>
          </p:nvPr>
        </p:nvSpPr>
        <p:spPr/>
        <p:txBody>
          <a:bodyPr/>
          <a:lstStyle/>
          <a:p>
            <a:fld id="{AC11F01A-B187-4E96-A42F-7B20626A13B5}" type="slidenum">
              <a:rPr lang="fr-CH" smtClean="0"/>
              <a:t>11</a:t>
            </a:fld>
            <a:endParaRPr lang="fr-CH"/>
          </a:p>
        </p:txBody>
      </p:sp>
    </p:spTree>
    <p:extLst>
      <p:ext uri="{BB962C8B-B14F-4D97-AF65-F5344CB8AC3E}">
        <p14:creationId xmlns:p14="http://schemas.microsoft.com/office/powerpoint/2010/main" val="1205589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Types </a:t>
            </a:r>
            <a:r>
              <a:rPr lang="en-US" dirty="0" err="1" smtClean="0"/>
              <a:t>d’entrepôts</a:t>
            </a:r>
            <a:r>
              <a:rPr lang="en-US" dirty="0" smtClean="0"/>
              <a:t> </a:t>
            </a:r>
            <a:r>
              <a:rPr lang="en-US" dirty="0" err="1" smtClean="0"/>
              <a:t>douaniers</a:t>
            </a:r>
            <a:endParaRPr lang="fr-CH" dirty="0"/>
          </a:p>
        </p:txBody>
      </p:sp>
      <p:sp>
        <p:nvSpPr>
          <p:cNvPr id="3" name="Content Placeholder 2"/>
          <p:cNvSpPr>
            <a:spLocks noGrp="1"/>
          </p:cNvSpPr>
          <p:nvPr>
            <p:ph idx="1"/>
          </p:nvPr>
        </p:nvSpPr>
        <p:spPr/>
        <p:txBody>
          <a:bodyPr>
            <a:normAutofit fontScale="92500" lnSpcReduction="20000"/>
          </a:bodyPr>
          <a:lstStyle/>
          <a:p>
            <a:r>
              <a:rPr lang="fr-FR" dirty="0"/>
              <a:t>Les entrepôts douaniers peuvent être utilisés</a:t>
            </a:r>
            <a:r>
              <a:rPr lang="fr-FR" dirty="0" smtClean="0"/>
              <a:t>:</a:t>
            </a:r>
          </a:p>
          <a:p>
            <a:endParaRPr lang="fr-FR" dirty="0"/>
          </a:p>
          <a:p>
            <a:pPr lvl="1"/>
            <a:r>
              <a:rPr lang="fr-FR" dirty="0"/>
              <a:t>pour le stockage par le titulaire d'une autorisation d'entrepôt douanier ("entrepôt douanier privé</a:t>
            </a:r>
            <a:r>
              <a:rPr lang="fr-FR" dirty="0" smtClean="0"/>
              <a:t>")</a:t>
            </a:r>
          </a:p>
          <a:p>
            <a:pPr lvl="2"/>
            <a:r>
              <a:rPr lang="fr-FR" dirty="0" smtClean="0"/>
              <a:t>Le titulaire de l’autorisation est identique au titulaire du régime.</a:t>
            </a:r>
          </a:p>
          <a:p>
            <a:pPr lvl="1"/>
            <a:r>
              <a:rPr lang="fr-FR" dirty="0"/>
              <a:t>pour le stockage en douane de marchandises par toute personne ("entrepôt douanier public")</a:t>
            </a:r>
          </a:p>
          <a:p>
            <a:pPr lvl="2"/>
            <a:r>
              <a:rPr lang="fr-FR" dirty="0"/>
              <a:t>Le titulaire de l’autorisation peut être différent du titulaire du régime.</a:t>
            </a:r>
          </a:p>
          <a:p>
            <a:pPr marL="457200" lvl="1" indent="0">
              <a:buNone/>
            </a:pPr>
            <a:endParaRPr lang="fr-FR" dirty="0" smtClean="0"/>
          </a:p>
          <a:p>
            <a:pPr marL="457200" lvl="1" indent="0">
              <a:buNone/>
            </a:pPr>
            <a:r>
              <a:rPr lang="fr-FR" dirty="0" smtClean="0"/>
              <a:t>« Titulaire du régime »: </a:t>
            </a:r>
          </a:p>
          <a:p>
            <a:pPr lvl="2"/>
            <a:r>
              <a:rPr lang="fr-FR" dirty="0" smtClean="0"/>
              <a:t>la </a:t>
            </a:r>
            <a:r>
              <a:rPr lang="fr-FR" dirty="0"/>
              <a:t>personne qui dépose la déclaration en douane ou celle au nom de laquelle ladite déclaration est déposée, </a:t>
            </a:r>
            <a:r>
              <a:rPr lang="fr-FR" dirty="0" smtClean="0"/>
              <a:t>ou </a:t>
            </a:r>
          </a:p>
          <a:p>
            <a:pPr lvl="2"/>
            <a:r>
              <a:rPr lang="fr-FR" dirty="0" smtClean="0"/>
              <a:t>la </a:t>
            </a:r>
            <a:r>
              <a:rPr lang="fr-FR" dirty="0"/>
              <a:t>personne à qui les droits et les obligations relatifs à un régime douanier ont été </a:t>
            </a:r>
            <a:r>
              <a:rPr lang="fr-FR" dirty="0" smtClean="0"/>
              <a:t>transféré						</a:t>
            </a:r>
            <a:endParaRPr lang="fr-FR" dirty="0"/>
          </a:p>
          <a:p>
            <a:pPr lvl="2"/>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12</a:t>
            </a:fld>
            <a:endParaRPr lang="fr-CH"/>
          </a:p>
        </p:txBody>
      </p:sp>
    </p:spTree>
    <p:extLst>
      <p:ext uri="{BB962C8B-B14F-4D97-AF65-F5344CB8AC3E}">
        <p14:creationId xmlns:p14="http://schemas.microsoft.com/office/powerpoint/2010/main" val="4028811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Types </a:t>
            </a:r>
            <a:r>
              <a:rPr lang="en-US" dirty="0" err="1" smtClean="0"/>
              <a:t>d’entrepôts</a:t>
            </a:r>
            <a:r>
              <a:rPr lang="en-US" dirty="0" smtClean="0"/>
              <a:t> </a:t>
            </a:r>
            <a:r>
              <a:rPr lang="en-US" dirty="0" err="1" smtClean="0"/>
              <a:t>douaniers</a:t>
            </a:r>
            <a:r>
              <a:rPr lang="en-US" dirty="0" smtClean="0"/>
              <a:t> publics</a:t>
            </a:r>
            <a:endParaRPr lang="en-US" dirty="0"/>
          </a:p>
        </p:txBody>
      </p:sp>
      <p:sp>
        <p:nvSpPr>
          <p:cNvPr id="3" name="Content Placeholder 2"/>
          <p:cNvSpPr>
            <a:spLocks noGrp="1"/>
          </p:cNvSpPr>
          <p:nvPr>
            <p:ph idx="1"/>
          </p:nvPr>
        </p:nvSpPr>
        <p:spPr/>
        <p:txBody>
          <a:bodyPr>
            <a:normAutofit fontScale="77500" lnSpcReduction="20000"/>
          </a:bodyPr>
          <a:lstStyle/>
          <a:p>
            <a:pPr marL="0" indent="0">
              <a:buNone/>
            </a:pPr>
            <a:r>
              <a:rPr lang="fr-FR" sz="3100" dirty="0"/>
              <a:t>Entrepôt douanier public de type </a:t>
            </a:r>
            <a:r>
              <a:rPr lang="fr-FR" sz="3100" dirty="0" smtClean="0"/>
              <a:t>I</a:t>
            </a:r>
          </a:p>
          <a:p>
            <a:r>
              <a:rPr lang="fr-FR" dirty="0" smtClean="0"/>
              <a:t>Un </a:t>
            </a:r>
            <a:r>
              <a:rPr lang="fr-FR" dirty="0"/>
              <a:t>entrepôt douanier public dans lequel les </a:t>
            </a:r>
            <a:r>
              <a:rPr lang="fr-FR" dirty="0" smtClean="0"/>
              <a:t>responsabilités:</a:t>
            </a:r>
          </a:p>
          <a:p>
            <a:pPr lvl="1"/>
            <a:r>
              <a:rPr lang="fr-FR" dirty="0"/>
              <a:t>d'assurer que les marchandises admises sous le régime de l'entrepôt douanier ne sont pas soustraites à la surveillance douanière; et</a:t>
            </a:r>
          </a:p>
          <a:p>
            <a:pPr lvl="1"/>
            <a:r>
              <a:rPr lang="fr-FR" dirty="0"/>
              <a:t>d'exécuter des obligations qui résultent du stockage des marchandises se trouvant sous le régime de l'entrepôt douanier.</a:t>
            </a:r>
          </a:p>
          <a:p>
            <a:pPr marL="0" indent="0">
              <a:buNone/>
            </a:pPr>
            <a:r>
              <a:rPr lang="fr-FR" dirty="0" smtClean="0"/>
              <a:t>    incombent </a:t>
            </a:r>
            <a:r>
              <a:rPr lang="fr-FR" dirty="0"/>
              <a:t>au titulaire de l’autorisation et au titulaire du régime.</a:t>
            </a:r>
            <a:endParaRPr lang="fr-FR" dirty="0" smtClean="0"/>
          </a:p>
          <a:p>
            <a:pPr marL="0" indent="0">
              <a:buNone/>
            </a:pPr>
            <a:endParaRPr lang="fr-FR" sz="1600" dirty="0" smtClean="0"/>
          </a:p>
          <a:p>
            <a:pPr marL="0" indent="0">
              <a:buNone/>
            </a:pPr>
            <a:r>
              <a:rPr lang="fr-FR" sz="3100" dirty="0" smtClean="0"/>
              <a:t>Entrepôt </a:t>
            </a:r>
            <a:r>
              <a:rPr lang="fr-FR" sz="3100" dirty="0"/>
              <a:t>douanier public de type </a:t>
            </a:r>
            <a:r>
              <a:rPr lang="fr-FR" sz="3100" dirty="0" smtClean="0"/>
              <a:t>II</a:t>
            </a:r>
          </a:p>
          <a:p>
            <a:r>
              <a:rPr lang="fr-FR" dirty="0" smtClean="0"/>
              <a:t>Un </a:t>
            </a:r>
            <a:r>
              <a:rPr lang="fr-FR" dirty="0"/>
              <a:t>entrepôt douanier public dans lequel </a:t>
            </a:r>
            <a:r>
              <a:rPr lang="fr-FR" dirty="0" smtClean="0"/>
              <a:t>ces responsabilités incombent exclusivement </a:t>
            </a:r>
            <a:r>
              <a:rPr lang="fr-FR" dirty="0"/>
              <a:t>au </a:t>
            </a:r>
            <a:r>
              <a:rPr lang="fr-FR" dirty="0" smtClean="0"/>
              <a:t>titulaire </a:t>
            </a:r>
            <a:r>
              <a:rPr lang="fr-FR" dirty="0"/>
              <a:t>du </a:t>
            </a:r>
            <a:r>
              <a:rPr lang="fr-FR" dirty="0" smtClean="0"/>
              <a:t>régime.</a:t>
            </a:r>
          </a:p>
          <a:p>
            <a:pPr marL="0" indent="0">
              <a:buNone/>
            </a:pPr>
            <a:endParaRPr lang="fr-FR" dirty="0" smtClean="0"/>
          </a:p>
          <a:p>
            <a:pPr marL="0" indent="0">
              <a:buNone/>
            </a:pPr>
            <a:r>
              <a:rPr lang="fr-FR" sz="3100" dirty="0" smtClean="0"/>
              <a:t>Entrepôt </a:t>
            </a:r>
            <a:r>
              <a:rPr lang="fr-FR" sz="3100" dirty="0"/>
              <a:t>douanier public de type </a:t>
            </a:r>
            <a:r>
              <a:rPr lang="fr-FR" sz="3100" dirty="0" smtClean="0"/>
              <a:t>III</a:t>
            </a:r>
          </a:p>
          <a:p>
            <a:r>
              <a:rPr lang="fr-FR" dirty="0" smtClean="0"/>
              <a:t>Un </a:t>
            </a:r>
            <a:r>
              <a:rPr lang="fr-FR" dirty="0"/>
              <a:t>entrepôt douanier dont la gestion est assurée par les autorités douanières.</a:t>
            </a:r>
            <a:endParaRPr lang="en-US" dirty="0"/>
          </a:p>
        </p:txBody>
      </p:sp>
      <p:sp>
        <p:nvSpPr>
          <p:cNvPr id="4" name="Slide Number Placeholder 3"/>
          <p:cNvSpPr>
            <a:spLocks noGrp="1"/>
          </p:cNvSpPr>
          <p:nvPr>
            <p:ph type="sldNum" sz="quarter" idx="12"/>
          </p:nvPr>
        </p:nvSpPr>
        <p:spPr/>
        <p:txBody>
          <a:bodyPr/>
          <a:lstStyle/>
          <a:p>
            <a:fld id="{AC11F01A-B187-4E96-A42F-7B20626A13B5}" type="slidenum">
              <a:rPr lang="fr-CH" smtClean="0"/>
              <a:t>13</a:t>
            </a:fld>
            <a:endParaRPr lang="fr-CH"/>
          </a:p>
        </p:txBody>
      </p:sp>
    </p:spTree>
    <p:extLst>
      <p:ext uri="{BB962C8B-B14F-4D97-AF65-F5344CB8AC3E}">
        <p14:creationId xmlns:p14="http://schemas.microsoft.com/office/powerpoint/2010/main" val="3244874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Entrepôt douanier-Écritures 1/2</a:t>
            </a:r>
            <a:endParaRPr lang="fr-CH" dirty="0"/>
          </a:p>
        </p:txBody>
      </p:sp>
      <p:sp>
        <p:nvSpPr>
          <p:cNvPr id="3" name="Content Placeholder 2"/>
          <p:cNvSpPr>
            <a:spLocks noGrp="1"/>
          </p:cNvSpPr>
          <p:nvPr>
            <p:ph idx="1"/>
          </p:nvPr>
        </p:nvSpPr>
        <p:spPr/>
        <p:txBody>
          <a:bodyPr>
            <a:normAutofit/>
          </a:bodyPr>
          <a:lstStyle/>
          <a:p>
            <a:r>
              <a:rPr lang="en-US" dirty="0" smtClean="0"/>
              <a:t>Le </a:t>
            </a:r>
            <a:r>
              <a:rPr lang="fr-CH" dirty="0" smtClean="0"/>
              <a:t>titulaire </a:t>
            </a:r>
            <a:r>
              <a:rPr lang="fr-CH" dirty="0"/>
              <a:t>de l’autorisation, le titulaire du régime et toutes les personnes </a:t>
            </a:r>
            <a:r>
              <a:rPr lang="fr-CH" dirty="0" smtClean="0"/>
              <a:t>exerçant </a:t>
            </a:r>
            <a:r>
              <a:rPr lang="fr-CH" dirty="0"/>
              <a:t>une activité portant sur le </a:t>
            </a:r>
            <a:r>
              <a:rPr lang="fr-CH" dirty="0" smtClean="0"/>
              <a:t>stockage de marchandises tiennent </a:t>
            </a:r>
            <a:r>
              <a:rPr lang="fr-CH" dirty="0"/>
              <a:t>des écritures appropriées </a:t>
            </a:r>
            <a:r>
              <a:rPr lang="fr-CH" dirty="0" smtClean="0"/>
              <a:t>sous </a:t>
            </a:r>
            <a:r>
              <a:rPr lang="fr-CH" dirty="0"/>
              <a:t>la forme approuvée par les autorités douanières</a:t>
            </a:r>
            <a:r>
              <a:rPr lang="fr-CH" dirty="0" smtClean="0"/>
              <a:t>.</a:t>
            </a:r>
          </a:p>
          <a:p>
            <a:r>
              <a:rPr lang="fr-CH" dirty="0"/>
              <a:t>Ces écritures comportent les informations et les énonciations qui permettent </a:t>
            </a:r>
            <a:r>
              <a:rPr lang="fr-CH" dirty="0" smtClean="0"/>
              <a:t>aux </a:t>
            </a:r>
            <a:r>
              <a:rPr lang="fr-CH" dirty="0"/>
              <a:t>autorités douanières de surveiller le régime concerné, et plus </a:t>
            </a:r>
            <a:r>
              <a:rPr lang="fr-CH" dirty="0" smtClean="0"/>
              <a:t>particulièrement </a:t>
            </a:r>
            <a:r>
              <a:rPr lang="fr-CH" dirty="0"/>
              <a:t>en ce qui concerne l’identification des marchandises </a:t>
            </a:r>
            <a:r>
              <a:rPr lang="fr-CH" dirty="0" smtClean="0"/>
              <a:t>placées </a:t>
            </a:r>
            <a:r>
              <a:rPr lang="fr-CH" dirty="0"/>
              <a:t>sous </a:t>
            </a:r>
            <a:r>
              <a:rPr lang="fr-CH"/>
              <a:t>ce </a:t>
            </a:r>
            <a:r>
              <a:rPr lang="fr-CH" smtClean="0"/>
              <a:t>régime et </a:t>
            </a:r>
            <a:r>
              <a:rPr lang="fr-CH" dirty="0"/>
              <a:t>les mouvements dont elles </a:t>
            </a:r>
            <a:r>
              <a:rPr lang="fr-CH" dirty="0" smtClean="0"/>
              <a:t>font </a:t>
            </a:r>
            <a:r>
              <a:rPr lang="fr-CH" dirty="0"/>
              <a:t>l’objet.</a:t>
            </a:r>
          </a:p>
        </p:txBody>
      </p:sp>
      <p:sp>
        <p:nvSpPr>
          <p:cNvPr id="4" name="Slide Number Placeholder 3"/>
          <p:cNvSpPr>
            <a:spLocks noGrp="1"/>
          </p:cNvSpPr>
          <p:nvPr>
            <p:ph type="sldNum" sz="quarter" idx="12"/>
          </p:nvPr>
        </p:nvSpPr>
        <p:spPr/>
        <p:txBody>
          <a:bodyPr/>
          <a:lstStyle/>
          <a:p>
            <a:fld id="{AC11F01A-B187-4E96-A42F-7B20626A13B5}" type="slidenum">
              <a:rPr lang="fr-CH" smtClean="0"/>
              <a:t>14</a:t>
            </a:fld>
            <a:endParaRPr lang="fr-CH"/>
          </a:p>
        </p:txBody>
      </p:sp>
    </p:spTree>
    <p:extLst>
      <p:ext uri="{BB962C8B-B14F-4D97-AF65-F5344CB8AC3E}">
        <p14:creationId xmlns:p14="http://schemas.microsoft.com/office/powerpoint/2010/main" val="634952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t>Entrepôt douanier-Écritures </a:t>
            </a:r>
            <a:r>
              <a:rPr lang="en-US" smtClean="0"/>
              <a:t>2/2</a:t>
            </a:r>
            <a:endParaRPr lang="fr-CH" dirty="0"/>
          </a:p>
        </p:txBody>
      </p:sp>
      <p:sp>
        <p:nvSpPr>
          <p:cNvPr id="3" name="Content Placeholder 2"/>
          <p:cNvSpPr>
            <a:spLocks noGrp="1"/>
          </p:cNvSpPr>
          <p:nvPr>
            <p:ph idx="1"/>
          </p:nvPr>
        </p:nvSpPr>
        <p:spPr/>
        <p:txBody>
          <a:bodyPr/>
          <a:lstStyle/>
          <a:p>
            <a:endParaRPr lang="en-US" dirty="0" smtClean="0"/>
          </a:p>
          <a:p>
            <a:r>
              <a:rPr lang="en-US" dirty="0" smtClean="0"/>
              <a:t>Les </a:t>
            </a:r>
            <a:r>
              <a:rPr lang="en-US" dirty="0" err="1" smtClean="0"/>
              <a:t>écritures</a:t>
            </a:r>
            <a:r>
              <a:rPr lang="en-US" dirty="0" smtClean="0"/>
              <a:t> </a:t>
            </a:r>
            <a:r>
              <a:rPr lang="en-US" dirty="0" err="1" smtClean="0"/>
              <a:t>doivent</a:t>
            </a:r>
            <a:r>
              <a:rPr lang="en-US" dirty="0" smtClean="0"/>
              <a:t> </a:t>
            </a:r>
            <a:r>
              <a:rPr lang="en-US" dirty="0" err="1" smtClean="0"/>
              <a:t>contenir</a:t>
            </a:r>
            <a:r>
              <a:rPr lang="en-US" dirty="0" smtClean="0"/>
              <a:t> les </a:t>
            </a:r>
            <a:r>
              <a:rPr lang="en-US" dirty="0" err="1" smtClean="0"/>
              <a:t>énonciations</a:t>
            </a:r>
            <a:r>
              <a:rPr lang="en-US" dirty="0" smtClean="0"/>
              <a:t> </a:t>
            </a:r>
            <a:r>
              <a:rPr lang="en-US" dirty="0" err="1" smtClean="0"/>
              <a:t>prévues</a:t>
            </a:r>
            <a:r>
              <a:rPr lang="en-US" dirty="0" smtClean="0"/>
              <a:t> à </a:t>
            </a:r>
            <a:r>
              <a:rPr lang="en-US" dirty="0" err="1" smtClean="0"/>
              <a:t>l’article</a:t>
            </a:r>
            <a:r>
              <a:rPr lang="en-US" dirty="0" smtClean="0"/>
              <a:t> </a:t>
            </a:r>
            <a:r>
              <a:rPr lang="en-US" dirty="0" smtClean="0">
                <a:hlinkClick r:id="rId2"/>
              </a:rPr>
              <a:t>178</a:t>
            </a:r>
            <a:r>
              <a:rPr lang="en-US" dirty="0" smtClean="0"/>
              <a:t> du RD.</a:t>
            </a:r>
          </a:p>
          <a:p>
            <a:r>
              <a:rPr lang="fr-CH" dirty="0"/>
              <a:t>Les autorités douanières peuvent renoncer à l’indication </a:t>
            </a:r>
            <a:r>
              <a:rPr lang="fr-CH" dirty="0" smtClean="0"/>
              <a:t>de </a:t>
            </a:r>
            <a:r>
              <a:rPr lang="fr-CH" dirty="0"/>
              <a:t>certains </a:t>
            </a:r>
            <a:r>
              <a:rPr lang="fr-CH" dirty="0" smtClean="0"/>
              <a:t>éléments prévus dans cet article </a:t>
            </a:r>
            <a:r>
              <a:rPr lang="fr-CH" dirty="0"/>
              <a:t>si la surveillance </a:t>
            </a:r>
            <a:r>
              <a:rPr lang="fr-CH" dirty="0" smtClean="0"/>
              <a:t>douanière </a:t>
            </a:r>
            <a:r>
              <a:rPr lang="fr-CH" dirty="0"/>
              <a:t>et l’utilisation correcte du régime sont garanties à tout moment.</a:t>
            </a:r>
          </a:p>
          <a:p>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15</a:t>
            </a:fld>
            <a:endParaRPr lang="fr-CH"/>
          </a:p>
        </p:txBody>
      </p:sp>
    </p:spTree>
    <p:extLst>
      <p:ext uri="{BB962C8B-B14F-4D97-AF65-F5344CB8AC3E}">
        <p14:creationId xmlns:p14="http://schemas.microsoft.com/office/powerpoint/2010/main" val="341588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Enlèvement temporaire de marchandises de l’entrepôt douanier</a:t>
            </a:r>
            <a:endParaRPr lang="fr-CH" dirty="0"/>
          </a:p>
        </p:txBody>
      </p:sp>
      <p:sp>
        <p:nvSpPr>
          <p:cNvPr id="3" name="Content Placeholder 2"/>
          <p:cNvSpPr>
            <a:spLocks noGrp="1"/>
          </p:cNvSpPr>
          <p:nvPr>
            <p:ph idx="1"/>
          </p:nvPr>
        </p:nvSpPr>
        <p:spPr/>
        <p:txBody>
          <a:bodyPr/>
          <a:lstStyle/>
          <a:p>
            <a:endParaRPr lang="fr-CH" dirty="0" smtClean="0"/>
          </a:p>
          <a:p>
            <a:r>
              <a:rPr lang="fr-CH" dirty="0" smtClean="0"/>
              <a:t>Les </a:t>
            </a:r>
            <a:r>
              <a:rPr lang="fr-CH" dirty="0"/>
              <a:t>marchandises placées sous le régime de l'entrepôt douanier peuvent être temporairement enlevées de l'entrepôt </a:t>
            </a:r>
            <a:r>
              <a:rPr lang="fr-CH" dirty="0" smtClean="0"/>
              <a:t>douanier, par exemple afin d’effectuer des manipulations usuelles permises. </a:t>
            </a:r>
          </a:p>
          <a:p>
            <a:r>
              <a:rPr lang="fr-CH" dirty="0" smtClean="0"/>
              <a:t>Sauf </a:t>
            </a:r>
            <a:r>
              <a:rPr lang="fr-CH" dirty="0"/>
              <a:t>dans les cas de force majeure, cet enlèvement est autorisé préalablement par les autorités </a:t>
            </a:r>
            <a:r>
              <a:rPr lang="fr-CH" dirty="0" smtClean="0"/>
              <a:t>douanières.</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16</a:t>
            </a:fld>
            <a:endParaRPr lang="fr-CH"/>
          </a:p>
        </p:txBody>
      </p:sp>
    </p:spTree>
    <p:extLst>
      <p:ext uri="{BB962C8B-B14F-4D97-AF65-F5344CB8AC3E}">
        <p14:creationId xmlns:p14="http://schemas.microsoft.com/office/powerpoint/2010/main" val="3587188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Transformation de marchandises dans les locaux de l’entrepôt douanier</a:t>
            </a:r>
            <a:endParaRPr lang="fr-CH" dirty="0"/>
          </a:p>
        </p:txBody>
      </p:sp>
      <p:sp>
        <p:nvSpPr>
          <p:cNvPr id="3" name="Content Placeholder 2"/>
          <p:cNvSpPr>
            <a:spLocks noGrp="1"/>
          </p:cNvSpPr>
          <p:nvPr>
            <p:ph idx="1"/>
          </p:nvPr>
        </p:nvSpPr>
        <p:spPr/>
        <p:txBody>
          <a:bodyPr/>
          <a:lstStyle/>
          <a:p>
            <a:r>
              <a:rPr lang="fr-CH" dirty="0" smtClean="0"/>
              <a:t>Les </a:t>
            </a:r>
            <a:r>
              <a:rPr lang="fr-CH" dirty="0"/>
              <a:t>autorités douanières peuvent, lorsqu'il existe un besoin </a:t>
            </a:r>
            <a:r>
              <a:rPr lang="fr-CH" dirty="0" smtClean="0"/>
              <a:t>économique </a:t>
            </a:r>
            <a:r>
              <a:rPr lang="fr-CH" dirty="0"/>
              <a:t>et que la surveillance douanière n'est pas compromise, autoriser, dans un entrepôt douanier, la transformation de marchandises placées sous le régime du perfectionnement actif ou de la destination </a:t>
            </a:r>
            <a:r>
              <a:rPr lang="fr-CH" dirty="0" smtClean="0"/>
              <a:t>particulière</a:t>
            </a:r>
            <a:r>
              <a:rPr lang="fr-CH" dirty="0"/>
              <a:t>, aux conditions prévues par ces régimes. </a:t>
            </a:r>
            <a:endParaRPr lang="fr-CH" dirty="0" smtClean="0"/>
          </a:p>
          <a:p>
            <a:r>
              <a:rPr lang="fr-CH" dirty="0" smtClean="0"/>
              <a:t>Ces </a:t>
            </a:r>
            <a:r>
              <a:rPr lang="fr-CH" dirty="0"/>
              <a:t>marchandises </a:t>
            </a:r>
            <a:r>
              <a:rPr lang="fr-CH" dirty="0" smtClean="0"/>
              <a:t>ne </a:t>
            </a:r>
            <a:r>
              <a:rPr lang="fr-CH" dirty="0"/>
              <a:t>sont pas considérées comme se trouvant sous le régime de l'entrepôt </a:t>
            </a:r>
            <a:r>
              <a:rPr lang="fr-CH" dirty="0" smtClean="0"/>
              <a:t>douanier.</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17</a:t>
            </a:fld>
            <a:endParaRPr lang="fr-CH"/>
          </a:p>
        </p:txBody>
      </p:sp>
    </p:spTree>
    <p:extLst>
      <p:ext uri="{BB962C8B-B14F-4D97-AF65-F5344CB8AC3E}">
        <p14:creationId xmlns:p14="http://schemas.microsoft.com/office/powerpoint/2010/main" val="1905275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Marchandises</a:t>
            </a:r>
            <a:r>
              <a:rPr lang="en-US" dirty="0" smtClean="0"/>
              <a:t> </a:t>
            </a:r>
            <a:r>
              <a:rPr lang="en-US" smtClean="0"/>
              <a:t>de l’Union dans les locaux de l’entrepôt douanier-séparation </a:t>
            </a:r>
            <a:r>
              <a:rPr lang="en-US" dirty="0" err="1" smtClean="0"/>
              <a:t>comptable</a:t>
            </a:r>
            <a:endParaRPr lang="fr-CH" dirty="0"/>
          </a:p>
        </p:txBody>
      </p:sp>
      <p:sp>
        <p:nvSpPr>
          <p:cNvPr id="3" name="Content Placeholder 2"/>
          <p:cNvSpPr>
            <a:spLocks noGrp="1"/>
          </p:cNvSpPr>
          <p:nvPr>
            <p:ph idx="1"/>
          </p:nvPr>
        </p:nvSpPr>
        <p:spPr/>
        <p:txBody>
          <a:bodyPr>
            <a:normAutofit/>
          </a:bodyPr>
          <a:lstStyle/>
          <a:p>
            <a:r>
              <a:rPr lang="fr-FR" dirty="0"/>
              <a:t>Lorsqu'il existe un besoin économique et que la surveillance douanière ne s'en trouve pas compromise, les autorités douanières peuvent autoriser le stockage des marchandises de l'Union dans une installation de stockage pour l'entrepôt douanier. </a:t>
            </a:r>
            <a:endParaRPr lang="fr-FR" dirty="0" smtClean="0"/>
          </a:p>
          <a:p>
            <a:r>
              <a:rPr lang="fr-FR" dirty="0" smtClean="0"/>
              <a:t>Ces </a:t>
            </a:r>
            <a:r>
              <a:rPr lang="fr-FR" dirty="0"/>
              <a:t>marchandises ne sont pas considérées comme se trouvant sous le régime de l'entrepôt douanier</a:t>
            </a:r>
            <a:r>
              <a:rPr lang="fr-FR" dirty="0" smtClean="0"/>
              <a:t>.</a:t>
            </a:r>
          </a:p>
          <a:p>
            <a:r>
              <a:rPr lang="fr-FR" dirty="0" smtClean="0"/>
              <a:t>Exemple: séparation des marchandises par une corde.</a:t>
            </a:r>
          </a:p>
          <a:p>
            <a:r>
              <a:rPr lang="fr-FR" dirty="0" smtClean="0"/>
              <a:t>Dans certains cas exceptionnels, lorsqu’il est impossible d’identifier à tout moment chaque type de marchandises, une séparation comptable peut </a:t>
            </a:r>
            <a:r>
              <a:rPr lang="fr-FR" smtClean="0"/>
              <a:t>être autorisée. Exemple</a:t>
            </a:r>
            <a:r>
              <a:rPr lang="fr-FR" dirty="0" smtClean="0"/>
              <a:t>: Citerne d’huiles minérales.</a:t>
            </a:r>
            <a:endParaRPr lang="fr-FR" dirty="0"/>
          </a:p>
          <a:p>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18</a:t>
            </a:fld>
            <a:endParaRPr lang="fr-CH"/>
          </a:p>
        </p:txBody>
      </p:sp>
    </p:spTree>
    <p:extLst>
      <p:ext uri="{BB962C8B-B14F-4D97-AF65-F5344CB8AC3E}">
        <p14:creationId xmlns:p14="http://schemas.microsoft.com/office/powerpoint/2010/main" val="294311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Vente</a:t>
            </a:r>
            <a:r>
              <a:rPr lang="en-US" dirty="0" smtClean="0"/>
              <a:t> </a:t>
            </a:r>
            <a:r>
              <a:rPr lang="en-US" smtClean="0"/>
              <a:t>au détail dans l’entrepôt douanier</a:t>
            </a:r>
            <a:endParaRPr lang="fr-CH" dirty="0"/>
          </a:p>
        </p:txBody>
      </p:sp>
      <p:sp>
        <p:nvSpPr>
          <p:cNvPr id="3" name="Content Placeholder 2"/>
          <p:cNvSpPr>
            <a:spLocks noGrp="1"/>
          </p:cNvSpPr>
          <p:nvPr>
            <p:ph idx="1"/>
          </p:nvPr>
        </p:nvSpPr>
        <p:spPr/>
        <p:txBody>
          <a:bodyPr>
            <a:normAutofit lnSpcReduction="10000"/>
          </a:bodyPr>
          <a:lstStyle/>
          <a:p>
            <a:r>
              <a:rPr lang="en-US" dirty="0" err="1" smtClean="0"/>
              <a:t>En</a:t>
            </a:r>
            <a:r>
              <a:rPr lang="en-US" dirty="0" smtClean="0"/>
              <a:t> </a:t>
            </a:r>
            <a:r>
              <a:rPr lang="en-US" dirty="0" err="1" smtClean="0"/>
              <a:t>principe</a:t>
            </a:r>
            <a:r>
              <a:rPr lang="en-US" dirty="0" smtClean="0"/>
              <a:t>, la </a:t>
            </a:r>
            <a:r>
              <a:rPr lang="en-US" dirty="0" err="1" smtClean="0"/>
              <a:t>vente</a:t>
            </a:r>
            <a:r>
              <a:rPr lang="en-US" dirty="0" smtClean="0"/>
              <a:t> au detail </a:t>
            </a:r>
            <a:r>
              <a:rPr lang="en-US" dirty="0" err="1" smtClean="0"/>
              <a:t>n’est</a:t>
            </a:r>
            <a:r>
              <a:rPr lang="en-US" dirty="0" smtClean="0"/>
              <a:t> pas </a:t>
            </a:r>
            <a:r>
              <a:rPr lang="en-US" dirty="0" err="1" smtClean="0"/>
              <a:t>permise</a:t>
            </a:r>
            <a:r>
              <a:rPr lang="en-US" dirty="0" smtClean="0"/>
              <a:t> </a:t>
            </a:r>
            <a:r>
              <a:rPr lang="en-US" dirty="0" err="1" smtClean="0"/>
              <a:t>dans</a:t>
            </a:r>
            <a:r>
              <a:rPr lang="en-US" dirty="0" smtClean="0"/>
              <a:t> un </a:t>
            </a:r>
            <a:r>
              <a:rPr lang="en-US" dirty="0" err="1" smtClean="0"/>
              <a:t>entrepôt</a:t>
            </a:r>
            <a:r>
              <a:rPr lang="en-US" dirty="0" smtClean="0"/>
              <a:t> </a:t>
            </a:r>
            <a:r>
              <a:rPr lang="en-US" dirty="0" err="1" smtClean="0"/>
              <a:t>douanier</a:t>
            </a:r>
            <a:r>
              <a:rPr lang="en-US" dirty="0" smtClean="0"/>
              <a:t>.</a:t>
            </a:r>
          </a:p>
          <a:p>
            <a:r>
              <a:rPr lang="en-US" dirty="0" smtClean="0"/>
              <a:t>Exceptions, les </a:t>
            </a:r>
            <a:r>
              <a:rPr lang="en-US" dirty="0" err="1" smtClean="0"/>
              <a:t>ventes</a:t>
            </a:r>
            <a:r>
              <a:rPr lang="en-US" dirty="0" smtClean="0"/>
              <a:t> </a:t>
            </a:r>
            <a:r>
              <a:rPr lang="en-US" dirty="0" err="1" smtClean="0"/>
              <a:t>dans</a:t>
            </a:r>
            <a:r>
              <a:rPr lang="en-US" dirty="0" smtClean="0"/>
              <a:t> </a:t>
            </a:r>
            <a:r>
              <a:rPr lang="en-US" dirty="0" err="1" smtClean="0"/>
              <a:t>l’une</a:t>
            </a:r>
            <a:r>
              <a:rPr lang="en-US" dirty="0" smtClean="0"/>
              <a:t> des situations </a:t>
            </a:r>
            <a:r>
              <a:rPr lang="en-US" dirty="0" err="1" smtClean="0"/>
              <a:t>suivantes</a:t>
            </a:r>
            <a:r>
              <a:rPr lang="en-US" dirty="0" smtClean="0"/>
              <a:t>:</a:t>
            </a:r>
          </a:p>
          <a:p>
            <a:pPr lvl="1"/>
            <a:r>
              <a:rPr lang="fr-CH" dirty="0" smtClean="0"/>
              <a:t>en </a:t>
            </a:r>
            <a:r>
              <a:rPr lang="fr-CH" dirty="0"/>
              <a:t>exonération de droits à l’importation, à des voyageurs à </a:t>
            </a:r>
            <a:r>
              <a:rPr lang="fr-CH" dirty="0" smtClean="0"/>
              <a:t>destination </a:t>
            </a:r>
            <a:r>
              <a:rPr lang="fr-CH" dirty="0"/>
              <a:t>ou en provenance de pays ou territoires situés hors du territoire </a:t>
            </a:r>
            <a:r>
              <a:rPr lang="fr-CH" dirty="0" smtClean="0"/>
              <a:t>douanier </a:t>
            </a:r>
            <a:r>
              <a:rPr lang="fr-CH" dirty="0"/>
              <a:t>de l’Union;</a:t>
            </a:r>
          </a:p>
          <a:p>
            <a:pPr lvl="1"/>
            <a:r>
              <a:rPr lang="fr-CH" dirty="0" smtClean="0"/>
              <a:t>en </a:t>
            </a:r>
            <a:r>
              <a:rPr lang="fr-CH" dirty="0"/>
              <a:t>exonération de droits à l’importation à des membres </a:t>
            </a:r>
            <a:r>
              <a:rPr lang="fr-CH" dirty="0" smtClean="0"/>
              <a:t>d’organisations </a:t>
            </a:r>
            <a:r>
              <a:rPr lang="fr-CH" dirty="0"/>
              <a:t>internationales;</a:t>
            </a:r>
          </a:p>
          <a:p>
            <a:pPr lvl="1"/>
            <a:r>
              <a:rPr lang="fr-CH" dirty="0" smtClean="0"/>
              <a:t>en </a:t>
            </a:r>
            <a:r>
              <a:rPr lang="fr-CH" dirty="0"/>
              <a:t>exonération de droits à l’importation aux forces de l’OTAN;</a:t>
            </a:r>
          </a:p>
          <a:p>
            <a:pPr lvl="1"/>
            <a:r>
              <a:rPr lang="fr-CH" dirty="0" smtClean="0"/>
              <a:t>en </a:t>
            </a:r>
            <a:r>
              <a:rPr lang="fr-CH" dirty="0"/>
              <a:t>exonération de droits à l’importation dans le cadre d’accords </a:t>
            </a:r>
            <a:r>
              <a:rPr lang="fr-CH" dirty="0" smtClean="0"/>
              <a:t>diplomatiques </a:t>
            </a:r>
            <a:r>
              <a:rPr lang="fr-CH" dirty="0"/>
              <a:t>ou consulaires;</a:t>
            </a:r>
          </a:p>
          <a:p>
            <a:pPr lvl="1"/>
            <a:r>
              <a:rPr lang="fr-CH" dirty="0" smtClean="0"/>
              <a:t>à </a:t>
            </a:r>
            <a:r>
              <a:rPr lang="fr-CH" dirty="0"/>
              <a:t>distance, y compris via </a:t>
            </a:r>
            <a:r>
              <a:rPr lang="fr-CH" dirty="0" smtClean="0"/>
              <a:t>l’internet.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19</a:t>
            </a:fld>
            <a:endParaRPr lang="fr-CH"/>
          </a:p>
        </p:txBody>
      </p:sp>
    </p:spTree>
    <p:extLst>
      <p:ext uri="{BB962C8B-B14F-4D97-AF65-F5344CB8AC3E}">
        <p14:creationId xmlns:p14="http://schemas.microsoft.com/office/powerpoint/2010/main" val="344238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Circulation </a:t>
            </a:r>
            <a:r>
              <a:rPr lang="en-US" smtClean="0"/>
              <a:t>de marchandises entre différents entrepôts douaniers</a:t>
            </a:r>
            <a:endParaRPr lang="fr-CH" dirty="0"/>
          </a:p>
        </p:txBody>
      </p:sp>
      <p:sp>
        <p:nvSpPr>
          <p:cNvPr id="3" name="Content Placeholder 2"/>
          <p:cNvSpPr>
            <a:spLocks noGrp="1"/>
          </p:cNvSpPr>
          <p:nvPr>
            <p:ph idx="1"/>
          </p:nvPr>
        </p:nvSpPr>
        <p:spPr/>
        <p:txBody>
          <a:bodyPr/>
          <a:lstStyle/>
          <a:p>
            <a:r>
              <a:rPr lang="en-US" err="1" smtClean="0"/>
              <a:t>Dans</a:t>
            </a:r>
            <a:r>
              <a:rPr lang="en-US" smtClean="0"/>
              <a:t> certains cas, </a:t>
            </a:r>
            <a:r>
              <a:rPr lang="en-US" dirty="0" smtClean="0"/>
              <a:t>la circulation </a:t>
            </a:r>
            <a:r>
              <a:rPr lang="en-US" smtClean="0"/>
              <a:t>de marchandises d’un entrepôt douanier à l’autre </a:t>
            </a:r>
            <a:r>
              <a:rPr lang="en-US" dirty="0" err="1" smtClean="0"/>
              <a:t>peut</a:t>
            </a:r>
            <a:r>
              <a:rPr lang="en-US" dirty="0" smtClean="0"/>
              <a:t> </a:t>
            </a:r>
            <a:r>
              <a:rPr lang="en-US" dirty="0" err="1" smtClean="0"/>
              <a:t>être</a:t>
            </a:r>
            <a:r>
              <a:rPr lang="en-US" dirty="0" smtClean="0"/>
              <a:t> </a:t>
            </a:r>
            <a:r>
              <a:rPr lang="en-US" dirty="0" err="1" smtClean="0"/>
              <a:t>autorisée</a:t>
            </a:r>
            <a:r>
              <a:rPr lang="en-US" dirty="0" smtClean="0"/>
              <a:t>.</a:t>
            </a:r>
          </a:p>
          <a:p>
            <a:r>
              <a:rPr lang="en-US" dirty="0" err="1" smtClean="0"/>
              <a:t>Exemple</a:t>
            </a:r>
            <a:r>
              <a:rPr lang="en-US" dirty="0" smtClean="0"/>
              <a:t>: </a:t>
            </a:r>
            <a:r>
              <a:rPr lang="en-US" dirty="0" err="1" smtClean="0"/>
              <a:t>Plusieurs</a:t>
            </a:r>
            <a:r>
              <a:rPr lang="en-US" dirty="0" smtClean="0"/>
              <a:t> </a:t>
            </a:r>
            <a:r>
              <a:rPr lang="en-US" dirty="0" err="1" smtClean="0"/>
              <a:t>entrepôts</a:t>
            </a:r>
            <a:r>
              <a:rPr lang="en-US" dirty="0" smtClean="0"/>
              <a:t> </a:t>
            </a:r>
            <a:r>
              <a:rPr lang="en-US" dirty="0" err="1" smtClean="0"/>
              <a:t>douaniers</a:t>
            </a:r>
            <a:r>
              <a:rPr lang="en-US" dirty="0" smtClean="0"/>
              <a:t> relevant de la </a:t>
            </a:r>
            <a:r>
              <a:rPr lang="en-US" dirty="0" err="1" smtClean="0"/>
              <a:t>même</a:t>
            </a:r>
            <a:r>
              <a:rPr lang="en-US" dirty="0" smtClean="0"/>
              <a:t> </a:t>
            </a:r>
            <a:r>
              <a:rPr lang="en-US" dirty="0" err="1" smtClean="0"/>
              <a:t>autorisation</a:t>
            </a:r>
            <a:r>
              <a:rPr lang="en-US" dirty="0" smtClean="0"/>
              <a:t> </a:t>
            </a:r>
            <a:r>
              <a:rPr lang="en-US" smtClean="0"/>
              <a:t>sur un </a:t>
            </a:r>
            <a:r>
              <a:rPr lang="en-US" dirty="0" smtClean="0"/>
              <a:t>site </a:t>
            </a:r>
            <a:r>
              <a:rPr lang="en-US" dirty="0" err="1" smtClean="0"/>
              <a:t>industriel</a:t>
            </a:r>
            <a:r>
              <a:rPr lang="en-US" dirty="0" smtClean="0"/>
              <a:t>. </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20</a:t>
            </a:fld>
            <a:endParaRPr lang="fr-CH"/>
          </a:p>
        </p:txBody>
      </p:sp>
    </p:spTree>
    <p:extLst>
      <p:ext uri="{BB962C8B-B14F-4D97-AF65-F5344CB8AC3E}">
        <p14:creationId xmlns:p14="http://schemas.microsoft.com/office/powerpoint/2010/main" val="1414737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Marchandises</a:t>
            </a:r>
            <a:r>
              <a:rPr lang="en-US" dirty="0" smtClean="0"/>
              <a:t> </a:t>
            </a:r>
            <a:r>
              <a:rPr lang="en-US" dirty="0" err="1" smtClean="0"/>
              <a:t>équivalentes</a:t>
            </a:r>
            <a:endParaRPr lang="fr-CH" dirty="0"/>
          </a:p>
        </p:txBody>
      </p:sp>
      <p:sp>
        <p:nvSpPr>
          <p:cNvPr id="3" name="Content Placeholder 2"/>
          <p:cNvSpPr>
            <a:spLocks noGrp="1"/>
          </p:cNvSpPr>
          <p:nvPr>
            <p:ph idx="1"/>
          </p:nvPr>
        </p:nvSpPr>
        <p:spPr/>
        <p:txBody>
          <a:bodyPr>
            <a:normAutofit fontScale="92500" lnSpcReduction="20000"/>
          </a:bodyPr>
          <a:lstStyle/>
          <a:p>
            <a:r>
              <a:rPr lang="fr-CH" dirty="0"/>
              <a:t>On entend par "marchandises équivalentes", des marchandises de l'Union entreposées, utilisées ou transformées en lieu et place de marchandises placées sous un régime particulier.</a:t>
            </a:r>
            <a:endParaRPr lang="en-US" dirty="0" smtClean="0"/>
          </a:p>
          <a:p>
            <a:r>
              <a:rPr lang="en-US" dirty="0" smtClean="0"/>
              <a:t>Les </a:t>
            </a:r>
            <a:r>
              <a:rPr lang="en-US" dirty="0" err="1" smtClean="0"/>
              <a:t>marchandises</a:t>
            </a:r>
            <a:r>
              <a:rPr lang="en-US" dirty="0" smtClean="0"/>
              <a:t> </a:t>
            </a:r>
            <a:r>
              <a:rPr lang="en-US" dirty="0" err="1" smtClean="0"/>
              <a:t>équivalentes</a:t>
            </a:r>
            <a:r>
              <a:rPr lang="en-US" dirty="0" smtClean="0"/>
              <a:t>:</a:t>
            </a:r>
          </a:p>
          <a:p>
            <a:pPr lvl="1"/>
            <a:r>
              <a:rPr lang="fr-CH" dirty="0"/>
              <a:t>relèvent du même code </a:t>
            </a:r>
            <a:r>
              <a:rPr lang="fr-CH" dirty="0" smtClean="0"/>
              <a:t>de </a:t>
            </a:r>
            <a:r>
              <a:rPr lang="fr-CH" dirty="0"/>
              <a:t>la nomenclature </a:t>
            </a:r>
            <a:r>
              <a:rPr lang="fr-CH" dirty="0" smtClean="0"/>
              <a:t>combinée;</a:t>
            </a:r>
          </a:p>
          <a:p>
            <a:pPr lvl="1"/>
            <a:r>
              <a:rPr lang="fr-CH" dirty="0"/>
              <a:t>sont de même qualité </a:t>
            </a:r>
            <a:r>
              <a:rPr lang="fr-CH" dirty="0" smtClean="0"/>
              <a:t>commerciale; et</a:t>
            </a:r>
          </a:p>
          <a:p>
            <a:pPr lvl="1"/>
            <a:r>
              <a:rPr lang="fr-CH" dirty="0"/>
              <a:t>présentent les mêmes caractéristiques techniques que les marchandises qu’elles </a:t>
            </a:r>
            <a:r>
              <a:rPr lang="fr-CH" dirty="0" smtClean="0"/>
              <a:t>remplacent.</a:t>
            </a:r>
          </a:p>
          <a:p>
            <a:r>
              <a:rPr lang="fr-CH" dirty="0" smtClean="0"/>
              <a:t>Les </a:t>
            </a:r>
            <a:r>
              <a:rPr lang="fr-CH" dirty="0"/>
              <a:t>marchandises </a:t>
            </a:r>
            <a:r>
              <a:rPr lang="fr-CH" dirty="0" smtClean="0"/>
              <a:t>équivalentes </a:t>
            </a:r>
            <a:r>
              <a:rPr lang="fr-CH" dirty="0"/>
              <a:t>deviennent des marchandises non Union et les marchandises qu’elles </a:t>
            </a:r>
            <a:r>
              <a:rPr lang="fr-CH" dirty="0" smtClean="0"/>
              <a:t>remplacent </a:t>
            </a:r>
            <a:r>
              <a:rPr lang="fr-CH" dirty="0"/>
              <a:t>deviennent des marchandises de l’Union au moment de leur admission </a:t>
            </a:r>
            <a:r>
              <a:rPr lang="fr-CH" dirty="0" smtClean="0"/>
              <a:t>sous </a:t>
            </a:r>
            <a:r>
              <a:rPr lang="fr-CH" dirty="0"/>
              <a:t>un autre régime douanier apurant le régime ou lorsque les marchandises </a:t>
            </a:r>
            <a:r>
              <a:rPr lang="fr-CH" dirty="0" smtClean="0"/>
              <a:t>équivalentes </a:t>
            </a:r>
            <a:r>
              <a:rPr lang="fr-CH" dirty="0"/>
              <a:t>ont quitté le territoire douanier de l’Union.</a:t>
            </a:r>
          </a:p>
          <a:p>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21</a:t>
            </a:fld>
            <a:endParaRPr lang="fr-CH"/>
          </a:p>
        </p:txBody>
      </p:sp>
    </p:spTree>
    <p:extLst>
      <p:ext uri="{BB962C8B-B14F-4D97-AF65-F5344CB8AC3E}">
        <p14:creationId xmlns:p14="http://schemas.microsoft.com/office/powerpoint/2010/main" val="111722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Stockage des marchandises- Manipulations autorisées</a:t>
            </a:r>
            <a:endParaRPr lang="fr-CH" dirty="0"/>
          </a:p>
        </p:txBody>
      </p:sp>
      <p:sp>
        <p:nvSpPr>
          <p:cNvPr id="3" name="Content Placeholder 2"/>
          <p:cNvSpPr>
            <a:spLocks noGrp="1"/>
          </p:cNvSpPr>
          <p:nvPr>
            <p:ph idx="1"/>
          </p:nvPr>
        </p:nvSpPr>
        <p:spPr/>
        <p:txBody>
          <a:bodyPr/>
          <a:lstStyle/>
          <a:p>
            <a:r>
              <a:rPr lang="en-US" smtClean="0"/>
              <a:t>Les </a:t>
            </a:r>
            <a:r>
              <a:rPr lang="en-US" dirty="0" err="1" smtClean="0"/>
              <a:t>marchandises</a:t>
            </a:r>
            <a:r>
              <a:rPr lang="en-US" dirty="0" smtClean="0"/>
              <a:t> </a:t>
            </a:r>
            <a:r>
              <a:rPr lang="en-US" dirty="0" err="1" smtClean="0"/>
              <a:t>sont</a:t>
            </a:r>
            <a:r>
              <a:rPr lang="en-US" dirty="0" smtClean="0"/>
              <a:t> </a:t>
            </a:r>
            <a:r>
              <a:rPr lang="en-US" dirty="0" err="1" smtClean="0"/>
              <a:t>seulement</a:t>
            </a:r>
            <a:r>
              <a:rPr lang="en-US" dirty="0" smtClean="0"/>
              <a:t> </a:t>
            </a:r>
            <a:r>
              <a:rPr lang="en-US" dirty="0" err="1" smtClean="0"/>
              <a:t>conservées</a:t>
            </a:r>
            <a:r>
              <a:rPr lang="en-US" dirty="0" smtClean="0"/>
              <a:t> </a:t>
            </a:r>
            <a:r>
              <a:rPr lang="en-US" dirty="0" err="1" smtClean="0"/>
              <a:t>en</a:t>
            </a:r>
            <a:r>
              <a:rPr lang="en-US" dirty="0" smtClean="0"/>
              <a:t> </a:t>
            </a:r>
            <a:r>
              <a:rPr lang="en-US" dirty="0" err="1" smtClean="0"/>
              <a:t>l’état</a:t>
            </a:r>
            <a:r>
              <a:rPr lang="en-US" dirty="0" smtClean="0"/>
              <a:t>, sans </a:t>
            </a:r>
            <a:r>
              <a:rPr lang="en-US" dirty="0" err="1" smtClean="0"/>
              <a:t>être</a:t>
            </a:r>
            <a:r>
              <a:rPr lang="en-US" dirty="0" smtClean="0"/>
              <a:t> </a:t>
            </a:r>
            <a:r>
              <a:rPr lang="en-US" dirty="0" err="1" smtClean="0"/>
              <a:t>employées</a:t>
            </a:r>
            <a:r>
              <a:rPr lang="en-US" dirty="0" smtClean="0"/>
              <a:t> </a:t>
            </a:r>
            <a:r>
              <a:rPr lang="en-US" dirty="0" err="1" smtClean="0"/>
              <a:t>ou</a:t>
            </a:r>
            <a:r>
              <a:rPr lang="en-US" dirty="0" smtClean="0"/>
              <a:t> </a:t>
            </a:r>
            <a:r>
              <a:rPr lang="en-US" dirty="0" err="1" smtClean="0"/>
              <a:t>modifiées</a:t>
            </a:r>
            <a:r>
              <a:rPr lang="en-US" dirty="0" smtClean="0"/>
              <a:t>, </a:t>
            </a:r>
            <a:r>
              <a:rPr lang="en-US" dirty="0" err="1" smtClean="0"/>
              <a:t>en</a:t>
            </a:r>
            <a:r>
              <a:rPr lang="en-US" dirty="0" smtClean="0"/>
              <a:t> attendant le placement </a:t>
            </a:r>
            <a:r>
              <a:rPr lang="en-US" smtClean="0"/>
              <a:t>sous un autre </a:t>
            </a:r>
            <a:r>
              <a:rPr lang="en-US" dirty="0" smtClean="0"/>
              <a:t>régime </a:t>
            </a:r>
            <a:r>
              <a:rPr lang="en-US" dirty="0" err="1" smtClean="0"/>
              <a:t>douanier</a:t>
            </a:r>
            <a:r>
              <a:rPr lang="en-US" dirty="0" smtClean="0"/>
              <a:t>. </a:t>
            </a:r>
          </a:p>
          <a:p>
            <a:r>
              <a:rPr lang="en-US" dirty="0" err="1" smtClean="0"/>
              <a:t>Seules</a:t>
            </a:r>
            <a:r>
              <a:rPr lang="en-US" dirty="0" smtClean="0"/>
              <a:t> les </a:t>
            </a:r>
            <a:r>
              <a:rPr lang="en-US" smtClean="0"/>
              <a:t>manipulations usuelles de l’annexe 71-03 RD </a:t>
            </a:r>
            <a:r>
              <a:rPr lang="en-US" dirty="0" err="1" smtClean="0"/>
              <a:t>sont</a:t>
            </a:r>
            <a:r>
              <a:rPr lang="en-US" dirty="0" smtClean="0"/>
              <a:t> </a:t>
            </a:r>
            <a:r>
              <a:rPr lang="en-US" err="1" smtClean="0"/>
              <a:t>autorisées</a:t>
            </a:r>
            <a:r>
              <a:rPr lang="en-US" smtClean="0"/>
              <a:t>. </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22</a:t>
            </a:fld>
            <a:endParaRPr lang="fr-CH"/>
          </a:p>
        </p:txBody>
      </p:sp>
    </p:spTree>
    <p:extLst>
      <p:ext uri="{BB962C8B-B14F-4D97-AF65-F5344CB8AC3E}">
        <p14:creationId xmlns:p14="http://schemas.microsoft.com/office/powerpoint/2010/main" val="893740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Manipulations </a:t>
            </a:r>
            <a:r>
              <a:rPr lang="en-US" err="1" smtClean="0"/>
              <a:t>usuelles</a:t>
            </a:r>
            <a:r>
              <a:rPr lang="en-US" smtClean="0"/>
              <a:t> autorisées dans l’entrepôt douanier</a:t>
            </a:r>
            <a:endParaRPr lang="fr-CH" dirty="0"/>
          </a:p>
        </p:txBody>
      </p:sp>
      <p:sp>
        <p:nvSpPr>
          <p:cNvPr id="3" name="Content Placeholder 2"/>
          <p:cNvSpPr>
            <a:spLocks noGrp="1"/>
          </p:cNvSpPr>
          <p:nvPr>
            <p:ph idx="1"/>
          </p:nvPr>
        </p:nvSpPr>
        <p:spPr/>
        <p:txBody>
          <a:bodyPr>
            <a:normAutofit lnSpcReduction="10000"/>
          </a:bodyPr>
          <a:lstStyle/>
          <a:p>
            <a:r>
              <a:rPr lang="en-US" dirty="0" smtClean="0"/>
              <a:t>Les manipulations </a:t>
            </a:r>
            <a:r>
              <a:rPr lang="en-US" dirty="0" err="1" smtClean="0"/>
              <a:t>usuelles</a:t>
            </a:r>
            <a:r>
              <a:rPr lang="en-US" dirty="0" smtClean="0"/>
              <a:t> </a:t>
            </a:r>
            <a:r>
              <a:rPr lang="en-US" dirty="0" err="1" smtClean="0"/>
              <a:t>sont</a:t>
            </a:r>
            <a:r>
              <a:rPr lang="en-US" dirty="0" smtClean="0"/>
              <a:t> </a:t>
            </a:r>
            <a:r>
              <a:rPr lang="en-US" dirty="0" err="1" smtClean="0"/>
              <a:t>destinées</a:t>
            </a:r>
            <a:r>
              <a:rPr lang="en-US" dirty="0" smtClean="0"/>
              <a:t> à assurer la conservation, à </a:t>
            </a:r>
            <a:r>
              <a:rPr lang="en-US" dirty="0" err="1" smtClean="0"/>
              <a:t>améliorer</a:t>
            </a:r>
            <a:r>
              <a:rPr lang="en-US" dirty="0" smtClean="0"/>
              <a:t> la </a:t>
            </a:r>
            <a:r>
              <a:rPr lang="en-US" dirty="0" err="1" smtClean="0"/>
              <a:t>présentation</a:t>
            </a:r>
            <a:r>
              <a:rPr lang="en-US" dirty="0" smtClean="0"/>
              <a:t> </a:t>
            </a:r>
            <a:r>
              <a:rPr lang="en-US" dirty="0" err="1" smtClean="0"/>
              <a:t>ou</a:t>
            </a:r>
            <a:r>
              <a:rPr lang="en-US" dirty="0" smtClean="0"/>
              <a:t> la </a:t>
            </a:r>
            <a:r>
              <a:rPr lang="en-US" dirty="0" err="1" smtClean="0"/>
              <a:t>qualité</a:t>
            </a:r>
            <a:r>
              <a:rPr lang="en-US" dirty="0" smtClean="0"/>
              <a:t> </a:t>
            </a:r>
            <a:r>
              <a:rPr lang="en-US" dirty="0" err="1" smtClean="0"/>
              <a:t>marchande</a:t>
            </a:r>
            <a:r>
              <a:rPr lang="en-US" dirty="0" smtClean="0"/>
              <a:t> </a:t>
            </a:r>
            <a:r>
              <a:rPr lang="en-US" dirty="0" err="1" smtClean="0"/>
              <a:t>ou</a:t>
            </a:r>
            <a:r>
              <a:rPr lang="en-US" dirty="0" smtClean="0"/>
              <a:t> à </a:t>
            </a:r>
            <a:r>
              <a:rPr lang="en-US" dirty="0" err="1" smtClean="0"/>
              <a:t>préparer</a:t>
            </a:r>
            <a:r>
              <a:rPr lang="en-US" dirty="0" smtClean="0"/>
              <a:t> la distribution </a:t>
            </a:r>
            <a:r>
              <a:rPr lang="en-US" dirty="0" err="1" smtClean="0"/>
              <a:t>ou</a:t>
            </a:r>
            <a:r>
              <a:rPr lang="en-US" dirty="0" smtClean="0"/>
              <a:t> la </a:t>
            </a:r>
            <a:r>
              <a:rPr lang="en-US" dirty="0" err="1" smtClean="0"/>
              <a:t>revente</a:t>
            </a:r>
            <a:r>
              <a:rPr lang="en-US" dirty="0" smtClean="0"/>
              <a:t> des </a:t>
            </a:r>
            <a:r>
              <a:rPr lang="en-US" dirty="0" err="1" smtClean="0"/>
              <a:t>marchandises</a:t>
            </a:r>
            <a:r>
              <a:rPr lang="en-US" dirty="0" smtClean="0"/>
              <a:t> </a:t>
            </a:r>
            <a:r>
              <a:rPr lang="en-US" dirty="0" err="1" smtClean="0"/>
              <a:t>placés</a:t>
            </a:r>
            <a:r>
              <a:rPr lang="en-US" dirty="0" smtClean="0"/>
              <a:t> sous le régime de </a:t>
            </a:r>
            <a:r>
              <a:rPr lang="en-US" dirty="0" err="1" smtClean="0"/>
              <a:t>l’entrepôt</a:t>
            </a:r>
            <a:r>
              <a:rPr lang="en-US" dirty="0" smtClean="0"/>
              <a:t> </a:t>
            </a:r>
            <a:r>
              <a:rPr lang="en-US" dirty="0" err="1" smtClean="0"/>
              <a:t>douanier</a:t>
            </a:r>
            <a:r>
              <a:rPr lang="en-US" dirty="0" smtClean="0"/>
              <a:t>.</a:t>
            </a:r>
          </a:p>
          <a:p>
            <a:r>
              <a:rPr lang="en-US" dirty="0" smtClean="0"/>
              <a:t>Les </a:t>
            </a:r>
            <a:r>
              <a:rPr lang="en-US" dirty="0" err="1" smtClean="0"/>
              <a:t>opérations</a:t>
            </a:r>
            <a:r>
              <a:rPr lang="en-US" dirty="0" smtClean="0"/>
              <a:t> qui </a:t>
            </a:r>
            <a:r>
              <a:rPr lang="en-US" dirty="0" err="1" smtClean="0"/>
              <a:t>vont</a:t>
            </a:r>
            <a:r>
              <a:rPr lang="en-US" dirty="0" smtClean="0"/>
              <a:t> au-</a:t>
            </a:r>
            <a:r>
              <a:rPr lang="en-US" dirty="0" err="1" smtClean="0"/>
              <a:t>delà</a:t>
            </a:r>
            <a:r>
              <a:rPr lang="en-US" dirty="0" smtClean="0"/>
              <a:t> des operations </a:t>
            </a:r>
            <a:r>
              <a:rPr lang="en-US" dirty="0" err="1" smtClean="0"/>
              <a:t>permises</a:t>
            </a:r>
            <a:r>
              <a:rPr lang="en-US" dirty="0" smtClean="0"/>
              <a:t> </a:t>
            </a:r>
            <a:r>
              <a:rPr lang="en-US" dirty="0" err="1" smtClean="0"/>
              <a:t>doivent</a:t>
            </a:r>
            <a:r>
              <a:rPr lang="en-US" dirty="0" smtClean="0"/>
              <a:t> faire </a:t>
            </a:r>
            <a:r>
              <a:rPr lang="en-US" dirty="0" err="1" smtClean="0"/>
              <a:t>l’objet</a:t>
            </a:r>
            <a:r>
              <a:rPr lang="en-US" dirty="0" smtClean="0"/>
              <a:t> </a:t>
            </a:r>
            <a:r>
              <a:rPr lang="en-US" dirty="0" err="1" smtClean="0"/>
              <a:t>d’une</a:t>
            </a:r>
            <a:r>
              <a:rPr lang="en-US" dirty="0" smtClean="0"/>
              <a:t> </a:t>
            </a:r>
            <a:r>
              <a:rPr lang="en-US" dirty="0" err="1" smtClean="0"/>
              <a:t>autorisation</a:t>
            </a:r>
            <a:r>
              <a:rPr lang="en-US" dirty="0" smtClean="0"/>
              <a:t> de </a:t>
            </a:r>
            <a:r>
              <a:rPr lang="en-US" dirty="0" err="1" smtClean="0"/>
              <a:t>perfectionnement</a:t>
            </a:r>
            <a:r>
              <a:rPr lang="en-US" dirty="0" smtClean="0"/>
              <a:t> </a:t>
            </a:r>
            <a:r>
              <a:rPr lang="en-US" dirty="0" err="1" smtClean="0"/>
              <a:t>actif</a:t>
            </a:r>
            <a:r>
              <a:rPr lang="en-US" dirty="0" smtClean="0"/>
              <a:t>.</a:t>
            </a:r>
          </a:p>
          <a:p>
            <a:r>
              <a:rPr lang="en-US" dirty="0" smtClean="0"/>
              <a:t>N.B.: Les manipulations </a:t>
            </a:r>
            <a:r>
              <a:rPr lang="en-US" dirty="0" err="1" smtClean="0"/>
              <a:t>usuelles</a:t>
            </a:r>
            <a:r>
              <a:rPr lang="en-US" dirty="0" smtClean="0"/>
              <a:t> </a:t>
            </a:r>
            <a:r>
              <a:rPr lang="en-US" dirty="0" err="1" smtClean="0"/>
              <a:t>sont</a:t>
            </a:r>
            <a:r>
              <a:rPr lang="en-US" dirty="0" smtClean="0"/>
              <a:t> </a:t>
            </a:r>
            <a:r>
              <a:rPr lang="en-US" dirty="0" err="1" smtClean="0"/>
              <a:t>aussi</a:t>
            </a:r>
            <a:r>
              <a:rPr lang="en-US" dirty="0" smtClean="0"/>
              <a:t> </a:t>
            </a:r>
            <a:r>
              <a:rPr lang="en-US" dirty="0" err="1" smtClean="0"/>
              <a:t>autorisées</a:t>
            </a:r>
            <a:r>
              <a:rPr lang="en-US" dirty="0" smtClean="0"/>
              <a:t> </a:t>
            </a:r>
            <a:r>
              <a:rPr lang="en-US" dirty="0" err="1" smtClean="0"/>
              <a:t>dans</a:t>
            </a:r>
            <a:r>
              <a:rPr lang="en-US" dirty="0" smtClean="0"/>
              <a:t> les régimes </a:t>
            </a:r>
            <a:r>
              <a:rPr lang="en-US" dirty="0" err="1" smtClean="0"/>
              <a:t>suivants</a:t>
            </a:r>
            <a:r>
              <a:rPr lang="en-US" dirty="0" smtClean="0"/>
              <a:t>:</a:t>
            </a:r>
          </a:p>
          <a:p>
            <a:pPr lvl="1"/>
            <a:r>
              <a:rPr lang="en-US" dirty="0" smtClean="0"/>
              <a:t>Zone </a:t>
            </a:r>
            <a:r>
              <a:rPr lang="en-US" dirty="0" err="1" smtClean="0"/>
              <a:t>franche</a:t>
            </a:r>
            <a:endParaRPr lang="en-US" dirty="0" smtClean="0"/>
          </a:p>
          <a:p>
            <a:pPr lvl="1"/>
            <a:r>
              <a:rPr lang="en-US" dirty="0" err="1" smtClean="0"/>
              <a:t>Perfectionnement</a:t>
            </a:r>
            <a:r>
              <a:rPr lang="en-US" dirty="0" smtClean="0"/>
              <a:t> </a:t>
            </a:r>
            <a:r>
              <a:rPr lang="en-US" dirty="0" err="1" smtClean="0"/>
              <a:t>actif</a:t>
            </a:r>
            <a:endParaRPr lang="en-US" dirty="0" smtClean="0"/>
          </a:p>
          <a:p>
            <a:pPr lvl="1"/>
            <a:r>
              <a:rPr lang="en-US" dirty="0" err="1" smtClean="0"/>
              <a:t>Perfectionnement</a:t>
            </a:r>
            <a:r>
              <a:rPr lang="en-US" dirty="0" smtClean="0"/>
              <a:t> </a:t>
            </a:r>
            <a:r>
              <a:rPr lang="en-US" dirty="0" err="1" smtClean="0"/>
              <a:t>passif</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23</a:t>
            </a:fld>
            <a:endParaRPr lang="fr-CH"/>
          </a:p>
        </p:txBody>
      </p:sp>
    </p:spTree>
    <p:extLst>
      <p:ext uri="{BB962C8B-B14F-4D97-AF65-F5344CB8AC3E}">
        <p14:creationId xmlns:p14="http://schemas.microsoft.com/office/powerpoint/2010/main" val="367104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Manipulations </a:t>
            </a:r>
            <a:r>
              <a:rPr lang="en-US" dirty="0" err="1" smtClean="0"/>
              <a:t>usuelles</a:t>
            </a:r>
            <a:r>
              <a:rPr lang="en-US" dirty="0" smtClean="0"/>
              <a:t> - Conditions</a:t>
            </a:r>
            <a:endParaRPr lang="fr-CH" dirty="0"/>
          </a:p>
        </p:txBody>
      </p:sp>
      <p:sp>
        <p:nvSpPr>
          <p:cNvPr id="3" name="Content Placeholder 2"/>
          <p:cNvSpPr>
            <a:spLocks noGrp="1"/>
          </p:cNvSpPr>
          <p:nvPr>
            <p:ph idx="1"/>
          </p:nvPr>
        </p:nvSpPr>
        <p:spPr/>
        <p:txBody>
          <a:bodyPr>
            <a:normAutofit/>
          </a:bodyPr>
          <a:lstStyle/>
          <a:p>
            <a:r>
              <a:rPr lang="fr-CH" dirty="0"/>
              <a:t>Sauf dispositions contraires, aucune des manipulations suivantes ne peut donner lieu à un code NC différent à huit chiffres. </a:t>
            </a:r>
            <a:endParaRPr lang="fr-CH" dirty="0" smtClean="0"/>
          </a:p>
          <a:p>
            <a:r>
              <a:rPr lang="fr-CH" dirty="0" smtClean="0"/>
              <a:t>De </a:t>
            </a:r>
            <a:r>
              <a:rPr lang="fr-CH" dirty="0"/>
              <a:t>plus, aucune des manipulations suivantes ne peut donner lieu à un avantage tarifaire injustifié </a:t>
            </a:r>
            <a:r>
              <a:rPr lang="fr-CH"/>
              <a:t>à </a:t>
            </a:r>
            <a:r>
              <a:rPr lang="fr-CH" smtClean="0"/>
              <a:t>l’importation (p.ex. en conférant une origine préférentielle UE). </a:t>
            </a:r>
            <a:endParaRPr lang="fr-CH" dirty="0" smtClean="0"/>
          </a:p>
        </p:txBody>
      </p:sp>
      <p:sp>
        <p:nvSpPr>
          <p:cNvPr id="4" name="Slide Number Placeholder 3"/>
          <p:cNvSpPr>
            <a:spLocks noGrp="1"/>
          </p:cNvSpPr>
          <p:nvPr>
            <p:ph type="sldNum" sz="quarter" idx="12"/>
          </p:nvPr>
        </p:nvSpPr>
        <p:spPr/>
        <p:txBody>
          <a:bodyPr/>
          <a:lstStyle/>
          <a:p>
            <a:fld id="{AC11F01A-B187-4E96-A42F-7B20626A13B5}" type="slidenum">
              <a:rPr lang="fr-CH" smtClean="0"/>
              <a:t>24</a:t>
            </a:fld>
            <a:endParaRPr lang="fr-CH"/>
          </a:p>
        </p:txBody>
      </p:sp>
    </p:spTree>
    <p:extLst>
      <p:ext uri="{BB962C8B-B14F-4D97-AF65-F5344CB8AC3E}">
        <p14:creationId xmlns:p14="http://schemas.microsoft.com/office/powerpoint/2010/main" val="1225784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Liste</a:t>
            </a:r>
            <a:r>
              <a:rPr lang="en-US" dirty="0" smtClean="0"/>
              <a:t> des </a:t>
            </a:r>
            <a:r>
              <a:rPr lang="en-US" smtClean="0"/>
              <a:t>manipulations usuelles 1/6</a:t>
            </a:r>
            <a:endParaRPr lang="fr-CH" dirty="0"/>
          </a:p>
        </p:txBody>
      </p:sp>
      <p:sp>
        <p:nvSpPr>
          <p:cNvPr id="3" name="Content Placeholder 2"/>
          <p:cNvSpPr>
            <a:spLocks noGrp="1"/>
          </p:cNvSpPr>
          <p:nvPr>
            <p:ph idx="1"/>
          </p:nvPr>
        </p:nvSpPr>
        <p:spPr/>
        <p:txBody>
          <a:bodyPr/>
          <a:lstStyle/>
          <a:p>
            <a:r>
              <a:rPr lang="fr-CH" dirty="0"/>
              <a:t>V</a:t>
            </a:r>
            <a:r>
              <a:rPr lang="fr-CH" dirty="0" smtClean="0"/>
              <a:t>entilation</a:t>
            </a:r>
            <a:r>
              <a:rPr lang="fr-CH" dirty="0"/>
              <a:t>, étalement, séchage, enlèvement de poussières, simples </a:t>
            </a:r>
            <a:r>
              <a:rPr lang="fr-CH" dirty="0" smtClean="0"/>
              <a:t>opérations </a:t>
            </a:r>
            <a:r>
              <a:rPr lang="fr-CH" dirty="0"/>
              <a:t>de nettoyage, réparations de l’emballage, réparations élémentaires de dommages survenus au cours du transport ou de l’entreposage dans la mesure où il s’agit d’opérations simples, application ou retrait des </a:t>
            </a:r>
            <a:r>
              <a:rPr lang="fr-CH" dirty="0" smtClean="0"/>
              <a:t>protections </a:t>
            </a:r>
            <a:r>
              <a:rPr lang="fr-CH" dirty="0"/>
              <a:t>utilisées </a:t>
            </a:r>
            <a:r>
              <a:rPr lang="fr-CH" dirty="0" smtClean="0"/>
              <a:t>pour le transport;</a:t>
            </a:r>
          </a:p>
          <a:p>
            <a:r>
              <a:rPr lang="fr-CH" dirty="0"/>
              <a:t>R</a:t>
            </a:r>
            <a:r>
              <a:rPr lang="fr-CH" dirty="0" smtClean="0"/>
              <a:t>econstitution </a:t>
            </a:r>
            <a:r>
              <a:rPr lang="fr-CH" dirty="0"/>
              <a:t>des marchandises après le transport</a:t>
            </a:r>
            <a:r>
              <a:rPr lang="fr-CH" dirty="0" smtClean="0"/>
              <a:t>;</a:t>
            </a:r>
          </a:p>
          <a:p>
            <a:r>
              <a:rPr lang="fr-CH" dirty="0" smtClean="0"/>
              <a:t>Inventaire</a:t>
            </a:r>
            <a:r>
              <a:rPr lang="fr-CH" dirty="0"/>
              <a:t>, échantillonnage, triage, tamisage, filtrage mécanique et pesage des marchandises</a:t>
            </a:r>
            <a:r>
              <a:rPr lang="fr-CH" dirty="0" smtClean="0"/>
              <a:t>;</a:t>
            </a:r>
          </a:p>
          <a:p>
            <a:r>
              <a:rPr lang="fr-CH" dirty="0"/>
              <a:t>É</a:t>
            </a:r>
            <a:r>
              <a:rPr lang="fr-CH" dirty="0" smtClean="0"/>
              <a:t>limination </a:t>
            </a:r>
            <a:r>
              <a:rPr lang="fr-CH" dirty="0"/>
              <a:t>des composants endommagés ou pollués;</a:t>
            </a:r>
          </a:p>
        </p:txBody>
      </p:sp>
      <p:sp>
        <p:nvSpPr>
          <p:cNvPr id="4" name="Slide Number Placeholder 3"/>
          <p:cNvSpPr>
            <a:spLocks noGrp="1"/>
          </p:cNvSpPr>
          <p:nvPr>
            <p:ph type="sldNum" sz="quarter" idx="12"/>
          </p:nvPr>
        </p:nvSpPr>
        <p:spPr/>
        <p:txBody>
          <a:bodyPr/>
          <a:lstStyle/>
          <a:p>
            <a:fld id="{AC11F01A-B187-4E96-A42F-7B20626A13B5}" type="slidenum">
              <a:rPr lang="fr-CH" smtClean="0"/>
              <a:t>25</a:t>
            </a:fld>
            <a:endParaRPr lang="fr-CH"/>
          </a:p>
        </p:txBody>
      </p:sp>
    </p:spTree>
    <p:extLst>
      <p:ext uri="{BB962C8B-B14F-4D97-AF65-F5344CB8AC3E}">
        <p14:creationId xmlns:p14="http://schemas.microsoft.com/office/powerpoint/2010/main" val="1809009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Liste</a:t>
            </a:r>
            <a:r>
              <a:rPr lang="en-US" dirty="0"/>
              <a:t> des </a:t>
            </a:r>
            <a:r>
              <a:rPr lang="en-US"/>
              <a:t>manipulations </a:t>
            </a:r>
            <a:r>
              <a:rPr lang="en-US" smtClean="0"/>
              <a:t>usuelles 2/6</a:t>
            </a:r>
            <a:endParaRPr lang="fr-CH" dirty="0"/>
          </a:p>
        </p:txBody>
      </p:sp>
      <p:sp>
        <p:nvSpPr>
          <p:cNvPr id="3" name="Content Placeholder 2"/>
          <p:cNvSpPr>
            <a:spLocks noGrp="1"/>
          </p:cNvSpPr>
          <p:nvPr>
            <p:ph idx="1"/>
          </p:nvPr>
        </p:nvSpPr>
        <p:spPr/>
        <p:txBody>
          <a:bodyPr/>
          <a:lstStyle/>
          <a:p>
            <a:r>
              <a:rPr lang="fr-CH" dirty="0" smtClean="0"/>
              <a:t>Conservation </a:t>
            </a:r>
            <a:r>
              <a:rPr lang="fr-CH" dirty="0"/>
              <a:t>par pasteurisation, stérilisation, irradiation ou adjonction d’agents de conservation</a:t>
            </a:r>
            <a:r>
              <a:rPr lang="fr-CH" dirty="0" smtClean="0"/>
              <a:t>;</a:t>
            </a:r>
          </a:p>
          <a:p>
            <a:r>
              <a:rPr lang="fr-CH" dirty="0"/>
              <a:t>T</a:t>
            </a:r>
            <a:r>
              <a:rPr lang="fr-CH" dirty="0" smtClean="0"/>
              <a:t>raitement </a:t>
            </a:r>
            <a:r>
              <a:rPr lang="fr-CH" dirty="0"/>
              <a:t>contre les parasites; </a:t>
            </a:r>
            <a:endParaRPr lang="fr-CH" dirty="0" smtClean="0"/>
          </a:p>
          <a:p>
            <a:r>
              <a:rPr lang="fr-CH" dirty="0"/>
              <a:t>T</a:t>
            </a:r>
            <a:r>
              <a:rPr lang="fr-CH" dirty="0" smtClean="0"/>
              <a:t>raitement </a:t>
            </a:r>
            <a:r>
              <a:rPr lang="fr-CH" dirty="0"/>
              <a:t>antirouille</a:t>
            </a:r>
            <a:r>
              <a:rPr lang="fr-CH" dirty="0" smtClean="0"/>
              <a:t>;</a:t>
            </a:r>
          </a:p>
          <a:p>
            <a:r>
              <a:rPr lang="fr-CH" dirty="0"/>
              <a:t>T</a:t>
            </a:r>
            <a:r>
              <a:rPr lang="fr-CH" dirty="0" smtClean="0"/>
              <a:t>raitement</a:t>
            </a:r>
            <a:r>
              <a:rPr lang="fr-CH" dirty="0"/>
              <a:t>: </a:t>
            </a:r>
            <a:endParaRPr lang="fr-CH" dirty="0" smtClean="0"/>
          </a:p>
          <a:p>
            <a:pPr lvl="1"/>
            <a:r>
              <a:rPr lang="fr-CH" dirty="0" smtClean="0"/>
              <a:t>par </a:t>
            </a:r>
            <a:r>
              <a:rPr lang="fr-CH" dirty="0"/>
              <a:t>simple élévation de la température, sans traitement complémentaire </a:t>
            </a:r>
            <a:r>
              <a:rPr lang="fr-CH" dirty="0" smtClean="0"/>
              <a:t>ni processus </a:t>
            </a:r>
            <a:r>
              <a:rPr lang="fr-CH" dirty="0"/>
              <a:t>de distillation, </a:t>
            </a:r>
            <a:endParaRPr lang="fr-CH" dirty="0" smtClean="0"/>
          </a:p>
          <a:p>
            <a:pPr lvl="1"/>
            <a:r>
              <a:rPr lang="fr-CH" dirty="0" smtClean="0"/>
              <a:t>par </a:t>
            </a:r>
            <a:r>
              <a:rPr lang="fr-CH" dirty="0"/>
              <a:t>simple abaissement de la </a:t>
            </a:r>
            <a:r>
              <a:rPr lang="fr-CH" dirty="0" smtClean="0"/>
              <a:t>température, </a:t>
            </a:r>
          </a:p>
          <a:p>
            <a:pPr lvl="1"/>
            <a:r>
              <a:rPr lang="fr-CH" dirty="0" smtClean="0"/>
              <a:t>même </a:t>
            </a:r>
            <a:r>
              <a:rPr lang="fr-CH" dirty="0"/>
              <a:t>si cela aboutit à un code NC différent à huit chiffres;</a:t>
            </a:r>
          </a:p>
        </p:txBody>
      </p:sp>
      <p:sp>
        <p:nvSpPr>
          <p:cNvPr id="4" name="Slide Number Placeholder 3"/>
          <p:cNvSpPr>
            <a:spLocks noGrp="1"/>
          </p:cNvSpPr>
          <p:nvPr>
            <p:ph type="sldNum" sz="quarter" idx="12"/>
          </p:nvPr>
        </p:nvSpPr>
        <p:spPr/>
        <p:txBody>
          <a:bodyPr/>
          <a:lstStyle/>
          <a:p>
            <a:fld id="{AC11F01A-B187-4E96-A42F-7B20626A13B5}" type="slidenum">
              <a:rPr lang="fr-CH" smtClean="0"/>
              <a:t>26</a:t>
            </a:fld>
            <a:endParaRPr lang="fr-CH"/>
          </a:p>
        </p:txBody>
      </p:sp>
    </p:spTree>
    <p:extLst>
      <p:ext uri="{BB962C8B-B14F-4D97-AF65-F5344CB8AC3E}">
        <p14:creationId xmlns:p14="http://schemas.microsoft.com/office/powerpoint/2010/main" val="1976452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Liste</a:t>
            </a:r>
            <a:r>
              <a:rPr lang="en-US" dirty="0"/>
              <a:t> des </a:t>
            </a:r>
            <a:r>
              <a:rPr lang="en-US"/>
              <a:t>manipulations </a:t>
            </a:r>
            <a:r>
              <a:rPr lang="en-US" smtClean="0"/>
              <a:t>usuelles 3/6</a:t>
            </a:r>
            <a:endParaRPr lang="fr-CH" dirty="0"/>
          </a:p>
        </p:txBody>
      </p:sp>
      <p:sp>
        <p:nvSpPr>
          <p:cNvPr id="3" name="Content Placeholder 2"/>
          <p:cNvSpPr>
            <a:spLocks noGrp="1"/>
          </p:cNvSpPr>
          <p:nvPr>
            <p:ph idx="1"/>
          </p:nvPr>
        </p:nvSpPr>
        <p:spPr/>
        <p:txBody>
          <a:bodyPr>
            <a:normAutofit fontScale="92500" lnSpcReduction="10000"/>
          </a:bodyPr>
          <a:lstStyle/>
          <a:p>
            <a:r>
              <a:rPr lang="fr-CH" dirty="0"/>
              <a:t>T</a:t>
            </a:r>
            <a:r>
              <a:rPr lang="fr-CH" dirty="0" smtClean="0"/>
              <a:t>raitement </a:t>
            </a:r>
            <a:r>
              <a:rPr lang="fr-CH" dirty="0"/>
              <a:t>électrostatique, </a:t>
            </a:r>
            <a:r>
              <a:rPr lang="fr-CH" dirty="0" err="1"/>
              <a:t>défroissage</a:t>
            </a:r>
            <a:r>
              <a:rPr lang="fr-CH" dirty="0"/>
              <a:t> ou repassage des textiles</a:t>
            </a:r>
            <a:r>
              <a:rPr lang="fr-CH" dirty="0" smtClean="0"/>
              <a:t>;</a:t>
            </a:r>
          </a:p>
          <a:p>
            <a:r>
              <a:rPr lang="fr-CH" dirty="0"/>
              <a:t>T</a:t>
            </a:r>
            <a:r>
              <a:rPr lang="fr-CH" dirty="0" smtClean="0"/>
              <a:t>raitement </a:t>
            </a:r>
            <a:r>
              <a:rPr lang="fr-CH" dirty="0"/>
              <a:t>consistant dans: </a:t>
            </a:r>
            <a:endParaRPr lang="fr-CH" dirty="0" smtClean="0"/>
          </a:p>
          <a:p>
            <a:pPr lvl="1"/>
            <a:r>
              <a:rPr lang="fr-CH" dirty="0" smtClean="0"/>
              <a:t>l’équeutage </a:t>
            </a:r>
            <a:r>
              <a:rPr lang="fr-CH" dirty="0"/>
              <a:t>et/ou le dénoyautage de fruits, le découpage et le débitage de fruits secs ou de légumes, la réhydratation de fruits, </a:t>
            </a:r>
            <a:endParaRPr lang="fr-CH" dirty="0" smtClean="0"/>
          </a:p>
          <a:p>
            <a:pPr lvl="1"/>
            <a:r>
              <a:rPr lang="fr-CH" dirty="0" smtClean="0"/>
              <a:t>la </a:t>
            </a:r>
            <a:r>
              <a:rPr lang="fr-CH" dirty="0"/>
              <a:t>déshydratation de fruits même si cela aboutit à un code NC différent à huit </a:t>
            </a:r>
            <a:r>
              <a:rPr lang="fr-CH" dirty="0" smtClean="0"/>
              <a:t>chiffres</a:t>
            </a:r>
          </a:p>
          <a:p>
            <a:r>
              <a:rPr lang="fr-CH" dirty="0"/>
              <a:t>D</a:t>
            </a:r>
            <a:r>
              <a:rPr lang="fr-CH" dirty="0" smtClean="0"/>
              <a:t>essalage</a:t>
            </a:r>
            <a:r>
              <a:rPr lang="fr-CH" dirty="0"/>
              <a:t>, nettoyage et </a:t>
            </a:r>
            <a:r>
              <a:rPr lang="fr-CH" dirty="0" err="1"/>
              <a:t>crouponnage</a:t>
            </a:r>
            <a:r>
              <a:rPr lang="fr-CH" dirty="0"/>
              <a:t> des peaux</a:t>
            </a:r>
            <a:r>
              <a:rPr lang="fr-CH" dirty="0" smtClean="0"/>
              <a:t>;</a:t>
            </a:r>
          </a:p>
          <a:p>
            <a:r>
              <a:rPr lang="fr-CH" dirty="0"/>
              <a:t>A</a:t>
            </a:r>
            <a:r>
              <a:rPr lang="fr-CH" dirty="0" smtClean="0"/>
              <a:t>djonction </a:t>
            </a:r>
            <a:r>
              <a:rPr lang="fr-CH" dirty="0"/>
              <a:t>de marchandises ou ajout ou remplacement de pièces accessoires dans la mesure où cette opération est relativement limitée ou qu’elle est destinée à la mise en conformité avec les normes techniques et qu’elle ne change pas la nature ni les performances des marchandises originelles. Cette opération peut aboutir à un code NC différent à huit chiffres pour les marchandises ajoutées ou utilisées en remplacement;</a:t>
            </a:r>
          </a:p>
        </p:txBody>
      </p:sp>
      <p:sp>
        <p:nvSpPr>
          <p:cNvPr id="4" name="Slide Number Placeholder 3"/>
          <p:cNvSpPr>
            <a:spLocks noGrp="1"/>
          </p:cNvSpPr>
          <p:nvPr>
            <p:ph type="sldNum" sz="quarter" idx="12"/>
          </p:nvPr>
        </p:nvSpPr>
        <p:spPr/>
        <p:txBody>
          <a:bodyPr/>
          <a:lstStyle/>
          <a:p>
            <a:fld id="{AC11F01A-B187-4E96-A42F-7B20626A13B5}" type="slidenum">
              <a:rPr lang="fr-CH" smtClean="0"/>
              <a:t>27</a:t>
            </a:fld>
            <a:endParaRPr lang="fr-CH"/>
          </a:p>
        </p:txBody>
      </p:sp>
    </p:spTree>
    <p:extLst>
      <p:ext uri="{BB962C8B-B14F-4D97-AF65-F5344CB8AC3E}">
        <p14:creationId xmlns:p14="http://schemas.microsoft.com/office/powerpoint/2010/main" val="2234247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Liste</a:t>
            </a:r>
            <a:r>
              <a:rPr lang="en-US" dirty="0"/>
              <a:t> des </a:t>
            </a:r>
            <a:r>
              <a:rPr lang="en-US"/>
              <a:t>manipulations </a:t>
            </a:r>
            <a:r>
              <a:rPr lang="en-US" smtClean="0"/>
              <a:t>usuelles 4/6</a:t>
            </a:r>
            <a:endParaRPr lang="fr-CH" dirty="0"/>
          </a:p>
        </p:txBody>
      </p:sp>
      <p:sp>
        <p:nvSpPr>
          <p:cNvPr id="3" name="Content Placeholder 2"/>
          <p:cNvSpPr>
            <a:spLocks noGrp="1"/>
          </p:cNvSpPr>
          <p:nvPr>
            <p:ph idx="1"/>
          </p:nvPr>
        </p:nvSpPr>
        <p:spPr/>
        <p:txBody>
          <a:bodyPr>
            <a:normAutofit lnSpcReduction="10000"/>
          </a:bodyPr>
          <a:lstStyle/>
          <a:p>
            <a:r>
              <a:rPr lang="fr-CH" dirty="0"/>
              <a:t>D</a:t>
            </a:r>
            <a:r>
              <a:rPr lang="fr-CH" dirty="0" smtClean="0"/>
              <a:t>ilution </a:t>
            </a:r>
            <a:r>
              <a:rPr lang="fr-CH" dirty="0"/>
              <a:t>ou concentration des fluides, sans traitement complémentaire ni processus de distillation, même si cela aboutit à un code NC différent à huit chiffres</a:t>
            </a:r>
            <a:r>
              <a:rPr lang="fr-CH" dirty="0" smtClean="0"/>
              <a:t>;</a:t>
            </a:r>
          </a:p>
          <a:p>
            <a:r>
              <a:rPr lang="fr-CH" dirty="0"/>
              <a:t>M</a:t>
            </a:r>
            <a:r>
              <a:rPr lang="fr-CH" dirty="0" smtClean="0"/>
              <a:t>élange </a:t>
            </a:r>
            <a:r>
              <a:rPr lang="fr-CH" dirty="0"/>
              <a:t>entre elles de marchandises de même sorte, de qualité différente, dans le but d’obtenir une qualité constante ou une qualité demandée par le client sans altérer la nature des marchandises</a:t>
            </a:r>
            <a:r>
              <a:rPr lang="fr-CH" dirty="0" smtClean="0"/>
              <a:t>;</a:t>
            </a:r>
          </a:p>
          <a:p>
            <a:r>
              <a:rPr lang="fr-CH" dirty="0"/>
              <a:t>M</a:t>
            </a:r>
            <a:r>
              <a:rPr lang="fr-CH" dirty="0" smtClean="0"/>
              <a:t>élange </a:t>
            </a:r>
            <a:r>
              <a:rPr lang="fr-CH" dirty="0"/>
              <a:t>de gazole ou de fuel </a:t>
            </a:r>
            <a:r>
              <a:rPr lang="fr-CH" dirty="0" err="1"/>
              <a:t>oils</a:t>
            </a:r>
            <a:r>
              <a:rPr lang="fr-CH" dirty="0"/>
              <a:t> ne contenant pas de biodiesel avec du gazole ou des fuel </a:t>
            </a:r>
            <a:r>
              <a:rPr lang="fr-CH" dirty="0" err="1"/>
              <a:t>oils</a:t>
            </a:r>
            <a:r>
              <a:rPr lang="fr-CH" dirty="0"/>
              <a:t> contenant du biodiesel, classés dans le chapitre 27 de la NC, afin d’obtenir une qualité constante ou une qualité demandée par le client, sans dénaturer les produits même si le produit qui en résulte porte un code NC à huit chiffres différent;</a:t>
            </a:r>
          </a:p>
        </p:txBody>
      </p:sp>
      <p:sp>
        <p:nvSpPr>
          <p:cNvPr id="4" name="Slide Number Placeholder 3"/>
          <p:cNvSpPr>
            <a:spLocks noGrp="1"/>
          </p:cNvSpPr>
          <p:nvPr>
            <p:ph type="sldNum" sz="quarter" idx="12"/>
          </p:nvPr>
        </p:nvSpPr>
        <p:spPr/>
        <p:txBody>
          <a:bodyPr/>
          <a:lstStyle/>
          <a:p>
            <a:fld id="{AC11F01A-B187-4E96-A42F-7B20626A13B5}" type="slidenum">
              <a:rPr lang="fr-CH" smtClean="0"/>
              <a:t>28</a:t>
            </a:fld>
            <a:endParaRPr lang="fr-CH"/>
          </a:p>
        </p:txBody>
      </p:sp>
    </p:spTree>
    <p:extLst>
      <p:ext uri="{BB962C8B-B14F-4D97-AF65-F5344CB8AC3E}">
        <p14:creationId xmlns:p14="http://schemas.microsoft.com/office/powerpoint/2010/main" val="1819055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Liste</a:t>
            </a:r>
            <a:r>
              <a:rPr lang="en-US" dirty="0"/>
              <a:t> des </a:t>
            </a:r>
            <a:r>
              <a:rPr lang="en-US"/>
              <a:t>manipulations </a:t>
            </a:r>
            <a:r>
              <a:rPr lang="en-US" smtClean="0"/>
              <a:t>usuelles 5/6</a:t>
            </a:r>
            <a:endParaRPr lang="fr-CH" dirty="0"/>
          </a:p>
        </p:txBody>
      </p:sp>
      <p:sp>
        <p:nvSpPr>
          <p:cNvPr id="3" name="Content Placeholder 2"/>
          <p:cNvSpPr>
            <a:spLocks noGrp="1"/>
          </p:cNvSpPr>
          <p:nvPr>
            <p:ph idx="1"/>
          </p:nvPr>
        </p:nvSpPr>
        <p:spPr/>
        <p:txBody>
          <a:bodyPr>
            <a:normAutofit fontScale="92500"/>
          </a:bodyPr>
          <a:lstStyle/>
          <a:p>
            <a:r>
              <a:rPr lang="fr-CH" dirty="0"/>
              <a:t>M</a:t>
            </a:r>
            <a:r>
              <a:rPr lang="fr-CH" dirty="0" smtClean="0"/>
              <a:t>élange </a:t>
            </a:r>
            <a:r>
              <a:rPr lang="fr-CH" dirty="0"/>
              <a:t>de gazole ou de fuel </a:t>
            </a:r>
            <a:r>
              <a:rPr lang="fr-CH" dirty="0" err="1"/>
              <a:t>oils</a:t>
            </a:r>
            <a:r>
              <a:rPr lang="fr-CH" dirty="0"/>
              <a:t> avec du biodiesel de sorte que le mélange obtenu contienne moins de 0,5 % en volume de biodiesel et mélange de biodiesel avec du gazole ou des fuel </a:t>
            </a:r>
            <a:r>
              <a:rPr lang="fr-CH" dirty="0" err="1"/>
              <a:t>oils</a:t>
            </a:r>
            <a:r>
              <a:rPr lang="fr-CH" dirty="0"/>
              <a:t> de sorte que le mélange obtenu contienne moins de 0,5 % en volume de gazole ou de fuel </a:t>
            </a:r>
            <a:r>
              <a:rPr lang="fr-CH" dirty="0" err="1"/>
              <a:t>oils</a:t>
            </a:r>
            <a:r>
              <a:rPr lang="fr-CH" dirty="0" smtClean="0"/>
              <a:t>;</a:t>
            </a:r>
          </a:p>
          <a:p>
            <a:r>
              <a:rPr lang="fr-CH" dirty="0"/>
              <a:t>S</a:t>
            </a:r>
            <a:r>
              <a:rPr lang="fr-CH" dirty="0" smtClean="0"/>
              <a:t>éparation </a:t>
            </a:r>
            <a:r>
              <a:rPr lang="fr-CH" dirty="0"/>
              <a:t>ou découpage à dimension des marchandises, s’il s’agit </a:t>
            </a:r>
            <a:r>
              <a:rPr lang="fr-CH" dirty="0" smtClean="0"/>
              <a:t>uniquement </a:t>
            </a:r>
            <a:r>
              <a:rPr lang="fr-CH" dirty="0"/>
              <a:t>d’opérations simples</a:t>
            </a:r>
            <a:r>
              <a:rPr lang="fr-CH" dirty="0" smtClean="0"/>
              <a:t>;</a:t>
            </a:r>
          </a:p>
          <a:p>
            <a:r>
              <a:rPr lang="fr-CH" dirty="0"/>
              <a:t>E</a:t>
            </a:r>
            <a:r>
              <a:rPr lang="fr-CH" dirty="0" smtClean="0"/>
              <a:t>mballage</a:t>
            </a:r>
            <a:r>
              <a:rPr lang="fr-CH" dirty="0"/>
              <a:t>, déballage, changement d’emballage, décantage et transvasement simple dans les contenants, même si cela aboutit à un code NC différent à huit chiffres, apposition, retrait et modification des marques, scellés, étiquettes, porte-prix ou autre signe distinctif similaire;</a:t>
            </a:r>
          </a:p>
        </p:txBody>
      </p:sp>
      <p:sp>
        <p:nvSpPr>
          <p:cNvPr id="4" name="Slide Number Placeholder 3"/>
          <p:cNvSpPr>
            <a:spLocks noGrp="1"/>
          </p:cNvSpPr>
          <p:nvPr>
            <p:ph type="sldNum" sz="quarter" idx="12"/>
          </p:nvPr>
        </p:nvSpPr>
        <p:spPr/>
        <p:txBody>
          <a:bodyPr/>
          <a:lstStyle/>
          <a:p>
            <a:fld id="{AC11F01A-B187-4E96-A42F-7B20626A13B5}" type="slidenum">
              <a:rPr lang="fr-CH" smtClean="0"/>
              <a:t>29</a:t>
            </a:fld>
            <a:endParaRPr lang="fr-CH"/>
          </a:p>
        </p:txBody>
      </p:sp>
    </p:spTree>
    <p:extLst>
      <p:ext uri="{BB962C8B-B14F-4D97-AF65-F5344CB8AC3E}">
        <p14:creationId xmlns:p14="http://schemas.microsoft.com/office/powerpoint/2010/main" val="1146769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a:t>Liste</a:t>
            </a:r>
            <a:r>
              <a:rPr lang="en-US" dirty="0"/>
              <a:t> des </a:t>
            </a:r>
            <a:r>
              <a:rPr lang="en-US"/>
              <a:t>manipulations </a:t>
            </a:r>
            <a:r>
              <a:rPr lang="en-US" smtClean="0"/>
              <a:t>usuelles 6/6</a:t>
            </a:r>
            <a:endParaRPr lang="fr-CH" dirty="0"/>
          </a:p>
        </p:txBody>
      </p:sp>
      <p:sp>
        <p:nvSpPr>
          <p:cNvPr id="3" name="Content Placeholder 2"/>
          <p:cNvSpPr>
            <a:spLocks noGrp="1"/>
          </p:cNvSpPr>
          <p:nvPr>
            <p:ph idx="1"/>
          </p:nvPr>
        </p:nvSpPr>
        <p:spPr/>
        <p:txBody>
          <a:bodyPr>
            <a:normAutofit fontScale="92500" lnSpcReduction="10000"/>
          </a:bodyPr>
          <a:lstStyle/>
          <a:p>
            <a:r>
              <a:rPr lang="fr-CH" dirty="0"/>
              <a:t>E</a:t>
            </a:r>
            <a:r>
              <a:rPr lang="fr-CH" dirty="0" smtClean="0"/>
              <a:t>ssais</a:t>
            </a:r>
            <a:r>
              <a:rPr lang="fr-CH" dirty="0"/>
              <a:t>, ajustages, réglages et mises en état de marche des machines, des appareils et des véhicules, notamment pour vérifier la conformité avec les normes techniques, pour autant qu’il s’agisse d’opérations simples</a:t>
            </a:r>
            <a:r>
              <a:rPr lang="fr-CH" dirty="0" smtClean="0"/>
              <a:t>;</a:t>
            </a:r>
          </a:p>
          <a:p>
            <a:r>
              <a:rPr lang="fr-CH" dirty="0"/>
              <a:t>O</a:t>
            </a:r>
            <a:r>
              <a:rPr lang="fr-CH" dirty="0" smtClean="0"/>
              <a:t>pération </a:t>
            </a:r>
            <a:r>
              <a:rPr lang="fr-CH" dirty="0"/>
              <a:t>consistant à dépolir des éléments de tuyauterie pour les adapter aux exigences de certains marchés</a:t>
            </a:r>
            <a:r>
              <a:rPr lang="fr-CH" dirty="0" smtClean="0"/>
              <a:t>;</a:t>
            </a:r>
          </a:p>
          <a:p>
            <a:r>
              <a:rPr lang="fr-CH" dirty="0"/>
              <a:t>D</a:t>
            </a:r>
            <a:r>
              <a:rPr lang="fr-CH" dirty="0" smtClean="0"/>
              <a:t>énaturation</a:t>
            </a:r>
            <a:r>
              <a:rPr lang="fr-CH" dirty="0"/>
              <a:t>, même si cela aboutit à un code NC différent à huit chiffres; </a:t>
            </a:r>
            <a:endParaRPr lang="fr-CH" dirty="0" smtClean="0"/>
          </a:p>
          <a:p>
            <a:r>
              <a:rPr lang="fr-CH" dirty="0"/>
              <a:t>T</a:t>
            </a:r>
            <a:r>
              <a:rPr lang="fr-CH" dirty="0" smtClean="0"/>
              <a:t>oute </a:t>
            </a:r>
            <a:r>
              <a:rPr lang="fr-CH" dirty="0"/>
              <a:t>manipulation usuelle, autre que celles mentionnées ci-dessus, destinée à améliorer la présentation ou la qualité marchande des marchandises </a:t>
            </a:r>
            <a:r>
              <a:rPr lang="fr-CH" dirty="0" smtClean="0"/>
              <a:t>d’importation </a:t>
            </a:r>
            <a:r>
              <a:rPr lang="fr-CH" dirty="0"/>
              <a:t>ou à préparer leur distribution ou leur revente, à condition que ces activités n’altèrent pas la nature, ni n’améliorent la performance des marchandises initiales.</a:t>
            </a:r>
          </a:p>
        </p:txBody>
      </p:sp>
      <p:sp>
        <p:nvSpPr>
          <p:cNvPr id="4" name="Slide Number Placeholder 3"/>
          <p:cNvSpPr>
            <a:spLocks noGrp="1"/>
          </p:cNvSpPr>
          <p:nvPr>
            <p:ph type="sldNum" sz="quarter" idx="12"/>
          </p:nvPr>
        </p:nvSpPr>
        <p:spPr/>
        <p:txBody>
          <a:bodyPr/>
          <a:lstStyle/>
          <a:p>
            <a:fld id="{AC11F01A-B187-4E96-A42F-7B20626A13B5}" type="slidenum">
              <a:rPr lang="fr-CH" smtClean="0"/>
              <a:t>30</a:t>
            </a:fld>
            <a:endParaRPr lang="fr-CH"/>
          </a:p>
        </p:txBody>
      </p:sp>
    </p:spTree>
    <p:extLst>
      <p:ext uri="{BB962C8B-B14F-4D97-AF65-F5344CB8AC3E}">
        <p14:creationId xmlns:p14="http://schemas.microsoft.com/office/powerpoint/2010/main" val="4027740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Zone </a:t>
            </a:r>
            <a:r>
              <a:rPr lang="en-US" dirty="0" err="1" smtClean="0"/>
              <a:t>franche</a:t>
            </a:r>
            <a:endParaRPr lang="fr-CH" dirty="0"/>
          </a:p>
        </p:txBody>
      </p:sp>
      <p:pic>
        <p:nvPicPr>
          <p:cNvPr id="4" name="Content Placeholder 3"/>
          <p:cNvPicPr>
            <a:picLocks noGrp="1" noChangeAspect="1"/>
          </p:cNvPicPr>
          <p:nvPr>
            <p:ph idx="1"/>
          </p:nvPr>
        </p:nvPicPr>
        <p:blipFill>
          <a:blip r:embed="rId2"/>
          <a:stretch>
            <a:fillRect/>
          </a:stretch>
        </p:blipFill>
        <p:spPr>
          <a:xfrm>
            <a:off x="3274464" y="1825625"/>
            <a:ext cx="5643072" cy="4351338"/>
          </a:xfrm>
          <a:prstGeom prst="rect">
            <a:avLst/>
          </a:prstGeom>
        </p:spPr>
      </p:pic>
      <p:sp>
        <p:nvSpPr>
          <p:cNvPr id="3" name="Slide Number Placeholder 2"/>
          <p:cNvSpPr>
            <a:spLocks noGrp="1"/>
          </p:cNvSpPr>
          <p:nvPr>
            <p:ph type="sldNum" sz="quarter" idx="12"/>
          </p:nvPr>
        </p:nvSpPr>
        <p:spPr/>
        <p:txBody>
          <a:bodyPr/>
          <a:lstStyle/>
          <a:p>
            <a:fld id="{AC11F01A-B187-4E96-A42F-7B20626A13B5}" type="slidenum">
              <a:rPr lang="fr-CH" smtClean="0"/>
              <a:t>31</a:t>
            </a:fld>
            <a:endParaRPr lang="fr-CH"/>
          </a:p>
        </p:txBody>
      </p:sp>
    </p:spTree>
    <p:extLst>
      <p:ext uri="{BB962C8B-B14F-4D97-AF65-F5344CB8AC3E}">
        <p14:creationId xmlns:p14="http://schemas.microsoft.com/office/powerpoint/2010/main" val="222083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Désignation des zones franches</a:t>
            </a:r>
          </a:p>
        </p:txBody>
      </p:sp>
      <p:sp>
        <p:nvSpPr>
          <p:cNvPr id="3" name="Content Placeholder 2"/>
          <p:cNvSpPr>
            <a:spLocks noGrp="1"/>
          </p:cNvSpPr>
          <p:nvPr>
            <p:ph idx="1"/>
          </p:nvPr>
        </p:nvSpPr>
        <p:spPr/>
        <p:txBody>
          <a:bodyPr>
            <a:normAutofit fontScale="92500"/>
          </a:bodyPr>
          <a:lstStyle/>
          <a:p>
            <a:r>
              <a:rPr lang="fr-CH" dirty="0" smtClean="0"/>
              <a:t>Les </a:t>
            </a:r>
            <a:r>
              <a:rPr lang="fr-CH" dirty="0"/>
              <a:t>États membres peuvent constituer certaines parties du territoire </a:t>
            </a:r>
            <a:r>
              <a:rPr lang="fr-CH" dirty="0" smtClean="0"/>
              <a:t>douanier </a:t>
            </a:r>
            <a:r>
              <a:rPr lang="fr-CH" dirty="0"/>
              <a:t>de l'Union en zones </a:t>
            </a:r>
            <a:r>
              <a:rPr lang="fr-CH" dirty="0" smtClean="0"/>
              <a:t>franches. L'État </a:t>
            </a:r>
            <a:r>
              <a:rPr lang="fr-CH" dirty="0"/>
              <a:t>membre détermine le périmètre de chaque zone franche ainsi que </a:t>
            </a:r>
            <a:r>
              <a:rPr lang="fr-CH" dirty="0" smtClean="0"/>
              <a:t>ses </a:t>
            </a:r>
            <a:r>
              <a:rPr lang="fr-CH" dirty="0"/>
              <a:t>points d'accès et de sortie.</a:t>
            </a:r>
          </a:p>
          <a:p>
            <a:r>
              <a:rPr lang="fr-CH" dirty="0" smtClean="0"/>
              <a:t>Les </a:t>
            </a:r>
            <a:r>
              <a:rPr lang="fr-CH" dirty="0"/>
              <a:t>États membres communiquent à la Commission les </a:t>
            </a:r>
            <a:r>
              <a:rPr lang="fr-CH" dirty="0" smtClean="0"/>
              <a:t>informations </a:t>
            </a:r>
            <a:r>
              <a:rPr lang="fr-CH" dirty="0"/>
              <a:t>relatives à leurs zones franches existantes.</a:t>
            </a:r>
          </a:p>
          <a:p>
            <a:r>
              <a:rPr lang="fr-CH" dirty="0" smtClean="0"/>
              <a:t>Les </a:t>
            </a:r>
            <a:r>
              <a:rPr lang="fr-CH" dirty="0"/>
              <a:t>zones franches sont </a:t>
            </a:r>
            <a:r>
              <a:rPr lang="fr-CH" dirty="0" smtClean="0"/>
              <a:t>clôturées. Le </a:t>
            </a:r>
            <a:r>
              <a:rPr lang="fr-CH" dirty="0"/>
              <a:t>périmètre et les points d'accès et de sortie d'une zone franche sont </a:t>
            </a:r>
            <a:r>
              <a:rPr lang="fr-CH" dirty="0" smtClean="0"/>
              <a:t>soumis </a:t>
            </a:r>
            <a:r>
              <a:rPr lang="fr-CH" dirty="0"/>
              <a:t>à la surveillance douanière.</a:t>
            </a:r>
          </a:p>
          <a:p>
            <a:r>
              <a:rPr lang="fr-CH" dirty="0" smtClean="0"/>
              <a:t>Les </a:t>
            </a:r>
            <a:r>
              <a:rPr lang="fr-CH" dirty="0"/>
              <a:t>personnes, les marchandises et les moyens de transport qui </a:t>
            </a:r>
            <a:r>
              <a:rPr lang="fr-CH" dirty="0" smtClean="0"/>
              <a:t>entrent </a:t>
            </a:r>
            <a:r>
              <a:rPr lang="fr-CH" dirty="0"/>
              <a:t>dans une zone franche ou qui en sortent peuvent faire l'objet de </a:t>
            </a:r>
            <a:r>
              <a:rPr lang="fr-CH" dirty="0" smtClean="0"/>
              <a:t>contrôles </a:t>
            </a:r>
            <a:r>
              <a:rPr lang="fr-CH" dirty="0"/>
              <a:t>douaniers.</a:t>
            </a:r>
          </a:p>
        </p:txBody>
      </p:sp>
      <p:sp>
        <p:nvSpPr>
          <p:cNvPr id="4" name="Slide Number Placeholder 3"/>
          <p:cNvSpPr>
            <a:spLocks noGrp="1"/>
          </p:cNvSpPr>
          <p:nvPr>
            <p:ph type="sldNum" sz="quarter" idx="12"/>
          </p:nvPr>
        </p:nvSpPr>
        <p:spPr/>
        <p:txBody>
          <a:bodyPr/>
          <a:lstStyle/>
          <a:p>
            <a:fld id="{AC11F01A-B187-4E96-A42F-7B20626A13B5}" type="slidenum">
              <a:rPr lang="fr-CH" smtClean="0"/>
              <a:t>32</a:t>
            </a:fld>
            <a:endParaRPr lang="fr-CH"/>
          </a:p>
        </p:txBody>
      </p:sp>
    </p:spTree>
    <p:extLst>
      <p:ext uri="{BB962C8B-B14F-4D97-AF65-F5344CB8AC3E}">
        <p14:creationId xmlns:p14="http://schemas.microsoft.com/office/powerpoint/2010/main" val="2360316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Constructions et activités autorisées dans les zones franches</a:t>
            </a:r>
          </a:p>
        </p:txBody>
      </p:sp>
      <p:sp>
        <p:nvSpPr>
          <p:cNvPr id="3" name="Content Placeholder 2"/>
          <p:cNvSpPr>
            <a:spLocks noGrp="1"/>
          </p:cNvSpPr>
          <p:nvPr>
            <p:ph idx="1"/>
          </p:nvPr>
        </p:nvSpPr>
        <p:spPr/>
        <p:txBody>
          <a:bodyPr>
            <a:normAutofit fontScale="92500" lnSpcReduction="20000"/>
          </a:bodyPr>
          <a:lstStyle/>
          <a:p>
            <a:r>
              <a:rPr lang="fr-CH" dirty="0" smtClean="0"/>
              <a:t>Toute </a:t>
            </a:r>
            <a:r>
              <a:rPr lang="fr-CH" dirty="0"/>
              <a:t>construction d'immeuble dans une zone franche est </a:t>
            </a:r>
            <a:r>
              <a:rPr lang="fr-CH" dirty="0" smtClean="0"/>
              <a:t>subordonnée </a:t>
            </a:r>
            <a:r>
              <a:rPr lang="fr-CH" dirty="0"/>
              <a:t>à une autorisation préalable des autorités douanières.</a:t>
            </a:r>
          </a:p>
          <a:p>
            <a:r>
              <a:rPr lang="fr-CH" dirty="0" smtClean="0"/>
              <a:t>Sous </a:t>
            </a:r>
            <a:r>
              <a:rPr lang="fr-CH" dirty="0"/>
              <a:t>réserve de la législation douanière, toute activité de nature </a:t>
            </a:r>
            <a:r>
              <a:rPr lang="fr-CH" dirty="0" smtClean="0"/>
              <a:t>industrielle</a:t>
            </a:r>
            <a:r>
              <a:rPr lang="fr-CH" dirty="0"/>
              <a:t>, commerciale, ou de prestation de services est autorisée dans </a:t>
            </a:r>
            <a:r>
              <a:rPr lang="fr-CH" dirty="0" smtClean="0"/>
              <a:t>une </a:t>
            </a:r>
            <a:r>
              <a:rPr lang="fr-CH" dirty="0"/>
              <a:t>zone franche. L'exercice de ces activités fait l'objet d'une </a:t>
            </a:r>
            <a:r>
              <a:rPr lang="fr-CH" dirty="0" smtClean="0"/>
              <a:t>notification </a:t>
            </a:r>
            <a:r>
              <a:rPr lang="fr-CH" dirty="0"/>
              <a:t>préalable aux autorités douanières.</a:t>
            </a:r>
          </a:p>
          <a:p>
            <a:r>
              <a:rPr lang="fr-CH" dirty="0" smtClean="0"/>
              <a:t>Les </a:t>
            </a:r>
            <a:r>
              <a:rPr lang="fr-CH" dirty="0"/>
              <a:t>autorités douanières peuvent prévoir des interdictions ou </a:t>
            </a:r>
            <a:r>
              <a:rPr lang="fr-CH" dirty="0" smtClean="0"/>
              <a:t>restrictions à ces activités, </a:t>
            </a:r>
            <a:r>
              <a:rPr lang="fr-CH" dirty="0"/>
              <a:t>compte tenu de la </a:t>
            </a:r>
            <a:r>
              <a:rPr lang="fr-CH" dirty="0" smtClean="0"/>
              <a:t>nature </a:t>
            </a:r>
            <a:r>
              <a:rPr lang="fr-CH" dirty="0"/>
              <a:t>des marchandises en cause, des besoins de surveillance douanière </a:t>
            </a:r>
            <a:r>
              <a:rPr lang="fr-CH" dirty="0" smtClean="0"/>
              <a:t>ou </a:t>
            </a:r>
            <a:r>
              <a:rPr lang="fr-CH" dirty="0"/>
              <a:t>des nécessités de la sécurité et de la sûreté.</a:t>
            </a:r>
          </a:p>
          <a:p>
            <a:r>
              <a:rPr lang="fr-CH" dirty="0" smtClean="0"/>
              <a:t>Les </a:t>
            </a:r>
            <a:r>
              <a:rPr lang="fr-CH" dirty="0"/>
              <a:t>autorités douanières peuvent interdire l'exercice d'une activité </a:t>
            </a:r>
            <a:r>
              <a:rPr lang="fr-CH" dirty="0" smtClean="0"/>
              <a:t>dans </a:t>
            </a:r>
            <a:r>
              <a:rPr lang="fr-CH" dirty="0"/>
              <a:t>une zone franche aux personnes qui n'offrent pas les assurances </a:t>
            </a:r>
            <a:r>
              <a:rPr lang="fr-CH" dirty="0" smtClean="0"/>
              <a:t>nécessaires </a:t>
            </a:r>
            <a:r>
              <a:rPr lang="fr-CH" dirty="0"/>
              <a:t>pour le respect des dispositions douanières.</a:t>
            </a:r>
          </a:p>
        </p:txBody>
      </p:sp>
      <p:sp>
        <p:nvSpPr>
          <p:cNvPr id="4" name="Slide Number Placeholder 3"/>
          <p:cNvSpPr>
            <a:spLocks noGrp="1"/>
          </p:cNvSpPr>
          <p:nvPr>
            <p:ph type="sldNum" sz="quarter" idx="12"/>
          </p:nvPr>
        </p:nvSpPr>
        <p:spPr/>
        <p:txBody>
          <a:bodyPr/>
          <a:lstStyle/>
          <a:p>
            <a:fld id="{AC11F01A-B187-4E96-A42F-7B20626A13B5}" type="slidenum">
              <a:rPr lang="fr-CH" smtClean="0"/>
              <a:t>33</a:t>
            </a:fld>
            <a:endParaRPr lang="fr-CH"/>
          </a:p>
        </p:txBody>
      </p:sp>
    </p:spTree>
    <p:extLst>
      <p:ext uri="{BB962C8B-B14F-4D97-AF65-F5344CB8AC3E}">
        <p14:creationId xmlns:p14="http://schemas.microsoft.com/office/powerpoint/2010/main" val="20017035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Présentation des marchandises et placement sous le régime</a:t>
            </a:r>
          </a:p>
        </p:txBody>
      </p:sp>
      <p:sp>
        <p:nvSpPr>
          <p:cNvPr id="3" name="Content Placeholder 2"/>
          <p:cNvSpPr>
            <a:spLocks noGrp="1"/>
          </p:cNvSpPr>
          <p:nvPr>
            <p:ph idx="1"/>
          </p:nvPr>
        </p:nvSpPr>
        <p:spPr/>
        <p:txBody>
          <a:bodyPr>
            <a:normAutofit fontScale="85000" lnSpcReduction="20000"/>
          </a:bodyPr>
          <a:lstStyle/>
          <a:p>
            <a:r>
              <a:rPr lang="fr-CH" dirty="0" smtClean="0"/>
              <a:t>Les </a:t>
            </a:r>
            <a:r>
              <a:rPr lang="fr-CH" dirty="0"/>
              <a:t>marchandises introduites dans une zone franche sont </a:t>
            </a:r>
            <a:r>
              <a:rPr lang="fr-CH" dirty="0" smtClean="0"/>
              <a:t>présentées </a:t>
            </a:r>
            <a:r>
              <a:rPr lang="fr-CH" dirty="0"/>
              <a:t>en douane et font l'objet des formalités douanières prévues dans les </a:t>
            </a:r>
            <a:r>
              <a:rPr lang="fr-CH" dirty="0" smtClean="0"/>
              <a:t>cas </a:t>
            </a:r>
            <a:r>
              <a:rPr lang="fr-CH" dirty="0"/>
              <a:t>suivants:</a:t>
            </a:r>
          </a:p>
          <a:p>
            <a:pPr lvl="1"/>
            <a:r>
              <a:rPr lang="fr-CH" dirty="0" smtClean="0"/>
              <a:t>lorsqu'elles </a:t>
            </a:r>
            <a:r>
              <a:rPr lang="fr-CH" dirty="0"/>
              <a:t>sont introduites dans la zone franche en arrivant </a:t>
            </a:r>
            <a:r>
              <a:rPr lang="fr-CH" dirty="0" smtClean="0"/>
              <a:t>directement </a:t>
            </a:r>
            <a:r>
              <a:rPr lang="fr-CH" dirty="0"/>
              <a:t>de l'extérieur du territoire douanier de l'Union;</a:t>
            </a:r>
          </a:p>
          <a:p>
            <a:pPr lvl="1"/>
            <a:r>
              <a:rPr lang="fr-CH" dirty="0" smtClean="0"/>
              <a:t>lorsqu'elles </a:t>
            </a:r>
            <a:r>
              <a:rPr lang="fr-CH" dirty="0"/>
              <a:t>se trouvent placées sous un régime douanier qui prend </a:t>
            </a:r>
            <a:r>
              <a:rPr lang="fr-CH" dirty="0" smtClean="0"/>
              <a:t>fin </a:t>
            </a:r>
            <a:r>
              <a:rPr lang="fr-CH" dirty="0"/>
              <a:t>ou est apuré lorsqu'elles sont admises sous le régime de la zone </a:t>
            </a:r>
            <a:r>
              <a:rPr lang="fr-CH" dirty="0" smtClean="0"/>
              <a:t>franche</a:t>
            </a:r>
            <a:r>
              <a:rPr lang="fr-CH" dirty="0"/>
              <a:t>;</a:t>
            </a:r>
          </a:p>
          <a:p>
            <a:pPr lvl="1"/>
            <a:r>
              <a:rPr lang="fr-CH" dirty="0" smtClean="0"/>
              <a:t>lorsqu'elles </a:t>
            </a:r>
            <a:r>
              <a:rPr lang="fr-CH" dirty="0"/>
              <a:t>sont placées sous le régime de la zone franche pour </a:t>
            </a:r>
            <a:r>
              <a:rPr lang="fr-CH" dirty="0" smtClean="0"/>
              <a:t>bénéficier </a:t>
            </a:r>
            <a:r>
              <a:rPr lang="fr-CH" dirty="0"/>
              <a:t>d'une décision accordant le remboursement ou la remise </a:t>
            </a:r>
            <a:r>
              <a:rPr lang="fr-CH" dirty="0" smtClean="0"/>
              <a:t>des </a:t>
            </a:r>
            <a:r>
              <a:rPr lang="fr-CH" dirty="0"/>
              <a:t>droits à l'importation;</a:t>
            </a:r>
          </a:p>
          <a:p>
            <a:r>
              <a:rPr lang="fr-CH" smtClean="0"/>
              <a:t>Sans </a:t>
            </a:r>
            <a:r>
              <a:rPr lang="fr-CH" dirty="0"/>
              <a:t>préjudice </a:t>
            </a:r>
            <a:r>
              <a:rPr lang="fr-CH" dirty="0" smtClean="0"/>
              <a:t>d’éventuelles marchandises de l’Union, </a:t>
            </a:r>
            <a:r>
              <a:rPr lang="fr-CH" dirty="0"/>
              <a:t>les marchandises introduites dans </a:t>
            </a:r>
            <a:r>
              <a:rPr lang="fr-CH" dirty="0" smtClean="0"/>
              <a:t>une </a:t>
            </a:r>
            <a:r>
              <a:rPr lang="fr-CH" dirty="0"/>
              <a:t>zone franche sont considérées comme placées sous le régime de la </a:t>
            </a:r>
            <a:r>
              <a:rPr lang="fr-CH" dirty="0" smtClean="0"/>
              <a:t>zone </a:t>
            </a:r>
            <a:r>
              <a:rPr lang="fr-CH" dirty="0"/>
              <a:t>franche:</a:t>
            </a:r>
          </a:p>
          <a:p>
            <a:pPr lvl="1"/>
            <a:r>
              <a:rPr lang="fr-CH" dirty="0" smtClean="0"/>
              <a:t>au </a:t>
            </a:r>
            <a:r>
              <a:rPr lang="fr-CH" dirty="0"/>
              <a:t>moment de leur introduction dans cette zone, sauf si elles se </a:t>
            </a:r>
            <a:r>
              <a:rPr lang="fr-CH" dirty="0" smtClean="0"/>
              <a:t>trouvent </a:t>
            </a:r>
            <a:r>
              <a:rPr lang="fr-CH" dirty="0"/>
              <a:t>déjà sous un autre régime douanier; ou</a:t>
            </a:r>
          </a:p>
          <a:p>
            <a:pPr lvl="1"/>
            <a:r>
              <a:rPr lang="fr-CH" dirty="0" smtClean="0"/>
              <a:t>à </a:t>
            </a:r>
            <a:r>
              <a:rPr lang="fr-CH" dirty="0"/>
              <a:t>la fin d'un régime de transit, sauf si elles sont immédiatement </a:t>
            </a:r>
            <a:r>
              <a:rPr lang="fr-CH" dirty="0" smtClean="0"/>
              <a:t>placées </a:t>
            </a:r>
            <a:r>
              <a:rPr lang="fr-CH" dirty="0"/>
              <a:t>sous un autre régime douanier.</a:t>
            </a:r>
          </a:p>
        </p:txBody>
      </p:sp>
      <p:sp>
        <p:nvSpPr>
          <p:cNvPr id="4" name="Slide Number Placeholder 3"/>
          <p:cNvSpPr>
            <a:spLocks noGrp="1"/>
          </p:cNvSpPr>
          <p:nvPr>
            <p:ph type="sldNum" sz="quarter" idx="12"/>
          </p:nvPr>
        </p:nvSpPr>
        <p:spPr/>
        <p:txBody>
          <a:bodyPr/>
          <a:lstStyle/>
          <a:p>
            <a:fld id="{AC11F01A-B187-4E96-A42F-7B20626A13B5}" type="slidenum">
              <a:rPr lang="fr-CH" smtClean="0"/>
              <a:t>34</a:t>
            </a:fld>
            <a:endParaRPr lang="fr-CH"/>
          </a:p>
        </p:txBody>
      </p:sp>
    </p:spTree>
    <p:extLst>
      <p:ext uri="{BB962C8B-B14F-4D97-AF65-F5344CB8AC3E}">
        <p14:creationId xmlns:p14="http://schemas.microsoft.com/office/powerpoint/2010/main" val="2874455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Marchandises non Union en zone franche</a:t>
            </a:r>
          </a:p>
        </p:txBody>
      </p:sp>
      <p:sp>
        <p:nvSpPr>
          <p:cNvPr id="3" name="Content Placeholder 2"/>
          <p:cNvSpPr>
            <a:spLocks noGrp="1"/>
          </p:cNvSpPr>
          <p:nvPr>
            <p:ph idx="1"/>
          </p:nvPr>
        </p:nvSpPr>
        <p:spPr/>
        <p:txBody>
          <a:bodyPr>
            <a:normAutofit/>
          </a:bodyPr>
          <a:lstStyle/>
          <a:p>
            <a:r>
              <a:rPr lang="fr-CH" dirty="0" smtClean="0"/>
              <a:t>Les </a:t>
            </a:r>
            <a:r>
              <a:rPr lang="fr-CH" dirty="0"/>
              <a:t>marchandises non Union peuvent, pendant leur séjour en zone </a:t>
            </a:r>
            <a:r>
              <a:rPr lang="fr-CH" dirty="0" smtClean="0"/>
              <a:t>franche</a:t>
            </a:r>
            <a:r>
              <a:rPr lang="fr-CH" dirty="0"/>
              <a:t>, être mises en libre pratique ou être placées sous le régime du </a:t>
            </a:r>
            <a:r>
              <a:rPr lang="fr-CH" dirty="0" smtClean="0"/>
              <a:t>perfectionnement </a:t>
            </a:r>
            <a:r>
              <a:rPr lang="fr-CH" dirty="0"/>
              <a:t>actif, de l'admission temporaire ou d'une destination </a:t>
            </a:r>
            <a:r>
              <a:rPr lang="fr-CH" dirty="0" smtClean="0"/>
              <a:t>particulière</a:t>
            </a:r>
            <a:r>
              <a:rPr lang="fr-CH" dirty="0"/>
              <a:t>, aux conditions prévues par ces </a:t>
            </a:r>
            <a:r>
              <a:rPr lang="fr-CH" dirty="0" smtClean="0"/>
              <a:t>régimes. Dans </a:t>
            </a:r>
            <a:r>
              <a:rPr lang="fr-CH" dirty="0"/>
              <a:t>ces cas, elles ne sont pas considérées comme se trouvant sous le </a:t>
            </a:r>
            <a:r>
              <a:rPr lang="fr-CH" dirty="0" smtClean="0"/>
              <a:t>régime </a:t>
            </a:r>
            <a:r>
              <a:rPr lang="fr-CH" dirty="0"/>
              <a:t>de la zone franche</a:t>
            </a:r>
            <a:r>
              <a:rPr lang="fr-CH" dirty="0" smtClean="0"/>
              <a: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35</a:t>
            </a:fld>
            <a:endParaRPr lang="fr-CH"/>
          </a:p>
        </p:txBody>
      </p:sp>
    </p:spTree>
    <p:extLst>
      <p:ext uri="{BB962C8B-B14F-4D97-AF65-F5344CB8AC3E}">
        <p14:creationId xmlns:p14="http://schemas.microsoft.com/office/powerpoint/2010/main" val="425745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Marchandises de l'Union en zone franche</a:t>
            </a:r>
          </a:p>
        </p:txBody>
      </p:sp>
      <p:sp>
        <p:nvSpPr>
          <p:cNvPr id="3" name="Content Placeholder 2"/>
          <p:cNvSpPr>
            <a:spLocks noGrp="1"/>
          </p:cNvSpPr>
          <p:nvPr>
            <p:ph idx="1"/>
          </p:nvPr>
        </p:nvSpPr>
        <p:spPr/>
        <p:txBody>
          <a:bodyPr>
            <a:normAutofit lnSpcReduction="10000"/>
          </a:bodyPr>
          <a:lstStyle/>
          <a:p>
            <a:r>
              <a:rPr lang="fr-CH" dirty="0"/>
              <a:t>Des marchandises de l'Union peuvent être introduites, </a:t>
            </a:r>
            <a:r>
              <a:rPr lang="fr-CH" dirty="0" smtClean="0"/>
              <a:t>entreposées, déplacées</a:t>
            </a:r>
            <a:r>
              <a:rPr lang="fr-CH" dirty="0"/>
              <a:t>, utilisées, transformées ou consommées dans une zone </a:t>
            </a:r>
            <a:r>
              <a:rPr lang="fr-CH" dirty="0" smtClean="0"/>
              <a:t>franche</a:t>
            </a:r>
            <a:r>
              <a:rPr lang="fr-CH" dirty="0"/>
              <a:t>. Dans ces cas, elles ne sont pas considérées comme se trouvant </a:t>
            </a:r>
            <a:r>
              <a:rPr lang="fr-CH" dirty="0" smtClean="0"/>
              <a:t>sous </a:t>
            </a:r>
            <a:r>
              <a:rPr lang="fr-CH" dirty="0"/>
              <a:t>le régime de la zone franche</a:t>
            </a:r>
            <a:r>
              <a:rPr lang="fr-CH" dirty="0" smtClean="0"/>
              <a:t>.</a:t>
            </a:r>
          </a:p>
          <a:p>
            <a:r>
              <a:rPr lang="fr-CH" dirty="0" smtClean="0"/>
              <a:t>À </a:t>
            </a:r>
            <a:r>
              <a:rPr lang="fr-CH" dirty="0"/>
              <a:t>la demande de la personne concernée, les autorités douanières </a:t>
            </a:r>
            <a:r>
              <a:rPr lang="fr-CH" dirty="0" smtClean="0"/>
              <a:t>établissent </a:t>
            </a:r>
            <a:r>
              <a:rPr lang="fr-CH" dirty="0"/>
              <a:t>le statut douanier de marchandises de l'Union des </a:t>
            </a:r>
            <a:r>
              <a:rPr lang="fr-CH" dirty="0" smtClean="0"/>
              <a:t>marchandises </a:t>
            </a:r>
            <a:r>
              <a:rPr lang="fr-CH" dirty="0"/>
              <a:t>suivantes:</a:t>
            </a:r>
          </a:p>
          <a:p>
            <a:pPr lvl="1"/>
            <a:r>
              <a:rPr lang="fr-CH" dirty="0" smtClean="0"/>
              <a:t>marchandises </a:t>
            </a:r>
            <a:r>
              <a:rPr lang="fr-CH" dirty="0"/>
              <a:t>de l'Union introduites dans une zone franche;</a:t>
            </a:r>
          </a:p>
          <a:p>
            <a:pPr lvl="1"/>
            <a:r>
              <a:rPr lang="fr-CH" dirty="0" smtClean="0"/>
              <a:t>marchandises </a:t>
            </a:r>
            <a:r>
              <a:rPr lang="fr-CH" dirty="0"/>
              <a:t>de l'Union ayant subi des opérations de transformation </a:t>
            </a:r>
            <a:r>
              <a:rPr lang="fr-CH" dirty="0" smtClean="0"/>
              <a:t>dans </a:t>
            </a:r>
            <a:r>
              <a:rPr lang="fr-CH" dirty="0"/>
              <a:t>une zone franche;</a:t>
            </a:r>
          </a:p>
          <a:p>
            <a:pPr lvl="1"/>
            <a:r>
              <a:rPr lang="fr-CH" dirty="0" smtClean="0"/>
              <a:t>marchandises </a:t>
            </a:r>
            <a:r>
              <a:rPr lang="fr-CH" dirty="0"/>
              <a:t>mises en libre pratique dans une zone franche.</a:t>
            </a:r>
          </a:p>
        </p:txBody>
      </p:sp>
      <p:sp>
        <p:nvSpPr>
          <p:cNvPr id="4" name="Slide Number Placeholder 3"/>
          <p:cNvSpPr>
            <a:spLocks noGrp="1"/>
          </p:cNvSpPr>
          <p:nvPr>
            <p:ph type="sldNum" sz="quarter" idx="12"/>
          </p:nvPr>
        </p:nvSpPr>
        <p:spPr/>
        <p:txBody>
          <a:bodyPr/>
          <a:lstStyle/>
          <a:p>
            <a:fld id="{AC11F01A-B187-4E96-A42F-7B20626A13B5}" type="slidenum">
              <a:rPr lang="fr-CH" smtClean="0"/>
              <a:t>36</a:t>
            </a:fld>
            <a:endParaRPr lang="fr-CH"/>
          </a:p>
        </p:txBody>
      </p:sp>
    </p:spTree>
    <p:extLst>
      <p:ext uri="{BB962C8B-B14F-4D97-AF65-F5344CB8AC3E}">
        <p14:creationId xmlns:p14="http://schemas.microsoft.com/office/powerpoint/2010/main" val="4040511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H" dirty="0"/>
              <a:t>Marchandises sortant d'une zone franche</a:t>
            </a:r>
          </a:p>
        </p:txBody>
      </p:sp>
      <p:sp>
        <p:nvSpPr>
          <p:cNvPr id="3" name="Content Placeholder 2"/>
          <p:cNvSpPr>
            <a:spLocks noGrp="1"/>
          </p:cNvSpPr>
          <p:nvPr>
            <p:ph idx="1"/>
          </p:nvPr>
        </p:nvSpPr>
        <p:spPr/>
        <p:txBody>
          <a:bodyPr/>
          <a:lstStyle/>
          <a:p>
            <a:r>
              <a:rPr lang="fr-CH" dirty="0"/>
              <a:t>Sans préjudice de la législation dans des domaines autres que les </a:t>
            </a:r>
            <a:r>
              <a:rPr lang="fr-CH" dirty="0" smtClean="0"/>
              <a:t>douanes</a:t>
            </a:r>
            <a:r>
              <a:rPr lang="fr-CH" dirty="0"/>
              <a:t>, les marchandises séjournant en zone franche peuvent être </a:t>
            </a:r>
            <a:r>
              <a:rPr lang="fr-CH" dirty="0" smtClean="0"/>
              <a:t>exportées </a:t>
            </a:r>
            <a:r>
              <a:rPr lang="fr-CH" dirty="0"/>
              <a:t>ou réexportées hors du territoire douanier de l'Union, ou </a:t>
            </a:r>
            <a:r>
              <a:rPr lang="fr-CH" dirty="0" smtClean="0"/>
              <a:t>introduites </a:t>
            </a:r>
            <a:r>
              <a:rPr lang="fr-CH" dirty="0"/>
              <a:t>dans une autre partie de ce </a:t>
            </a:r>
            <a:r>
              <a:rPr lang="fr-CH"/>
              <a:t>territoire</a:t>
            </a:r>
            <a:r>
              <a:rPr lang="fr-CH" smtClean="0"/>
              <a: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37</a:t>
            </a:fld>
            <a:endParaRPr lang="fr-CH"/>
          </a:p>
        </p:txBody>
      </p:sp>
    </p:spTree>
    <p:extLst>
      <p:ext uri="{BB962C8B-B14F-4D97-AF65-F5344CB8AC3E}">
        <p14:creationId xmlns:p14="http://schemas.microsoft.com/office/powerpoint/2010/main" val="3582204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Statut douanier</a:t>
            </a:r>
          </a:p>
        </p:txBody>
      </p:sp>
      <p:sp>
        <p:nvSpPr>
          <p:cNvPr id="3" name="Content Placeholder 2"/>
          <p:cNvSpPr>
            <a:spLocks noGrp="1"/>
          </p:cNvSpPr>
          <p:nvPr>
            <p:ph idx="1"/>
          </p:nvPr>
        </p:nvSpPr>
        <p:spPr/>
        <p:txBody>
          <a:bodyPr>
            <a:normAutofit lnSpcReduction="10000"/>
          </a:bodyPr>
          <a:lstStyle/>
          <a:p>
            <a:r>
              <a:rPr lang="fr-CH" dirty="0"/>
              <a:t>Lorsque des marchandises sortant d'une zone franche sont introduites </a:t>
            </a:r>
            <a:r>
              <a:rPr lang="fr-CH" dirty="0" smtClean="0"/>
              <a:t>dans </a:t>
            </a:r>
            <a:r>
              <a:rPr lang="fr-CH" dirty="0"/>
              <a:t>une autre partie du territoire douanier de l'Union ou placées sous </a:t>
            </a:r>
            <a:r>
              <a:rPr lang="fr-CH" dirty="0" smtClean="0"/>
              <a:t>un </a:t>
            </a:r>
            <a:r>
              <a:rPr lang="fr-CH" dirty="0"/>
              <a:t>régime douanier, elles sont considérées comme des marchandises </a:t>
            </a:r>
            <a:r>
              <a:rPr lang="fr-CH" dirty="0" smtClean="0"/>
              <a:t>non </a:t>
            </a:r>
            <a:r>
              <a:rPr lang="fr-CH" dirty="0"/>
              <a:t>Union, à moins que leur statut douanier de marchandises de </a:t>
            </a:r>
            <a:r>
              <a:rPr lang="fr-CH" dirty="0" smtClean="0"/>
              <a:t>l'Union </a:t>
            </a:r>
            <a:r>
              <a:rPr lang="fr-CH" dirty="0"/>
              <a:t>n'ait été démontré</a:t>
            </a:r>
            <a:r>
              <a:rPr lang="fr-CH" dirty="0" smtClean="0"/>
              <a:t>.</a:t>
            </a:r>
          </a:p>
          <a:p>
            <a:r>
              <a:rPr lang="fr-CH" dirty="0"/>
              <a:t>Néanmoins, aux fins de l'application des droits à l'exportation et des </a:t>
            </a:r>
            <a:r>
              <a:rPr lang="fr-CH" dirty="0" smtClean="0"/>
              <a:t>certificats </a:t>
            </a:r>
            <a:r>
              <a:rPr lang="fr-CH" dirty="0"/>
              <a:t>d'exportation ou des mesures de contrôle à l'exportation </a:t>
            </a:r>
            <a:r>
              <a:rPr lang="fr-CH" dirty="0" smtClean="0"/>
              <a:t>prévues </a:t>
            </a:r>
            <a:r>
              <a:rPr lang="fr-CH" dirty="0"/>
              <a:t>dans le cadre de la politique agricole commune ou de la </a:t>
            </a:r>
            <a:r>
              <a:rPr lang="fr-CH" dirty="0" smtClean="0"/>
              <a:t>politique </a:t>
            </a:r>
            <a:r>
              <a:rPr lang="fr-CH" dirty="0"/>
              <a:t>commerciale commune, ces marchandises sont considérées comme </a:t>
            </a:r>
            <a:r>
              <a:rPr lang="fr-CH" dirty="0" smtClean="0"/>
              <a:t>des </a:t>
            </a:r>
            <a:r>
              <a:rPr lang="fr-CH" dirty="0"/>
              <a:t>marchandises de l'Union, sauf s'il est établi qu'elles n'ont pas le </a:t>
            </a:r>
            <a:r>
              <a:rPr lang="fr-CH" dirty="0" smtClean="0"/>
              <a:t>statut </a:t>
            </a:r>
            <a:r>
              <a:rPr lang="fr-CH" dirty="0"/>
              <a:t>douanier de marchandises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38</a:t>
            </a:fld>
            <a:endParaRPr lang="fr-CH"/>
          </a:p>
        </p:txBody>
      </p:sp>
    </p:spTree>
    <p:extLst>
      <p:ext uri="{BB962C8B-B14F-4D97-AF65-F5344CB8AC3E}">
        <p14:creationId xmlns:p14="http://schemas.microsoft.com/office/powerpoint/2010/main" val="3460181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Admission temporaire 1/2</a:t>
            </a:r>
            <a:endParaRPr lang="fr-CH" dirty="0"/>
          </a:p>
        </p:txBody>
      </p:sp>
      <p:sp>
        <p:nvSpPr>
          <p:cNvPr id="3" name="Content Placeholder 2"/>
          <p:cNvSpPr>
            <a:spLocks noGrp="1"/>
          </p:cNvSpPr>
          <p:nvPr>
            <p:ph idx="1"/>
          </p:nvPr>
        </p:nvSpPr>
        <p:spPr/>
        <p:txBody>
          <a:bodyPr/>
          <a:lstStyle/>
          <a:p>
            <a:r>
              <a:rPr lang="en-US" dirty="0" smtClean="0"/>
              <a:t>Les </a:t>
            </a:r>
            <a:r>
              <a:rPr lang="en-US" dirty="0" err="1" smtClean="0"/>
              <a:t>marchandises</a:t>
            </a:r>
            <a:r>
              <a:rPr lang="en-US" dirty="0" smtClean="0"/>
              <a:t> </a:t>
            </a:r>
            <a:r>
              <a:rPr lang="en-US" dirty="0" err="1" smtClean="0"/>
              <a:t>sont</a:t>
            </a:r>
            <a:r>
              <a:rPr lang="en-US" dirty="0" smtClean="0"/>
              <a:t> </a:t>
            </a:r>
            <a:r>
              <a:rPr lang="en-US" dirty="0" err="1" smtClean="0"/>
              <a:t>utilisées</a:t>
            </a:r>
            <a:r>
              <a:rPr lang="en-US" dirty="0" smtClean="0"/>
              <a:t> pour un usage </a:t>
            </a:r>
            <a:r>
              <a:rPr lang="en-US" dirty="0" err="1" smtClean="0"/>
              <a:t>déterminé</a:t>
            </a:r>
            <a:r>
              <a:rPr lang="en-US" dirty="0" smtClean="0"/>
              <a:t> (</a:t>
            </a:r>
            <a:r>
              <a:rPr lang="en-US" dirty="0" err="1" smtClean="0"/>
              <a:t>p.ex</a:t>
            </a:r>
            <a:r>
              <a:rPr lang="en-US" dirty="0" smtClean="0"/>
              <a:t>.: </a:t>
            </a:r>
            <a:r>
              <a:rPr lang="en-US" dirty="0" err="1" smtClean="0"/>
              <a:t>bagages</a:t>
            </a:r>
            <a:r>
              <a:rPr lang="en-US" dirty="0" smtClean="0"/>
              <a:t>, expositions, </a:t>
            </a:r>
            <a:r>
              <a:rPr lang="en-US" dirty="0" err="1" smtClean="0"/>
              <a:t>événéments</a:t>
            </a:r>
            <a:r>
              <a:rPr lang="en-US" dirty="0" smtClean="0"/>
              <a:t> </a:t>
            </a:r>
            <a:r>
              <a:rPr lang="en-US" dirty="0" err="1" smtClean="0"/>
              <a:t>sportifs</a:t>
            </a:r>
            <a:r>
              <a:rPr lang="en-US" dirty="0" smtClean="0"/>
              <a:t>) sans </a:t>
            </a:r>
            <a:r>
              <a:rPr lang="en-US" dirty="0" err="1" smtClean="0"/>
              <a:t>être</a:t>
            </a:r>
            <a:r>
              <a:rPr lang="en-US" dirty="0" smtClean="0"/>
              <a:t> </a:t>
            </a:r>
            <a:r>
              <a:rPr lang="en-US" dirty="0" err="1" smtClean="0"/>
              <a:t>modifiées</a:t>
            </a:r>
            <a:r>
              <a:rPr lang="en-US" dirty="0" smtClean="0"/>
              <a:t> et </a:t>
            </a:r>
            <a:r>
              <a:rPr lang="en-US" dirty="0" err="1" smtClean="0"/>
              <a:t>sont</a:t>
            </a:r>
            <a:r>
              <a:rPr lang="en-US" dirty="0" smtClean="0"/>
              <a:t> </a:t>
            </a:r>
            <a:r>
              <a:rPr lang="en-US" dirty="0" err="1" smtClean="0"/>
              <a:t>destinées</a:t>
            </a:r>
            <a:r>
              <a:rPr lang="en-US" dirty="0" smtClean="0"/>
              <a:t> à </a:t>
            </a:r>
            <a:r>
              <a:rPr lang="en-US" dirty="0" err="1" smtClean="0"/>
              <a:t>être</a:t>
            </a:r>
            <a:r>
              <a:rPr lang="en-US" dirty="0" smtClean="0"/>
              <a:t> </a:t>
            </a:r>
            <a:r>
              <a:rPr lang="en-US" dirty="0" err="1" smtClean="0"/>
              <a:t>réexportées</a:t>
            </a:r>
            <a:r>
              <a:rPr lang="en-US" dirty="0" smtClean="0"/>
              <a:t>.</a:t>
            </a:r>
          </a:p>
          <a:p>
            <a:r>
              <a:rPr lang="en-US" dirty="0" err="1" smtClean="0"/>
              <a:t>Dans</a:t>
            </a:r>
            <a:r>
              <a:rPr lang="en-US" dirty="0" smtClean="0"/>
              <a:t> </a:t>
            </a:r>
            <a:r>
              <a:rPr lang="en-US" dirty="0" err="1" smtClean="0"/>
              <a:t>certains</a:t>
            </a:r>
            <a:r>
              <a:rPr lang="en-US" dirty="0" smtClean="0"/>
              <a:t> </a:t>
            </a:r>
            <a:r>
              <a:rPr lang="en-US" dirty="0" err="1" smtClean="0"/>
              <a:t>cas</a:t>
            </a:r>
            <a:r>
              <a:rPr lang="en-US" dirty="0" smtClean="0"/>
              <a:t> </a:t>
            </a:r>
            <a:r>
              <a:rPr lang="en-US" dirty="0" err="1" smtClean="0"/>
              <a:t>exceptionnels</a:t>
            </a:r>
            <a:r>
              <a:rPr lang="en-US" smtClean="0"/>
              <a:t>, un autre régime douanier </a:t>
            </a:r>
            <a:r>
              <a:rPr lang="en-US" dirty="0" err="1" smtClean="0"/>
              <a:t>peut</a:t>
            </a:r>
            <a:r>
              <a:rPr lang="en-US" dirty="0" smtClean="0"/>
              <a:t> </a:t>
            </a:r>
            <a:r>
              <a:rPr lang="en-US" dirty="0" err="1" smtClean="0"/>
              <a:t>également</a:t>
            </a:r>
            <a:r>
              <a:rPr lang="en-US" dirty="0" smtClean="0"/>
              <a:t> </a:t>
            </a:r>
            <a:r>
              <a:rPr lang="en-US" dirty="0" err="1" smtClean="0"/>
              <a:t>apurer</a:t>
            </a:r>
            <a:r>
              <a:rPr lang="en-US" dirty="0" smtClean="0"/>
              <a:t> le régime. </a:t>
            </a:r>
            <a:endParaRPr lang="fr-CH" dirty="0"/>
          </a:p>
        </p:txBody>
      </p:sp>
      <p:sp>
        <p:nvSpPr>
          <p:cNvPr id="5" name="Slide Number Placeholder 4"/>
          <p:cNvSpPr>
            <a:spLocks noGrp="1"/>
          </p:cNvSpPr>
          <p:nvPr>
            <p:ph type="sldNum" sz="quarter" idx="12"/>
          </p:nvPr>
        </p:nvSpPr>
        <p:spPr/>
        <p:txBody>
          <a:bodyPr/>
          <a:lstStyle/>
          <a:p>
            <a:fld id="{AC11F01A-B187-4E96-A42F-7B20626A13B5}" type="slidenum">
              <a:rPr lang="fr-CH" smtClean="0"/>
              <a:t>39</a:t>
            </a:fld>
            <a:endParaRPr lang="fr-CH"/>
          </a:p>
        </p:txBody>
      </p:sp>
    </p:spTree>
    <p:extLst>
      <p:ext uri="{BB962C8B-B14F-4D97-AF65-F5344CB8AC3E}">
        <p14:creationId xmlns:p14="http://schemas.microsoft.com/office/powerpoint/2010/main" val="1652994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smtClean="0"/>
              <a:t>Admission temporaire 2/2</a:t>
            </a:r>
            <a:endParaRPr lang="fr-FR" dirty="0"/>
          </a:p>
        </p:txBody>
      </p:sp>
      <p:sp>
        <p:nvSpPr>
          <p:cNvPr id="3" name="Content Placeholder 2"/>
          <p:cNvSpPr>
            <a:spLocks noGrp="1"/>
          </p:cNvSpPr>
          <p:nvPr>
            <p:ph idx="1"/>
          </p:nvPr>
        </p:nvSpPr>
        <p:spPr/>
        <p:txBody>
          <a:bodyPr/>
          <a:lstStyle/>
          <a:p>
            <a:r>
              <a:rPr lang="fr-FR" dirty="0"/>
              <a:t>Le régime de l'admission temporaire permet l'utilisation spécifique dans le territoire douanier de l'Union de marchandises non Union destinées à la réexportation, en exonération totale ou partielle des droits à l'importation et sans qu'elles soient soumises:</a:t>
            </a:r>
          </a:p>
          <a:p>
            <a:pPr lvl="1"/>
            <a:r>
              <a:rPr lang="fr-FR" dirty="0" smtClean="0"/>
              <a:t>aux </a:t>
            </a:r>
            <a:r>
              <a:rPr lang="fr-FR" dirty="0"/>
              <a:t>autres </a:t>
            </a:r>
            <a:r>
              <a:rPr lang="fr-FR" dirty="0" smtClean="0"/>
              <a:t>impositions;</a:t>
            </a:r>
            <a:endParaRPr lang="fr-FR" dirty="0"/>
          </a:p>
          <a:p>
            <a:pPr lvl="1"/>
            <a:r>
              <a:rPr lang="fr-FR" dirty="0" smtClean="0"/>
              <a:t>aux </a:t>
            </a:r>
            <a:r>
              <a:rPr lang="fr-FR" dirty="0"/>
              <a:t>mesures de politique commerciale dans la mesure où elles n'interdisent pas l'entrée de marchandises dans le territoire douanier de l'Union ou leur sortie de ce territoire.</a:t>
            </a:r>
          </a:p>
        </p:txBody>
      </p:sp>
      <p:sp>
        <p:nvSpPr>
          <p:cNvPr id="4" name="Slide Number Placeholder 3"/>
          <p:cNvSpPr>
            <a:spLocks noGrp="1"/>
          </p:cNvSpPr>
          <p:nvPr>
            <p:ph type="sldNum" sz="quarter" idx="12"/>
          </p:nvPr>
        </p:nvSpPr>
        <p:spPr/>
        <p:txBody>
          <a:bodyPr/>
          <a:lstStyle/>
          <a:p>
            <a:fld id="{AC11F01A-B187-4E96-A42F-7B20626A13B5}" type="slidenum">
              <a:rPr lang="fr-CH" smtClean="0"/>
              <a:t>40</a:t>
            </a:fld>
            <a:endParaRPr lang="fr-CH"/>
          </a:p>
        </p:txBody>
      </p:sp>
    </p:spTree>
    <p:extLst>
      <p:ext uri="{BB962C8B-B14F-4D97-AF65-F5344CB8AC3E}">
        <p14:creationId xmlns:p14="http://schemas.microsoft.com/office/powerpoint/2010/main" val="227208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smtClean="0"/>
              <a:t>Admission temporaire - Conditions</a:t>
            </a:r>
            <a:endParaRPr lang="fr-FR" dirty="0"/>
          </a:p>
        </p:txBody>
      </p:sp>
      <p:sp>
        <p:nvSpPr>
          <p:cNvPr id="3" name="Content Placeholder 2"/>
          <p:cNvSpPr>
            <a:spLocks noGrp="1"/>
          </p:cNvSpPr>
          <p:nvPr>
            <p:ph idx="1"/>
          </p:nvPr>
        </p:nvSpPr>
        <p:spPr/>
        <p:txBody>
          <a:bodyPr>
            <a:normAutofit/>
          </a:bodyPr>
          <a:lstStyle/>
          <a:p>
            <a:r>
              <a:rPr lang="fr-FR" dirty="0"/>
              <a:t>L</a:t>
            </a:r>
            <a:r>
              <a:rPr lang="fr-FR" dirty="0" smtClean="0"/>
              <a:t>es </a:t>
            </a:r>
            <a:r>
              <a:rPr lang="fr-FR"/>
              <a:t>marchandises </a:t>
            </a:r>
            <a:r>
              <a:rPr lang="fr-FR" smtClean="0"/>
              <a:t>ne doivent subir aucune </a:t>
            </a:r>
            <a:r>
              <a:rPr lang="fr-FR" dirty="0"/>
              <a:t>modification, exception faite de leur dépréciation normale par suite de l'usage qui en est </a:t>
            </a:r>
            <a:r>
              <a:rPr lang="fr-FR" dirty="0" smtClean="0"/>
              <a:t>fait.</a:t>
            </a:r>
            <a:endParaRPr lang="fr-FR" dirty="0"/>
          </a:p>
          <a:p>
            <a:r>
              <a:rPr lang="fr-FR" dirty="0"/>
              <a:t>I</a:t>
            </a:r>
            <a:r>
              <a:rPr lang="fr-FR" dirty="0" smtClean="0"/>
              <a:t>l </a:t>
            </a:r>
            <a:r>
              <a:rPr lang="fr-FR" dirty="0"/>
              <a:t>est possible d'assurer l'identification des marchandises placées sous le régime sauf si, compte tenu de la nature de celles-ci ou de leur utilisation prévue, l'absence de mesures d'identification ne risque pas de conduire à des abus du </a:t>
            </a:r>
            <a:r>
              <a:rPr lang="fr-FR" dirty="0" smtClean="0"/>
              <a:t>régime.</a:t>
            </a:r>
            <a:endParaRPr lang="fr-FR" dirty="0"/>
          </a:p>
          <a:p>
            <a:r>
              <a:rPr lang="fr-FR" dirty="0"/>
              <a:t>L</a:t>
            </a:r>
            <a:r>
              <a:rPr lang="fr-FR" dirty="0" smtClean="0"/>
              <a:t>e </a:t>
            </a:r>
            <a:r>
              <a:rPr lang="fr-FR" dirty="0"/>
              <a:t>titulaire du régime est établi en dehors du territoire douanier de l'Union, à moins qu'il n'en soit disposé </a:t>
            </a:r>
            <a:r>
              <a:rPr lang="fr-FR" smtClean="0"/>
              <a:t>autrement.</a:t>
            </a: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41</a:t>
            </a:fld>
            <a:endParaRPr lang="fr-CH"/>
          </a:p>
        </p:txBody>
      </p:sp>
    </p:spTree>
    <p:extLst>
      <p:ext uri="{BB962C8B-B14F-4D97-AF65-F5344CB8AC3E}">
        <p14:creationId xmlns:p14="http://schemas.microsoft.com/office/powerpoint/2010/main" val="3242128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a:t>Délai de séjour des marchandises </a:t>
            </a:r>
            <a:r>
              <a:rPr lang="fr-FR"/>
              <a:t>sous </a:t>
            </a:r>
            <a:r>
              <a:rPr lang="fr-FR" smtClean="0"/>
              <a:t>le régime de l’admission temporaire</a:t>
            </a:r>
            <a:endParaRPr lang="fr-FR" dirty="0"/>
          </a:p>
        </p:txBody>
      </p:sp>
      <p:sp>
        <p:nvSpPr>
          <p:cNvPr id="3" name="Content Placeholder 2"/>
          <p:cNvSpPr>
            <a:spLocks noGrp="1"/>
          </p:cNvSpPr>
          <p:nvPr>
            <p:ph idx="1"/>
          </p:nvPr>
        </p:nvSpPr>
        <p:spPr/>
        <p:txBody>
          <a:bodyPr>
            <a:normAutofit fontScale="92500" lnSpcReduction="10000"/>
          </a:bodyPr>
          <a:lstStyle/>
          <a:p>
            <a:r>
              <a:rPr lang="fr-FR" dirty="0"/>
              <a:t>Les autorités douanières fixent le délai dans lequel les marchandises placées sous le régime de l'admission temporaire doivent être réexportées ou placées sous un autre régime douanier. Ce délai est suffisant pour que l'objectif de l'utilisation autorisée soit atteint</a:t>
            </a:r>
            <a:r>
              <a:rPr lang="fr-FR" dirty="0" smtClean="0"/>
              <a:t>.</a:t>
            </a:r>
          </a:p>
          <a:p>
            <a:r>
              <a:rPr lang="fr-FR" dirty="0"/>
              <a:t>Sauf dispositions contraires, la durée maximale du séjour des </a:t>
            </a:r>
            <a:r>
              <a:rPr lang="fr-FR"/>
              <a:t>marchandises </a:t>
            </a:r>
            <a:r>
              <a:rPr lang="fr-FR" smtClean="0"/>
              <a:t>sous le régime de l’admission temporaire </a:t>
            </a:r>
            <a:r>
              <a:rPr lang="fr-FR" dirty="0" smtClean="0"/>
              <a:t>pour </a:t>
            </a:r>
            <a:r>
              <a:rPr lang="fr-FR" dirty="0"/>
              <a:t>la même utilisation et sous la responsabilité du même titulaire de l'autorisation est de </a:t>
            </a:r>
            <a:r>
              <a:rPr lang="fr-FR" dirty="0" smtClean="0"/>
              <a:t>24 mois.</a:t>
            </a:r>
          </a:p>
          <a:p>
            <a:r>
              <a:rPr lang="fr-FR" dirty="0"/>
              <a:t>Lorsque, dans des circonstances exceptionnelles, le délai d'utilisation autorisée </a:t>
            </a:r>
            <a:r>
              <a:rPr lang="fr-FR" dirty="0" smtClean="0"/>
              <a:t>n'est </a:t>
            </a:r>
            <a:r>
              <a:rPr lang="fr-FR" dirty="0"/>
              <a:t>pas suffisant, les autorités douanières peuvent le proroger pour une durée </a:t>
            </a:r>
            <a:r>
              <a:rPr lang="fr-FR" dirty="0" smtClean="0"/>
              <a:t>raisonnable.</a:t>
            </a:r>
          </a:p>
          <a:p>
            <a:r>
              <a:rPr lang="fr-FR" dirty="0"/>
              <a:t>La durée totale du séjour des marchandises sous le régime de l'admission temporaire n'excède pas dix ans, sauf en cas d'événement fortuit.</a:t>
            </a:r>
          </a:p>
        </p:txBody>
      </p:sp>
      <p:sp>
        <p:nvSpPr>
          <p:cNvPr id="4" name="Slide Number Placeholder 3"/>
          <p:cNvSpPr>
            <a:spLocks noGrp="1"/>
          </p:cNvSpPr>
          <p:nvPr>
            <p:ph type="sldNum" sz="quarter" idx="12"/>
          </p:nvPr>
        </p:nvSpPr>
        <p:spPr/>
        <p:txBody>
          <a:bodyPr/>
          <a:lstStyle/>
          <a:p>
            <a:fld id="{AC11F01A-B187-4E96-A42F-7B20626A13B5}" type="slidenum">
              <a:rPr lang="fr-CH" smtClean="0"/>
              <a:t>42</a:t>
            </a:fld>
            <a:endParaRPr lang="fr-CH"/>
          </a:p>
        </p:txBody>
      </p:sp>
    </p:spTree>
    <p:extLst>
      <p:ext uri="{BB962C8B-B14F-4D97-AF65-F5344CB8AC3E}">
        <p14:creationId xmlns:p14="http://schemas.microsoft.com/office/powerpoint/2010/main" val="2962551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err="1" smtClean="0"/>
              <a:t>Opérations</a:t>
            </a:r>
            <a:r>
              <a:rPr lang="en-US" smtClean="0"/>
              <a:t> permises sous le régime de l’admission temporaire</a:t>
            </a:r>
            <a:endParaRPr lang="fr-CH" dirty="0"/>
          </a:p>
        </p:txBody>
      </p:sp>
      <p:sp>
        <p:nvSpPr>
          <p:cNvPr id="3" name="Content Placeholder 2"/>
          <p:cNvSpPr>
            <a:spLocks noGrp="1"/>
          </p:cNvSpPr>
          <p:nvPr>
            <p:ph idx="1"/>
          </p:nvPr>
        </p:nvSpPr>
        <p:spPr/>
        <p:txBody>
          <a:bodyPr/>
          <a:lstStyle/>
          <a:p>
            <a:r>
              <a:rPr lang="fr-CH" dirty="0"/>
              <a:t>L</a:t>
            </a:r>
            <a:r>
              <a:rPr lang="fr-CH" dirty="0" smtClean="0"/>
              <a:t>es </a:t>
            </a:r>
            <a:r>
              <a:rPr lang="fr-CH" dirty="0"/>
              <a:t>autorisations d’utilisation du régime de l’admission temporaire sont accordées à la condition que l’état des marchandises placées sous le régime reste le même</a:t>
            </a:r>
            <a:r>
              <a:rPr lang="fr-CH" dirty="0" smtClean="0"/>
              <a:t>.</a:t>
            </a:r>
          </a:p>
          <a:p>
            <a:r>
              <a:rPr lang="en-US" dirty="0" smtClean="0"/>
              <a:t>Exception:</a:t>
            </a:r>
          </a:p>
          <a:p>
            <a:pPr lvl="1"/>
            <a:r>
              <a:rPr lang="fr-CH" dirty="0" smtClean="0"/>
              <a:t>Les </a:t>
            </a:r>
            <a:r>
              <a:rPr lang="fr-CH" dirty="0"/>
              <a:t>opérations de réparation et d’entretien, y compris la révision, les réglages ou les mesures visant à assurer la conservation des marchandises ou leur mise en conformité avec les exigences </a:t>
            </a:r>
            <a:r>
              <a:rPr lang="fr-CH" dirty="0" smtClean="0"/>
              <a:t>techniques </a:t>
            </a:r>
            <a:r>
              <a:rPr lang="fr-CH" dirty="0"/>
              <a:t>indispensables pour permettre leur utilisation sous le régime, sont permises</a:t>
            </a:r>
            <a:r>
              <a:rPr lang="fr-CH" dirty="0" smtClean="0"/>
              <a:t>.</a:t>
            </a:r>
          </a:p>
          <a:p>
            <a:r>
              <a:rPr lang="en-US" dirty="0" err="1" smtClean="0"/>
              <a:t>Toute</a:t>
            </a:r>
            <a:r>
              <a:rPr lang="en-US" dirty="0" smtClean="0"/>
              <a:t> </a:t>
            </a:r>
            <a:r>
              <a:rPr lang="en-US" dirty="0" err="1" smtClean="0"/>
              <a:t>autre</a:t>
            </a:r>
            <a:r>
              <a:rPr lang="en-US" dirty="0" smtClean="0"/>
              <a:t> </a:t>
            </a:r>
            <a:r>
              <a:rPr lang="en-US" dirty="0" err="1" smtClean="0"/>
              <a:t>opération</a:t>
            </a:r>
            <a:r>
              <a:rPr lang="en-US" dirty="0" smtClean="0"/>
              <a:t> </a:t>
            </a:r>
            <a:r>
              <a:rPr lang="en-US" dirty="0" err="1" smtClean="0"/>
              <a:t>doit</a:t>
            </a:r>
            <a:r>
              <a:rPr lang="en-US" dirty="0" smtClean="0"/>
              <a:t> faire </a:t>
            </a:r>
            <a:r>
              <a:rPr lang="en-US" dirty="0" err="1" smtClean="0"/>
              <a:t>l’objet</a:t>
            </a:r>
            <a:r>
              <a:rPr lang="en-US" dirty="0" smtClean="0"/>
              <a:t> d’un régime de </a:t>
            </a:r>
            <a:r>
              <a:rPr lang="en-US" dirty="0" err="1" smtClean="0"/>
              <a:t>perfectionnement</a:t>
            </a:r>
            <a:r>
              <a:rPr lang="en-US" dirty="0" smtClean="0"/>
              <a:t> </a:t>
            </a:r>
            <a:r>
              <a:rPr lang="en-US" dirty="0" err="1" smtClean="0"/>
              <a:t>actif</a:t>
            </a:r>
            <a:r>
              <a:rPr lang="en-US" dirty="0" smtClean="0"/>
              <a: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43</a:t>
            </a:fld>
            <a:endParaRPr lang="fr-CH"/>
          </a:p>
        </p:txBody>
      </p:sp>
    </p:spTree>
    <p:extLst>
      <p:ext uri="{BB962C8B-B14F-4D97-AF65-F5344CB8AC3E}">
        <p14:creationId xmlns:p14="http://schemas.microsoft.com/office/powerpoint/2010/main" val="2016272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Lieu </a:t>
            </a:r>
            <a:r>
              <a:rPr lang="en-US" dirty="0" err="1" smtClean="0"/>
              <a:t>d’introduction</a:t>
            </a:r>
            <a:r>
              <a:rPr lang="en-US" dirty="0" smtClean="0"/>
              <a:t> </a:t>
            </a:r>
            <a:r>
              <a:rPr lang="en-US" err="1" smtClean="0"/>
              <a:t>d’une</a:t>
            </a:r>
            <a:r>
              <a:rPr lang="en-US" smtClean="0"/>
              <a:t> demande d’admission temporaire</a:t>
            </a:r>
            <a:endParaRPr lang="fr-CH" dirty="0"/>
          </a:p>
        </p:txBody>
      </p:sp>
      <p:sp>
        <p:nvSpPr>
          <p:cNvPr id="3" name="Content Placeholder 2"/>
          <p:cNvSpPr>
            <a:spLocks noGrp="1"/>
          </p:cNvSpPr>
          <p:nvPr>
            <p:ph idx="1"/>
          </p:nvPr>
        </p:nvSpPr>
        <p:spPr/>
        <p:txBody>
          <a:bodyPr/>
          <a:lstStyle/>
          <a:p>
            <a:r>
              <a:rPr lang="en-US" smtClean="0"/>
              <a:t>Par dérogation </a:t>
            </a:r>
            <a:r>
              <a:rPr lang="en-US" dirty="0" smtClean="0"/>
              <a:t>aux </a:t>
            </a:r>
            <a:r>
              <a:rPr lang="en-US" dirty="0" err="1" smtClean="0"/>
              <a:t>règles</a:t>
            </a:r>
            <a:r>
              <a:rPr lang="en-US" dirty="0" smtClean="0"/>
              <a:t> </a:t>
            </a:r>
            <a:r>
              <a:rPr lang="en-US" dirty="0" err="1" smtClean="0"/>
              <a:t>générales</a:t>
            </a:r>
            <a:r>
              <a:rPr lang="en-US" dirty="0" smtClean="0"/>
              <a:t>, </a:t>
            </a:r>
            <a:r>
              <a:rPr lang="fr-CH" dirty="0"/>
              <a:t>la demande d’autorisation d’admission temporaire est présentée aux autorités douanières compétentes du lieu où les marchandises doivent faire l’objet de leur première utilisation</a:t>
            </a:r>
            <a:r>
              <a:rPr lang="fr-CH" dirty="0" smtClean="0"/>
              <a:t>.</a:t>
            </a:r>
          </a:p>
          <a:p>
            <a:r>
              <a:rPr lang="en-US" dirty="0" smtClean="0"/>
              <a:t>Pour </a:t>
            </a:r>
            <a:r>
              <a:rPr lang="en-US" smtClean="0"/>
              <a:t>les déclarations </a:t>
            </a:r>
            <a:r>
              <a:rPr lang="en-US" dirty="0" err="1" smtClean="0"/>
              <a:t>verbales</a:t>
            </a:r>
            <a:r>
              <a:rPr lang="en-US" dirty="0" smtClean="0"/>
              <a:t> et </a:t>
            </a:r>
            <a:r>
              <a:rPr lang="en-US" smtClean="0"/>
              <a:t>les déclarations </a:t>
            </a:r>
            <a:r>
              <a:rPr lang="en-US" dirty="0" smtClean="0"/>
              <a:t>par tout </a:t>
            </a:r>
            <a:r>
              <a:rPr lang="en-US" dirty="0" err="1" smtClean="0"/>
              <a:t>autre</a:t>
            </a:r>
            <a:r>
              <a:rPr lang="en-US" dirty="0" smtClean="0"/>
              <a:t> </a:t>
            </a:r>
            <a:r>
              <a:rPr lang="en-US" dirty="0" err="1" smtClean="0"/>
              <a:t>acte</a:t>
            </a:r>
            <a:r>
              <a:rPr lang="en-US" dirty="0" smtClean="0"/>
              <a:t>, la </a:t>
            </a:r>
            <a:r>
              <a:rPr lang="en-US" dirty="0" err="1" smtClean="0"/>
              <a:t>demande</a:t>
            </a:r>
            <a:r>
              <a:rPr lang="en-US" dirty="0" smtClean="0"/>
              <a:t> </a:t>
            </a:r>
            <a:r>
              <a:rPr lang="en-US" dirty="0" err="1" smtClean="0"/>
              <a:t>est</a:t>
            </a:r>
            <a:r>
              <a:rPr lang="en-US" dirty="0" smtClean="0"/>
              <a:t> </a:t>
            </a:r>
            <a:r>
              <a:rPr lang="en-US" dirty="0" err="1" smtClean="0"/>
              <a:t>effectuée</a:t>
            </a:r>
            <a:r>
              <a:rPr lang="en-US" dirty="0" smtClean="0"/>
              <a:t> sur le lieu </a:t>
            </a:r>
            <a:r>
              <a:rPr lang="en-US" dirty="0" err="1" smtClean="0"/>
              <a:t>où</a:t>
            </a:r>
            <a:r>
              <a:rPr lang="en-US" dirty="0" smtClean="0"/>
              <a:t> les </a:t>
            </a:r>
            <a:r>
              <a:rPr lang="en-US" dirty="0" err="1" smtClean="0"/>
              <a:t>marchandises</a:t>
            </a:r>
            <a:r>
              <a:rPr lang="en-US" dirty="0" smtClean="0"/>
              <a:t> </a:t>
            </a:r>
            <a:r>
              <a:rPr lang="en-US" dirty="0" err="1" smtClean="0"/>
              <a:t>sont</a:t>
            </a:r>
            <a:r>
              <a:rPr lang="en-US" dirty="0" smtClean="0"/>
              <a:t> </a:t>
            </a:r>
            <a:r>
              <a:rPr lang="en-US" dirty="0" err="1" smtClean="0"/>
              <a:t>présentées</a:t>
            </a:r>
            <a:r>
              <a:rPr lang="en-US" dirty="0" smtClean="0"/>
              <a:t> et </a:t>
            </a:r>
            <a:r>
              <a:rPr lang="en-US" dirty="0" err="1" smtClean="0"/>
              <a:t>déclarées</a:t>
            </a:r>
            <a:r>
              <a:rPr lang="en-US" dirty="0" smtClean="0"/>
              <a:t> pour </a:t>
            </a:r>
            <a:r>
              <a:rPr lang="en-US" dirty="0" err="1" smtClean="0"/>
              <a:t>l’admission</a:t>
            </a:r>
            <a:r>
              <a:rPr lang="en-US" dirty="0" smtClean="0"/>
              <a:t> </a:t>
            </a:r>
            <a:r>
              <a:rPr lang="en-US" dirty="0" err="1" smtClean="0"/>
              <a:t>temporaire</a:t>
            </a:r>
            <a:r>
              <a:rPr lang="en-US" dirty="0" smtClean="0"/>
              <a: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44</a:t>
            </a:fld>
            <a:endParaRPr lang="fr-CH"/>
          </a:p>
        </p:txBody>
      </p:sp>
    </p:spTree>
    <p:extLst>
      <p:ext uri="{BB962C8B-B14F-4D97-AF65-F5344CB8AC3E}">
        <p14:creationId xmlns:p14="http://schemas.microsoft.com/office/powerpoint/2010/main" val="959387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smtClean="0"/>
              <a:t>Admission temporaire en exonération partielle des droits à l’importation</a:t>
            </a:r>
            <a:endParaRPr lang="fr-FR" dirty="0"/>
          </a:p>
        </p:txBody>
      </p:sp>
      <p:sp>
        <p:nvSpPr>
          <p:cNvPr id="3" name="Content Placeholder 2"/>
          <p:cNvSpPr>
            <a:spLocks noGrp="1"/>
          </p:cNvSpPr>
          <p:nvPr>
            <p:ph idx="1"/>
          </p:nvPr>
        </p:nvSpPr>
        <p:spPr/>
        <p:txBody>
          <a:bodyPr>
            <a:normAutofit/>
          </a:bodyPr>
          <a:lstStyle/>
          <a:p>
            <a:r>
              <a:rPr lang="fr-FR" dirty="0"/>
              <a:t>Le montant des droits à l'importation pour des marchandises placées sous le régime de l'admission temporaire en exonération partielle des droits à l'importation est fixé à 3 % du montant des droits qui auraient été dus pour ces marchandises si celles-ci avaient fait l'objet d'une mise en libre pratique à la date à laquelle elles ont été placées sous le régime de l'admission temporaire</a:t>
            </a:r>
            <a:r>
              <a:rPr lang="fr-FR" dirty="0" smtClean="0"/>
              <a:t>.</a:t>
            </a:r>
          </a:p>
          <a:p>
            <a:r>
              <a:rPr lang="fr-FR" dirty="0"/>
              <a:t>Le montant est dû pour chaque mois ou fraction de </a:t>
            </a:r>
            <a:r>
              <a:rPr lang="fr-FR" dirty="0" smtClean="0"/>
              <a:t>mois.</a:t>
            </a:r>
          </a:p>
          <a:p>
            <a:r>
              <a:rPr lang="fr-FR" smtClean="0"/>
              <a:t>Toutefois le </a:t>
            </a:r>
            <a:r>
              <a:rPr lang="fr-FR" dirty="0"/>
              <a:t>montant des droits à l'importation n'est pas supérieur à celui qui aurait été dû en cas de mise en libre pratique des </a:t>
            </a:r>
            <a:r>
              <a:rPr lang="fr-FR" dirty="0" smtClean="0"/>
              <a:t>marchandises (attention à partir du 34</a:t>
            </a:r>
            <a:r>
              <a:rPr lang="fr-FR" baseline="30000" dirty="0" smtClean="0"/>
              <a:t>e</a:t>
            </a:r>
            <a:r>
              <a:rPr lang="fr-FR" dirty="0" smtClean="0"/>
              <a:t> mois).</a:t>
            </a: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45</a:t>
            </a:fld>
            <a:endParaRPr lang="fr-CH"/>
          </a:p>
        </p:txBody>
      </p:sp>
    </p:spTree>
    <p:extLst>
      <p:ext uri="{BB962C8B-B14F-4D97-AF65-F5344CB8AC3E}">
        <p14:creationId xmlns:p14="http://schemas.microsoft.com/office/powerpoint/2010/main" val="1608521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Cas </a:t>
            </a:r>
            <a:r>
              <a:rPr lang="fr-FR" smtClean="0"/>
              <a:t>d’admission temporaire en exonération totale des droits à l’importation</a:t>
            </a:r>
            <a:endParaRPr lang="fr-FR" dirty="0"/>
          </a:p>
        </p:txBody>
      </p:sp>
      <p:sp>
        <p:nvSpPr>
          <p:cNvPr id="3" name="Content Placeholder 2"/>
          <p:cNvSpPr>
            <a:spLocks noGrp="1"/>
          </p:cNvSpPr>
          <p:nvPr>
            <p:ph idx="1"/>
          </p:nvPr>
        </p:nvSpPr>
        <p:spPr/>
        <p:txBody>
          <a:bodyPr/>
          <a:lstStyle/>
          <a:p>
            <a:r>
              <a:rPr lang="fr-FR" dirty="0" smtClean="0"/>
              <a:t>Seuls les cas expressément </a:t>
            </a:r>
            <a:r>
              <a:rPr lang="fr-FR" smtClean="0"/>
              <a:t>prévus par la législation </a:t>
            </a:r>
            <a:r>
              <a:rPr lang="fr-FR" dirty="0" smtClean="0"/>
              <a:t>peuvent profiter d’une exonération totale des droits à l’importation.</a:t>
            </a:r>
          </a:p>
          <a:p>
            <a:r>
              <a:rPr lang="fr-FR" dirty="0" smtClean="0"/>
              <a:t>Dans tout autre cas, une exonération partielle est à appliquer!</a:t>
            </a: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46</a:t>
            </a:fld>
            <a:endParaRPr lang="fr-CH"/>
          </a:p>
        </p:txBody>
      </p:sp>
    </p:spTree>
    <p:extLst>
      <p:ext uri="{BB962C8B-B14F-4D97-AF65-F5344CB8AC3E}">
        <p14:creationId xmlns:p14="http://schemas.microsoft.com/office/powerpoint/2010/main" val="1593009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smtClean="0"/>
              <a:t>Cas d’exonération totale des droits à l’importation</a:t>
            </a:r>
            <a:endParaRPr lang="fr-CH" dirty="0"/>
          </a:p>
        </p:txBody>
      </p:sp>
      <p:sp>
        <p:nvSpPr>
          <p:cNvPr id="3" name="Content Placeholder 2"/>
          <p:cNvSpPr>
            <a:spLocks noGrp="1"/>
          </p:cNvSpPr>
          <p:nvPr>
            <p:ph idx="1"/>
          </p:nvPr>
        </p:nvSpPr>
        <p:spPr/>
        <p:txBody>
          <a:bodyPr/>
          <a:lstStyle/>
          <a:p>
            <a:pPr marL="0" indent="0">
              <a:buNone/>
            </a:pPr>
            <a:endParaRPr lang="en-US" sz="3600" dirty="0" smtClean="0"/>
          </a:p>
          <a:p>
            <a:pPr marL="0" indent="0">
              <a:buNone/>
            </a:pPr>
            <a:r>
              <a:rPr lang="en-US" sz="3600" dirty="0" smtClean="0"/>
              <a:t>Palettes</a:t>
            </a:r>
            <a:endParaRPr lang="en-US" sz="3600" dirty="0"/>
          </a:p>
          <a:p>
            <a:endParaRPr lang="en-US" dirty="0"/>
          </a:p>
          <a:p>
            <a:r>
              <a:rPr lang="en-US" dirty="0" smtClean="0"/>
              <a:t>Sans conditions </a:t>
            </a:r>
            <a:r>
              <a:rPr lang="en-US" dirty="0" err="1" smtClean="0"/>
              <a:t>supplémentaires</a:t>
            </a:r>
            <a:endParaRPr lang="en-US" dirty="0" smtClean="0"/>
          </a:p>
          <a:p>
            <a:pPr marL="0" indent="0">
              <a:buNone/>
            </a:pP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47</a:t>
            </a:fld>
            <a:endParaRPr lang="fr-CH"/>
          </a:p>
        </p:txBody>
      </p:sp>
    </p:spTree>
    <p:extLst>
      <p:ext uri="{BB962C8B-B14F-4D97-AF65-F5344CB8AC3E}">
        <p14:creationId xmlns:p14="http://schemas.microsoft.com/office/powerpoint/2010/main" val="983362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lstStyle/>
          <a:p>
            <a:pPr marL="0" indent="0">
              <a:buNone/>
            </a:pPr>
            <a:endParaRPr lang="en-US" dirty="0" smtClean="0"/>
          </a:p>
          <a:p>
            <a:pPr marL="0" indent="0">
              <a:buNone/>
            </a:pPr>
            <a:r>
              <a:rPr lang="en-US" sz="3600" dirty="0" err="1" smtClean="0"/>
              <a:t>Pièces</a:t>
            </a:r>
            <a:r>
              <a:rPr lang="en-US" sz="3600" dirty="0" smtClean="0"/>
              <a:t> </a:t>
            </a:r>
            <a:r>
              <a:rPr lang="en-US" sz="3600" dirty="0"/>
              <a:t>de </a:t>
            </a:r>
            <a:r>
              <a:rPr lang="en-US" sz="3600" dirty="0" err="1"/>
              <a:t>rechanges</a:t>
            </a:r>
            <a:r>
              <a:rPr lang="en-US" sz="3600" dirty="0"/>
              <a:t>, </a:t>
            </a:r>
            <a:r>
              <a:rPr lang="en-US" sz="3600" dirty="0" err="1"/>
              <a:t>accessoires</a:t>
            </a:r>
            <a:r>
              <a:rPr lang="en-US" sz="3600" dirty="0"/>
              <a:t> et </a:t>
            </a:r>
            <a:r>
              <a:rPr lang="en-US" sz="3600" dirty="0" err="1"/>
              <a:t>équipement</a:t>
            </a:r>
            <a:r>
              <a:rPr lang="en-US" sz="3600" dirty="0"/>
              <a:t> pour </a:t>
            </a:r>
            <a:r>
              <a:rPr lang="en-US" sz="3600" dirty="0" smtClean="0"/>
              <a:t>palettes</a:t>
            </a:r>
          </a:p>
          <a:p>
            <a:pPr marL="0" indent="0">
              <a:buNone/>
            </a:pPr>
            <a:endParaRPr lang="en-US" dirty="0" smtClean="0"/>
          </a:p>
          <a:p>
            <a:r>
              <a:rPr lang="en-US" dirty="0" err="1" smtClean="0"/>
              <a:t>Importés</a:t>
            </a:r>
            <a:r>
              <a:rPr lang="en-US" dirty="0" smtClean="0"/>
              <a:t> </a:t>
            </a:r>
            <a:r>
              <a:rPr lang="en-US" dirty="0" err="1" smtClean="0"/>
              <a:t>temporairement</a:t>
            </a:r>
            <a:r>
              <a:rPr lang="en-US" dirty="0" smtClean="0"/>
              <a:t> pour </a:t>
            </a:r>
            <a:r>
              <a:rPr lang="en-US" dirty="0" err="1" smtClean="0"/>
              <a:t>être</a:t>
            </a:r>
            <a:r>
              <a:rPr lang="en-US" dirty="0" smtClean="0"/>
              <a:t> </a:t>
            </a:r>
            <a:r>
              <a:rPr lang="en-US" dirty="0" err="1" smtClean="0"/>
              <a:t>réexportés</a:t>
            </a:r>
            <a:r>
              <a:rPr lang="en-US" dirty="0" smtClean="0"/>
              <a:t> </a:t>
            </a:r>
            <a:r>
              <a:rPr lang="en-US" dirty="0" err="1" smtClean="0"/>
              <a:t>isolément</a:t>
            </a:r>
            <a:r>
              <a:rPr lang="en-US" dirty="0" smtClean="0"/>
              <a:t> </a:t>
            </a:r>
            <a:r>
              <a:rPr lang="en-US" dirty="0" err="1" smtClean="0"/>
              <a:t>ou</a:t>
            </a:r>
            <a:r>
              <a:rPr lang="en-US" dirty="0" smtClean="0"/>
              <a:t> </a:t>
            </a:r>
            <a:r>
              <a:rPr lang="en-US" dirty="0" err="1" smtClean="0"/>
              <a:t>en</a:t>
            </a:r>
            <a:r>
              <a:rPr lang="en-US" dirty="0" smtClean="0"/>
              <a:t> </a:t>
            </a:r>
            <a:r>
              <a:rPr lang="en-US" dirty="0" err="1" smtClean="0"/>
              <a:t>tant</a:t>
            </a:r>
            <a:r>
              <a:rPr lang="en-US" dirty="0" smtClean="0"/>
              <a:t> que parties de palettes.</a:t>
            </a:r>
          </a:p>
          <a:p>
            <a:pPr marL="0" indent="0">
              <a:buNone/>
            </a:pP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48</a:t>
            </a:fld>
            <a:endParaRPr lang="fr-CH"/>
          </a:p>
        </p:txBody>
      </p:sp>
    </p:spTree>
    <p:extLst>
      <p:ext uri="{BB962C8B-B14F-4D97-AF65-F5344CB8AC3E}">
        <p14:creationId xmlns:p14="http://schemas.microsoft.com/office/powerpoint/2010/main" val="586593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lstStyle/>
          <a:p>
            <a:pPr marL="0" indent="0">
              <a:buNone/>
            </a:pPr>
            <a:r>
              <a:rPr lang="en-US" sz="3600" dirty="0" err="1"/>
              <a:t>Conteneurs</a:t>
            </a:r>
            <a:endParaRPr lang="en-US" sz="3600" dirty="0" smtClean="0"/>
          </a:p>
          <a:p>
            <a:endParaRPr lang="en-US" dirty="0"/>
          </a:p>
          <a:p>
            <a:r>
              <a:rPr lang="en-US" dirty="0" err="1" smtClean="0"/>
              <a:t>Doivent</a:t>
            </a:r>
            <a:r>
              <a:rPr lang="en-US" dirty="0" smtClean="0"/>
              <a:t> porter, </a:t>
            </a:r>
            <a:r>
              <a:rPr lang="en-US" dirty="0" err="1" smtClean="0"/>
              <a:t>dans</a:t>
            </a:r>
            <a:r>
              <a:rPr lang="en-US" dirty="0" smtClean="0"/>
              <a:t> un </a:t>
            </a:r>
            <a:r>
              <a:rPr lang="en-US" dirty="0" err="1" smtClean="0"/>
              <a:t>endroit</a:t>
            </a:r>
            <a:r>
              <a:rPr lang="en-US" dirty="0" smtClean="0"/>
              <a:t> </a:t>
            </a:r>
            <a:r>
              <a:rPr lang="en-US" dirty="0" err="1" smtClean="0"/>
              <a:t>bien</a:t>
            </a:r>
            <a:r>
              <a:rPr lang="en-US" dirty="0" smtClean="0"/>
              <a:t> </a:t>
            </a:r>
            <a:r>
              <a:rPr lang="en-US" dirty="0" err="1" smtClean="0"/>
              <a:t>approprié</a:t>
            </a:r>
            <a:r>
              <a:rPr lang="en-US" dirty="0" smtClean="0"/>
              <a:t> et </a:t>
            </a:r>
            <a:r>
              <a:rPr lang="en-US" dirty="0" err="1" smtClean="0"/>
              <a:t>bien</a:t>
            </a:r>
            <a:r>
              <a:rPr lang="en-US" dirty="0" smtClean="0"/>
              <a:t> visible, </a:t>
            </a:r>
            <a:r>
              <a:rPr lang="en-US" dirty="0" err="1" smtClean="0"/>
              <a:t>l’ensemble</a:t>
            </a:r>
            <a:r>
              <a:rPr lang="en-US" dirty="0" smtClean="0"/>
              <a:t> des indications </a:t>
            </a:r>
            <a:r>
              <a:rPr lang="en-US" dirty="0" err="1" smtClean="0"/>
              <a:t>suivantes</a:t>
            </a:r>
            <a:r>
              <a:rPr lang="en-US" dirty="0" smtClean="0"/>
              <a:t>:</a:t>
            </a:r>
          </a:p>
          <a:p>
            <a:pPr lvl="1"/>
            <a:r>
              <a:rPr lang="en-US" dirty="0" smtClean="0"/>
              <a:t>Identification du </a:t>
            </a:r>
            <a:r>
              <a:rPr lang="en-US" dirty="0" err="1" smtClean="0"/>
              <a:t>propriétaire</a:t>
            </a:r>
            <a:r>
              <a:rPr lang="en-US" dirty="0" smtClean="0"/>
              <a:t> / </a:t>
            </a:r>
            <a:r>
              <a:rPr lang="en-US" dirty="0" err="1" smtClean="0"/>
              <a:t>exploitant</a:t>
            </a:r>
            <a:endParaRPr lang="en-US" dirty="0" smtClean="0"/>
          </a:p>
          <a:p>
            <a:pPr lvl="1"/>
            <a:r>
              <a:rPr lang="en-US" dirty="0" smtClean="0"/>
              <a:t>Marques et n° </a:t>
            </a:r>
            <a:r>
              <a:rPr lang="en-US" dirty="0" err="1" smtClean="0"/>
              <a:t>d’identification</a:t>
            </a:r>
            <a:endParaRPr lang="en-US" dirty="0" smtClean="0"/>
          </a:p>
          <a:p>
            <a:pPr lvl="1"/>
            <a:r>
              <a:rPr lang="en-US" dirty="0" smtClean="0"/>
              <a:t>Tare du </a:t>
            </a:r>
            <a:r>
              <a:rPr lang="en-US" dirty="0" err="1" smtClean="0"/>
              <a:t>conteneur</a:t>
            </a:r>
            <a:endParaRPr lang="en-US" dirty="0" smtClean="0"/>
          </a:p>
          <a:p>
            <a:r>
              <a:rPr lang="fr-CH" dirty="0"/>
              <a:t>Le demandeur et le titulaire du régime peuvent être établis sur le territoire douanier de l’Union.</a:t>
            </a:r>
          </a:p>
          <a:p>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49</a:t>
            </a:fld>
            <a:endParaRPr lang="fr-CH"/>
          </a:p>
        </p:txBody>
      </p:sp>
    </p:spTree>
    <p:extLst>
      <p:ext uri="{BB962C8B-B14F-4D97-AF65-F5344CB8AC3E}">
        <p14:creationId xmlns:p14="http://schemas.microsoft.com/office/powerpoint/2010/main" val="3718906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lstStyle/>
          <a:p>
            <a:endParaRPr lang="en-US" dirty="0" smtClean="0"/>
          </a:p>
          <a:p>
            <a:pPr marL="0" indent="0">
              <a:buNone/>
            </a:pPr>
            <a:r>
              <a:rPr lang="fr-CH" sz="3600" dirty="0"/>
              <a:t>Pièces de rechange, accessoires et équipements pour </a:t>
            </a:r>
            <a:r>
              <a:rPr lang="fr-CH" sz="3600" dirty="0" smtClean="0"/>
              <a:t>conteneurs</a:t>
            </a:r>
          </a:p>
          <a:p>
            <a:pPr marL="0" indent="0">
              <a:buNone/>
            </a:pPr>
            <a:endParaRPr lang="en-US" sz="3600" dirty="0"/>
          </a:p>
          <a:p>
            <a:r>
              <a:rPr lang="en-US" dirty="0" err="1" smtClean="0"/>
              <a:t>Importés</a:t>
            </a:r>
            <a:r>
              <a:rPr lang="en-US" dirty="0" smtClean="0"/>
              <a:t> </a:t>
            </a:r>
            <a:r>
              <a:rPr lang="en-US" dirty="0" err="1"/>
              <a:t>temporairement</a:t>
            </a:r>
            <a:r>
              <a:rPr lang="en-US" dirty="0"/>
              <a:t> pour </a:t>
            </a:r>
            <a:r>
              <a:rPr lang="en-US" dirty="0" err="1"/>
              <a:t>être</a:t>
            </a:r>
            <a:r>
              <a:rPr lang="en-US" dirty="0"/>
              <a:t> </a:t>
            </a:r>
            <a:r>
              <a:rPr lang="en-US" dirty="0" err="1"/>
              <a:t>réexportés</a:t>
            </a:r>
            <a:r>
              <a:rPr lang="en-US" dirty="0"/>
              <a:t> </a:t>
            </a:r>
            <a:r>
              <a:rPr lang="en-US" dirty="0" err="1"/>
              <a:t>isolément</a:t>
            </a:r>
            <a:r>
              <a:rPr lang="en-US" dirty="0"/>
              <a:t> </a:t>
            </a:r>
            <a:r>
              <a:rPr lang="en-US" dirty="0" err="1"/>
              <a:t>ou</a:t>
            </a:r>
            <a:r>
              <a:rPr lang="en-US" dirty="0"/>
              <a:t> </a:t>
            </a:r>
            <a:r>
              <a:rPr lang="en-US" dirty="0" err="1"/>
              <a:t>en</a:t>
            </a:r>
            <a:r>
              <a:rPr lang="en-US" dirty="0"/>
              <a:t> </a:t>
            </a:r>
            <a:r>
              <a:rPr lang="en-US" dirty="0" err="1"/>
              <a:t>tant</a:t>
            </a:r>
            <a:r>
              <a:rPr lang="en-US" dirty="0"/>
              <a:t> que parties de </a:t>
            </a:r>
            <a:r>
              <a:rPr lang="en-US" dirty="0" err="1" smtClean="0"/>
              <a:t>conteneurs</a:t>
            </a:r>
            <a:r>
              <a:rPr lang="en-US" dirty="0" smtClean="0"/>
              <a:t>.</a:t>
            </a:r>
          </a:p>
          <a:p>
            <a:r>
              <a:rPr lang="fr-CH" dirty="0"/>
              <a:t>Le demandeur et le titulaire du régime peuvent être établis sur le territoire douanier de l’Union.</a:t>
            </a:r>
          </a:p>
          <a:p>
            <a:endParaRPr lang="en-US" dirty="0" smtClean="0"/>
          </a:p>
          <a:p>
            <a:pPr marL="0" indent="0">
              <a:buNone/>
            </a:pPr>
            <a:endParaRPr lang="fr-CH" dirty="0"/>
          </a:p>
          <a:p>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50</a:t>
            </a:fld>
            <a:endParaRPr lang="fr-CH"/>
          </a:p>
        </p:txBody>
      </p:sp>
    </p:spTree>
    <p:extLst>
      <p:ext uri="{BB962C8B-B14F-4D97-AF65-F5344CB8AC3E}">
        <p14:creationId xmlns:p14="http://schemas.microsoft.com/office/powerpoint/2010/main" val="180749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smtClean="0"/>
              <a:t>Cas d’exonération totale des droits à l’importation</a:t>
            </a:r>
            <a:endParaRPr lang="fr-CH" dirty="0"/>
          </a:p>
        </p:txBody>
      </p:sp>
      <p:sp>
        <p:nvSpPr>
          <p:cNvPr id="3" name="Content Placeholder 2"/>
          <p:cNvSpPr>
            <a:spLocks noGrp="1"/>
          </p:cNvSpPr>
          <p:nvPr>
            <p:ph idx="1"/>
          </p:nvPr>
        </p:nvSpPr>
        <p:spPr/>
        <p:txBody>
          <a:bodyPr/>
          <a:lstStyle/>
          <a:p>
            <a:pPr marL="0" indent="0">
              <a:buNone/>
            </a:pPr>
            <a:r>
              <a:rPr lang="en-US" sz="3600" dirty="0" err="1"/>
              <a:t>Moyens</a:t>
            </a:r>
            <a:r>
              <a:rPr lang="en-US" sz="3600" dirty="0"/>
              <a:t> de transport</a:t>
            </a:r>
            <a:endParaRPr lang="fr-CH" sz="3600" dirty="0" smtClean="0"/>
          </a:p>
          <a:p>
            <a:pPr marL="0" indent="0">
              <a:buNone/>
            </a:pPr>
            <a:endParaRPr lang="fr-CH" dirty="0"/>
          </a:p>
          <a:p>
            <a:r>
              <a:rPr lang="fr-CH" dirty="0" smtClean="0"/>
              <a:t>Ils </a:t>
            </a:r>
            <a:r>
              <a:rPr lang="fr-CH" dirty="0"/>
              <a:t>sont immatriculés en dehors du territoire douanier de l’Union </a:t>
            </a:r>
            <a:r>
              <a:rPr lang="fr-CH" dirty="0" smtClean="0"/>
              <a:t>au nom </a:t>
            </a:r>
            <a:r>
              <a:rPr lang="fr-CH" dirty="0"/>
              <a:t>d’une personne établie en dehors dudit territoire ou, lorsque </a:t>
            </a:r>
            <a:r>
              <a:rPr lang="fr-CH" dirty="0" smtClean="0"/>
              <a:t>les moyens </a:t>
            </a:r>
            <a:r>
              <a:rPr lang="fr-CH" dirty="0"/>
              <a:t>de transport ne sont pas immatriculés, ils appartiennent à </a:t>
            </a:r>
            <a:r>
              <a:rPr lang="fr-CH" dirty="0" smtClean="0"/>
              <a:t>une </a:t>
            </a:r>
            <a:r>
              <a:rPr lang="fr-CH" dirty="0"/>
              <a:t>personne établie en dehors du territoire douanier de </a:t>
            </a:r>
            <a:r>
              <a:rPr lang="fr-CH" dirty="0" smtClean="0"/>
              <a:t>l’Union.</a:t>
            </a:r>
          </a:p>
          <a:p>
            <a:r>
              <a:rPr lang="fr-CH" dirty="0"/>
              <a:t>I</a:t>
            </a:r>
            <a:r>
              <a:rPr lang="fr-CH" dirty="0" smtClean="0"/>
              <a:t>ls </a:t>
            </a:r>
            <a:r>
              <a:rPr lang="fr-CH" dirty="0"/>
              <a:t>sont utilisés par une personne établie en dehors du territoire </a:t>
            </a:r>
            <a:r>
              <a:rPr lang="fr-CH" dirty="0" smtClean="0"/>
              <a:t> douanier </a:t>
            </a:r>
            <a:r>
              <a:rPr lang="fr-CH" dirty="0"/>
              <a:t>de </a:t>
            </a:r>
            <a:r>
              <a:rPr lang="fr-CH" dirty="0" smtClean="0"/>
              <a:t>l’Union, sauf dans certains cas exceptionnels prévus aux articles 214 à 216 du RD.</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51</a:t>
            </a:fld>
            <a:endParaRPr lang="fr-CH"/>
          </a:p>
        </p:txBody>
      </p:sp>
    </p:spTree>
    <p:extLst>
      <p:ext uri="{BB962C8B-B14F-4D97-AF65-F5344CB8AC3E}">
        <p14:creationId xmlns:p14="http://schemas.microsoft.com/office/powerpoint/2010/main" val="15059063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fr-CH" dirty="0"/>
              <a:t>Cas d’exonération totale des droits à l’importation</a:t>
            </a:r>
          </a:p>
        </p:txBody>
      </p:sp>
      <p:sp>
        <p:nvSpPr>
          <p:cNvPr id="3" name="Content Placeholder 2"/>
          <p:cNvSpPr>
            <a:spLocks noGrp="1"/>
          </p:cNvSpPr>
          <p:nvPr>
            <p:ph idx="1"/>
          </p:nvPr>
        </p:nvSpPr>
        <p:spPr/>
        <p:txBody>
          <a:bodyPr/>
          <a:lstStyle/>
          <a:p>
            <a:pPr marL="0" indent="0">
              <a:buNone/>
            </a:pPr>
            <a:endParaRPr lang="fr-CH" sz="3600" dirty="0" smtClean="0"/>
          </a:p>
          <a:p>
            <a:pPr marL="0" indent="0">
              <a:buNone/>
            </a:pPr>
            <a:r>
              <a:rPr lang="fr-CH" sz="3600" dirty="0" smtClean="0"/>
              <a:t>Pièces </a:t>
            </a:r>
            <a:r>
              <a:rPr lang="fr-CH" sz="3600" dirty="0"/>
              <a:t>de rechange, accessoires et équipements pour moyens de transport non Union</a:t>
            </a:r>
            <a:endParaRPr lang="en-US" sz="3600" dirty="0" smtClean="0"/>
          </a:p>
          <a:p>
            <a:endParaRPr lang="en-US" dirty="0"/>
          </a:p>
          <a:p>
            <a:r>
              <a:rPr lang="en-US" dirty="0" err="1" smtClean="0"/>
              <a:t>Importés</a:t>
            </a:r>
            <a:r>
              <a:rPr lang="en-US" dirty="0" smtClean="0"/>
              <a:t> </a:t>
            </a:r>
            <a:r>
              <a:rPr lang="en-US" dirty="0" err="1"/>
              <a:t>temporairement</a:t>
            </a:r>
            <a:r>
              <a:rPr lang="en-US" dirty="0"/>
              <a:t> pour </a:t>
            </a:r>
            <a:r>
              <a:rPr lang="en-US" dirty="0" err="1"/>
              <a:t>être</a:t>
            </a:r>
            <a:r>
              <a:rPr lang="en-US" dirty="0"/>
              <a:t> </a:t>
            </a:r>
            <a:r>
              <a:rPr lang="en-US" dirty="0" err="1"/>
              <a:t>réexportés</a:t>
            </a:r>
            <a:r>
              <a:rPr lang="en-US" dirty="0"/>
              <a:t> </a:t>
            </a:r>
            <a:r>
              <a:rPr lang="en-US" dirty="0" err="1"/>
              <a:t>isolément</a:t>
            </a:r>
            <a:r>
              <a:rPr lang="en-US" dirty="0"/>
              <a:t> </a:t>
            </a:r>
            <a:r>
              <a:rPr lang="en-US" dirty="0" err="1"/>
              <a:t>ou</a:t>
            </a:r>
            <a:r>
              <a:rPr lang="en-US" dirty="0"/>
              <a:t> </a:t>
            </a:r>
            <a:r>
              <a:rPr lang="en-US" dirty="0" err="1"/>
              <a:t>en</a:t>
            </a:r>
            <a:r>
              <a:rPr lang="en-US" dirty="0"/>
              <a:t> </a:t>
            </a:r>
            <a:r>
              <a:rPr lang="en-US" dirty="0" err="1"/>
              <a:t>tant</a:t>
            </a:r>
            <a:r>
              <a:rPr lang="en-US" dirty="0"/>
              <a:t> que parties de </a:t>
            </a:r>
            <a:r>
              <a:rPr lang="en-US" dirty="0" err="1" smtClean="0"/>
              <a:t>moyens</a:t>
            </a:r>
            <a:r>
              <a:rPr lang="en-US" dirty="0" smtClean="0"/>
              <a:t> de transport.</a:t>
            </a:r>
          </a:p>
          <a:p>
            <a:r>
              <a:rPr lang="fr-CH" dirty="0"/>
              <a:t>Le demandeur et le titulaire du régime peuvent être établis sur le territoire douanier de l’Union.</a:t>
            </a:r>
          </a:p>
          <a:p>
            <a:endParaRPr lang="fr-CH" dirty="0"/>
          </a:p>
          <a:p>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52</a:t>
            </a:fld>
            <a:endParaRPr lang="fr-CH"/>
          </a:p>
        </p:txBody>
      </p:sp>
    </p:spTree>
    <p:extLst>
      <p:ext uri="{BB962C8B-B14F-4D97-AF65-F5344CB8AC3E}">
        <p14:creationId xmlns:p14="http://schemas.microsoft.com/office/powerpoint/2010/main" val="886917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fontScale="85000" lnSpcReduction="10000"/>
          </a:bodyPr>
          <a:lstStyle/>
          <a:p>
            <a:pPr marL="0" indent="0">
              <a:buNone/>
            </a:pPr>
            <a:r>
              <a:rPr lang="fr-CH" sz="3900" dirty="0"/>
              <a:t>Délais d’apurement dans le cas des moyens de transport et des conteneurs 1/2</a:t>
            </a:r>
          </a:p>
          <a:p>
            <a:endParaRPr lang="fr-CH" dirty="0" smtClean="0"/>
          </a:p>
          <a:p>
            <a:r>
              <a:rPr lang="fr-CH" dirty="0" smtClean="0"/>
              <a:t>Moyens </a:t>
            </a:r>
            <a:r>
              <a:rPr lang="fr-CH" dirty="0"/>
              <a:t>de transport ferroviaires: </a:t>
            </a:r>
            <a:endParaRPr lang="fr-CH" dirty="0" smtClean="0"/>
          </a:p>
          <a:p>
            <a:pPr lvl="1"/>
            <a:r>
              <a:rPr lang="fr-CH" dirty="0" smtClean="0"/>
              <a:t>12 </a:t>
            </a:r>
            <a:r>
              <a:rPr lang="fr-CH" dirty="0"/>
              <a:t>mois</a:t>
            </a:r>
            <a:r>
              <a:rPr lang="fr-CH" dirty="0" smtClean="0"/>
              <a:t>;</a:t>
            </a:r>
          </a:p>
          <a:p>
            <a:r>
              <a:rPr lang="fr-CH" dirty="0"/>
              <a:t>Moyens de transport à usage commercial autres que les transports ferroviaires: </a:t>
            </a:r>
          </a:p>
          <a:p>
            <a:pPr lvl="1"/>
            <a:r>
              <a:rPr lang="fr-CH" dirty="0"/>
              <a:t>le temps nécessaire pour effectuer les opérations de transport</a:t>
            </a:r>
            <a:r>
              <a:rPr lang="fr-CH" dirty="0" smtClean="0"/>
              <a:t>;</a:t>
            </a:r>
          </a:p>
          <a:p>
            <a:r>
              <a:rPr lang="fr-CH" dirty="0" smtClean="0"/>
              <a:t>Moyens </a:t>
            </a:r>
            <a:r>
              <a:rPr lang="fr-CH" dirty="0"/>
              <a:t>de transport maritimes et fluviaux à usage privé: </a:t>
            </a:r>
          </a:p>
          <a:p>
            <a:pPr lvl="1"/>
            <a:r>
              <a:rPr lang="fr-CH" dirty="0"/>
              <a:t>18 mois;</a:t>
            </a:r>
          </a:p>
          <a:p>
            <a:r>
              <a:rPr lang="fr-CH" dirty="0"/>
              <a:t>Conteneurs, leurs équipements et accessoires: </a:t>
            </a:r>
          </a:p>
          <a:p>
            <a:pPr lvl="1"/>
            <a:r>
              <a:rPr lang="fr-CH" dirty="0"/>
              <a:t>12 mois.</a:t>
            </a:r>
          </a:p>
          <a:p>
            <a:endParaRPr lang="fr-CH" dirty="0" smtClean="0"/>
          </a:p>
        </p:txBody>
      </p:sp>
      <p:sp>
        <p:nvSpPr>
          <p:cNvPr id="4" name="Slide Number Placeholder 3"/>
          <p:cNvSpPr>
            <a:spLocks noGrp="1"/>
          </p:cNvSpPr>
          <p:nvPr>
            <p:ph type="sldNum" sz="quarter" idx="12"/>
          </p:nvPr>
        </p:nvSpPr>
        <p:spPr/>
        <p:txBody>
          <a:bodyPr/>
          <a:lstStyle/>
          <a:p>
            <a:fld id="{AC11F01A-B187-4E96-A42F-7B20626A13B5}" type="slidenum">
              <a:rPr lang="fr-CH" smtClean="0"/>
              <a:t>53</a:t>
            </a:fld>
            <a:endParaRPr lang="fr-CH"/>
          </a:p>
        </p:txBody>
      </p:sp>
    </p:spTree>
    <p:extLst>
      <p:ext uri="{BB962C8B-B14F-4D97-AF65-F5344CB8AC3E}">
        <p14:creationId xmlns:p14="http://schemas.microsoft.com/office/powerpoint/2010/main" val="919324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fontScale="85000" lnSpcReduction="20000"/>
          </a:bodyPr>
          <a:lstStyle/>
          <a:p>
            <a:pPr marL="0" indent="0">
              <a:buNone/>
            </a:pPr>
            <a:r>
              <a:rPr lang="fr-CH" sz="3600" dirty="0"/>
              <a:t>Délais d’apurement dans le cas des moyens de transport et des conteneurs </a:t>
            </a:r>
            <a:r>
              <a:rPr lang="fr-CH" sz="3600" dirty="0" smtClean="0"/>
              <a:t>2/2</a:t>
            </a:r>
            <a:endParaRPr lang="fr-CH" sz="3600" dirty="0"/>
          </a:p>
          <a:p>
            <a:endParaRPr lang="fr-CH" dirty="0" smtClean="0"/>
          </a:p>
          <a:p>
            <a:r>
              <a:rPr lang="fr-CH" dirty="0" smtClean="0"/>
              <a:t>Moyens </a:t>
            </a:r>
            <a:r>
              <a:rPr lang="fr-CH" dirty="0"/>
              <a:t>de transport routiers à usage privé:</a:t>
            </a:r>
          </a:p>
          <a:p>
            <a:pPr lvl="1"/>
            <a:r>
              <a:rPr lang="fr-CH" dirty="0"/>
              <a:t>utilisés par un étudiant: </a:t>
            </a:r>
          </a:p>
          <a:p>
            <a:pPr lvl="2"/>
            <a:r>
              <a:rPr lang="fr-CH" dirty="0"/>
              <a:t>la durée du séjour sur le territoire douanier de l’Union à la seule fin de poursuivre ses études;</a:t>
            </a:r>
          </a:p>
          <a:p>
            <a:pPr lvl="1"/>
            <a:r>
              <a:rPr lang="fr-CH" dirty="0"/>
              <a:t>utilisés par une personne chargée de l’exécution d’une mission d’une durée déterminée: </a:t>
            </a:r>
          </a:p>
          <a:p>
            <a:pPr lvl="2"/>
            <a:r>
              <a:rPr lang="fr-CH" dirty="0"/>
              <a:t>la durée de séjour de la personne sur le territoire douanier de l’Union à la seule fin de l’exécution de la mission;</a:t>
            </a:r>
          </a:p>
          <a:p>
            <a:pPr lvl="1"/>
            <a:r>
              <a:rPr lang="fr-CH" dirty="0"/>
              <a:t>dans les autres cas, y compris les animaux de selle ou de trait et leurs attelages: </a:t>
            </a:r>
          </a:p>
          <a:p>
            <a:pPr lvl="2"/>
            <a:r>
              <a:rPr lang="fr-CH" dirty="0"/>
              <a:t>6 mois;</a:t>
            </a:r>
          </a:p>
          <a:p>
            <a:endParaRPr lang="fr-CH" dirty="0" smtClean="0"/>
          </a:p>
          <a:p>
            <a:r>
              <a:rPr lang="fr-CH" dirty="0" smtClean="0"/>
              <a:t>Moyens </a:t>
            </a:r>
            <a:r>
              <a:rPr lang="fr-CH" dirty="0"/>
              <a:t>de transport aériens à usage privé: </a:t>
            </a:r>
            <a:endParaRPr lang="fr-CH" dirty="0" smtClean="0"/>
          </a:p>
          <a:p>
            <a:pPr lvl="1"/>
            <a:r>
              <a:rPr lang="fr-CH" dirty="0" smtClean="0"/>
              <a:t>6 </a:t>
            </a:r>
            <a:r>
              <a:rPr lang="fr-CH" dirty="0"/>
              <a:t>mois</a:t>
            </a:r>
            <a:r>
              <a:rPr lang="fr-CH" dirty="0" smtClean="0"/>
              <a:t>;</a:t>
            </a:r>
          </a:p>
        </p:txBody>
      </p:sp>
      <p:sp>
        <p:nvSpPr>
          <p:cNvPr id="4" name="Slide Number Placeholder 3"/>
          <p:cNvSpPr>
            <a:spLocks noGrp="1"/>
          </p:cNvSpPr>
          <p:nvPr>
            <p:ph type="sldNum" sz="quarter" idx="12"/>
          </p:nvPr>
        </p:nvSpPr>
        <p:spPr/>
        <p:txBody>
          <a:bodyPr/>
          <a:lstStyle/>
          <a:p>
            <a:fld id="{AC11F01A-B187-4E96-A42F-7B20626A13B5}" type="slidenum">
              <a:rPr lang="fr-CH" smtClean="0"/>
              <a:t>54</a:t>
            </a:fld>
            <a:endParaRPr lang="fr-CH"/>
          </a:p>
        </p:txBody>
      </p:sp>
    </p:spTree>
    <p:extLst>
      <p:ext uri="{BB962C8B-B14F-4D97-AF65-F5344CB8AC3E}">
        <p14:creationId xmlns:p14="http://schemas.microsoft.com/office/powerpoint/2010/main" val="2400309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a:bodyPr>
          <a:lstStyle/>
          <a:p>
            <a:pPr marL="0" indent="0">
              <a:buNone/>
            </a:pPr>
            <a:r>
              <a:rPr lang="fr-CH" sz="3600" dirty="0" smtClean="0"/>
              <a:t>Effets </a:t>
            </a:r>
            <a:r>
              <a:rPr lang="fr-CH" sz="3600" dirty="0"/>
              <a:t>personnels et marchandises importées par des voyageurs à des fins sportives</a:t>
            </a:r>
            <a:endParaRPr lang="fr-CH" sz="3600" dirty="0" smtClean="0"/>
          </a:p>
          <a:p>
            <a:endParaRPr lang="fr-CH" dirty="0"/>
          </a:p>
          <a:p>
            <a:r>
              <a:rPr lang="fr-CH" dirty="0" smtClean="0"/>
              <a:t>Marchandises </a:t>
            </a:r>
            <a:r>
              <a:rPr lang="fr-CH" dirty="0"/>
              <a:t>importées par des voyageurs résidant en dehors du </a:t>
            </a:r>
            <a:r>
              <a:rPr lang="fr-CH" dirty="0" smtClean="0"/>
              <a:t>territoire </a:t>
            </a:r>
            <a:r>
              <a:rPr lang="fr-CH" dirty="0"/>
              <a:t>douanier de l’Union, lorsqu’une des conditions suivantes </a:t>
            </a:r>
            <a:r>
              <a:rPr lang="fr-CH" dirty="0" smtClean="0"/>
              <a:t>est remplie:</a:t>
            </a:r>
          </a:p>
          <a:p>
            <a:pPr lvl="1"/>
            <a:r>
              <a:rPr lang="fr-CH" dirty="0"/>
              <a:t>les marchandises sont des effets personnels raisonnablement </a:t>
            </a:r>
            <a:r>
              <a:rPr lang="fr-CH" dirty="0" smtClean="0"/>
              <a:t>nécessaires </a:t>
            </a:r>
            <a:r>
              <a:rPr lang="fr-CH" dirty="0"/>
              <a:t>pour le </a:t>
            </a:r>
            <a:r>
              <a:rPr lang="fr-CH" dirty="0" smtClean="0"/>
              <a:t>voyage;</a:t>
            </a:r>
          </a:p>
          <a:p>
            <a:pPr lvl="1"/>
            <a:r>
              <a:rPr lang="fr-CH" dirty="0"/>
              <a:t>les marchandises sont destinées à être utilisées à des fins sportives.</a:t>
            </a:r>
          </a:p>
        </p:txBody>
      </p:sp>
      <p:sp>
        <p:nvSpPr>
          <p:cNvPr id="4" name="Slide Number Placeholder 3"/>
          <p:cNvSpPr>
            <a:spLocks noGrp="1"/>
          </p:cNvSpPr>
          <p:nvPr>
            <p:ph type="sldNum" sz="quarter" idx="12"/>
          </p:nvPr>
        </p:nvSpPr>
        <p:spPr/>
        <p:txBody>
          <a:bodyPr/>
          <a:lstStyle/>
          <a:p>
            <a:fld id="{AC11F01A-B187-4E96-A42F-7B20626A13B5}" type="slidenum">
              <a:rPr lang="fr-CH" smtClean="0"/>
              <a:t>55</a:t>
            </a:fld>
            <a:endParaRPr lang="fr-CH"/>
          </a:p>
        </p:txBody>
      </p:sp>
    </p:spTree>
    <p:extLst>
      <p:ext uri="{BB962C8B-B14F-4D97-AF65-F5344CB8AC3E}">
        <p14:creationId xmlns:p14="http://schemas.microsoft.com/office/powerpoint/2010/main" val="987532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a:xfrm>
            <a:off x="838200" y="1911512"/>
            <a:ext cx="10515600" cy="4351338"/>
          </a:xfrm>
        </p:spPr>
        <p:txBody>
          <a:bodyPr>
            <a:normAutofit lnSpcReduction="10000"/>
          </a:bodyPr>
          <a:lstStyle/>
          <a:p>
            <a:pPr marL="0" indent="0">
              <a:buNone/>
            </a:pPr>
            <a:r>
              <a:rPr lang="fr-CH" sz="3600" dirty="0"/>
              <a:t>Matériel de bien-être des gens de mer</a:t>
            </a:r>
          </a:p>
          <a:p>
            <a:r>
              <a:rPr lang="fr-CH" dirty="0" smtClean="0"/>
              <a:t>Utilisé </a:t>
            </a:r>
            <a:r>
              <a:rPr lang="fr-CH" dirty="0"/>
              <a:t>à bord d’un navire affecté au trafic maritime </a:t>
            </a:r>
            <a:r>
              <a:rPr lang="fr-CH" dirty="0" smtClean="0"/>
              <a:t>international</a:t>
            </a:r>
            <a:r>
              <a:rPr lang="fr-CH" dirty="0"/>
              <a:t>.</a:t>
            </a:r>
          </a:p>
          <a:p>
            <a:r>
              <a:rPr lang="fr-CH" dirty="0" smtClean="0"/>
              <a:t>Débarqué </a:t>
            </a:r>
            <a:r>
              <a:rPr lang="fr-CH" dirty="0"/>
              <a:t>d’un tel navire pour être utilisé temporairement </a:t>
            </a:r>
            <a:r>
              <a:rPr lang="fr-CH" dirty="0" smtClean="0"/>
              <a:t>à </a:t>
            </a:r>
            <a:r>
              <a:rPr lang="fr-CH" dirty="0"/>
              <a:t>terre par </a:t>
            </a:r>
            <a:r>
              <a:rPr lang="fr-CH" dirty="0" smtClean="0"/>
              <a:t>l’équipage.</a:t>
            </a:r>
            <a:endParaRPr lang="fr-CH" dirty="0"/>
          </a:p>
          <a:p>
            <a:r>
              <a:rPr lang="fr-CH" dirty="0" smtClean="0"/>
              <a:t>Utilisé </a:t>
            </a:r>
            <a:r>
              <a:rPr lang="fr-CH" dirty="0"/>
              <a:t>par l’équipage d’un tel navire dans des </a:t>
            </a:r>
            <a:r>
              <a:rPr lang="fr-CH" dirty="0" smtClean="0"/>
              <a:t>établissements </a:t>
            </a:r>
            <a:r>
              <a:rPr lang="fr-CH" dirty="0"/>
              <a:t>à caractère culturel ou social gérés par des organisations à </a:t>
            </a:r>
            <a:r>
              <a:rPr lang="fr-CH" dirty="0" smtClean="0"/>
              <a:t>but </a:t>
            </a:r>
            <a:r>
              <a:rPr lang="fr-CH" dirty="0"/>
              <a:t>non lucratif, ou dans des lieux de culte où sont célébrés </a:t>
            </a:r>
            <a:r>
              <a:rPr lang="fr-CH" dirty="0" smtClean="0"/>
              <a:t>régulièrement </a:t>
            </a:r>
            <a:r>
              <a:rPr lang="fr-CH" dirty="0"/>
              <a:t>des offices à l’intention des gens de mer</a:t>
            </a:r>
            <a:r>
              <a:rPr lang="fr-CH" dirty="0" smtClean="0"/>
              <a:t>.</a:t>
            </a:r>
            <a:endParaRPr lang="fr-CH" dirty="0"/>
          </a:p>
          <a:p>
            <a:r>
              <a:rPr lang="fr-CH" dirty="0"/>
              <a:t>Le demandeur et le titulaire du régime peuvent être établis sur le </a:t>
            </a:r>
            <a:r>
              <a:rPr lang="fr-CH" dirty="0" smtClean="0"/>
              <a:t>territoire </a:t>
            </a:r>
            <a:r>
              <a:rPr lang="fr-CH" dirty="0"/>
              <a:t>douanier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56</a:t>
            </a:fld>
            <a:endParaRPr lang="fr-CH"/>
          </a:p>
        </p:txBody>
      </p:sp>
    </p:spTree>
    <p:extLst>
      <p:ext uri="{BB962C8B-B14F-4D97-AF65-F5344CB8AC3E}">
        <p14:creationId xmlns:p14="http://schemas.microsoft.com/office/powerpoint/2010/main" val="390227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lnSpcReduction="10000"/>
          </a:bodyPr>
          <a:lstStyle/>
          <a:p>
            <a:pPr marL="0" indent="0">
              <a:buNone/>
            </a:pPr>
            <a:endParaRPr lang="fr-CH" sz="3600" dirty="0"/>
          </a:p>
          <a:p>
            <a:pPr marL="0" indent="0">
              <a:buNone/>
            </a:pPr>
            <a:r>
              <a:rPr lang="fr-CH" sz="3600" dirty="0" smtClean="0"/>
              <a:t>Matériels </a:t>
            </a:r>
            <a:r>
              <a:rPr lang="fr-CH" sz="3600" dirty="0"/>
              <a:t>destinés à lutter contre les effets de catastrophes</a:t>
            </a:r>
            <a:endParaRPr lang="fr-CH" sz="3600" dirty="0" smtClean="0"/>
          </a:p>
          <a:p>
            <a:endParaRPr lang="fr-CH" dirty="0"/>
          </a:p>
          <a:p>
            <a:r>
              <a:rPr lang="fr-CH" dirty="0" smtClean="0"/>
              <a:t>Matériels </a:t>
            </a:r>
            <a:r>
              <a:rPr lang="fr-CH" dirty="0"/>
              <a:t>qui sont utilisés dans le cadre de mesures prises pour </a:t>
            </a:r>
            <a:r>
              <a:rPr lang="fr-CH" dirty="0" smtClean="0"/>
              <a:t>lutter contre </a:t>
            </a:r>
            <a:r>
              <a:rPr lang="fr-CH" dirty="0"/>
              <a:t>les effets de catastrophes ou de situations similaires affectant le </a:t>
            </a:r>
            <a:r>
              <a:rPr lang="fr-CH" dirty="0" smtClean="0"/>
              <a:t>territoire </a:t>
            </a:r>
            <a:r>
              <a:rPr lang="fr-CH" dirty="0"/>
              <a:t>douanier de l’Union.</a:t>
            </a:r>
          </a:p>
          <a:p>
            <a:r>
              <a:rPr lang="fr-CH" dirty="0"/>
              <a:t>Le demandeur et le titulaire du régime peuvent être établis sur le </a:t>
            </a:r>
            <a:r>
              <a:rPr lang="fr-CH" dirty="0" smtClean="0"/>
              <a:t>territoire </a:t>
            </a:r>
            <a:r>
              <a:rPr lang="fr-CH" dirty="0"/>
              <a:t>douanier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57</a:t>
            </a:fld>
            <a:endParaRPr lang="fr-CH"/>
          </a:p>
        </p:txBody>
      </p:sp>
    </p:spTree>
    <p:extLst>
      <p:ext uri="{BB962C8B-B14F-4D97-AF65-F5344CB8AC3E}">
        <p14:creationId xmlns:p14="http://schemas.microsoft.com/office/powerpoint/2010/main" val="395351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lnSpcReduction="10000"/>
          </a:bodyPr>
          <a:lstStyle/>
          <a:p>
            <a:pPr marL="0" indent="0">
              <a:buNone/>
            </a:pPr>
            <a:endParaRPr lang="fr-CH" sz="3600" dirty="0" smtClean="0"/>
          </a:p>
          <a:p>
            <a:pPr marL="0" indent="0">
              <a:buNone/>
            </a:pPr>
            <a:r>
              <a:rPr lang="fr-CH" sz="3600" dirty="0" smtClean="0"/>
              <a:t>Matériel </a:t>
            </a:r>
            <a:r>
              <a:rPr lang="fr-CH" sz="3600" dirty="0"/>
              <a:t>médico-chirurgical et de laboratoire</a:t>
            </a:r>
            <a:endParaRPr lang="fr-CH" sz="3600" dirty="0" smtClean="0"/>
          </a:p>
          <a:p>
            <a:endParaRPr lang="fr-CH" dirty="0"/>
          </a:p>
          <a:p>
            <a:r>
              <a:rPr lang="fr-CH" dirty="0" smtClean="0"/>
              <a:t>Envoyé </a:t>
            </a:r>
            <a:r>
              <a:rPr lang="fr-CH" dirty="0"/>
              <a:t>dans le cadre d’un prêt effectué à la demande d’un hôpital </a:t>
            </a:r>
            <a:r>
              <a:rPr lang="fr-CH" dirty="0" smtClean="0"/>
              <a:t>ou d’un </a:t>
            </a:r>
            <a:r>
              <a:rPr lang="fr-CH" dirty="0"/>
              <a:t>autre établissement sanitaire qui en a un besoin urgent pour pallier </a:t>
            </a:r>
            <a:r>
              <a:rPr lang="fr-CH" dirty="0" smtClean="0"/>
              <a:t>l’insuffisance </a:t>
            </a:r>
            <a:r>
              <a:rPr lang="fr-CH" dirty="0"/>
              <a:t>de ses </a:t>
            </a:r>
            <a:r>
              <a:rPr lang="fr-CH" dirty="0" smtClean="0"/>
              <a:t>équipements; et</a:t>
            </a:r>
          </a:p>
          <a:p>
            <a:r>
              <a:rPr lang="fr-CH" dirty="0"/>
              <a:t>D</a:t>
            </a:r>
            <a:r>
              <a:rPr lang="fr-CH" dirty="0" smtClean="0"/>
              <a:t>estiné </a:t>
            </a:r>
            <a:r>
              <a:rPr lang="fr-CH" dirty="0"/>
              <a:t>à des fins de </a:t>
            </a:r>
            <a:r>
              <a:rPr lang="fr-CH" dirty="0" smtClean="0"/>
              <a:t>diagnostic </a:t>
            </a:r>
            <a:r>
              <a:rPr lang="fr-CH" dirty="0"/>
              <a:t>ou des fins </a:t>
            </a:r>
            <a:r>
              <a:rPr lang="fr-CH" dirty="0" smtClean="0"/>
              <a:t>thérapeutiques.</a:t>
            </a:r>
          </a:p>
          <a:p>
            <a:r>
              <a:rPr lang="en-US" dirty="0" smtClean="0"/>
              <a:t>Le </a:t>
            </a:r>
            <a:r>
              <a:rPr lang="fr-CH" dirty="0"/>
              <a:t>demandeur et le titulaire du régime peuvent être établis sur le territoire douanier de </a:t>
            </a:r>
            <a:r>
              <a:rPr lang="fr-CH" dirty="0" smtClean="0"/>
              <a:t>l’Union.</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58</a:t>
            </a:fld>
            <a:endParaRPr lang="fr-CH"/>
          </a:p>
        </p:txBody>
      </p:sp>
    </p:spTree>
    <p:extLst>
      <p:ext uri="{BB962C8B-B14F-4D97-AF65-F5344CB8AC3E}">
        <p14:creationId xmlns:p14="http://schemas.microsoft.com/office/powerpoint/2010/main" val="105567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lstStyle/>
          <a:p>
            <a:pPr marL="0" indent="0">
              <a:buNone/>
            </a:pPr>
            <a:endParaRPr lang="en-US" sz="3600" dirty="0" smtClean="0"/>
          </a:p>
          <a:p>
            <a:pPr marL="0" indent="0">
              <a:buNone/>
            </a:pPr>
            <a:r>
              <a:rPr lang="en-US" sz="3600" dirty="0" err="1" smtClean="0"/>
              <a:t>Animaux</a:t>
            </a:r>
            <a:endParaRPr lang="fr-CH" sz="3600" dirty="0" smtClean="0"/>
          </a:p>
          <a:p>
            <a:endParaRPr lang="fr-CH" dirty="0"/>
          </a:p>
          <a:p>
            <a:r>
              <a:rPr lang="fr-CH" dirty="0" smtClean="0"/>
              <a:t>Animaux </a:t>
            </a:r>
            <a:r>
              <a:rPr lang="fr-CH" dirty="0"/>
              <a:t>appartenant à une personne établie en dehors du territoire </a:t>
            </a:r>
            <a:r>
              <a:rPr lang="fr-CH" dirty="0" smtClean="0"/>
              <a:t>douanier </a:t>
            </a:r>
            <a:r>
              <a:rPr lang="fr-CH" dirty="0"/>
              <a:t>de </a:t>
            </a:r>
            <a:r>
              <a:rPr lang="fr-CH" dirty="0" smtClean="0"/>
              <a:t>l’Union.</a:t>
            </a:r>
          </a:p>
          <a:p>
            <a:r>
              <a:rPr lang="fr-CH" dirty="0"/>
              <a:t>Le demandeur et le titulaire du régime peuvent être établis sur le </a:t>
            </a:r>
            <a:r>
              <a:rPr lang="fr-CH" dirty="0" smtClean="0"/>
              <a:t>territoire </a:t>
            </a:r>
            <a:r>
              <a:rPr lang="fr-CH" dirty="0"/>
              <a:t>douanier de l'Union. </a:t>
            </a:r>
          </a:p>
        </p:txBody>
      </p:sp>
      <p:sp>
        <p:nvSpPr>
          <p:cNvPr id="4" name="Slide Number Placeholder 3"/>
          <p:cNvSpPr>
            <a:spLocks noGrp="1"/>
          </p:cNvSpPr>
          <p:nvPr>
            <p:ph type="sldNum" sz="quarter" idx="12"/>
          </p:nvPr>
        </p:nvSpPr>
        <p:spPr/>
        <p:txBody>
          <a:bodyPr/>
          <a:lstStyle/>
          <a:p>
            <a:fld id="{AC11F01A-B187-4E96-A42F-7B20626A13B5}" type="slidenum">
              <a:rPr lang="fr-CH" smtClean="0"/>
              <a:t>59</a:t>
            </a:fld>
            <a:endParaRPr lang="fr-CH"/>
          </a:p>
        </p:txBody>
      </p:sp>
    </p:spTree>
    <p:extLst>
      <p:ext uri="{BB962C8B-B14F-4D97-AF65-F5344CB8AC3E}">
        <p14:creationId xmlns:p14="http://schemas.microsoft.com/office/powerpoint/2010/main" val="797338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fontScale="92500"/>
          </a:bodyPr>
          <a:lstStyle/>
          <a:p>
            <a:pPr marL="0" indent="0">
              <a:buNone/>
            </a:pPr>
            <a:r>
              <a:rPr lang="fr-CH" sz="3600" dirty="0"/>
              <a:t>Marchandises destinées à être utilisées dans les zones frontalières</a:t>
            </a:r>
          </a:p>
          <a:p>
            <a:r>
              <a:rPr lang="fr-CH" dirty="0" smtClean="0"/>
              <a:t>Équipements </a:t>
            </a:r>
            <a:r>
              <a:rPr lang="fr-CH" dirty="0"/>
              <a:t>détenus et utilisés par une personne établie dans la zone frontalière d’un pays tiers adjacente à la zone frontalière de l’Union où les marchandises doivent être </a:t>
            </a:r>
            <a:r>
              <a:rPr lang="fr-CH" dirty="0" smtClean="0"/>
              <a:t>utilisées</a:t>
            </a:r>
            <a:r>
              <a:rPr lang="fr-CH" dirty="0"/>
              <a:t>.</a:t>
            </a:r>
            <a:endParaRPr lang="fr-CH" dirty="0" smtClean="0"/>
          </a:p>
          <a:p>
            <a:r>
              <a:rPr lang="fr-CH" dirty="0"/>
              <a:t>M</a:t>
            </a:r>
            <a:r>
              <a:rPr lang="fr-CH" dirty="0" smtClean="0"/>
              <a:t>archandises </a:t>
            </a:r>
            <a:r>
              <a:rPr lang="fr-CH" dirty="0"/>
              <a:t>utilisées pour des projets de construction, de </a:t>
            </a:r>
            <a:r>
              <a:rPr lang="fr-CH" dirty="0" smtClean="0"/>
              <a:t>réparation </a:t>
            </a:r>
            <a:r>
              <a:rPr lang="fr-CH" dirty="0"/>
              <a:t>ou d’entretien d’infrastructures dans une telle zone frontalière de l’Union, sous la responsabilité des autorités publiques</a:t>
            </a:r>
            <a:r>
              <a:rPr lang="fr-CH" dirty="0" smtClean="0"/>
              <a:t>.</a:t>
            </a:r>
          </a:p>
          <a:p>
            <a:r>
              <a:rPr lang="fr-CH" dirty="0"/>
              <a:t>Le demandeur et le titulaire du régime peuvent être établis sur le territoire douanier de l’Union pour les marchandises mentionnées au </a:t>
            </a:r>
            <a:r>
              <a:rPr lang="fr-CH" dirty="0" smtClean="0"/>
              <a:t>2</a:t>
            </a:r>
            <a:r>
              <a:rPr lang="fr-CH" baseline="30000" dirty="0" smtClean="0"/>
              <a:t>e</a:t>
            </a:r>
            <a:r>
              <a:rPr lang="fr-CH" dirty="0" smtClean="0"/>
              <a:t> point.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60</a:t>
            </a:fld>
            <a:endParaRPr lang="fr-CH"/>
          </a:p>
        </p:txBody>
      </p:sp>
    </p:spTree>
    <p:extLst>
      <p:ext uri="{BB962C8B-B14F-4D97-AF65-F5344CB8AC3E}">
        <p14:creationId xmlns:p14="http://schemas.microsoft.com/office/powerpoint/2010/main" val="2304986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lnSpcReduction="10000"/>
          </a:bodyPr>
          <a:lstStyle/>
          <a:p>
            <a:pPr marL="0" indent="0">
              <a:buNone/>
            </a:pPr>
            <a:endParaRPr lang="fr-CH" sz="3600" dirty="0" smtClean="0"/>
          </a:p>
          <a:p>
            <a:pPr marL="0" indent="0">
              <a:buNone/>
            </a:pPr>
            <a:r>
              <a:rPr lang="fr-CH" sz="3600" dirty="0" smtClean="0"/>
              <a:t>Supports </a:t>
            </a:r>
            <a:r>
              <a:rPr lang="fr-CH" sz="3600" dirty="0"/>
              <a:t>de son, d’images ou d’informations et matériel publicitaire</a:t>
            </a:r>
            <a:endParaRPr lang="fr-CH" sz="3600" dirty="0" smtClean="0"/>
          </a:p>
          <a:p>
            <a:endParaRPr lang="fr-CH" dirty="0"/>
          </a:p>
          <a:p>
            <a:r>
              <a:rPr lang="fr-CH" dirty="0" smtClean="0"/>
              <a:t>Supports </a:t>
            </a:r>
            <a:r>
              <a:rPr lang="fr-CH" dirty="0"/>
              <a:t>de son, d’images ou d’informations fournis gratuitement et destinés à la démonstration préalable à la commercialisation, à la production de sonorisation, au doublage ou à la </a:t>
            </a:r>
            <a:r>
              <a:rPr lang="fr-CH" dirty="0" smtClean="0"/>
              <a:t>reproduction. </a:t>
            </a:r>
          </a:p>
          <a:p>
            <a:r>
              <a:rPr lang="fr-CH" dirty="0" smtClean="0"/>
              <a:t>Matériel </a:t>
            </a:r>
            <a:r>
              <a:rPr lang="fr-CH" dirty="0"/>
              <a:t>exclusivement utilisé à des fins publicitaires, qui comprend les moyens de transport spécialement équipés à ces fins.</a:t>
            </a:r>
          </a:p>
        </p:txBody>
      </p:sp>
      <p:sp>
        <p:nvSpPr>
          <p:cNvPr id="4" name="Slide Number Placeholder 3"/>
          <p:cNvSpPr>
            <a:spLocks noGrp="1"/>
          </p:cNvSpPr>
          <p:nvPr>
            <p:ph type="sldNum" sz="quarter" idx="12"/>
          </p:nvPr>
        </p:nvSpPr>
        <p:spPr/>
        <p:txBody>
          <a:bodyPr/>
          <a:lstStyle/>
          <a:p>
            <a:fld id="{AC11F01A-B187-4E96-A42F-7B20626A13B5}" type="slidenum">
              <a:rPr lang="fr-CH" smtClean="0"/>
              <a:t>61</a:t>
            </a:fld>
            <a:endParaRPr lang="fr-CH"/>
          </a:p>
        </p:txBody>
      </p:sp>
    </p:spTree>
    <p:extLst>
      <p:ext uri="{BB962C8B-B14F-4D97-AF65-F5344CB8AC3E}">
        <p14:creationId xmlns:p14="http://schemas.microsoft.com/office/powerpoint/2010/main" val="17023131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fontScale="77500" lnSpcReduction="20000"/>
          </a:bodyPr>
          <a:lstStyle/>
          <a:p>
            <a:pPr marL="0" indent="0">
              <a:buNone/>
            </a:pPr>
            <a:endParaRPr lang="fr-CH" sz="4200" dirty="0" smtClean="0"/>
          </a:p>
          <a:p>
            <a:pPr marL="0" indent="0">
              <a:buNone/>
            </a:pPr>
            <a:r>
              <a:rPr lang="fr-CH" sz="4200" dirty="0" smtClean="0"/>
              <a:t>Matériel </a:t>
            </a:r>
            <a:r>
              <a:rPr lang="fr-CH" sz="4200" dirty="0"/>
              <a:t>professionnel </a:t>
            </a:r>
            <a:r>
              <a:rPr lang="fr-CH" sz="4200" dirty="0" smtClean="0"/>
              <a:t>1/2</a:t>
            </a:r>
          </a:p>
          <a:p>
            <a:pPr marL="0" indent="0">
              <a:buNone/>
            </a:pPr>
            <a:endParaRPr lang="fr-CH" sz="3500" dirty="0"/>
          </a:p>
          <a:p>
            <a:r>
              <a:rPr lang="fr-CH" dirty="0" smtClean="0"/>
              <a:t>Appartient </a:t>
            </a:r>
            <a:r>
              <a:rPr lang="fr-CH" dirty="0"/>
              <a:t>à une personne établie en dehors du territoire douanier de l’Union</a:t>
            </a:r>
            <a:r>
              <a:rPr lang="fr-CH" dirty="0" smtClean="0"/>
              <a:t>; et</a:t>
            </a:r>
          </a:p>
          <a:p>
            <a:r>
              <a:rPr lang="fr-CH" dirty="0" smtClean="0"/>
              <a:t>Importé </a:t>
            </a:r>
            <a:r>
              <a:rPr lang="fr-CH" dirty="0"/>
              <a:t>par une personne établie en dehors du territoire </a:t>
            </a:r>
            <a:r>
              <a:rPr lang="fr-CH" dirty="0" smtClean="0"/>
              <a:t>douanier </a:t>
            </a:r>
            <a:r>
              <a:rPr lang="fr-CH" dirty="0"/>
              <a:t>de l’Union ou par un employé établi sur le territoire douanier de l’Union </a:t>
            </a:r>
            <a:r>
              <a:rPr lang="fr-CH" dirty="0" smtClean="0"/>
              <a:t>d’un </a:t>
            </a:r>
            <a:r>
              <a:rPr lang="fr-CH" dirty="0"/>
              <a:t>propriétaire </a:t>
            </a:r>
            <a:r>
              <a:rPr lang="fr-CH" dirty="0" smtClean="0"/>
              <a:t>non-établi ; et</a:t>
            </a:r>
          </a:p>
          <a:p>
            <a:r>
              <a:rPr lang="fr-CH" dirty="0" smtClean="0"/>
              <a:t>Utilisé </a:t>
            </a:r>
            <a:r>
              <a:rPr lang="fr-CH" dirty="0"/>
              <a:t>par l’importateur ou sous sa surveillance, sauf dans les cas de coproductions </a:t>
            </a:r>
            <a:r>
              <a:rPr lang="fr-CH" dirty="0" smtClean="0"/>
              <a:t>audiovisuelles.</a:t>
            </a:r>
          </a:p>
          <a:p>
            <a:r>
              <a:rPr lang="fr-CH" dirty="0"/>
              <a:t>Nonobstant </a:t>
            </a:r>
            <a:r>
              <a:rPr lang="fr-CH" dirty="0" smtClean="0"/>
              <a:t>les conditions ci-dessus, </a:t>
            </a:r>
            <a:r>
              <a:rPr lang="fr-CH" dirty="0"/>
              <a:t>l’exonération totale </a:t>
            </a:r>
            <a:r>
              <a:rPr lang="fr-CH" dirty="0" smtClean="0"/>
              <a:t>est </a:t>
            </a:r>
            <a:r>
              <a:rPr lang="fr-CH" dirty="0"/>
              <a:t>accordée pour les instruments de musique portatifs </a:t>
            </a:r>
            <a:r>
              <a:rPr lang="fr-CH" dirty="0" smtClean="0"/>
              <a:t>temporairement </a:t>
            </a:r>
            <a:r>
              <a:rPr lang="fr-CH" dirty="0"/>
              <a:t>importés par des voyageurs afin d’être utilisés comme </a:t>
            </a:r>
            <a:r>
              <a:rPr lang="fr-CH" dirty="0" smtClean="0"/>
              <a:t>matériel </a:t>
            </a:r>
            <a:r>
              <a:rPr lang="fr-CH" dirty="0"/>
              <a:t>professionnel. Les voyageurs peuvent avoir leur résidence sur le territoire douanier de l’Union ou en dehors de celui-ci.</a:t>
            </a:r>
          </a:p>
        </p:txBody>
      </p:sp>
      <p:sp>
        <p:nvSpPr>
          <p:cNvPr id="4" name="Slide Number Placeholder 3"/>
          <p:cNvSpPr>
            <a:spLocks noGrp="1"/>
          </p:cNvSpPr>
          <p:nvPr>
            <p:ph type="sldNum" sz="quarter" idx="12"/>
          </p:nvPr>
        </p:nvSpPr>
        <p:spPr/>
        <p:txBody>
          <a:bodyPr/>
          <a:lstStyle/>
          <a:p>
            <a:fld id="{AC11F01A-B187-4E96-A42F-7B20626A13B5}" type="slidenum">
              <a:rPr lang="fr-CH" smtClean="0"/>
              <a:t>62</a:t>
            </a:fld>
            <a:endParaRPr lang="fr-CH"/>
          </a:p>
        </p:txBody>
      </p:sp>
    </p:spTree>
    <p:extLst>
      <p:ext uri="{BB962C8B-B14F-4D97-AF65-F5344CB8AC3E}">
        <p14:creationId xmlns:p14="http://schemas.microsoft.com/office/powerpoint/2010/main" val="2739499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fontScale="92500" lnSpcReduction="20000"/>
          </a:bodyPr>
          <a:lstStyle/>
          <a:p>
            <a:pPr marL="0" indent="0">
              <a:buNone/>
            </a:pPr>
            <a:endParaRPr lang="fr-CH" sz="3600" dirty="0" smtClean="0"/>
          </a:p>
          <a:p>
            <a:pPr marL="0" indent="0">
              <a:buNone/>
            </a:pPr>
            <a:r>
              <a:rPr lang="fr-CH" sz="3600" dirty="0" smtClean="0"/>
              <a:t>Matériel </a:t>
            </a:r>
            <a:r>
              <a:rPr lang="fr-CH" sz="3600" dirty="0"/>
              <a:t>professionnel </a:t>
            </a:r>
            <a:r>
              <a:rPr lang="fr-CH" sz="3600" dirty="0" smtClean="0"/>
              <a:t>2/2</a:t>
            </a:r>
            <a:endParaRPr lang="fr-CH" sz="3600" dirty="0"/>
          </a:p>
          <a:p>
            <a:pPr marL="0" indent="0">
              <a:buNone/>
            </a:pPr>
            <a:endParaRPr lang="en-US" dirty="0" smtClean="0"/>
          </a:p>
          <a:p>
            <a:r>
              <a:rPr lang="en-US" dirty="0" smtClean="0"/>
              <a:t>Pas </a:t>
            </a:r>
            <a:r>
              <a:rPr lang="en-US" dirty="0" err="1" smtClean="0"/>
              <a:t>d’exoneration</a:t>
            </a:r>
            <a:r>
              <a:rPr lang="en-US" dirty="0" smtClean="0"/>
              <a:t> </a:t>
            </a:r>
            <a:r>
              <a:rPr lang="en-US" dirty="0" err="1" smtClean="0"/>
              <a:t>totale</a:t>
            </a:r>
            <a:r>
              <a:rPr lang="en-US" dirty="0" smtClean="0"/>
              <a:t> pour le materiel professional </a:t>
            </a:r>
            <a:r>
              <a:rPr lang="en-US" dirty="0" err="1" smtClean="0"/>
              <a:t>destiné</a:t>
            </a:r>
            <a:r>
              <a:rPr lang="en-US" dirty="0" smtClean="0"/>
              <a:t> aux usages </a:t>
            </a:r>
            <a:r>
              <a:rPr lang="en-US" dirty="0" err="1" smtClean="0"/>
              <a:t>suivants</a:t>
            </a:r>
            <a:r>
              <a:rPr lang="en-US" dirty="0" smtClean="0"/>
              <a:t>:</a:t>
            </a:r>
          </a:p>
          <a:p>
            <a:pPr lvl="1"/>
            <a:r>
              <a:rPr lang="fr-CH" dirty="0" smtClean="0"/>
              <a:t>la </a:t>
            </a:r>
            <a:r>
              <a:rPr lang="fr-CH" dirty="0"/>
              <a:t>fabrication industrielle de marchandises; </a:t>
            </a:r>
            <a:endParaRPr lang="fr-CH" dirty="0" smtClean="0"/>
          </a:p>
          <a:p>
            <a:pPr lvl="1"/>
            <a:r>
              <a:rPr lang="fr-CH" dirty="0" smtClean="0"/>
              <a:t>le </a:t>
            </a:r>
            <a:r>
              <a:rPr lang="fr-CH" dirty="0"/>
              <a:t>conditionnement industriel de marchandises; </a:t>
            </a:r>
            <a:endParaRPr lang="fr-CH" dirty="0" smtClean="0"/>
          </a:p>
          <a:p>
            <a:pPr lvl="1"/>
            <a:r>
              <a:rPr lang="fr-CH" dirty="0" smtClean="0"/>
              <a:t>l’exploitation </a:t>
            </a:r>
            <a:r>
              <a:rPr lang="fr-CH" dirty="0"/>
              <a:t>de ressources naturelles; </a:t>
            </a:r>
            <a:endParaRPr lang="fr-CH" dirty="0" smtClean="0"/>
          </a:p>
          <a:p>
            <a:pPr lvl="1"/>
            <a:r>
              <a:rPr lang="fr-CH" dirty="0" smtClean="0"/>
              <a:t>la </a:t>
            </a:r>
            <a:r>
              <a:rPr lang="fr-CH" dirty="0"/>
              <a:t>construction, la réparation ou l’entretien d’immeubles; </a:t>
            </a:r>
            <a:endParaRPr lang="fr-CH" dirty="0" smtClean="0"/>
          </a:p>
          <a:p>
            <a:pPr lvl="1"/>
            <a:r>
              <a:rPr lang="fr-CH" dirty="0" smtClean="0"/>
              <a:t>les </a:t>
            </a:r>
            <a:r>
              <a:rPr lang="fr-CH" dirty="0"/>
              <a:t>travaux de terrassement et travaux similaires</a:t>
            </a:r>
            <a:r>
              <a:rPr lang="fr-CH" dirty="0" smtClean="0"/>
              <a:t>.</a:t>
            </a:r>
          </a:p>
          <a:p>
            <a:r>
              <a:rPr lang="en-US" dirty="0" smtClean="0"/>
              <a:t>Exception: </a:t>
            </a:r>
            <a:r>
              <a:rPr lang="en-US" dirty="0" err="1" smtClean="0"/>
              <a:t>Exonération</a:t>
            </a:r>
            <a:r>
              <a:rPr lang="en-US" dirty="0" smtClean="0"/>
              <a:t> </a:t>
            </a:r>
            <a:r>
              <a:rPr lang="en-US" dirty="0" err="1" smtClean="0"/>
              <a:t>totale</a:t>
            </a:r>
            <a:r>
              <a:rPr lang="en-US" dirty="0" smtClean="0"/>
              <a:t> possible pour les </a:t>
            </a:r>
            <a:r>
              <a:rPr lang="en-US" dirty="0" err="1" smtClean="0"/>
              <a:t>outillages</a:t>
            </a:r>
            <a:r>
              <a:rPr lang="en-US" dirty="0" smtClean="0"/>
              <a:t> à main pour les usages des points 3 à 5.</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63</a:t>
            </a:fld>
            <a:endParaRPr lang="fr-CH"/>
          </a:p>
        </p:txBody>
      </p:sp>
    </p:spTree>
    <p:extLst>
      <p:ext uri="{BB962C8B-B14F-4D97-AF65-F5344CB8AC3E}">
        <p14:creationId xmlns:p14="http://schemas.microsoft.com/office/powerpoint/2010/main" val="689457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fontScale="77500" lnSpcReduction="20000"/>
          </a:bodyPr>
          <a:lstStyle/>
          <a:p>
            <a:pPr marL="0" indent="0">
              <a:buNone/>
            </a:pPr>
            <a:endParaRPr lang="fr-CH" sz="3500" dirty="0" smtClean="0"/>
          </a:p>
          <a:p>
            <a:pPr marL="0" indent="0">
              <a:buNone/>
            </a:pPr>
            <a:r>
              <a:rPr lang="fr-CH" sz="4200" dirty="0" smtClean="0"/>
              <a:t>Matériel </a:t>
            </a:r>
            <a:r>
              <a:rPr lang="fr-CH" sz="4200" dirty="0"/>
              <a:t>pédagogique et </a:t>
            </a:r>
            <a:r>
              <a:rPr lang="fr-CH" sz="4200" dirty="0" smtClean="0"/>
              <a:t>scientifique</a:t>
            </a:r>
          </a:p>
          <a:p>
            <a:pPr marL="0" indent="0">
              <a:buNone/>
            </a:pPr>
            <a:endParaRPr lang="fr-CH" sz="4200" dirty="0"/>
          </a:p>
          <a:p>
            <a:r>
              <a:rPr lang="fr-CH" dirty="0" smtClean="0"/>
              <a:t>Appartient </a:t>
            </a:r>
            <a:r>
              <a:rPr lang="fr-CH" dirty="0"/>
              <a:t>à une personne établie en dehors du territoire </a:t>
            </a:r>
            <a:r>
              <a:rPr lang="fr-CH" dirty="0" smtClean="0"/>
              <a:t>douanier de </a:t>
            </a:r>
            <a:r>
              <a:rPr lang="fr-CH" dirty="0"/>
              <a:t>l’Union</a:t>
            </a:r>
            <a:r>
              <a:rPr lang="fr-CH" dirty="0" smtClean="0"/>
              <a:t>; et</a:t>
            </a:r>
          </a:p>
          <a:p>
            <a:r>
              <a:rPr lang="fr-CH" dirty="0"/>
              <a:t>I</a:t>
            </a:r>
            <a:r>
              <a:rPr lang="fr-CH" dirty="0" smtClean="0"/>
              <a:t>mporté </a:t>
            </a:r>
            <a:r>
              <a:rPr lang="fr-CH" dirty="0"/>
              <a:t>par des établissements scientifiques, d’enseignement ou de formation professionnelle publics ou privés à but non lucratif et </a:t>
            </a:r>
            <a:r>
              <a:rPr lang="fr-CH" dirty="0" smtClean="0"/>
              <a:t>utilisé </a:t>
            </a:r>
            <a:r>
              <a:rPr lang="fr-CH" dirty="0"/>
              <a:t>sous la responsabilité de l’établissement importateur </a:t>
            </a:r>
            <a:r>
              <a:rPr lang="fr-CH" dirty="0" smtClean="0"/>
              <a:t>exclusivement </a:t>
            </a:r>
            <a:r>
              <a:rPr lang="fr-CH" dirty="0"/>
              <a:t>aux fins de l’enseignement, de la formation professionnelle ou de la recherche scientifique; </a:t>
            </a:r>
            <a:r>
              <a:rPr lang="fr-CH" dirty="0" smtClean="0"/>
              <a:t>et</a:t>
            </a:r>
          </a:p>
          <a:p>
            <a:r>
              <a:rPr lang="fr-CH" dirty="0"/>
              <a:t>I</a:t>
            </a:r>
            <a:r>
              <a:rPr lang="fr-CH" dirty="0" smtClean="0"/>
              <a:t>mporté </a:t>
            </a:r>
            <a:r>
              <a:rPr lang="fr-CH" dirty="0"/>
              <a:t>en nombre raisonnable compte tenu de sa destination; </a:t>
            </a:r>
            <a:r>
              <a:rPr lang="fr-CH" dirty="0" smtClean="0"/>
              <a:t>et</a:t>
            </a:r>
          </a:p>
          <a:p>
            <a:r>
              <a:rPr lang="fr-CH" dirty="0" smtClean="0"/>
              <a:t>non </a:t>
            </a:r>
            <a:r>
              <a:rPr lang="fr-CH" dirty="0"/>
              <a:t>utilisé à des fins commerciales</a:t>
            </a:r>
            <a:r>
              <a:rPr lang="fr-CH" dirty="0" smtClean="0"/>
              <a:t>.</a:t>
            </a:r>
          </a:p>
          <a:p>
            <a:r>
              <a:rPr lang="fr-CH" dirty="0"/>
              <a:t>Le demandeur et le titulaire du régime peuvent être établis sur le </a:t>
            </a:r>
            <a:r>
              <a:rPr lang="fr-CH" dirty="0" smtClean="0"/>
              <a:t>territoire </a:t>
            </a:r>
            <a:r>
              <a:rPr lang="fr-CH" dirty="0"/>
              <a:t>douanier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64</a:t>
            </a:fld>
            <a:endParaRPr lang="fr-CH"/>
          </a:p>
        </p:txBody>
      </p:sp>
    </p:spTree>
    <p:extLst>
      <p:ext uri="{BB962C8B-B14F-4D97-AF65-F5344CB8AC3E}">
        <p14:creationId xmlns:p14="http://schemas.microsoft.com/office/powerpoint/2010/main" val="2289780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lnSpcReduction="10000"/>
          </a:bodyPr>
          <a:lstStyle/>
          <a:p>
            <a:pPr marL="0" indent="0">
              <a:buNone/>
            </a:pPr>
            <a:endParaRPr lang="fr-CH" sz="3600" dirty="0" smtClean="0"/>
          </a:p>
          <a:p>
            <a:pPr marL="0" indent="0">
              <a:buNone/>
            </a:pPr>
            <a:r>
              <a:rPr lang="fr-CH" sz="3600" dirty="0" smtClean="0"/>
              <a:t>Emballages </a:t>
            </a:r>
            <a:r>
              <a:rPr lang="fr-CH" sz="3600" dirty="0"/>
              <a:t>et dispositifs de sécurité et de traçage</a:t>
            </a:r>
          </a:p>
          <a:p>
            <a:r>
              <a:rPr lang="fr-CH" dirty="0" smtClean="0"/>
              <a:t>Emballages </a:t>
            </a:r>
            <a:r>
              <a:rPr lang="fr-CH" dirty="0"/>
              <a:t>importés pleins et destinés à être réexportés vides ou </a:t>
            </a:r>
            <a:r>
              <a:rPr lang="fr-CH" dirty="0" smtClean="0"/>
              <a:t>pleins</a:t>
            </a:r>
            <a:r>
              <a:rPr lang="fr-CH" dirty="0"/>
              <a:t>.</a:t>
            </a:r>
            <a:endParaRPr lang="fr-CH" dirty="0" smtClean="0"/>
          </a:p>
          <a:p>
            <a:r>
              <a:rPr lang="fr-CH" dirty="0"/>
              <a:t>E</a:t>
            </a:r>
            <a:r>
              <a:rPr lang="fr-CH" dirty="0" smtClean="0"/>
              <a:t>mballages </a:t>
            </a:r>
            <a:r>
              <a:rPr lang="fr-CH" dirty="0"/>
              <a:t>importés vides et destinés à être </a:t>
            </a:r>
            <a:r>
              <a:rPr lang="fr-CH" dirty="0" smtClean="0"/>
              <a:t>réexportés vides ou pleins.</a:t>
            </a:r>
          </a:p>
          <a:p>
            <a:r>
              <a:rPr lang="fr-CH" dirty="0" smtClean="0"/>
              <a:t>Dispositifs de sécurité et de traçage des cargaisons placés à l’intérieur des emballages ou fixés aux emballages</a:t>
            </a:r>
          </a:p>
          <a:p>
            <a:r>
              <a:rPr lang="fr-CH" dirty="0" smtClean="0"/>
              <a:t>Le demandeur </a:t>
            </a:r>
            <a:r>
              <a:rPr lang="fr-CH" dirty="0"/>
              <a:t>et le titulaire du régime peuvent être établis sur le </a:t>
            </a:r>
            <a:r>
              <a:rPr lang="fr-CH" dirty="0" smtClean="0"/>
              <a:t>territoire </a:t>
            </a:r>
            <a:r>
              <a:rPr lang="fr-CH" dirty="0"/>
              <a:t>douanier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65</a:t>
            </a:fld>
            <a:endParaRPr lang="fr-CH"/>
          </a:p>
        </p:txBody>
      </p:sp>
    </p:spTree>
    <p:extLst>
      <p:ext uri="{BB962C8B-B14F-4D97-AF65-F5344CB8AC3E}">
        <p14:creationId xmlns:p14="http://schemas.microsoft.com/office/powerpoint/2010/main" val="4135438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1090564" cy="1325563"/>
          </a:xfrm>
        </p:spPr>
        <p:txBody>
          <a:bodyPr>
            <a:normAutofit/>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fontScale="92500" lnSpcReduction="20000"/>
          </a:bodyPr>
          <a:lstStyle/>
          <a:p>
            <a:pPr marL="0" indent="0">
              <a:buNone/>
            </a:pPr>
            <a:r>
              <a:rPr lang="fr-CH" sz="3900" dirty="0"/>
              <a:t>Moules, matrices, clichés, dessins, projets, instruments de mesure et de contrôle, de vérification et autres objets similaires</a:t>
            </a:r>
            <a:endParaRPr lang="fr-CH" sz="3900" dirty="0" smtClean="0"/>
          </a:p>
          <a:p>
            <a:endParaRPr lang="fr-CH" dirty="0"/>
          </a:p>
          <a:p>
            <a:r>
              <a:rPr lang="fr-CH" dirty="0" smtClean="0"/>
              <a:t>Appartiennent </a:t>
            </a:r>
            <a:r>
              <a:rPr lang="fr-CH" dirty="0"/>
              <a:t>à une personne établie en dehors du territoire </a:t>
            </a:r>
            <a:r>
              <a:rPr lang="fr-CH" dirty="0" smtClean="0"/>
              <a:t>douanier </a:t>
            </a:r>
            <a:r>
              <a:rPr lang="fr-CH" dirty="0"/>
              <a:t>de </a:t>
            </a:r>
            <a:r>
              <a:rPr lang="fr-CH" dirty="0" smtClean="0"/>
              <a:t>l’Union; et</a:t>
            </a:r>
          </a:p>
          <a:p>
            <a:r>
              <a:rPr lang="fr-CH" dirty="0" smtClean="0"/>
              <a:t>Utilisés </a:t>
            </a:r>
            <a:r>
              <a:rPr lang="fr-CH" dirty="0"/>
              <a:t>à des fins de fabrication par une personne établie sur le territoire douanier de l’Union et plus de 50 % de la production résultant de leur utilisation est exportée</a:t>
            </a:r>
            <a:r>
              <a:rPr lang="fr-CH" dirty="0" smtClean="0"/>
              <a:t>.</a:t>
            </a:r>
          </a:p>
          <a:p>
            <a:r>
              <a:rPr lang="fr-CH" dirty="0" smtClean="0"/>
              <a:t>Le </a:t>
            </a:r>
            <a:r>
              <a:rPr lang="fr-CH" dirty="0"/>
              <a:t>demandeur et le titulaire du régime peuvent être établis sur le </a:t>
            </a:r>
            <a:r>
              <a:rPr lang="fr-CH" dirty="0" smtClean="0"/>
              <a:t>territoire </a:t>
            </a:r>
            <a:r>
              <a:rPr lang="fr-CH" dirty="0"/>
              <a:t>douanier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66</a:t>
            </a:fld>
            <a:endParaRPr lang="fr-CH"/>
          </a:p>
        </p:txBody>
      </p:sp>
    </p:spTree>
    <p:extLst>
      <p:ext uri="{BB962C8B-B14F-4D97-AF65-F5344CB8AC3E}">
        <p14:creationId xmlns:p14="http://schemas.microsoft.com/office/powerpoint/2010/main" val="5937402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lstStyle/>
          <a:p>
            <a:pPr marL="0" indent="0">
              <a:buNone/>
            </a:pPr>
            <a:r>
              <a:rPr lang="fr-CH" sz="3600" dirty="0"/>
              <a:t>Outils et instruments </a:t>
            </a:r>
            <a:r>
              <a:rPr lang="fr-CH" sz="3600" dirty="0" smtClean="0"/>
              <a:t>spéciaux</a:t>
            </a:r>
          </a:p>
          <a:p>
            <a:pPr marL="0" indent="0">
              <a:buNone/>
            </a:pPr>
            <a:endParaRPr lang="fr-CH" dirty="0"/>
          </a:p>
          <a:p>
            <a:r>
              <a:rPr lang="fr-CH" dirty="0" smtClean="0"/>
              <a:t>Appartiennent </a:t>
            </a:r>
            <a:r>
              <a:rPr lang="fr-CH" dirty="0"/>
              <a:t>à une personne établie en dehors du territoire </a:t>
            </a:r>
            <a:r>
              <a:rPr lang="fr-CH" dirty="0" smtClean="0"/>
              <a:t>douanier </a:t>
            </a:r>
            <a:r>
              <a:rPr lang="fr-CH" dirty="0"/>
              <a:t>de </a:t>
            </a:r>
            <a:r>
              <a:rPr lang="fr-CH" dirty="0" smtClean="0"/>
              <a:t>l’Union; et</a:t>
            </a:r>
          </a:p>
          <a:p>
            <a:r>
              <a:rPr lang="fr-CH" dirty="0" smtClean="0"/>
              <a:t>Mis à </a:t>
            </a:r>
            <a:r>
              <a:rPr lang="fr-CH" dirty="0"/>
              <a:t>la disposition d’une personne établie sur le territoire douanier de l’Union pour la fabrication de marchandises et plus de 50 % des marchandises résultant de leur utilisation sont </a:t>
            </a:r>
            <a:r>
              <a:rPr lang="fr-CH" dirty="0" smtClean="0"/>
              <a:t>exportées.</a:t>
            </a:r>
          </a:p>
          <a:p>
            <a:r>
              <a:rPr lang="fr-CH" dirty="0"/>
              <a:t>Le demandeur et le titulaire du régime peuvent être établis sur le </a:t>
            </a:r>
            <a:r>
              <a:rPr lang="fr-CH" dirty="0" smtClean="0"/>
              <a:t>territoire </a:t>
            </a:r>
            <a:r>
              <a:rPr lang="fr-CH" dirty="0"/>
              <a:t>douanier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67</a:t>
            </a:fld>
            <a:endParaRPr lang="fr-CH"/>
          </a:p>
        </p:txBody>
      </p:sp>
    </p:spTree>
    <p:extLst>
      <p:ext uri="{BB962C8B-B14F-4D97-AF65-F5344CB8AC3E}">
        <p14:creationId xmlns:p14="http://schemas.microsoft.com/office/powerpoint/2010/main" val="2248547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lnSpcReduction="10000"/>
          </a:bodyPr>
          <a:lstStyle/>
          <a:p>
            <a:pPr marL="0" indent="0">
              <a:buNone/>
            </a:pPr>
            <a:r>
              <a:rPr lang="fr-CH" sz="3600" dirty="0"/>
              <a:t>Marchandises devant servir à effectuer des essais ou destinées à y être soumises</a:t>
            </a:r>
          </a:p>
          <a:p>
            <a:endParaRPr lang="fr-CH" dirty="0"/>
          </a:p>
          <a:p>
            <a:r>
              <a:rPr lang="fr-CH" dirty="0" smtClean="0"/>
              <a:t>Soumises </a:t>
            </a:r>
            <a:r>
              <a:rPr lang="fr-CH" dirty="0"/>
              <a:t>à des essais, des expériences ou des </a:t>
            </a:r>
            <a:r>
              <a:rPr lang="fr-CH" dirty="0" smtClean="0"/>
              <a:t>démonstrations</a:t>
            </a:r>
            <a:r>
              <a:rPr lang="fr-CH" dirty="0"/>
              <a:t>.</a:t>
            </a:r>
            <a:r>
              <a:rPr lang="fr-CH" dirty="0" smtClean="0"/>
              <a:t> </a:t>
            </a:r>
          </a:p>
          <a:p>
            <a:r>
              <a:rPr lang="fr-CH" dirty="0"/>
              <a:t>D</a:t>
            </a:r>
            <a:r>
              <a:rPr lang="fr-CH" dirty="0" smtClean="0"/>
              <a:t>oivent </a:t>
            </a:r>
            <a:r>
              <a:rPr lang="fr-CH" dirty="0"/>
              <a:t>satisfaire à des essais prévus dans le cadre d’un contrat de </a:t>
            </a:r>
            <a:r>
              <a:rPr lang="fr-CH" dirty="0" smtClean="0"/>
              <a:t>vente</a:t>
            </a:r>
            <a:r>
              <a:rPr lang="fr-CH" dirty="0"/>
              <a:t>.</a:t>
            </a:r>
            <a:endParaRPr lang="fr-CH" dirty="0" smtClean="0"/>
          </a:p>
          <a:p>
            <a:r>
              <a:rPr lang="fr-CH" dirty="0" smtClean="0"/>
              <a:t>Utilisées </a:t>
            </a:r>
            <a:r>
              <a:rPr lang="fr-CH" dirty="0"/>
              <a:t>pour effectuer des essais, des expériences ou des démonstrations qui ne constituent pas une activité lucrative</a:t>
            </a:r>
            <a:r>
              <a:rPr lang="fr-CH" dirty="0" smtClean="0"/>
              <a:t>.</a:t>
            </a:r>
          </a:p>
          <a:p>
            <a:r>
              <a:rPr lang="fr-CH" dirty="0"/>
              <a:t>Le demandeur et le titulaire du régime peuvent être établis sur le </a:t>
            </a:r>
            <a:r>
              <a:rPr lang="fr-CH" dirty="0" smtClean="0"/>
              <a:t>territoire </a:t>
            </a:r>
            <a:r>
              <a:rPr lang="fr-CH" dirty="0"/>
              <a:t>douanier de l'Union. </a:t>
            </a:r>
          </a:p>
        </p:txBody>
      </p:sp>
      <p:sp>
        <p:nvSpPr>
          <p:cNvPr id="4" name="Slide Number Placeholder 3"/>
          <p:cNvSpPr>
            <a:spLocks noGrp="1"/>
          </p:cNvSpPr>
          <p:nvPr>
            <p:ph type="sldNum" sz="quarter" idx="12"/>
          </p:nvPr>
        </p:nvSpPr>
        <p:spPr/>
        <p:txBody>
          <a:bodyPr/>
          <a:lstStyle/>
          <a:p>
            <a:fld id="{AC11F01A-B187-4E96-A42F-7B20626A13B5}" type="slidenum">
              <a:rPr lang="fr-CH" smtClean="0"/>
              <a:t>68</a:t>
            </a:fld>
            <a:endParaRPr lang="fr-CH"/>
          </a:p>
        </p:txBody>
      </p:sp>
    </p:spTree>
    <p:extLst>
      <p:ext uri="{BB962C8B-B14F-4D97-AF65-F5344CB8AC3E}">
        <p14:creationId xmlns:p14="http://schemas.microsoft.com/office/powerpoint/2010/main" val="13402728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lstStyle/>
          <a:p>
            <a:pPr marL="0" indent="0">
              <a:buNone/>
            </a:pPr>
            <a:endParaRPr lang="en-US" sz="3600" dirty="0" smtClean="0"/>
          </a:p>
          <a:p>
            <a:pPr marL="0" indent="0">
              <a:buNone/>
            </a:pPr>
            <a:r>
              <a:rPr lang="en-US" sz="3600" dirty="0" err="1" smtClean="0"/>
              <a:t>Échantillons</a:t>
            </a:r>
            <a:endParaRPr lang="en-US" sz="3600" dirty="0" smtClean="0"/>
          </a:p>
          <a:p>
            <a:pPr marL="0" indent="0">
              <a:buNone/>
            </a:pPr>
            <a:endParaRPr lang="fr-CH" dirty="0" smtClean="0"/>
          </a:p>
          <a:p>
            <a:r>
              <a:rPr lang="fr-CH" dirty="0" smtClean="0"/>
              <a:t>Utilisés </a:t>
            </a:r>
            <a:r>
              <a:rPr lang="fr-CH" dirty="0"/>
              <a:t>dans le seul but d’être présentés ou de faire l’objet d’une démonstration sur le territoire douanier de l’Union, à condition que la quantité des échantillons soit raisonnable eu égard à cette utilisation. </a:t>
            </a:r>
            <a:endParaRPr lang="fr-CH" dirty="0" smtClean="0"/>
          </a:p>
          <a:p>
            <a:r>
              <a:rPr lang="fr-CH" dirty="0" smtClean="0"/>
              <a:t>Le </a:t>
            </a:r>
            <a:r>
              <a:rPr lang="fr-CH" dirty="0"/>
              <a:t>demandeur et le titulaire du régime peuvent être établis sur le </a:t>
            </a:r>
            <a:r>
              <a:rPr lang="fr-CH" dirty="0" smtClean="0"/>
              <a:t>territoire </a:t>
            </a:r>
            <a:r>
              <a:rPr lang="fr-CH" dirty="0"/>
              <a:t>douanier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69</a:t>
            </a:fld>
            <a:endParaRPr lang="fr-CH"/>
          </a:p>
        </p:txBody>
      </p:sp>
    </p:spTree>
    <p:extLst>
      <p:ext uri="{BB962C8B-B14F-4D97-AF65-F5344CB8AC3E}">
        <p14:creationId xmlns:p14="http://schemas.microsoft.com/office/powerpoint/2010/main" val="182864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lstStyle/>
          <a:p>
            <a:pPr marL="0" indent="0">
              <a:buNone/>
            </a:pPr>
            <a:endParaRPr lang="fr-CH" sz="3600" dirty="0" smtClean="0"/>
          </a:p>
          <a:p>
            <a:pPr marL="0" indent="0">
              <a:buNone/>
            </a:pPr>
            <a:r>
              <a:rPr lang="fr-CH" sz="3600" dirty="0" smtClean="0"/>
              <a:t>Moyens </a:t>
            </a:r>
            <a:r>
              <a:rPr lang="fr-CH" sz="3600" dirty="0"/>
              <a:t>de production de remplacement</a:t>
            </a:r>
            <a:endParaRPr lang="en-US" sz="3600" dirty="0" smtClean="0"/>
          </a:p>
          <a:p>
            <a:pPr marL="0" indent="0">
              <a:buNone/>
            </a:pPr>
            <a:endParaRPr lang="fr-CH" dirty="0" smtClean="0"/>
          </a:p>
          <a:p>
            <a:r>
              <a:rPr lang="fr-CH" dirty="0" smtClean="0"/>
              <a:t>Mis </a:t>
            </a:r>
            <a:r>
              <a:rPr lang="fr-CH" dirty="0"/>
              <a:t>provisoirement à la </a:t>
            </a:r>
            <a:r>
              <a:rPr lang="fr-CH" dirty="0" smtClean="0"/>
              <a:t>disposition </a:t>
            </a:r>
            <a:r>
              <a:rPr lang="fr-CH" dirty="0"/>
              <a:t>d’un client par le fournisseur ou le réparateur, dans l’attente de la livraison ou de la réparation de marchandises similaires</a:t>
            </a:r>
            <a:r>
              <a:rPr lang="fr-CH" dirty="0" smtClean="0"/>
              <a:t>.</a:t>
            </a:r>
          </a:p>
          <a:p>
            <a:r>
              <a:rPr lang="fr-CH" dirty="0" smtClean="0"/>
              <a:t>Le </a:t>
            </a:r>
            <a:r>
              <a:rPr lang="fr-CH" dirty="0"/>
              <a:t>demandeur et le titulaire du régime peuvent être établis sur le </a:t>
            </a:r>
            <a:r>
              <a:rPr lang="fr-CH" dirty="0" smtClean="0"/>
              <a:t>territoire </a:t>
            </a:r>
            <a:r>
              <a:rPr lang="fr-CH" dirty="0"/>
              <a:t>douanier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70</a:t>
            </a:fld>
            <a:endParaRPr lang="fr-CH"/>
          </a:p>
        </p:txBody>
      </p:sp>
    </p:spTree>
    <p:extLst>
      <p:ext uri="{BB962C8B-B14F-4D97-AF65-F5344CB8AC3E}">
        <p14:creationId xmlns:p14="http://schemas.microsoft.com/office/powerpoint/2010/main" val="1315816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fontScale="77500" lnSpcReduction="20000"/>
          </a:bodyPr>
          <a:lstStyle/>
          <a:p>
            <a:pPr marL="0" indent="0">
              <a:buNone/>
            </a:pPr>
            <a:r>
              <a:rPr lang="fr-CH" sz="3600" dirty="0"/>
              <a:t>Marchandises destinées à une manifestation ou à une vente dans certaines situations</a:t>
            </a:r>
          </a:p>
          <a:p>
            <a:r>
              <a:rPr lang="fr-CH" dirty="0" smtClean="0"/>
              <a:t>Destinées </a:t>
            </a:r>
            <a:r>
              <a:rPr lang="fr-CH" dirty="0"/>
              <a:t>à être exposées ou utilisées lors d’une </a:t>
            </a:r>
            <a:r>
              <a:rPr lang="fr-CH" dirty="0" smtClean="0"/>
              <a:t>manifestation </a:t>
            </a:r>
            <a:r>
              <a:rPr lang="fr-CH" dirty="0"/>
              <a:t>ouverte au public qui n’est pas exclusivement organisée dans le but de vendre les marchandises en cause ou </a:t>
            </a:r>
            <a:r>
              <a:rPr lang="fr-CH" dirty="0" smtClean="0"/>
              <a:t>marchandises </a:t>
            </a:r>
            <a:r>
              <a:rPr lang="fr-CH" dirty="0"/>
              <a:t>obtenues lors d’une telle manifestation à partir de marchandises placées sous le régime de l’admission temporaire</a:t>
            </a:r>
            <a:r>
              <a:rPr lang="fr-CH" dirty="0" smtClean="0"/>
              <a:t>.</a:t>
            </a:r>
          </a:p>
          <a:p>
            <a:r>
              <a:rPr lang="fr-CH" dirty="0" smtClean="0"/>
              <a:t>Livrées </a:t>
            </a:r>
            <a:r>
              <a:rPr lang="fr-CH" dirty="0"/>
              <a:t>par le propriétaire à des fins d’examen à une </a:t>
            </a:r>
            <a:r>
              <a:rPr lang="fr-CH" dirty="0" smtClean="0"/>
              <a:t>personne </a:t>
            </a:r>
            <a:r>
              <a:rPr lang="fr-CH" dirty="0"/>
              <a:t>établie dans l’Union qui a le droit de les acheter après </a:t>
            </a:r>
            <a:r>
              <a:rPr lang="fr-CH" dirty="0" smtClean="0"/>
              <a:t>examen.</a:t>
            </a:r>
          </a:p>
          <a:p>
            <a:r>
              <a:rPr lang="en-US" dirty="0" err="1" smtClean="0"/>
              <a:t>Certains</a:t>
            </a:r>
            <a:r>
              <a:rPr lang="en-US" dirty="0" smtClean="0"/>
              <a:t> </a:t>
            </a:r>
            <a:r>
              <a:rPr lang="fr-CH" dirty="0"/>
              <a:t>objets d’art, de collection ou d’antiquité importés pour être exposés en vue d’être éventuellement </a:t>
            </a:r>
            <a:r>
              <a:rPr lang="fr-CH" dirty="0" smtClean="0"/>
              <a:t>vendus.</a:t>
            </a:r>
          </a:p>
          <a:p>
            <a:r>
              <a:rPr lang="fr-CH" dirty="0"/>
              <a:t>M</a:t>
            </a:r>
            <a:r>
              <a:rPr lang="fr-CH" dirty="0" smtClean="0"/>
              <a:t>archandises </a:t>
            </a:r>
            <a:r>
              <a:rPr lang="fr-CH" dirty="0"/>
              <a:t>autres que nouvellement fabriquées, importées en vue d’une vente aux </a:t>
            </a:r>
            <a:r>
              <a:rPr lang="fr-CH" dirty="0" smtClean="0"/>
              <a:t>enchères.</a:t>
            </a:r>
          </a:p>
          <a:p>
            <a:r>
              <a:rPr lang="fr-CH" dirty="0"/>
              <a:t>Le demandeur et le titulaire du régime peuvent être établis sur le territoire douanier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71</a:t>
            </a:fld>
            <a:endParaRPr lang="fr-CH"/>
          </a:p>
        </p:txBody>
      </p:sp>
    </p:spTree>
    <p:extLst>
      <p:ext uri="{BB962C8B-B14F-4D97-AF65-F5344CB8AC3E}">
        <p14:creationId xmlns:p14="http://schemas.microsoft.com/office/powerpoint/2010/main" val="504883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lstStyle/>
          <a:p>
            <a:pPr marL="0" indent="0">
              <a:buNone/>
            </a:pPr>
            <a:endParaRPr lang="fr-CH" sz="3600" dirty="0" smtClean="0"/>
          </a:p>
          <a:p>
            <a:pPr marL="0" indent="0">
              <a:buNone/>
            </a:pPr>
            <a:r>
              <a:rPr lang="fr-CH" sz="3600" dirty="0" smtClean="0"/>
              <a:t>Pièces </a:t>
            </a:r>
            <a:r>
              <a:rPr lang="fr-CH" sz="3600" dirty="0"/>
              <a:t>de rechange, accessoires et équipements</a:t>
            </a:r>
            <a:endParaRPr lang="fr-CH" sz="3600" dirty="0" smtClean="0"/>
          </a:p>
          <a:p>
            <a:endParaRPr lang="fr-CH" dirty="0"/>
          </a:p>
          <a:p>
            <a:r>
              <a:rPr lang="fr-CH" dirty="0" smtClean="0"/>
              <a:t>Utilisés </a:t>
            </a:r>
            <a:r>
              <a:rPr lang="fr-CH" dirty="0"/>
              <a:t>pour la </a:t>
            </a:r>
            <a:r>
              <a:rPr lang="fr-CH" dirty="0" smtClean="0"/>
              <a:t>réparation </a:t>
            </a:r>
            <a:r>
              <a:rPr lang="fr-CH" dirty="0"/>
              <a:t>et l’entretien, y compris la révision, les réglages et les </a:t>
            </a:r>
            <a:r>
              <a:rPr lang="fr-CH" dirty="0" smtClean="0"/>
              <a:t>mesures </a:t>
            </a:r>
            <a:r>
              <a:rPr lang="fr-CH" dirty="0"/>
              <a:t>de conservation, des marchandises placées sous le régime de </a:t>
            </a:r>
            <a:r>
              <a:rPr lang="fr-CH" dirty="0" smtClean="0"/>
              <a:t>l’admission </a:t>
            </a:r>
            <a:r>
              <a:rPr lang="fr-CH" dirty="0"/>
              <a:t>temporaire</a:t>
            </a:r>
            <a:r>
              <a:rPr lang="fr-CH" dirty="0" smtClean="0"/>
              <a:t>.</a:t>
            </a:r>
          </a:p>
          <a:p>
            <a:r>
              <a:rPr lang="fr-CH" dirty="0" smtClean="0"/>
              <a:t>Le demandeur </a:t>
            </a:r>
            <a:r>
              <a:rPr lang="fr-CH" dirty="0"/>
              <a:t>et le titulaire du régime peuvent être établis sur le </a:t>
            </a:r>
            <a:r>
              <a:rPr lang="fr-CH" dirty="0" smtClean="0"/>
              <a:t>territoire </a:t>
            </a:r>
            <a:r>
              <a:rPr lang="fr-CH" dirty="0"/>
              <a:t>douanier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72</a:t>
            </a:fld>
            <a:endParaRPr lang="fr-CH"/>
          </a:p>
        </p:txBody>
      </p:sp>
    </p:spTree>
    <p:extLst>
      <p:ext uri="{BB962C8B-B14F-4D97-AF65-F5344CB8AC3E}">
        <p14:creationId xmlns:p14="http://schemas.microsoft.com/office/powerpoint/2010/main" val="41367661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lnSpcReduction="10000"/>
          </a:bodyPr>
          <a:lstStyle/>
          <a:p>
            <a:pPr marL="0" indent="0">
              <a:buNone/>
            </a:pPr>
            <a:endParaRPr lang="fr-CH" sz="3600" dirty="0" smtClean="0"/>
          </a:p>
          <a:p>
            <a:pPr marL="0" indent="0">
              <a:buNone/>
            </a:pPr>
            <a:r>
              <a:rPr lang="fr-CH" sz="3600" dirty="0" smtClean="0"/>
              <a:t>Marchandises </a:t>
            </a:r>
            <a:r>
              <a:rPr lang="fr-CH" sz="3600" dirty="0"/>
              <a:t>destinées à circuler ou être utilisées dans le cadre d’activités militaires</a:t>
            </a:r>
            <a:endParaRPr lang="en-US" sz="3600" dirty="0" smtClean="0"/>
          </a:p>
          <a:p>
            <a:endParaRPr lang="fr-CH" dirty="0" smtClean="0"/>
          </a:p>
          <a:p>
            <a:r>
              <a:rPr lang="fr-CH" dirty="0" smtClean="0"/>
              <a:t>Destinées </a:t>
            </a:r>
            <a:r>
              <a:rPr lang="fr-CH" dirty="0"/>
              <a:t>à circuler ou être utilisées dans le cadre </a:t>
            </a:r>
            <a:r>
              <a:rPr lang="fr-CH" dirty="0" smtClean="0"/>
              <a:t>d’activités </a:t>
            </a:r>
            <a:r>
              <a:rPr lang="fr-CH" dirty="0"/>
              <a:t>militaires sous le couvert d’un formulaire OTAN 302 ou d’un formulaire UE 302</a:t>
            </a:r>
            <a:r>
              <a:rPr lang="fr-CH" dirty="0" smtClean="0"/>
              <a:t>.</a:t>
            </a:r>
          </a:p>
          <a:p>
            <a:r>
              <a:rPr lang="fr-CH" dirty="0"/>
              <a:t>Le demandeur et le titulaire du régime peuvent être établis sur le </a:t>
            </a:r>
            <a:r>
              <a:rPr lang="fr-CH" dirty="0" smtClean="0"/>
              <a:t>territoire </a:t>
            </a:r>
            <a:r>
              <a:rPr lang="fr-CH" dirty="0"/>
              <a:t>douanier de l’Union. </a:t>
            </a:r>
            <a:endParaRPr lang="fr-CH" dirty="0" smtClean="0"/>
          </a:p>
        </p:txBody>
      </p:sp>
      <p:sp>
        <p:nvSpPr>
          <p:cNvPr id="4" name="Slide Number Placeholder 3"/>
          <p:cNvSpPr>
            <a:spLocks noGrp="1"/>
          </p:cNvSpPr>
          <p:nvPr>
            <p:ph type="sldNum" sz="quarter" idx="12"/>
          </p:nvPr>
        </p:nvSpPr>
        <p:spPr/>
        <p:txBody>
          <a:bodyPr/>
          <a:lstStyle/>
          <a:p>
            <a:fld id="{AC11F01A-B187-4E96-A42F-7B20626A13B5}" type="slidenum">
              <a:rPr lang="fr-CH" smtClean="0"/>
              <a:t>73</a:t>
            </a:fld>
            <a:endParaRPr lang="fr-CH"/>
          </a:p>
        </p:txBody>
      </p:sp>
    </p:spTree>
    <p:extLst>
      <p:ext uri="{BB962C8B-B14F-4D97-AF65-F5344CB8AC3E}">
        <p14:creationId xmlns:p14="http://schemas.microsoft.com/office/powerpoint/2010/main" val="4164590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fontScale="92500" lnSpcReduction="10000"/>
          </a:bodyPr>
          <a:lstStyle/>
          <a:p>
            <a:pPr marL="0" indent="0">
              <a:buNone/>
            </a:pPr>
            <a:endParaRPr lang="fr-CH" sz="3600" dirty="0" smtClean="0"/>
          </a:p>
          <a:p>
            <a:pPr marL="0" indent="0">
              <a:buNone/>
            </a:pPr>
            <a:r>
              <a:rPr lang="fr-CH" sz="3600" dirty="0" smtClean="0"/>
              <a:t>Autres </a:t>
            </a:r>
            <a:r>
              <a:rPr lang="fr-CH" sz="3600" dirty="0"/>
              <a:t>marchandises</a:t>
            </a:r>
            <a:endParaRPr lang="en-US" sz="3600" dirty="0" smtClean="0"/>
          </a:p>
          <a:p>
            <a:endParaRPr lang="en-US" sz="2600" dirty="0" smtClean="0"/>
          </a:p>
          <a:p>
            <a:r>
              <a:rPr lang="en-US" dirty="0" err="1" smtClean="0"/>
              <a:t>Marchandises</a:t>
            </a:r>
            <a:r>
              <a:rPr lang="en-US" dirty="0" smtClean="0"/>
              <a:t> ne </a:t>
            </a:r>
            <a:r>
              <a:rPr lang="en-US" dirty="0" err="1" smtClean="0"/>
              <a:t>répondant</a:t>
            </a:r>
            <a:r>
              <a:rPr lang="en-US" dirty="0" smtClean="0"/>
              <a:t> pas aux </a:t>
            </a:r>
            <a:r>
              <a:rPr lang="en-US" dirty="0" err="1" smtClean="0"/>
              <a:t>critères</a:t>
            </a:r>
            <a:r>
              <a:rPr lang="en-US" dirty="0" smtClean="0"/>
              <a:t> </a:t>
            </a:r>
            <a:r>
              <a:rPr lang="en-US" dirty="0" err="1" smtClean="0"/>
              <a:t>citées</a:t>
            </a:r>
            <a:r>
              <a:rPr lang="en-US" dirty="0" smtClean="0"/>
              <a:t> </a:t>
            </a:r>
            <a:r>
              <a:rPr lang="en-US" dirty="0" err="1" smtClean="0"/>
              <a:t>avant</a:t>
            </a:r>
            <a:r>
              <a:rPr lang="en-US" dirty="0" smtClean="0"/>
              <a:t>, </a:t>
            </a:r>
            <a:r>
              <a:rPr lang="en-US" dirty="0" err="1" smtClean="0"/>
              <a:t>dans</a:t>
            </a:r>
            <a:r>
              <a:rPr lang="en-US" dirty="0" smtClean="0"/>
              <a:t> </a:t>
            </a:r>
            <a:r>
              <a:rPr lang="en-US" dirty="0" err="1" smtClean="0"/>
              <a:t>l’une</a:t>
            </a:r>
            <a:r>
              <a:rPr lang="en-US" dirty="0" smtClean="0"/>
              <a:t> des situations </a:t>
            </a:r>
            <a:r>
              <a:rPr lang="en-US" dirty="0" err="1" smtClean="0"/>
              <a:t>suivantes</a:t>
            </a:r>
            <a:r>
              <a:rPr lang="en-US" dirty="0" smtClean="0"/>
              <a:t>:</a:t>
            </a:r>
          </a:p>
          <a:p>
            <a:pPr lvl="1"/>
            <a:r>
              <a:rPr lang="fr-CH" dirty="0"/>
              <a:t>les marchandises sont importées à titre occasionnel pour un séjour ne dépassant pas trois mois</a:t>
            </a:r>
            <a:r>
              <a:rPr lang="fr-CH" dirty="0" smtClean="0"/>
              <a:t>;</a:t>
            </a:r>
          </a:p>
          <a:p>
            <a:pPr lvl="1"/>
            <a:r>
              <a:rPr lang="fr-CH" dirty="0"/>
              <a:t>les marchandises sont importées dans des situations particulières sans incidence sur le plan économique dans l’Union</a:t>
            </a:r>
            <a:r>
              <a:rPr lang="fr-CH" dirty="0" smtClean="0"/>
              <a:t>.</a:t>
            </a:r>
          </a:p>
          <a:p>
            <a:r>
              <a:rPr lang="fr-CH" dirty="0"/>
              <a:t>Le demandeur et le titulaire du régime peuvent être établis sur le </a:t>
            </a:r>
            <a:r>
              <a:rPr lang="fr-CH" dirty="0" smtClean="0"/>
              <a:t>territoire </a:t>
            </a:r>
            <a:r>
              <a:rPr lang="fr-CH" dirty="0"/>
              <a:t>douanier de l'Union dans les situations visées au </a:t>
            </a:r>
            <a:r>
              <a:rPr lang="fr-CH" dirty="0" smtClean="0"/>
              <a:t>2</a:t>
            </a:r>
            <a:r>
              <a:rPr lang="fr-CH" baseline="30000" dirty="0" smtClean="0"/>
              <a:t>e</a:t>
            </a:r>
            <a:r>
              <a:rPr lang="fr-CH" dirty="0" smtClean="0"/>
              <a:t> point. </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74</a:t>
            </a:fld>
            <a:endParaRPr lang="fr-CH"/>
          </a:p>
        </p:txBody>
      </p:sp>
    </p:spTree>
    <p:extLst>
      <p:ext uri="{BB962C8B-B14F-4D97-AF65-F5344CB8AC3E}">
        <p14:creationId xmlns:p14="http://schemas.microsoft.com/office/powerpoint/2010/main" val="3171620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a:t>Cas d’exonération totale des droits à l’importation</a:t>
            </a:r>
          </a:p>
        </p:txBody>
      </p:sp>
      <p:sp>
        <p:nvSpPr>
          <p:cNvPr id="3" name="Content Placeholder 2"/>
          <p:cNvSpPr>
            <a:spLocks noGrp="1"/>
          </p:cNvSpPr>
          <p:nvPr>
            <p:ph idx="1"/>
          </p:nvPr>
        </p:nvSpPr>
        <p:spPr/>
        <p:txBody>
          <a:bodyPr>
            <a:normAutofit fontScale="92500" lnSpcReduction="20000"/>
          </a:bodyPr>
          <a:lstStyle/>
          <a:p>
            <a:pPr marL="0" indent="0">
              <a:buNone/>
            </a:pPr>
            <a:r>
              <a:rPr lang="fr-CH" sz="3900" dirty="0"/>
              <a:t>Délais spéciaux d’apurement</a:t>
            </a:r>
            <a:endParaRPr lang="en-US" sz="3900" dirty="0" smtClean="0"/>
          </a:p>
          <a:p>
            <a:r>
              <a:rPr lang="en-US" dirty="0" smtClean="0"/>
              <a:t>6 </a:t>
            </a:r>
            <a:r>
              <a:rPr lang="en-US" dirty="0" err="1" smtClean="0"/>
              <a:t>mois</a:t>
            </a:r>
            <a:r>
              <a:rPr lang="en-US" dirty="0" smtClean="0"/>
              <a:t>:</a:t>
            </a:r>
          </a:p>
          <a:p>
            <a:pPr lvl="1"/>
            <a:r>
              <a:rPr lang="fr-CH" dirty="0" smtClean="0"/>
              <a:t>Marchandises utilisées </a:t>
            </a:r>
            <a:r>
              <a:rPr lang="fr-CH" dirty="0"/>
              <a:t>pour effectuer des essais, des expériences ou des démonstrations qui ne constituent pas une activité </a:t>
            </a:r>
            <a:r>
              <a:rPr lang="fr-CH" dirty="0" smtClean="0"/>
              <a:t>lucrative;</a:t>
            </a:r>
          </a:p>
          <a:p>
            <a:pPr lvl="1"/>
            <a:r>
              <a:rPr lang="fr-CH" dirty="0"/>
              <a:t>Moyens de production de </a:t>
            </a:r>
            <a:r>
              <a:rPr lang="fr-CH" dirty="0" smtClean="0"/>
              <a:t>remplacement;</a:t>
            </a:r>
          </a:p>
          <a:p>
            <a:pPr lvl="1"/>
            <a:r>
              <a:rPr lang="fr-CH" dirty="0" smtClean="0"/>
              <a:t>Marchandises </a:t>
            </a:r>
            <a:r>
              <a:rPr lang="fr-CH" dirty="0"/>
              <a:t>livrées par le propriétaire à des fins d’examen à une personne établie dans l’Union qui a le droit de les acheter après </a:t>
            </a:r>
            <a:r>
              <a:rPr lang="fr-CH" dirty="0" smtClean="0"/>
              <a:t>examen.</a:t>
            </a:r>
          </a:p>
          <a:p>
            <a:r>
              <a:rPr lang="en-US" dirty="0" smtClean="0"/>
              <a:t>12 </a:t>
            </a:r>
            <a:r>
              <a:rPr lang="en-US" dirty="0" err="1" smtClean="0"/>
              <a:t>mois</a:t>
            </a:r>
            <a:r>
              <a:rPr lang="en-US" dirty="0" smtClean="0"/>
              <a:t>:</a:t>
            </a:r>
          </a:p>
          <a:p>
            <a:pPr lvl="1"/>
            <a:r>
              <a:rPr lang="en-US" dirty="0" err="1" smtClean="0"/>
              <a:t>Animaux</a:t>
            </a:r>
            <a:endParaRPr lang="en-US" dirty="0" smtClean="0"/>
          </a:p>
          <a:p>
            <a:r>
              <a:rPr lang="en-US" dirty="0" smtClean="0"/>
              <a:t>24 </a:t>
            </a:r>
            <a:r>
              <a:rPr lang="en-US" dirty="0" err="1" smtClean="0"/>
              <a:t>mois</a:t>
            </a:r>
            <a:r>
              <a:rPr lang="en-US" dirty="0" smtClean="0"/>
              <a:t> (à </a:t>
            </a:r>
            <a:r>
              <a:rPr lang="en-US" dirty="0" err="1" smtClean="0"/>
              <a:t>moins</a:t>
            </a:r>
            <a:r>
              <a:rPr lang="en-US" dirty="0" smtClean="0"/>
              <a:t> que des accords </a:t>
            </a:r>
            <a:r>
              <a:rPr lang="en-US" dirty="0" err="1" smtClean="0"/>
              <a:t>internationaux</a:t>
            </a:r>
            <a:r>
              <a:rPr lang="en-US" dirty="0" smtClean="0"/>
              <a:t> ne </a:t>
            </a:r>
            <a:r>
              <a:rPr lang="en-US" dirty="0" err="1" smtClean="0"/>
              <a:t>fixent</a:t>
            </a:r>
            <a:r>
              <a:rPr lang="en-US" dirty="0" smtClean="0"/>
              <a:t> pas un </a:t>
            </a:r>
            <a:r>
              <a:rPr lang="en-US" dirty="0" err="1" smtClean="0"/>
              <a:t>délai</a:t>
            </a:r>
            <a:r>
              <a:rPr lang="en-US" dirty="0" smtClean="0"/>
              <a:t> plus long):</a:t>
            </a:r>
          </a:p>
          <a:p>
            <a:pPr lvl="1"/>
            <a:r>
              <a:rPr lang="fr-CH" dirty="0"/>
              <a:t>Marchandises destinées à circuler ou être utilisées dans le cadre d’activités militaires</a:t>
            </a:r>
          </a:p>
        </p:txBody>
      </p:sp>
      <p:sp>
        <p:nvSpPr>
          <p:cNvPr id="4" name="Slide Number Placeholder 3"/>
          <p:cNvSpPr>
            <a:spLocks noGrp="1"/>
          </p:cNvSpPr>
          <p:nvPr>
            <p:ph type="sldNum" sz="quarter" idx="12"/>
          </p:nvPr>
        </p:nvSpPr>
        <p:spPr/>
        <p:txBody>
          <a:bodyPr/>
          <a:lstStyle/>
          <a:p>
            <a:fld id="{AC11F01A-B187-4E96-A42F-7B20626A13B5}" type="slidenum">
              <a:rPr lang="fr-CH" smtClean="0"/>
              <a:t>75</a:t>
            </a:fld>
            <a:endParaRPr lang="fr-CH"/>
          </a:p>
        </p:txBody>
      </p:sp>
    </p:spTree>
    <p:extLst>
      <p:ext uri="{BB962C8B-B14F-4D97-AF65-F5344CB8AC3E}">
        <p14:creationId xmlns:p14="http://schemas.microsoft.com/office/powerpoint/2010/main" val="35896939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Destination </a:t>
            </a:r>
            <a:r>
              <a:rPr lang="en-US" dirty="0" err="1" smtClean="0"/>
              <a:t>particulière</a:t>
            </a:r>
            <a:endParaRPr lang="fr-CH" dirty="0"/>
          </a:p>
        </p:txBody>
      </p:sp>
      <p:sp>
        <p:nvSpPr>
          <p:cNvPr id="3" name="Content Placeholder 2"/>
          <p:cNvSpPr>
            <a:spLocks noGrp="1"/>
          </p:cNvSpPr>
          <p:nvPr>
            <p:ph idx="1"/>
          </p:nvPr>
        </p:nvSpPr>
        <p:spPr/>
        <p:txBody>
          <a:bodyPr/>
          <a:lstStyle/>
          <a:p>
            <a:r>
              <a:rPr lang="fr-FR" smtClean="0"/>
              <a:t>Le </a:t>
            </a:r>
            <a:r>
              <a:rPr lang="fr-FR"/>
              <a:t>régime de la destination particulière permet la mise en libre pratique de marchandises en exonération totale ou partielle de droits en raison de leur utilisation </a:t>
            </a:r>
            <a:r>
              <a:rPr lang="fr-FR" smtClean="0"/>
              <a:t>spécifique prévue par la législation.</a:t>
            </a:r>
            <a:endParaRPr lang="fr-CH" dirty="0"/>
          </a:p>
        </p:txBody>
      </p:sp>
      <p:sp>
        <p:nvSpPr>
          <p:cNvPr id="5" name="Slide Number Placeholder 4"/>
          <p:cNvSpPr>
            <a:spLocks noGrp="1"/>
          </p:cNvSpPr>
          <p:nvPr>
            <p:ph type="sldNum" sz="quarter" idx="12"/>
          </p:nvPr>
        </p:nvSpPr>
        <p:spPr/>
        <p:txBody>
          <a:bodyPr/>
          <a:lstStyle/>
          <a:p>
            <a:fld id="{AC11F01A-B187-4E96-A42F-7B20626A13B5}" type="slidenum">
              <a:rPr lang="fr-CH" smtClean="0"/>
              <a:t>76</a:t>
            </a:fld>
            <a:endParaRPr lang="fr-CH"/>
          </a:p>
        </p:txBody>
      </p:sp>
    </p:spTree>
    <p:extLst>
      <p:ext uri="{BB962C8B-B14F-4D97-AF65-F5344CB8AC3E}">
        <p14:creationId xmlns:p14="http://schemas.microsoft.com/office/powerpoint/2010/main" val="25110609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mtClean="0"/>
              <a:t>Destination particulière: Surveillance douanière</a:t>
            </a:r>
            <a:endParaRPr lang="fr-CH" dirty="0"/>
          </a:p>
        </p:txBody>
      </p:sp>
      <p:sp>
        <p:nvSpPr>
          <p:cNvPr id="3" name="Content Placeholder 2"/>
          <p:cNvSpPr>
            <a:spLocks noGrp="1"/>
          </p:cNvSpPr>
          <p:nvPr>
            <p:ph idx="1"/>
          </p:nvPr>
        </p:nvSpPr>
        <p:spPr/>
        <p:txBody>
          <a:bodyPr/>
          <a:lstStyle/>
          <a:p>
            <a:r>
              <a:rPr lang="fr-CH" dirty="0"/>
              <a:t>Lorsque le processus de fabrication des marchandises a atteint un stade tel que, du point de vue économique, les marchandises ne pourraient être affectées qu'à la destination particulière prescrite, les autorités douanières peuvent prévoir dans l'autorisation les conditions auxquelles les marchandises seront réputées avoir été utilisées aux fins prévues.</a:t>
            </a:r>
          </a:p>
          <a:p>
            <a:r>
              <a:rPr lang="fr-CH" dirty="0"/>
              <a:t>Lorsque les marchandises se prêtent à une utilisation répétée et que les autorités douanières le jugent approprié pour éviter les abus, la surveillance douanière est maintenue pour une période ne dépassant pas deux ans à compter de la première utilisation aux fins prévues.</a:t>
            </a:r>
            <a:endParaRPr lang="fr-FR" dirty="0"/>
          </a:p>
          <a:p>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77</a:t>
            </a:fld>
            <a:endParaRPr lang="fr-CH"/>
          </a:p>
        </p:txBody>
      </p:sp>
    </p:spTree>
    <p:extLst>
      <p:ext uri="{BB962C8B-B14F-4D97-AF65-F5344CB8AC3E}">
        <p14:creationId xmlns:p14="http://schemas.microsoft.com/office/powerpoint/2010/main" val="3169766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Destination </a:t>
            </a:r>
            <a:r>
              <a:rPr lang="en-US" dirty="0" err="1" smtClean="0"/>
              <a:t>particulière</a:t>
            </a:r>
            <a:r>
              <a:rPr lang="en-US" dirty="0" smtClean="0"/>
              <a:t>: Fin de la surveillance </a:t>
            </a:r>
            <a:r>
              <a:rPr lang="en-US" dirty="0" err="1" smtClean="0"/>
              <a:t>douanière</a:t>
            </a:r>
            <a:endParaRPr lang="fr-CH" dirty="0"/>
          </a:p>
        </p:txBody>
      </p:sp>
      <p:sp>
        <p:nvSpPr>
          <p:cNvPr id="3" name="Content Placeholder 2"/>
          <p:cNvSpPr>
            <a:spLocks noGrp="1"/>
          </p:cNvSpPr>
          <p:nvPr>
            <p:ph idx="1"/>
          </p:nvPr>
        </p:nvSpPr>
        <p:spPr/>
        <p:txBody>
          <a:bodyPr/>
          <a:lstStyle/>
          <a:p>
            <a:r>
              <a:rPr lang="fr-FR" dirty="0"/>
              <a:t>La surveillance douanière exercée dans le cadre du régime de la destination particulière prend fin dans les cas suivants:</a:t>
            </a:r>
          </a:p>
          <a:p>
            <a:pPr lvl="1"/>
            <a:r>
              <a:rPr lang="fr-FR" dirty="0"/>
              <a:t>lorsque les marchandises ont été utilisées aux fins prévues;</a:t>
            </a:r>
          </a:p>
          <a:p>
            <a:pPr lvl="1"/>
            <a:r>
              <a:rPr lang="fr-FR" dirty="0"/>
              <a:t>lorsque les marchandises sont sorties du territoire douanier de l'Union, ont été détruites ou abandonnées à l'État;</a:t>
            </a:r>
          </a:p>
          <a:p>
            <a:pPr lvl="1"/>
            <a:r>
              <a:rPr lang="fr-FR" dirty="0"/>
              <a:t>lorsque les marchandises ont été utilisées à des fins autres que celles prévues et que les droits dus à l'importation ont été acquittés.</a:t>
            </a:r>
          </a:p>
          <a:p>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78</a:t>
            </a:fld>
            <a:endParaRPr lang="fr-CH"/>
          </a:p>
        </p:txBody>
      </p:sp>
    </p:spTree>
    <p:extLst>
      <p:ext uri="{BB962C8B-B14F-4D97-AF65-F5344CB8AC3E}">
        <p14:creationId xmlns:p14="http://schemas.microsoft.com/office/powerpoint/2010/main" val="356527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Destination particulière: Taux </a:t>
            </a:r>
            <a:r>
              <a:rPr lang="en-US" dirty="0" smtClean="0"/>
              <a:t>de </a:t>
            </a:r>
            <a:r>
              <a:rPr lang="en-US" dirty="0" err="1" smtClean="0"/>
              <a:t>rendement</a:t>
            </a:r>
            <a:endParaRPr lang="fr-CH" dirty="0"/>
          </a:p>
        </p:txBody>
      </p:sp>
      <p:sp>
        <p:nvSpPr>
          <p:cNvPr id="3" name="Content Placeholder 2"/>
          <p:cNvSpPr>
            <a:spLocks noGrp="1"/>
          </p:cNvSpPr>
          <p:nvPr>
            <p:ph idx="1"/>
          </p:nvPr>
        </p:nvSpPr>
        <p:spPr/>
        <p:txBody>
          <a:bodyPr/>
          <a:lstStyle/>
          <a:p>
            <a:r>
              <a:rPr lang="en-US"/>
              <a:t>Taux de rendement:</a:t>
            </a:r>
          </a:p>
          <a:p>
            <a:pPr lvl="1"/>
            <a:r>
              <a:rPr lang="fr-CH"/>
              <a:t>La quantité ou le pourcentage de produits transformés obtenus lors de la transformation d'une quantité déterminée de marchandises admises sous un régime. </a:t>
            </a:r>
            <a:endParaRPr lang="en-US" smtClean="0"/>
          </a:p>
          <a:p>
            <a:r>
              <a:rPr lang="en-US" smtClean="0"/>
              <a:t>Lorsqu’un taux de rendement est requis, les autorités douanières:</a:t>
            </a:r>
          </a:p>
          <a:p>
            <a:pPr lvl="1"/>
            <a:r>
              <a:rPr lang="en-US" smtClean="0"/>
              <a:t>Fixent le taux de rendement; ou</a:t>
            </a:r>
          </a:p>
          <a:p>
            <a:pPr lvl="1"/>
            <a:r>
              <a:rPr lang="en-US" smtClean="0"/>
              <a:t>Fixent un taux de rendement moyen; ou</a:t>
            </a:r>
          </a:p>
          <a:p>
            <a:pPr lvl="1"/>
            <a:r>
              <a:rPr lang="en-US" smtClean="0"/>
              <a:t>Fixent le mode de détermination du taux de rendement.</a:t>
            </a:r>
          </a:p>
          <a:p>
            <a:pPr lvl="1"/>
            <a:endParaRPr lang="en-US" dirty="0" smtClean="0"/>
          </a:p>
          <a:p>
            <a:pPr lvl="1"/>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79</a:t>
            </a:fld>
            <a:endParaRPr lang="fr-CH"/>
          </a:p>
        </p:txBody>
      </p:sp>
    </p:spTree>
    <p:extLst>
      <p:ext uri="{BB962C8B-B14F-4D97-AF65-F5344CB8AC3E}">
        <p14:creationId xmlns:p14="http://schemas.microsoft.com/office/powerpoint/2010/main" val="42493301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Destination particulière: Déchets </a:t>
            </a:r>
            <a:r>
              <a:rPr lang="en-US" dirty="0" smtClean="0"/>
              <a:t>et </a:t>
            </a:r>
            <a:r>
              <a:rPr lang="en-US" dirty="0" err="1" smtClean="0"/>
              <a:t>débris</a:t>
            </a:r>
            <a:endParaRPr lang="fr-CH" dirty="0"/>
          </a:p>
        </p:txBody>
      </p:sp>
      <p:sp>
        <p:nvSpPr>
          <p:cNvPr id="3" name="Content Placeholder 2"/>
          <p:cNvSpPr>
            <a:spLocks noGrp="1"/>
          </p:cNvSpPr>
          <p:nvPr>
            <p:ph idx="1"/>
          </p:nvPr>
        </p:nvSpPr>
        <p:spPr/>
        <p:txBody>
          <a:bodyPr/>
          <a:lstStyle/>
          <a:p>
            <a:r>
              <a:rPr lang="fr-CH" dirty="0" smtClean="0"/>
              <a:t>Les </a:t>
            </a:r>
            <a:r>
              <a:rPr lang="fr-CH" dirty="0"/>
              <a:t>déchets et débris résultant de l'ouvraison ou de la </a:t>
            </a:r>
            <a:r>
              <a:rPr lang="fr-CH" dirty="0" smtClean="0"/>
              <a:t>transformation </a:t>
            </a:r>
            <a:r>
              <a:rPr lang="fr-CH" dirty="0"/>
              <a:t>de marchandises conformément à la destination particulière </a:t>
            </a:r>
            <a:r>
              <a:rPr lang="fr-CH" dirty="0" smtClean="0"/>
              <a:t>prescrite </a:t>
            </a:r>
            <a:r>
              <a:rPr lang="fr-CH" dirty="0"/>
              <a:t>ainsi que les pertes de matières dues à des causes naturelles sont considérés comme des marchandises ayant été affectées à la destination particulière prescrite. </a:t>
            </a:r>
            <a:endParaRPr lang="fr-CH" dirty="0" smtClean="0"/>
          </a:p>
          <a:p>
            <a:r>
              <a:rPr lang="fr-CH" dirty="0" smtClean="0"/>
              <a:t>Les </a:t>
            </a:r>
            <a:r>
              <a:rPr lang="fr-CH" dirty="0"/>
              <a:t>déchets et débris résultant de la destruction de marchandises placées sous le régime de la destination particulière </a:t>
            </a:r>
            <a:r>
              <a:rPr lang="fr-CH" dirty="0" smtClean="0"/>
              <a:t>doivent être placés sous un autre régime douanier, respectivement réexportées. </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80</a:t>
            </a:fld>
            <a:endParaRPr lang="fr-CH"/>
          </a:p>
        </p:txBody>
      </p:sp>
    </p:spTree>
    <p:extLst>
      <p:ext uri="{BB962C8B-B14F-4D97-AF65-F5344CB8AC3E}">
        <p14:creationId xmlns:p14="http://schemas.microsoft.com/office/powerpoint/2010/main" val="3477461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Destination particulière: Obligations </a:t>
            </a:r>
            <a:r>
              <a:rPr lang="fr-FR" dirty="0"/>
              <a:t>du titulaire de </a:t>
            </a:r>
            <a:r>
              <a:rPr lang="fr-FR" dirty="0" smtClean="0"/>
              <a:t>l’autorisation</a:t>
            </a:r>
            <a:endParaRPr lang="fr-FR" dirty="0"/>
          </a:p>
        </p:txBody>
      </p:sp>
      <p:sp>
        <p:nvSpPr>
          <p:cNvPr id="3" name="Content Placeholder 2"/>
          <p:cNvSpPr>
            <a:spLocks noGrp="1"/>
          </p:cNvSpPr>
          <p:nvPr>
            <p:ph idx="1"/>
          </p:nvPr>
        </p:nvSpPr>
        <p:spPr/>
        <p:txBody>
          <a:bodyPr/>
          <a:lstStyle/>
          <a:p>
            <a:endParaRPr lang="fr-FR" dirty="0" smtClean="0"/>
          </a:p>
          <a:p>
            <a:r>
              <a:rPr lang="fr-FR" dirty="0" smtClean="0"/>
              <a:t>Une </a:t>
            </a:r>
            <a:r>
              <a:rPr lang="fr-FR" dirty="0"/>
              <a:t>autorisation de recours au régime de la destination particulière est accordée à la condition que le titulaire de l’autorisation s’engage à remplir l’une des obligations suivantes:</a:t>
            </a:r>
          </a:p>
          <a:p>
            <a:pPr lvl="1"/>
            <a:r>
              <a:rPr lang="fr-FR" dirty="0" smtClean="0"/>
              <a:t>utiliser </a:t>
            </a:r>
            <a:r>
              <a:rPr lang="fr-FR" dirty="0"/>
              <a:t>les marchandises aux fins prévues dans la demande d’exonération des droits ou de taux de droits réduit</a:t>
            </a:r>
            <a:r>
              <a:rPr lang="fr-FR" dirty="0" smtClean="0"/>
              <a:t>; ou</a:t>
            </a:r>
            <a:endParaRPr lang="fr-FR" dirty="0"/>
          </a:p>
          <a:p>
            <a:pPr lvl="1"/>
            <a:r>
              <a:rPr lang="fr-FR" dirty="0" smtClean="0"/>
              <a:t>transférer </a:t>
            </a:r>
            <a:r>
              <a:rPr lang="fr-FR" dirty="0"/>
              <a:t>l’obligation </a:t>
            </a:r>
            <a:r>
              <a:rPr lang="fr-FR" dirty="0" smtClean="0"/>
              <a:t>à </a:t>
            </a:r>
            <a:r>
              <a:rPr lang="fr-FR" dirty="0"/>
              <a:t>une autre personne dans les conditions prévues par les autorités douanières.</a:t>
            </a:r>
          </a:p>
        </p:txBody>
      </p:sp>
      <p:sp>
        <p:nvSpPr>
          <p:cNvPr id="4" name="Slide Number Placeholder 3"/>
          <p:cNvSpPr>
            <a:spLocks noGrp="1"/>
          </p:cNvSpPr>
          <p:nvPr>
            <p:ph type="sldNum" sz="quarter" idx="12"/>
          </p:nvPr>
        </p:nvSpPr>
        <p:spPr/>
        <p:txBody>
          <a:bodyPr/>
          <a:lstStyle/>
          <a:p>
            <a:fld id="{AC11F01A-B187-4E96-A42F-7B20626A13B5}" type="slidenum">
              <a:rPr lang="fr-CH" smtClean="0"/>
              <a:t>81</a:t>
            </a:fld>
            <a:endParaRPr lang="fr-CH"/>
          </a:p>
        </p:txBody>
      </p:sp>
    </p:spTree>
    <p:extLst>
      <p:ext uri="{BB962C8B-B14F-4D97-AF65-F5344CB8AC3E}">
        <p14:creationId xmlns:p14="http://schemas.microsoft.com/office/powerpoint/2010/main" val="344830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Transformation</a:t>
            </a:r>
            <a:endParaRPr lang="fr-CH" dirty="0"/>
          </a:p>
        </p:txBody>
      </p:sp>
      <p:pic>
        <p:nvPicPr>
          <p:cNvPr id="4" name="Content Placeholder 3"/>
          <p:cNvPicPr>
            <a:picLocks noGrp="1" noChangeAspect="1"/>
          </p:cNvPicPr>
          <p:nvPr>
            <p:ph idx="1"/>
          </p:nvPr>
        </p:nvPicPr>
        <p:blipFill>
          <a:blip r:embed="rId2"/>
          <a:stretch>
            <a:fillRect/>
          </a:stretch>
        </p:blipFill>
        <p:spPr>
          <a:xfrm>
            <a:off x="1184911" y="2756651"/>
            <a:ext cx="2921576" cy="1946724"/>
          </a:xfrm>
          <a:prstGeom prst="rect">
            <a:avLst/>
          </a:prstGeom>
        </p:spPr>
      </p:pic>
      <p:sp>
        <p:nvSpPr>
          <p:cNvPr id="3" name="Slide Number Placeholder 2"/>
          <p:cNvSpPr>
            <a:spLocks noGrp="1"/>
          </p:cNvSpPr>
          <p:nvPr>
            <p:ph type="sldNum" sz="quarter" idx="12"/>
          </p:nvPr>
        </p:nvSpPr>
        <p:spPr/>
        <p:txBody>
          <a:bodyPr/>
          <a:lstStyle/>
          <a:p>
            <a:fld id="{AC11F01A-B187-4E96-A42F-7B20626A13B5}" type="slidenum">
              <a:rPr lang="fr-CH" smtClean="0"/>
              <a:t>82</a:t>
            </a:fld>
            <a:endParaRPr lang="fr-CH"/>
          </a:p>
        </p:txBody>
      </p:sp>
      <p:pic>
        <p:nvPicPr>
          <p:cNvPr id="5" name="Picture 4"/>
          <p:cNvPicPr>
            <a:picLocks noChangeAspect="1"/>
          </p:cNvPicPr>
          <p:nvPr/>
        </p:nvPicPr>
        <p:blipFill>
          <a:blip r:embed="rId3"/>
          <a:stretch>
            <a:fillRect/>
          </a:stretch>
        </p:blipFill>
        <p:spPr>
          <a:xfrm>
            <a:off x="4977419" y="2753155"/>
            <a:ext cx="2129964" cy="1950220"/>
          </a:xfrm>
          <a:prstGeom prst="rect">
            <a:avLst/>
          </a:prstGeom>
        </p:spPr>
      </p:pic>
    </p:spTree>
    <p:extLst>
      <p:ext uri="{BB962C8B-B14F-4D97-AF65-F5344CB8AC3E}">
        <p14:creationId xmlns:p14="http://schemas.microsoft.com/office/powerpoint/2010/main" val="7541854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a:t>Transformation - Taux de rendement</a:t>
            </a:r>
          </a:p>
        </p:txBody>
      </p:sp>
      <p:sp>
        <p:nvSpPr>
          <p:cNvPr id="3" name="Content Placeholder 2"/>
          <p:cNvSpPr>
            <a:spLocks noGrp="1"/>
          </p:cNvSpPr>
          <p:nvPr>
            <p:ph idx="1"/>
          </p:nvPr>
        </p:nvSpPr>
        <p:spPr/>
        <p:txBody>
          <a:bodyPr/>
          <a:lstStyle/>
          <a:p>
            <a:r>
              <a:rPr lang="fr-FR" dirty="0" smtClean="0"/>
              <a:t>Soit </a:t>
            </a:r>
            <a:r>
              <a:rPr lang="fr-FR" dirty="0"/>
              <a:t>précisé dans la législation de l'Union régissant des domaines spécifiques, </a:t>
            </a:r>
            <a:endParaRPr lang="fr-FR" dirty="0" smtClean="0"/>
          </a:p>
          <a:p>
            <a:r>
              <a:rPr lang="fr-FR" dirty="0" smtClean="0"/>
              <a:t>Soit les </a:t>
            </a:r>
            <a:r>
              <a:rPr lang="fr-FR" dirty="0"/>
              <a:t>autorités douanières </a:t>
            </a:r>
            <a:r>
              <a:rPr lang="fr-FR" dirty="0" smtClean="0"/>
              <a:t>fixent:</a:t>
            </a:r>
          </a:p>
          <a:p>
            <a:pPr lvl="1"/>
            <a:r>
              <a:rPr lang="fr-FR" dirty="0" smtClean="0"/>
              <a:t>le </a:t>
            </a:r>
            <a:r>
              <a:rPr lang="fr-FR" dirty="0"/>
              <a:t>taux de </a:t>
            </a:r>
            <a:r>
              <a:rPr lang="fr-FR" dirty="0" smtClean="0"/>
              <a:t>rendement</a:t>
            </a:r>
          </a:p>
          <a:p>
            <a:pPr lvl="1"/>
            <a:r>
              <a:rPr lang="fr-FR" dirty="0" smtClean="0"/>
              <a:t>ou </a:t>
            </a:r>
            <a:r>
              <a:rPr lang="fr-FR" dirty="0"/>
              <a:t>le taux de rendement moyen de l'opération de </a:t>
            </a:r>
            <a:r>
              <a:rPr lang="fr-FR" dirty="0" smtClean="0"/>
              <a:t>transformation</a:t>
            </a:r>
          </a:p>
          <a:p>
            <a:pPr lvl="1"/>
            <a:r>
              <a:rPr lang="fr-FR" dirty="0" smtClean="0"/>
              <a:t>ou </a:t>
            </a:r>
            <a:r>
              <a:rPr lang="fr-FR" dirty="0"/>
              <a:t>le mode de détermination de ce taux</a:t>
            </a:r>
            <a:r>
              <a:rPr lang="fr-FR" dirty="0" smtClean="0"/>
              <a:t>.</a:t>
            </a:r>
          </a:p>
          <a:p>
            <a:r>
              <a:rPr lang="fr-CH" dirty="0"/>
              <a:t>Le taux de rendement ou le taux de rendement moyen est établi en </a:t>
            </a:r>
            <a:r>
              <a:rPr lang="fr-CH" dirty="0" smtClean="0"/>
              <a:t>fonction </a:t>
            </a:r>
            <a:r>
              <a:rPr lang="fr-CH" dirty="0"/>
              <a:t>des conditions réelles dans lesquelles s'effectue ou devra </a:t>
            </a:r>
            <a:r>
              <a:rPr lang="fr-CH" dirty="0" smtClean="0"/>
              <a:t>s'effectuer </a:t>
            </a:r>
            <a:r>
              <a:rPr lang="fr-CH" dirty="0"/>
              <a:t>cette opération de </a:t>
            </a:r>
            <a:r>
              <a:rPr lang="fr-CH" dirty="0" smtClean="0"/>
              <a:t>transformation (possibilité de modification de l’autorisation pour cet élément).</a:t>
            </a:r>
            <a:endParaRPr lang="fr-FR" dirty="0" smtClean="0"/>
          </a:p>
          <a:p>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83</a:t>
            </a:fld>
            <a:endParaRPr lang="fr-CH"/>
          </a:p>
        </p:txBody>
      </p:sp>
    </p:spTree>
    <p:extLst>
      <p:ext uri="{BB962C8B-B14F-4D97-AF65-F5344CB8AC3E}">
        <p14:creationId xmlns:p14="http://schemas.microsoft.com/office/powerpoint/2010/main" val="92995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Transformation-</a:t>
            </a:r>
            <a:r>
              <a:rPr lang="en-US" dirty="0" err="1" smtClean="0"/>
              <a:t>Autorisation</a:t>
            </a:r>
            <a:endParaRPr lang="fr-CH" dirty="0"/>
          </a:p>
        </p:txBody>
      </p:sp>
      <p:sp>
        <p:nvSpPr>
          <p:cNvPr id="3" name="Content Placeholder 2"/>
          <p:cNvSpPr>
            <a:spLocks noGrp="1"/>
          </p:cNvSpPr>
          <p:nvPr>
            <p:ph idx="1"/>
          </p:nvPr>
        </p:nvSpPr>
        <p:spPr/>
        <p:txBody>
          <a:bodyPr/>
          <a:lstStyle/>
          <a:p>
            <a:r>
              <a:rPr lang="fr-CH" dirty="0"/>
              <a:t>L’autorisation de placement sous un régime de </a:t>
            </a:r>
            <a:r>
              <a:rPr lang="fr-CH" dirty="0" smtClean="0"/>
              <a:t>transformation précise </a:t>
            </a:r>
            <a:r>
              <a:rPr lang="fr-CH" dirty="0"/>
              <a:t>les mesures visant à établir:</a:t>
            </a:r>
          </a:p>
          <a:p>
            <a:pPr lvl="1"/>
            <a:r>
              <a:rPr lang="fr-CH" dirty="0" smtClean="0"/>
              <a:t>soit </a:t>
            </a:r>
            <a:r>
              <a:rPr lang="fr-CH" dirty="0"/>
              <a:t>que les produits transformés résultent de la transformation de </a:t>
            </a:r>
            <a:r>
              <a:rPr lang="fr-CH" dirty="0" smtClean="0"/>
              <a:t>marchandises </a:t>
            </a:r>
            <a:r>
              <a:rPr lang="fr-CH" dirty="0"/>
              <a:t>placées sous un régime de transformation</a:t>
            </a:r>
            <a:r>
              <a:rPr lang="fr-CH" dirty="0" smtClean="0"/>
              <a:t>;</a:t>
            </a:r>
          </a:p>
          <a:p>
            <a:pPr lvl="1"/>
            <a:r>
              <a:rPr lang="fr-CH" dirty="0"/>
              <a:t>soit que les conditions d’utilisation de marchandises équivalentes </a:t>
            </a:r>
            <a:r>
              <a:rPr lang="fr-CH" dirty="0" smtClean="0"/>
              <a:t>ou </a:t>
            </a:r>
            <a:r>
              <a:rPr lang="fr-CH" dirty="0"/>
              <a:t>du système des </a:t>
            </a:r>
            <a:r>
              <a:rPr lang="fr-CH" dirty="0" smtClean="0"/>
              <a:t>échanges standard sont </a:t>
            </a:r>
            <a:r>
              <a:rPr lang="fr-CH" dirty="0"/>
              <a:t>remplies.</a:t>
            </a:r>
          </a:p>
        </p:txBody>
      </p:sp>
      <p:sp>
        <p:nvSpPr>
          <p:cNvPr id="4" name="Slide Number Placeholder 3"/>
          <p:cNvSpPr>
            <a:spLocks noGrp="1"/>
          </p:cNvSpPr>
          <p:nvPr>
            <p:ph type="sldNum" sz="quarter" idx="12"/>
          </p:nvPr>
        </p:nvSpPr>
        <p:spPr/>
        <p:txBody>
          <a:bodyPr/>
          <a:lstStyle/>
          <a:p>
            <a:fld id="{AC11F01A-B187-4E96-A42F-7B20626A13B5}" type="slidenum">
              <a:rPr lang="fr-CH" smtClean="0"/>
              <a:t>84</a:t>
            </a:fld>
            <a:endParaRPr lang="fr-CH"/>
          </a:p>
        </p:txBody>
      </p:sp>
    </p:spTree>
    <p:extLst>
      <p:ext uri="{BB962C8B-B14F-4D97-AF65-F5344CB8AC3E}">
        <p14:creationId xmlns:p14="http://schemas.microsoft.com/office/powerpoint/2010/main" val="2088650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Perfectionnement actif 1/2</a:t>
            </a:r>
            <a:endParaRPr lang="fr-FR" dirty="0"/>
          </a:p>
        </p:txBody>
      </p:sp>
      <p:sp>
        <p:nvSpPr>
          <p:cNvPr id="3" name="Content Placeholder 2"/>
          <p:cNvSpPr>
            <a:spLocks noGrp="1"/>
          </p:cNvSpPr>
          <p:nvPr>
            <p:ph idx="1"/>
          </p:nvPr>
        </p:nvSpPr>
        <p:spPr/>
        <p:txBody>
          <a:bodyPr/>
          <a:lstStyle/>
          <a:p>
            <a:r>
              <a:rPr lang="fr-FR" dirty="0" smtClean="0"/>
              <a:t>Le </a:t>
            </a:r>
            <a:r>
              <a:rPr lang="fr-FR" dirty="0"/>
              <a:t>régime du perfectionnement actif permet de mettre en </a:t>
            </a:r>
            <a:r>
              <a:rPr lang="fr-FR" dirty="0" smtClean="0"/>
              <a:t>œuvre </a:t>
            </a:r>
            <a:r>
              <a:rPr lang="fr-FR" dirty="0"/>
              <a:t>dans le territoire douanier de l'Union, pour leur faire subir une ou plusieurs opérations de transformation, des marchandises non Union, sans que ces marchandises soient soumises:</a:t>
            </a:r>
          </a:p>
          <a:p>
            <a:pPr lvl="1"/>
            <a:r>
              <a:rPr lang="fr-FR" dirty="0" smtClean="0"/>
              <a:t>aux </a:t>
            </a:r>
            <a:r>
              <a:rPr lang="fr-FR" dirty="0"/>
              <a:t>droits à l'importation;</a:t>
            </a:r>
          </a:p>
          <a:p>
            <a:pPr lvl="1"/>
            <a:r>
              <a:rPr lang="fr-FR" dirty="0" smtClean="0"/>
              <a:t>aux </a:t>
            </a:r>
            <a:r>
              <a:rPr lang="fr-FR" dirty="0"/>
              <a:t>autres </a:t>
            </a:r>
            <a:r>
              <a:rPr lang="fr-FR" dirty="0" smtClean="0"/>
              <a:t>impositions;</a:t>
            </a:r>
            <a:endParaRPr lang="fr-FR" dirty="0"/>
          </a:p>
          <a:p>
            <a:pPr lvl="1"/>
            <a:r>
              <a:rPr lang="fr-FR" dirty="0" smtClean="0"/>
              <a:t>aux </a:t>
            </a:r>
            <a:r>
              <a:rPr lang="fr-FR" dirty="0"/>
              <a:t>mesures de politique commerciale dans la mesure où elles n'interdisent pas l'entrée de marchandises dans le territoire douanier de l'Union ou leur sortie de ce territoire.</a:t>
            </a:r>
          </a:p>
        </p:txBody>
      </p:sp>
      <p:sp>
        <p:nvSpPr>
          <p:cNvPr id="4" name="Slide Number Placeholder 3"/>
          <p:cNvSpPr>
            <a:spLocks noGrp="1"/>
          </p:cNvSpPr>
          <p:nvPr>
            <p:ph type="sldNum" sz="quarter" idx="12"/>
          </p:nvPr>
        </p:nvSpPr>
        <p:spPr/>
        <p:txBody>
          <a:bodyPr/>
          <a:lstStyle/>
          <a:p>
            <a:fld id="{AC11F01A-B187-4E96-A42F-7B20626A13B5}" type="slidenum">
              <a:rPr lang="fr-CH" smtClean="0"/>
              <a:t>85</a:t>
            </a:fld>
            <a:endParaRPr lang="fr-CH"/>
          </a:p>
        </p:txBody>
      </p:sp>
    </p:spTree>
    <p:extLst>
      <p:ext uri="{BB962C8B-B14F-4D97-AF65-F5344CB8AC3E}">
        <p14:creationId xmlns:p14="http://schemas.microsoft.com/office/powerpoint/2010/main" val="23905239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Perfectionnement</a:t>
            </a:r>
            <a:r>
              <a:rPr lang="en-US" dirty="0" smtClean="0"/>
              <a:t> </a:t>
            </a:r>
            <a:r>
              <a:rPr lang="en-US" dirty="0" err="1" smtClean="0"/>
              <a:t>actif</a:t>
            </a:r>
            <a:r>
              <a:rPr lang="en-US" dirty="0" smtClean="0"/>
              <a:t> 2/2</a:t>
            </a:r>
            <a:endParaRPr lang="fr-CH" dirty="0"/>
          </a:p>
        </p:txBody>
      </p:sp>
      <p:sp>
        <p:nvSpPr>
          <p:cNvPr id="3" name="Content Placeholder 2"/>
          <p:cNvSpPr>
            <a:spLocks noGrp="1"/>
          </p:cNvSpPr>
          <p:nvPr>
            <p:ph idx="1"/>
          </p:nvPr>
        </p:nvSpPr>
        <p:spPr/>
        <p:txBody>
          <a:bodyPr/>
          <a:lstStyle/>
          <a:p>
            <a:pPr marL="0" indent="0">
              <a:buNone/>
            </a:pPr>
            <a:r>
              <a:rPr lang="en-US" sz="3600" dirty="0" err="1" smtClean="0"/>
              <a:t>Exemples</a:t>
            </a:r>
            <a:r>
              <a:rPr lang="en-US" sz="3600" dirty="0" smtClean="0"/>
              <a:t>:</a:t>
            </a:r>
          </a:p>
          <a:p>
            <a:endParaRPr lang="en-US" dirty="0"/>
          </a:p>
          <a:p>
            <a:r>
              <a:rPr lang="en-US" dirty="0" smtClean="0"/>
              <a:t>Production de </a:t>
            </a:r>
            <a:r>
              <a:rPr lang="en-US" dirty="0" err="1" smtClean="0"/>
              <a:t>voitures</a:t>
            </a:r>
            <a:r>
              <a:rPr lang="en-US" dirty="0"/>
              <a:t> </a:t>
            </a:r>
            <a:r>
              <a:rPr lang="en-US" dirty="0" err="1"/>
              <a:t>dans</a:t>
            </a:r>
            <a:r>
              <a:rPr lang="en-US" dirty="0"/>
              <a:t> </a:t>
            </a:r>
            <a:r>
              <a:rPr lang="en-US" dirty="0" err="1" smtClean="0"/>
              <a:t>l’Union</a:t>
            </a:r>
            <a:r>
              <a:rPr lang="en-US" dirty="0" smtClean="0"/>
              <a:t> </a:t>
            </a:r>
            <a:r>
              <a:rPr lang="en-US" dirty="0" err="1" smtClean="0"/>
              <a:t>européenne</a:t>
            </a:r>
            <a:r>
              <a:rPr lang="en-US" dirty="0" smtClean="0"/>
              <a:t>, à </a:t>
            </a:r>
            <a:r>
              <a:rPr lang="en-US" dirty="0" err="1" smtClean="0"/>
              <a:t>partir</a:t>
            </a:r>
            <a:r>
              <a:rPr lang="en-US" dirty="0" smtClean="0"/>
              <a:t> de </a:t>
            </a:r>
            <a:r>
              <a:rPr lang="en-US" dirty="0" err="1" smtClean="0"/>
              <a:t>certaines</a:t>
            </a:r>
            <a:r>
              <a:rPr lang="en-US" dirty="0" smtClean="0"/>
              <a:t> </a:t>
            </a:r>
            <a:r>
              <a:rPr lang="en-US" dirty="0" err="1" smtClean="0"/>
              <a:t>pièces</a:t>
            </a:r>
            <a:r>
              <a:rPr lang="en-US" dirty="0" smtClean="0"/>
              <a:t> non-Union. Les </a:t>
            </a:r>
            <a:r>
              <a:rPr lang="en-US" dirty="0" err="1" smtClean="0"/>
              <a:t>voitures</a:t>
            </a:r>
            <a:r>
              <a:rPr lang="en-US" dirty="0" smtClean="0"/>
              <a:t> </a:t>
            </a:r>
            <a:r>
              <a:rPr lang="en-US" dirty="0" err="1" smtClean="0"/>
              <a:t>sont</a:t>
            </a:r>
            <a:r>
              <a:rPr lang="en-US" dirty="0" smtClean="0"/>
              <a:t> </a:t>
            </a:r>
            <a:r>
              <a:rPr lang="en-US" dirty="0" err="1" smtClean="0"/>
              <a:t>destinées</a:t>
            </a:r>
            <a:r>
              <a:rPr lang="en-US" dirty="0" smtClean="0"/>
              <a:t> au </a:t>
            </a:r>
            <a:r>
              <a:rPr lang="en-US" dirty="0" err="1" smtClean="0"/>
              <a:t>marché</a:t>
            </a:r>
            <a:r>
              <a:rPr lang="en-US" dirty="0" smtClean="0"/>
              <a:t> </a:t>
            </a:r>
            <a:r>
              <a:rPr lang="en-US" dirty="0" err="1" smtClean="0"/>
              <a:t>américain</a:t>
            </a:r>
            <a:r>
              <a:rPr lang="en-US" dirty="0" smtClean="0"/>
              <a:t>.</a:t>
            </a:r>
          </a:p>
          <a:p>
            <a:r>
              <a:rPr lang="en-US" dirty="0" err="1" smtClean="0"/>
              <a:t>Réparation</a:t>
            </a:r>
            <a:r>
              <a:rPr lang="en-US" dirty="0" smtClean="0"/>
              <a:t> </a:t>
            </a:r>
            <a:r>
              <a:rPr lang="en-US" dirty="0" err="1" smtClean="0"/>
              <a:t>dans</a:t>
            </a:r>
            <a:r>
              <a:rPr lang="en-US" dirty="0" smtClean="0"/>
              <a:t> </a:t>
            </a:r>
            <a:r>
              <a:rPr lang="en-US" dirty="0" err="1" smtClean="0"/>
              <a:t>l’Union</a:t>
            </a:r>
            <a:r>
              <a:rPr lang="en-US" dirty="0" smtClean="0"/>
              <a:t> </a:t>
            </a:r>
            <a:r>
              <a:rPr lang="en-US" dirty="0" err="1" smtClean="0"/>
              <a:t>européenne</a:t>
            </a:r>
            <a:r>
              <a:rPr lang="en-US" dirty="0" smtClean="0"/>
              <a:t> </a:t>
            </a:r>
            <a:r>
              <a:rPr lang="en-US" dirty="0" err="1" smtClean="0"/>
              <a:t>d’une</a:t>
            </a:r>
            <a:r>
              <a:rPr lang="en-US" dirty="0" smtClean="0"/>
              <a:t> </a:t>
            </a:r>
            <a:r>
              <a:rPr lang="en-US" dirty="0" err="1" smtClean="0"/>
              <a:t>montre</a:t>
            </a:r>
            <a:r>
              <a:rPr lang="en-US" dirty="0" smtClean="0"/>
              <a:t> d’un </a:t>
            </a:r>
            <a:r>
              <a:rPr lang="en-US" dirty="0" err="1" smtClean="0"/>
              <a:t>particulier</a:t>
            </a:r>
            <a:r>
              <a:rPr lang="en-US" dirty="0" smtClean="0"/>
              <a:t> </a:t>
            </a:r>
            <a:r>
              <a:rPr lang="en-US" dirty="0" err="1" smtClean="0"/>
              <a:t>établi</a:t>
            </a:r>
            <a:r>
              <a:rPr lang="en-US" dirty="0" smtClean="0"/>
              <a:t> </a:t>
            </a:r>
            <a:r>
              <a:rPr lang="en-US" dirty="0" err="1" smtClean="0"/>
              <a:t>en</a:t>
            </a:r>
            <a:r>
              <a:rPr lang="en-US" dirty="0" smtClean="0"/>
              <a:t> </a:t>
            </a:r>
            <a:r>
              <a:rPr lang="en-US" dirty="0" err="1" smtClean="0"/>
              <a:t>dehors</a:t>
            </a:r>
            <a:r>
              <a:rPr lang="en-US" dirty="0" smtClean="0"/>
              <a:t> de </a:t>
            </a:r>
            <a:r>
              <a:rPr lang="en-US" dirty="0" err="1" smtClean="0"/>
              <a:t>l’Union</a:t>
            </a:r>
            <a:r>
              <a:rPr lang="en-US" dirty="0"/>
              <a: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86</a:t>
            </a:fld>
            <a:endParaRPr lang="fr-CH"/>
          </a:p>
        </p:txBody>
      </p:sp>
    </p:spTree>
    <p:extLst>
      <p:ext uri="{BB962C8B-B14F-4D97-AF65-F5344CB8AC3E}">
        <p14:creationId xmlns:p14="http://schemas.microsoft.com/office/powerpoint/2010/main" val="3404750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Perfectionnement</a:t>
            </a:r>
            <a:r>
              <a:rPr lang="en-US" dirty="0" smtClean="0"/>
              <a:t> </a:t>
            </a:r>
            <a:r>
              <a:rPr lang="en-US" dirty="0" err="1" smtClean="0"/>
              <a:t>actif</a:t>
            </a:r>
            <a:r>
              <a:rPr lang="en-US" dirty="0" smtClean="0"/>
              <a:t>: </a:t>
            </a:r>
            <a:r>
              <a:rPr lang="en-US" dirty="0" err="1" smtClean="0"/>
              <a:t>Changements</a:t>
            </a:r>
            <a:r>
              <a:rPr lang="en-US" dirty="0" smtClean="0"/>
              <a:t> </a:t>
            </a:r>
            <a:r>
              <a:rPr lang="en-US" dirty="0" err="1" smtClean="0"/>
              <a:t>liés</a:t>
            </a:r>
            <a:r>
              <a:rPr lang="en-US" dirty="0" smtClean="0"/>
              <a:t> au Code des Douanes de </a:t>
            </a:r>
            <a:r>
              <a:rPr lang="en-US" dirty="0" err="1" smtClean="0"/>
              <a:t>l’Union</a:t>
            </a:r>
            <a:endParaRPr lang="fr-CH" dirty="0"/>
          </a:p>
        </p:txBody>
      </p:sp>
      <p:sp>
        <p:nvSpPr>
          <p:cNvPr id="3" name="Content Placeholder 2"/>
          <p:cNvSpPr>
            <a:spLocks noGrp="1"/>
          </p:cNvSpPr>
          <p:nvPr>
            <p:ph idx="1"/>
          </p:nvPr>
        </p:nvSpPr>
        <p:spPr/>
        <p:txBody>
          <a:bodyPr/>
          <a:lstStyle/>
          <a:p>
            <a:endParaRPr lang="en-US" dirty="0" smtClean="0"/>
          </a:p>
          <a:p>
            <a:r>
              <a:rPr lang="en-US" dirty="0" smtClean="0"/>
              <a:t>Abolition du </a:t>
            </a:r>
            <a:r>
              <a:rPr lang="en-US" dirty="0" err="1" smtClean="0"/>
              <a:t>système</a:t>
            </a:r>
            <a:r>
              <a:rPr lang="en-US" dirty="0" smtClean="0"/>
              <a:t> du </a:t>
            </a:r>
            <a:r>
              <a:rPr lang="en-US" dirty="0" err="1" smtClean="0"/>
              <a:t>rembours</a:t>
            </a:r>
            <a:r>
              <a:rPr lang="en-US" dirty="0" smtClean="0"/>
              <a:t>.</a:t>
            </a:r>
          </a:p>
          <a:p>
            <a:r>
              <a:rPr lang="en-US" dirty="0" err="1" smtClean="0"/>
              <a:t>Ancien</a:t>
            </a:r>
            <a:r>
              <a:rPr lang="en-US" dirty="0" smtClean="0"/>
              <a:t> régime de la Transformation sous </a:t>
            </a:r>
            <a:r>
              <a:rPr lang="en-US" dirty="0" err="1" smtClean="0"/>
              <a:t>douane</a:t>
            </a:r>
            <a:r>
              <a:rPr lang="en-US" dirty="0" smtClean="0"/>
              <a:t> </a:t>
            </a:r>
            <a:r>
              <a:rPr lang="en-US" dirty="0" err="1" smtClean="0"/>
              <a:t>intégrée</a:t>
            </a:r>
            <a:r>
              <a:rPr lang="en-US" dirty="0" smtClean="0"/>
              <a:t> </a:t>
            </a:r>
            <a:r>
              <a:rPr lang="en-US" dirty="0" err="1" smtClean="0"/>
              <a:t>dans</a:t>
            </a:r>
            <a:r>
              <a:rPr lang="en-US" dirty="0" smtClean="0"/>
              <a:t> le régime du </a:t>
            </a:r>
            <a:r>
              <a:rPr lang="en-US" dirty="0" err="1" smtClean="0"/>
              <a:t>perfectionnement</a:t>
            </a:r>
            <a:r>
              <a:rPr lang="en-US" dirty="0" smtClean="0"/>
              <a:t> </a:t>
            </a:r>
            <a:r>
              <a:rPr lang="en-US" dirty="0" err="1" smtClean="0"/>
              <a:t>actif</a:t>
            </a:r>
            <a:r>
              <a:rPr lang="en-US" dirty="0" smtClean="0"/>
              <a:t>. Par </a:t>
            </a:r>
            <a:r>
              <a:rPr lang="en-US" dirty="0" err="1" smtClean="0"/>
              <a:t>conséquent</a:t>
            </a:r>
            <a:r>
              <a:rPr lang="en-US" dirty="0" smtClean="0"/>
              <a:t>, </a:t>
            </a:r>
            <a:r>
              <a:rPr lang="en-US" dirty="0" err="1" smtClean="0"/>
              <a:t>l’intention</a:t>
            </a:r>
            <a:r>
              <a:rPr lang="en-US" dirty="0" smtClean="0"/>
              <a:t> de </a:t>
            </a:r>
            <a:r>
              <a:rPr lang="en-US" dirty="0" err="1" smtClean="0"/>
              <a:t>réexporter</a:t>
            </a:r>
            <a:r>
              <a:rPr lang="en-US" dirty="0" smtClean="0"/>
              <a:t> </a:t>
            </a:r>
            <a:r>
              <a:rPr lang="en-US" dirty="0" err="1" smtClean="0"/>
              <a:t>n’est</a:t>
            </a:r>
            <a:r>
              <a:rPr lang="en-US" dirty="0" smtClean="0"/>
              <a:t> plus </a:t>
            </a:r>
            <a:r>
              <a:rPr lang="en-US" dirty="0" err="1" smtClean="0"/>
              <a:t>obligatoire</a:t>
            </a:r>
            <a:r>
              <a:rPr lang="en-US" dirty="0" smtClean="0"/>
              <a: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87</a:t>
            </a:fld>
            <a:endParaRPr lang="fr-CH"/>
          </a:p>
        </p:txBody>
      </p:sp>
    </p:spTree>
    <p:extLst>
      <p:ext uri="{BB962C8B-B14F-4D97-AF65-F5344CB8AC3E}">
        <p14:creationId xmlns:p14="http://schemas.microsoft.com/office/powerpoint/2010/main" val="3136041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Perfectionnement</a:t>
            </a:r>
            <a:r>
              <a:rPr lang="en-US" dirty="0" smtClean="0"/>
              <a:t> </a:t>
            </a:r>
            <a:r>
              <a:rPr lang="en-US" dirty="0" err="1" smtClean="0"/>
              <a:t>actif</a:t>
            </a:r>
            <a:r>
              <a:rPr lang="en-US" dirty="0" smtClean="0"/>
              <a:t>-Aides à la production</a:t>
            </a:r>
            <a:endParaRPr lang="fr-CH" dirty="0"/>
          </a:p>
        </p:txBody>
      </p:sp>
      <p:sp>
        <p:nvSpPr>
          <p:cNvPr id="3" name="Content Placeholder 2"/>
          <p:cNvSpPr>
            <a:spLocks noGrp="1"/>
          </p:cNvSpPr>
          <p:nvPr>
            <p:ph idx="1"/>
          </p:nvPr>
        </p:nvSpPr>
        <p:spPr/>
        <p:txBody>
          <a:bodyPr>
            <a:normAutofit fontScale="92500"/>
          </a:bodyPr>
          <a:lstStyle/>
          <a:p>
            <a:r>
              <a:rPr lang="en-US" dirty="0"/>
              <a:t>Aides à la production:</a:t>
            </a:r>
          </a:p>
          <a:p>
            <a:pPr lvl="1"/>
            <a:r>
              <a:rPr lang="fr-CH" dirty="0"/>
              <a:t>l'utilisation de marchandises qui ne se retrouvent pas dans les produits transformés, mais qui permettent ou facilitent l'obtention de ces produits, même si elles disparaissent totalement ou partiellement au cours du </a:t>
            </a:r>
            <a:r>
              <a:rPr lang="fr-CH" dirty="0" smtClean="0"/>
              <a:t>processus</a:t>
            </a:r>
          </a:p>
          <a:p>
            <a:r>
              <a:rPr lang="fr-CH" dirty="0" smtClean="0"/>
              <a:t>Une </a:t>
            </a:r>
            <a:r>
              <a:rPr lang="fr-CH" dirty="0"/>
              <a:t>autorisation de perfectionnement actif peut être accordée pour </a:t>
            </a:r>
            <a:r>
              <a:rPr lang="fr-CH" dirty="0" smtClean="0"/>
              <a:t>les </a:t>
            </a:r>
            <a:r>
              <a:rPr lang="fr-CH" dirty="0"/>
              <a:t>aides à la </a:t>
            </a:r>
            <a:r>
              <a:rPr lang="fr-CH" dirty="0" smtClean="0"/>
              <a:t>production, </a:t>
            </a:r>
            <a:r>
              <a:rPr lang="fr-CH" dirty="0"/>
              <a:t>à l’exception des éléments suivants</a:t>
            </a:r>
            <a:r>
              <a:rPr lang="fr-CH" dirty="0" smtClean="0"/>
              <a:t>:</a:t>
            </a:r>
          </a:p>
          <a:p>
            <a:pPr lvl="1"/>
            <a:r>
              <a:rPr lang="fr-CH" dirty="0"/>
              <a:t>combustibles et sources d’énergie autres que ceux nécessaires à l’essai de produits transformés ou à la détection de défauts des marchandises placées sous le régime qui sont à réparer; </a:t>
            </a:r>
            <a:endParaRPr lang="fr-CH" dirty="0" smtClean="0"/>
          </a:p>
          <a:p>
            <a:pPr lvl="1"/>
            <a:r>
              <a:rPr lang="fr-CH" dirty="0" smtClean="0"/>
              <a:t>lubrifiants </a:t>
            </a:r>
            <a:r>
              <a:rPr lang="fr-CH" dirty="0"/>
              <a:t>autres que ceux nécessaires à l’essai, à l’ajustage ou au démoulage des produits transformés; </a:t>
            </a:r>
            <a:endParaRPr lang="fr-CH" dirty="0" smtClean="0"/>
          </a:p>
          <a:p>
            <a:pPr lvl="1"/>
            <a:r>
              <a:rPr lang="fr-CH" dirty="0" smtClean="0"/>
              <a:t>matériels </a:t>
            </a:r>
            <a:r>
              <a:rPr lang="fr-CH" dirty="0"/>
              <a:t>et outillages</a:t>
            </a:r>
            <a:r>
              <a:rPr lang="fr-CH" dirty="0" smtClean="0"/>
              <a:t>.</a:t>
            </a:r>
          </a:p>
        </p:txBody>
      </p:sp>
      <p:sp>
        <p:nvSpPr>
          <p:cNvPr id="4" name="Slide Number Placeholder 3"/>
          <p:cNvSpPr>
            <a:spLocks noGrp="1"/>
          </p:cNvSpPr>
          <p:nvPr>
            <p:ph type="sldNum" sz="quarter" idx="12"/>
          </p:nvPr>
        </p:nvSpPr>
        <p:spPr/>
        <p:txBody>
          <a:bodyPr/>
          <a:lstStyle/>
          <a:p>
            <a:fld id="{AC11F01A-B187-4E96-A42F-7B20626A13B5}" type="slidenum">
              <a:rPr lang="fr-CH" smtClean="0"/>
              <a:t>88</a:t>
            </a:fld>
            <a:endParaRPr lang="fr-CH"/>
          </a:p>
        </p:txBody>
      </p:sp>
    </p:spTree>
    <p:extLst>
      <p:ext uri="{BB962C8B-B14F-4D97-AF65-F5344CB8AC3E}">
        <p14:creationId xmlns:p14="http://schemas.microsoft.com/office/powerpoint/2010/main" val="2731044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Perfectionnement</a:t>
            </a:r>
            <a:r>
              <a:rPr lang="en-US" dirty="0" smtClean="0"/>
              <a:t> </a:t>
            </a:r>
            <a:r>
              <a:rPr lang="en-US" dirty="0" err="1" smtClean="0"/>
              <a:t>actif-Marchandises</a:t>
            </a:r>
            <a:r>
              <a:rPr lang="en-US" dirty="0" smtClean="0"/>
              <a:t> </a:t>
            </a:r>
            <a:r>
              <a:rPr lang="en-US" dirty="0" err="1" smtClean="0"/>
              <a:t>équivalentes</a:t>
            </a:r>
            <a:endParaRPr lang="fr-CH" dirty="0"/>
          </a:p>
        </p:txBody>
      </p:sp>
      <p:sp>
        <p:nvSpPr>
          <p:cNvPr id="3" name="Content Placeholder 2"/>
          <p:cNvSpPr>
            <a:spLocks noGrp="1"/>
          </p:cNvSpPr>
          <p:nvPr>
            <p:ph idx="1"/>
          </p:nvPr>
        </p:nvSpPr>
        <p:spPr/>
        <p:txBody>
          <a:bodyPr/>
          <a:lstStyle/>
          <a:p>
            <a:r>
              <a:rPr lang="en-US" dirty="0" err="1" smtClean="0"/>
              <a:t>L’utilisation</a:t>
            </a:r>
            <a:r>
              <a:rPr lang="en-US" dirty="0" smtClean="0"/>
              <a:t> de </a:t>
            </a:r>
            <a:r>
              <a:rPr lang="en-US" dirty="0" err="1" smtClean="0"/>
              <a:t>marchandises</a:t>
            </a:r>
            <a:r>
              <a:rPr lang="en-US" dirty="0" smtClean="0"/>
              <a:t> </a:t>
            </a:r>
            <a:r>
              <a:rPr lang="en-US" dirty="0" err="1" smtClean="0"/>
              <a:t>équivalentes</a:t>
            </a:r>
            <a:r>
              <a:rPr lang="en-US" dirty="0" smtClean="0"/>
              <a:t> </a:t>
            </a:r>
            <a:r>
              <a:rPr lang="en-US" dirty="0" err="1" smtClean="0"/>
              <a:t>peut</a:t>
            </a:r>
            <a:r>
              <a:rPr lang="en-US" dirty="0" smtClean="0"/>
              <a:t> </a:t>
            </a:r>
            <a:r>
              <a:rPr lang="en-US" dirty="0" err="1" smtClean="0"/>
              <a:t>être</a:t>
            </a:r>
            <a:r>
              <a:rPr lang="en-US" dirty="0" smtClean="0"/>
              <a:t> </a:t>
            </a:r>
            <a:r>
              <a:rPr lang="en-US" dirty="0" err="1" smtClean="0"/>
              <a:t>autorisée</a:t>
            </a:r>
            <a:r>
              <a:rPr lang="en-US" dirty="0" smtClean="0"/>
              <a:t>.</a:t>
            </a:r>
          </a:p>
          <a:p>
            <a:r>
              <a:rPr lang="en-US" dirty="0" smtClean="0"/>
              <a:t>À condition que le bon </a:t>
            </a:r>
            <a:r>
              <a:rPr lang="en-US" dirty="0" err="1" smtClean="0"/>
              <a:t>déroulement</a:t>
            </a:r>
            <a:r>
              <a:rPr lang="en-US" dirty="0" smtClean="0"/>
              <a:t> du régime, et </a:t>
            </a:r>
            <a:r>
              <a:rPr lang="en-US" dirty="0" err="1" smtClean="0"/>
              <a:t>particulièrement</a:t>
            </a:r>
            <a:r>
              <a:rPr lang="en-US" dirty="0" smtClean="0"/>
              <a:t> la surveillance </a:t>
            </a:r>
            <a:r>
              <a:rPr lang="en-US" dirty="0" err="1" smtClean="0"/>
              <a:t>douanière</a:t>
            </a:r>
            <a:r>
              <a:rPr lang="en-US" dirty="0" smtClean="0"/>
              <a:t>, </a:t>
            </a:r>
            <a:r>
              <a:rPr lang="en-US" dirty="0" err="1" smtClean="0"/>
              <a:t>soient</a:t>
            </a:r>
            <a:r>
              <a:rPr lang="en-US" dirty="0" smtClean="0"/>
              <a:t> </a:t>
            </a:r>
            <a:r>
              <a:rPr lang="en-US" dirty="0" err="1" smtClean="0"/>
              <a:t>garanties</a:t>
            </a:r>
            <a:r>
              <a:rPr lang="en-US" dirty="0" smtClean="0"/>
              <a:t>, les </a:t>
            </a:r>
            <a:r>
              <a:rPr lang="en-US" dirty="0" err="1" smtClean="0"/>
              <a:t>autorités</a:t>
            </a:r>
            <a:r>
              <a:rPr lang="en-US" dirty="0" smtClean="0"/>
              <a:t> </a:t>
            </a:r>
            <a:r>
              <a:rPr lang="en-US" dirty="0" err="1" smtClean="0"/>
              <a:t>douanières</a:t>
            </a:r>
            <a:r>
              <a:rPr lang="en-US" dirty="0" smtClean="0"/>
              <a:t> </a:t>
            </a:r>
            <a:r>
              <a:rPr lang="en-US" dirty="0" err="1" smtClean="0"/>
              <a:t>peuvent</a:t>
            </a:r>
            <a:r>
              <a:rPr lang="en-US" dirty="0" smtClean="0"/>
              <a:t> </a:t>
            </a:r>
            <a:r>
              <a:rPr lang="en-US" dirty="0" err="1" smtClean="0"/>
              <a:t>autoriser</a:t>
            </a:r>
            <a:r>
              <a:rPr lang="en-US" dirty="0" smtClean="0"/>
              <a:t> que </a:t>
            </a:r>
            <a:r>
              <a:rPr lang="fr-CH" dirty="0"/>
              <a:t>des produits </a:t>
            </a:r>
            <a:r>
              <a:rPr lang="fr-CH" dirty="0" smtClean="0"/>
              <a:t>transformés </a:t>
            </a:r>
            <a:r>
              <a:rPr lang="fr-CH" dirty="0"/>
              <a:t>obtenus à partir de marchandises équivalentes soient </a:t>
            </a:r>
            <a:r>
              <a:rPr lang="fr-CH" dirty="0" smtClean="0"/>
              <a:t>exportés </a:t>
            </a:r>
            <a:r>
              <a:rPr lang="fr-CH" dirty="0"/>
              <a:t>avant l'importation des </a:t>
            </a:r>
            <a:r>
              <a:rPr lang="fr-CH" dirty="0" smtClean="0"/>
              <a:t>marchandises </a:t>
            </a:r>
            <a:r>
              <a:rPr lang="fr-CH" dirty="0"/>
              <a:t>qu'ils </a:t>
            </a:r>
            <a:r>
              <a:rPr lang="fr-CH" dirty="0" smtClean="0"/>
              <a:t>remplacent -&gt; PAV EX-IM.</a:t>
            </a:r>
          </a:p>
        </p:txBody>
      </p:sp>
      <p:sp>
        <p:nvSpPr>
          <p:cNvPr id="4" name="Slide Number Placeholder 3"/>
          <p:cNvSpPr>
            <a:spLocks noGrp="1"/>
          </p:cNvSpPr>
          <p:nvPr>
            <p:ph type="sldNum" sz="quarter" idx="12"/>
          </p:nvPr>
        </p:nvSpPr>
        <p:spPr/>
        <p:txBody>
          <a:bodyPr/>
          <a:lstStyle/>
          <a:p>
            <a:fld id="{AC11F01A-B187-4E96-A42F-7B20626A13B5}" type="slidenum">
              <a:rPr lang="fr-CH" smtClean="0"/>
              <a:t>89</a:t>
            </a:fld>
            <a:endParaRPr lang="fr-CH"/>
          </a:p>
        </p:txBody>
      </p:sp>
    </p:spTree>
    <p:extLst>
      <p:ext uri="{BB962C8B-B14F-4D97-AF65-F5344CB8AC3E}">
        <p14:creationId xmlns:p14="http://schemas.microsoft.com/office/powerpoint/2010/main" val="485197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Perfectionnement</a:t>
            </a:r>
            <a:r>
              <a:rPr lang="en-US" dirty="0" smtClean="0"/>
              <a:t> </a:t>
            </a:r>
            <a:r>
              <a:rPr lang="en-US" dirty="0" err="1" smtClean="0"/>
              <a:t>actif</a:t>
            </a:r>
            <a:r>
              <a:rPr lang="en-US" dirty="0" smtClean="0"/>
              <a:t>-Interdiction de </a:t>
            </a:r>
            <a:r>
              <a:rPr lang="en-US" dirty="0" err="1" smtClean="0"/>
              <a:t>marchandises</a:t>
            </a:r>
            <a:r>
              <a:rPr lang="en-US" dirty="0" smtClean="0"/>
              <a:t> </a:t>
            </a:r>
            <a:r>
              <a:rPr lang="en-US" dirty="0" err="1" smtClean="0"/>
              <a:t>équivalentes</a:t>
            </a:r>
            <a:endParaRPr lang="fr-CH" dirty="0"/>
          </a:p>
        </p:txBody>
      </p:sp>
      <p:sp>
        <p:nvSpPr>
          <p:cNvPr id="3" name="Content Placeholder 2"/>
          <p:cNvSpPr>
            <a:spLocks noGrp="1"/>
          </p:cNvSpPr>
          <p:nvPr>
            <p:ph idx="1"/>
          </p:nvPr>
        </p:nvSpPr>
        <p:spPr/>
        <p:txBody>
          <a:bodyPr/>
          <a:lstStyle/>
          <a:p>
            <a:r>
              <a:rPr lang="en-US" dirty="0" err="1" smtClean="0"/>
              <a:t>Dans</a:t>
            </a:r>
            <a:r>
              <a:rPr lang="en-US" dirty="0" smtClean="0"/>
              <a:t> les </a:t>
            </a:r>
            <a:r>
              <a:rPr lang="en-US" dirty="0" err="1" smtClean="0"/>
              <a:t>cas</a:t>
            </a:r>
            <a:r>
              <a:rPr lang="en-US" dirty="0" smtClean="0"/>
              <a:t> </a:t>
            </a:r>
            <a:r>
              <a:rPr lang="en-US" dirty="0" err="1" smtClean="0"/>
              <a:t>suivants</a:t>
            </a:r>
            <a:r>
              <a:rPr lang="en-US" dirty="0" smtClean="0"/>
              <a:t>:</a:t>
            </a:r>
          </a:p>
          <a:p>
            <a:pPr lvl="1"/>
            <a:r>
              <a:rPr lang="fr-CH" dirty="0" smtClean="0"/>
              <a:t>lorsque </a:t>
            </a:r>
            <a:r>
              <a:rPr lang="fr-CH" dirty="0"/>
              <a:t>seules les manipulations usuelles </a:t>
            </a:r>
            <a:r>
              <a:rPr lang="fr-CH" dirty="0" smtClean="0"/>
              <a:t>sont </a:t>
            </a:r>
            <a:r>
              <a:rPr lang="fr-CH" dirty="0"/>
              <a:t>effectuées dans le cadre du régime du perfectionnement actif; </a:t>
            </a:r>
            <a:endParaRPr lang="fr-CH" dirty="0" smtClean="0"/>
          </a:p>
          <a:p>
            <a:pPr lvl="1"/>
            <a:r>
              <a:rPr lang="fr-CH" dirty="0" smtClean="0"/>
              <a:t>lorsqu'une </a:t>
            </a:r>
            <a:r>
              <a:rPr lang="fr-CH" dirty="0"/>
              <a:t>interdiction de rembours ou d'exonération des droits à l'importation s'applique à des marchandises non originaires mises en œuvre dans la fabrication de produits transformés dans le cadre du régime du perfectionnement actif, pour lesquels une preuve </a:t>
            </a:r>
            <a:r>
              <a:rPr lang="fr-CH" dirty="0" smtClean="0"/>
              <a:t>d'origine </a:t>
            </a:r>
            <a:r>
              <a:rPr lang="fr-CH" dirty="0"/>
              <a:t>est délivrée ou établie dans le cadre d'un régime </a:t>
            </a:r>
            <a:r>
              <a:rPr lang="fr-CH" dirty="0" smtClean="0"/>
              <a:t>préférentiel; </a:t>
            </a:r>
          </a:p>
          <a:p>
            <a:pPr marL="457200" lvl="1" indent="0">
              <a:buNone/>
            </a:pP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90</a:t>
            </a:fld>
            <a:endParaRPr lang="fr-CH"/>
          </a:p>
        </p:txBody>
      </p:sp>
    </p:spTree>
    <p:extLst>
      <p:ext uri="{BB962C8B-B14F-4D97-AF65-F5344CB8AC3E}">
        <p14:creationId xmlns:p14="http://schemas.microsoft.com/office/powerpoint/2010/main" val="349562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Autorisation perfectionnement actif-Conditions 1/2</a:t>
            </a:r>
            <a:endParaRPr lang="fr-FR" dirty="0"/>
          </a:p>
        </p:txBody>
      </p:sp>
      <p:sp>
        <p:nvSpPr>
          <p:cNvPr id="3" name="Content Placeholder 2"/>
          <p:cNvSpPr>
            <a:spLocks noGrp="1"/>
          </p:cNvSpPr>
          <p:nvPr>
            <p:ph idx="1"/>
          </p:nvPr>
        </p:nvSpPr>
        <p:spPr/>
        <p:txBody>
          <a:bodyPr/>
          <a:lstStyle/>
          <a:p>
            <a:r>
              <a:rPr lang="fr-FR" dirty="0"/>
              <a:t>Une autorisation de perfectionnement actif n’est accordée que si les conditions suivantes sont remplies:</a:t>
            </a:r>
          </a:p>
          <a:p>
            <a:pPr lvl="1"/>
            <a:r>
              <a:rPr lang="fr-FR" dirty="0" smtClean="0"/>
              <a:t>l’espèce </a:t>
            </a:r>
            <a:r>
              <a:rPr lang="fr-FR" dirty="0"/>
              <a:t>ou l’état des marchandises au moment de leur placement sous le régime ne peut plus être économiquement rétabli après la transformation;</a:t>
            </a:r>
          </a:p>
          <a:p>
            <a:pPr lvl="1"/>
            <a:r>
              <a:rPr lang="fr-FR" dirty="0" smtClean="0"/>
              <a:t>le </a:t>
            </a:r>
            <a:r>
              <a:rPr lang="fr-FR" dirty="0"/>
              <a:t>recours au régime ne peut pas avoir comme conséquence un contournement des règles en matière d’origine et des restrictions quantitatives applicables aux marchandises importées.</a:t>
            </a:r>
          </a:p>
        </p:txBody>
      </p:sp>
      <p:sp>
        <p:nvSpPr>
          <p:cNvPr id="4" name="Slide Number Placeholder 3"/>
          <p:cNvSpPr>
            <a:spLocks noGrp="1"/>
          </p:cNvSpPr>
          <p:nvPr>
            <p:ph type="sldNum" sz="quarter" idx="12"/>
          </p:nvPr>
        </p:nvSpPr>
        <p:spPr/>
        <p:txBody>
          <a:bodyPr/>
          <a:lstStyle/>
          <a:p>
            <a:fld id="{AC11F01A-B187-4E96-A42F-7B20626A13B5}" type="slidenum">
              <a:rPr lang="fr-CH" smtClean="0"/>
              <a:t>91</a:t>
            </a:fld>
            <a:endParaRPr lang="fr-CH"/>
          </a:p>
        </p:txBody>
      </p:sp>
    </p:spTree>
    <p:extLst>
      <p:ext uri="{BB962C8B-B14F-4D97-AF65-F5344CB8AC3E}">
        <p14:creationId xmlns:p14="http://schemas.microsoft.com/office/powerpoint/2010/main" val="1176676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a:t>Autorisation perfectionnement actif-Conditions </a:t>
            </a:r>
            <a:r>
              <a:rPr lang="fr-FR" dirty="0" smtClean="0"/>
              <a:t>2/2</a:t>
            </a:r>
            <a:r>
              <a:rPr lang="en-US" dirty="0" smtClean="0"/>
              <a:t>	</a:t>
            </a:r>
            <a:endParaRPr lang="fr-CH" dirty="0"/>
          </a:p>
        </p:txBody>
      </p:sp>
      <p:sp>
        <p:nvSpPr>
          <p:cNvPr id="3" name="Content Placeholder 2"/>
          <p:cNvSpPr>
            <a:spLocks noGrp="1"/>
          </p:cNvSpPr>
          <p:nvPr>
            <p:ph idx="1"/>
          </p:nvPr>
        </p:nvSpPr>
        <p:spPr/>
        <p:txBody>
          <a:bodyPr>
            <a:normAutofit/>
          </a:bodyPr>
          <a:lstStyle/>
          <a:p>
            <a:r>
              <a:rPr lang="fr-CH" dirty="0"/>
              <a:t>Le régime du perfectionnement actif ne peut être utilisé, dans les cas autres que la réparation et la destruction, que si les marchandises admises sous ce régime peuvent être identifiées dans les produits </a:t>
            </a:r>
            <a:r>
              <a:rPr lang="fr-CH" dirty="0" smtClean="0"/>
              <a:t>transformés</a:t>
            </a:r>
            <a:r>
              <a:rPr lang="fr-CH" dirty="0"/>
              <a:t>, sans préjudice de l'utilisation d'aides à la production. </a:t>
            </a:r>
            <a:endParaRPr lang="fr-CH" dirty="0" smtClean="0"/>
          </a:p>
          <a:p>
            <a:r>
              <a:rPr lang="fr-CH" dirty="0" smtClean="0"/>
              <a:t>Le </a:t>
            </a:r>
            <a:r>
              <a:rPr lang="fr-CH" dirty="0"/>
              <a:t>régime du perfectionnement actif peut aussi être utilisé pour les marchandises suivantes: </a:t>
            </a:r>
            <a:endParaRPr lang="fr-CH" dirty="0" smtClean="0"/>
          </a:p>
          <a:p>
            <a:pPr lvl="1"/>
            <a:r>
              <a:rPr lang="fr-CH" dirty="0" smtClean="0"/>
              <a:t>marchandises </a:t>
            </a:r>
            <a:r>
              <a:rPr lang="fr-CH" dirty="0"/>
              <a:t>appelées à subir des opérations visant à assurer leur conformité aux spécifications techniques nécessaires à leur mise en libre pratique; </a:t>
            </a:r>
            <a:endParaRPr lang="fr-CH" dirty="0" smtClean="0"/>
          </a:p>
          <a:p>
            <a:pPr lvl="1"/>
            <a:r>
              <a:rPr lang="fr-CH" dirty="0" smtClean="0"/>
              <a:t>marchandises </a:t>
            </a:r>
            <a:r>
              <a:rPr lang="fr-CH" dirty="0"/>
              <a:t>devant faire l'objet des manipulations </a:t>
            </a:r>
            <a:r>
              <a:rPr lang="fr-CH" dirty="0" smtClean="0"/>
              <a:t>usuelles.</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92</a:t>
            </a:fld>
            <a:endParaRPr lang="fr-CH"/>
          </a:p>
        </p:txBody>
      </p:sp>
    </p:spTree>
    <p:extLst>
      <p:ext uri="{BB962C8B-B14F-4D97-AF65-F5344CB8AC3E}">
        <p14:creationId xmlns:p14="http://schemas.microsoft.com/office/powerpoint/2010/main" val="7806051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Perfectionnement actif-Délai </a:t>
            </a:r>
            <a:r>
              <a:rPr lang="fr-FR" dirty="0"/>
              <a:t>d'apurement</a:t>
            </a:r>
          </a:p>
        </p:txBody>
      </p:sp>
      <p:sp>
        <p:nvSpPr>
          <p:cNvPr id="3" name="Content Placeholder 2"/>
          <p:cNvSpPr>
            <a:spLocks noGrp="1"/>
          </p:cNvSpPr>
          <p:nvPr>
            <p:ph idx="1"/>
          </p:nvPr>
        </p:nvSpPr>
        <p:spPr/>
        <p:txBody>
          <a:bodyPr/>
          <a:lstStyle/>
          <a:p>
            <a:r>
              <a:rPr lang="fr-FR" dirty="0"/>
              <a:t>Les autorités douanières fixent le délai dans lequel le régime du perfectionnement actif doit être </a:t>
            </a:r>
            <a:r>
              <a:rPr lang="fr-FR" dirty="0" smtClean="0"/>
              <a:t>apuré.</a:t>
            </a:r>
          </a:p>
          <a:p>
            <a:r>
              <a:rPr lang="fr-FR" dirty="0"/>
              <a:t>Ce délai court à partir de la date à laquelle les marchandises non Union sont placées sous le régime et est déterminé en tenant compte de la durée nécessaire à la réalisation des opérations de transformation et à l'apurement du régime</a:t>
            </a:r>
            <a:r>
              <a:rPr lang="fr-FR" dirty="0" smtClean="0"/>
              <a:t>.</a:t>
            </a:r>
          </a:p>
          <a:p>
            <a:r>
              <a:rPr lang="fr-CH" dirty="0"/>
              <a:t>Les autorités douanières peuvent proroger pour une durée </a:t>
            </a:r>
            <a:r>
              <a:rPr lang="fr-CH" dirty="0" smtClean="0"/>
              <a:t>raisonnable ce délai, </a:t>
            </a:r>
            <a:r>
              <a:rPr lang="fr-CH" dirty="0"/>
              <a:t>sur demande dûment </a:t>
            </a:r>
            <a:r>
              <a:rPr lang="fr-CH" dirty="0" smtClean="0"/>
              <a:t>justifiée </a:t>
            </a:r>
            <a:r>
              <a:rPr lang="fr-CH" dirty="0"/>
              <a:t>introduite par le titulaire de l'autorisation.</a:t>
            </a: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93</a:t>
            </a:fld>
            <a:endParaRPr lang="fr-CH"/>
          </a:p>
        </p:txBody>
      </p:sp>
    </p:spTree>
    <p:extLst>
      <p:ext uri="{BB962C8B-B14F-4D97-AF65-F5344CB8AC3E}">
        <p14:creationId xmlns:p14="http://schemas.microsoft.com/office/powerpoint/2010/main" val="3489254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Perfectionnement</a:t>
            </a:r>
            <a:r>
              <a:rPr lang="en-US" dirty="0" smtClean="0"/>
              <a:t> </a:t>
            </a:r>
            <a:r>
              <a:rPr lang="en-US" dirty="0" err="1" smtClean="0"/>
              <a:t>actif-Délai</a:t>
            </a:r>
            <a:r>
              <a:rPr lang="en-US" dirty="0" smtClean="0"/>
              <a:t> </a:t>
            </a:r>
            <a:r>
              <a:rPr lang="en-US" dirty="0" err="1" smtClean="0"/>
              <a:t>en</a:t>
            </a:r>
            <a:r>
              <a:rPr lang="en-US" dirty="0" smtClean="0"/>
              <a:t> </a:t>
            </a:r>
            <a:r>
              <a:rPr lang="en-US" dirty="0" err="1" smtClean="0"/>
              <a:t>cas</a:t>
            </a:r>
            <a:r>
              <a:rPr lang="en-US" dirty="0" smtClean="0"/>
              <a:t> </a:t>
            </a:r>
            <a:r>
              <a:rPr lang="en-US" dirty="0" err="1" smtClean="0"/>
              <a:t>d’exportation</a:t>
            </a:r>
            <a:r>
              <a:rPr lang="en-US" dirty="0" smtClean="0"/>
              <a:t> </a:t>
            </a:r>
            <a:r>
              <a:rPr lang="en-US" dirty="0" err="1" smtClean="0"/>
              <a:t>anticipée</a:t>
            </a:r>
            <a:endParaRPr lang="fr-CH" dirty="0"/>
          </a:p>
        </p:txBody>
      </p:sp>
      <p:sp>
        <p:nvSpPr>
          <p:cNvPr id="3" name="Content Placeholder 2"/>
          <p:cNvSpPr>
            <a:spLocks noGrp="1"/>
          </p:cNvSpPr>
          <p:nvPr>
            <p:ph idx="1"/>
          </p:nvPr>
        </p:nvSpPr>
        <p:spPr/>
        <p:txBody>
          <a:bodyPr>
            <a:normAutofit/>
          </a:bodyPr>
          <a:lstStyle/>
          <a:p>
            <a:r>
              <a:rPr lang="fr-CH" dirty="0"/>
              <a:t>L</a:t>
            </a:r>
            <a:r>
              <a:rPr lang="fr-CH" dirty="0" smtClean="0"/>
              <a:t>'autorisation </a:t>
            </a:r>
            <a:r>
              <a:rPr lang="fr-CH" dirty="0"/>
              <a:t>fixe le délai dans lequel les </a:t>
            </a:r>
            <a:r>
              <a:rPr lang="fr-CH" dirty="0" smtClean="0"/>
              <a:t>marchandises </a:t>
            </a:r>
            <a:r>
              <a:rPr lang="fr-CH" dirty="0"/>
              <a:t>non Union sont déclarées pour le régime du perfectionnement </a:t>
            </a:r>
            <a:r>
              <a:rPr lang="fr-CH" dirty="0" smtClean="0"/>
              <a:t>actif</a:t>
            </a:r>
            <a:r>
              <a:rPr lang="fr-CH" dirty="0"/>
              <a:t>, en tenant compte des délais nécessaires à l'approvisionnement et </a:t>
            </a:r>
            <a:r>
              <a:rPr lang="fr-CH" dirty="0" smtClean="0"/>
              <a:t>au </a:t>
            </a:r>
            <a:r>
              <a:rPr lang="fr-CH" dirty="0"/>
              <a:t>transport vers le territoire douanier de l'Union.</a:t>
            </a:r>
          </a:p>
          <a:p>
            <a:r>
              <a:rPr lang="fr-CH" dirty="0" smtClean="0"/>
              <a:t>Ce </a:t>
            </a:r>
            <a:r>
              <a:rPr lang="fr-CH" dirty="0"/>
              <a:t>délai </a:t>
            </a:r>
            <a:r>
              <a:rPr lang="fr-CH" dirty="0" smtClean="0"/>
              <a:t>n'excède </a:t>
            </a:r>
            <a:r>
              <a:rPr lang="fr-CH" dirty="0"/>
              <a:t>pas six </a:t>
            </a:r>
            <a:r>
              <a:rPr lang="fr-CH" dirty="0" smtClean="0"/>
              <a:t>mois</a:t>
            </a:r>
            <a:r>
              <a:rPr lang="fr-CH" dirty="0"/>
              <a:t>. Il court à compter de la date de l'acceptation de la déclaration </a:t>
            </a:r>
            <a:r>
              <a:rPr lang="fr-CH" dirty="0" smtClean="0"/>
              <a:t>d'exportation </a:t>
            </a:r>
            <a:r>
              <a:rPr lang="fr-CH" dirty="0"/>
              <a:t>des produits transformés obtenus à partir des marchandises </a:t>
            </a:r>
            <a:r>
              <a:rPr lang="fr-CH" dirty="0" smtClean="0"/>
              <a:t>équivalentes </a:t>
            </a:r>
            <a:r>
              <a:rPr lang="fr-CH" dirty="0"/>
              <a:t>correspondantes.</a:t>
            </a:r>
          </a:p>
          <a:p>
            <a:r>
              <a:rPr lang="fr-CH" dirty="0" smtClean="0"/>
              <a:t>À </a:t>
            </a:r>
            <a:r>
              <a:rPr lang="fr-CH" dirty="0"/>
              <a:t>la demande du titulaire de l'autorisation, </a:t>
            </a:r>
            <a:r>
              <a:rPr lang="fr-CH" dirty="0" smtClean="0"/>
              <a:t>ce </a:t>
            </a:r>
            <a:r>
              <a:rPr lang="fr-CH" dirty="0"/>
              <a:t>délai de six mois </a:t>
            </a:r>
            <a:r>
              <a:rPr lang="fr-CH" dirty="0" smtClean="0"/>
              <a:t>peut </a:t>
            </a:r>
            <a:r>
              <a:rPr lang="fr-CH" dirty="0"/>
              <a:t>être prolongé même après son expiration, à </a:t>
            </a:r>
            <a:r>
              <a:rPr lang="fr-CH" dirty="0" smtClean="0"/>
              <a:t>condition </a:t>
            </a:r>
            <a:r>
              <a:rPr lang="fr-CH" dirty="0"/>
              <a:t>que sa durée totale n'excède pas douze mois.</a:t>
            </a:r>
          </a:p>
        </p:txBody>
      </p:sp>
      <p:sp>
        <p:nvSpPr>
          <p:cNvPr id="4" name="Slide Number Placeholder 3"/>
          <p:cNvSpPr>
            <a:spLocks noGrp="1"/>
          </p:cNvSpPr>
          <p:nvPr>
            <p:ph type="sldNum" sz="quarter" idx="12"/>
          </p:nvPr>
        </p:nvSpPr>
        <p:spPr/>
        <p:txBody>
          <a:bodyPr/>
          <a:lstStyle/>
          <a:p>
            <a:fld id="{AC11F01A-B187-4E96-A42F-7B20626A13B5}" type="slidenum">
              <a:rPr lang="fr-CH" smtClean="0"/>
              <a:t>94</a:t>
            </a:fld>
            <a:endParaRPr lang="fr-CH"/>
          </a:p>
        </p:txBody>
      </p:sp>
    </p:spTree>
    <p:extLst>
      <p:ext uri="{BB962C8B-B14F-4D97-AF65-F5344CB8AC3E}">
        <p14:creationId xmlns:p14="http://schemas.microsoft.com/office/powerpoint/2010/main" val="537140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fr-FR" dirty="0" smtClean="0"/>
              <a:t>Perfectionnement actif-Réexportation </a:t>
            </a:r>
            <a:r>
              <a:rPr lang="fr-FR" dirty="0"/>
              <a:t>temporaire pour transformation complémentaire</a:t>
            </a:r>
          </a:p>
        </p:txBody>
      </p:sp>
      <p:sp>
        <p:nvSpPr>
          <p:cNvPr id="3" name="Content Placeholder 2"/>
          <p:cNvSpPr>
            <a:spLocks noGrp="1"/>
          </p:cNvSpPr>
          <p:nvPr>
            <p:ph idx="1"/>
          </p:nvPr>
        </p:nvSpPr>
        <p:spPr/>
        <p:txBody>
          <a:bodyPr/>
          <a:lstStyle/>
          <a:p>
            <a:r>
              <a:rPr lang="fr-FR" dirty="0"/>
              <a:t>Sur demande, les autorités douanières peuvent autoriser que les marchandises placées sous le régime du perfectionnement actif ou des produits transformés fassent l'objet en tout ou en partie d'une réexportation temporaire en vue d'opérations de transformation complémentaire à effectuer en dehors du territoire douanier de l'Union, selon les conditions fixées pour le régime du perfectionnement passif.</a:t>
            </a:r>
          </a:p>
        </p:txBody>
      </p:sp>
      <p:sp>
        <p:nvSpPr>
          <p:cNvPr id="4" name="Slide Number Placeholder 3"/>
          <p:cNvSpPr>
            <a:spLocks noGrp="1"/>
          </p:cNvSpPr>
          <p:nvPr>
            <p:ph type="sldNum" sz="quarter" idx="12"/>
          </p:nvPr>
        </p:nvSpPr>
        <p:spPr/>
        <p:txBody>
          <a:bodyPr/>
          <a:lstStyle/>
          <a:p>
            <a:fld id="{AC11F01A-B187-4E96-A42F-7B20626A13B5}" type="slidenum">
              <a:rPr lang="fr-CH" smtClean="0"/>
              <a:t>95</a:t>
            </a:fld>
            <a:endParaRPr lang="fr-CH"/>
          </a:p>
        </p:txBody>
      </p:sp>
    </p:spTree>
    <p:extLst>
      <p:ext uri="{BB962C8B-B14F-4D97-AF65-F5344CB8AC3E}">
        <p14:creationId xmlns:p14="http://schemas.microsoft.com/office/powerpoint/2010/main" val="1334519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Perfectionnement passif</a:t>
            </a:r>
            <a:endParaRPr lang="fr-FR" dirty="0"/>
          </a:p>
        </p:txBody>
      </p:sp>
      <p:sp>
        <p:nvSpPr>
          <p:cNvPr id="3" name="Content Placeholder 2"/>
          <p:cNvSpPr>
            <a:spLocks noGrp="1"/>
          </p:cNvSpPr>
          <p:nvPr>
            <p:ph idx="1"/>
          </p:nvPr>
        </p:nvSpPr>
        <p:spPr/>
        <p:txBody>
          <a:bodyPr>
            <a:normAutofit lnSpcReduction="10000"/>
          </a:bodyPr>
          <a:lstStyle/>
          <a:p>
            <a:r>
              <a:rPr lang="fr-FR" dirty="0"/>
              <a:t>Le régime du perfectionnement passif permet d'exporter temporairement des marchandises de l'Union hors du territoire douanier de l'Union en vue de les soumettre à des opérations de transformation. </a:t>
            </a:r>
            <a:endParaRPr lang="fr-FR" dirty="0" smtClean="0"/>
          </a:p>
          <a:p>
            <a:r>
              <a:rPr lang="fr-FR" dirty="0" smtClean="0"/>
              <a:t>Les </a:t>
            </a:r>
            <a:r>
              <a:rPr lang="fr-FR" dirty="0"/>
              <a:t>produits transformés résultant de ces opérations peuvent être mis en libre pratique en exonération totale ou partielle des droits à </a:t>
            </a:r>
            <a:r>
              <a:rPr lang="fr-FR" dirty="0" smtClean="0"/>
              <a:t>l'importation.</a:t>
            </a:r>
          </a:p>
          <a:p>
            <a:r>
              <a:rPr lang="fr-FR" dirty="0"/>
              <a:t>Les autorités douanières fixent le délai dans lequel les marchandises d'exportation temporaire doivent être </a:t>
            </a:r>
            <a:r>
              <a:rPr lang="fr-FR" dirty="0" smtClean="0"/>
              <a:t>réimportées sous </a:t>
            </a:r>
            <a:r>
              <a:rPr lang="fr-FR" dirty="0"/>
              <a:t>forme de produits </a:t>
            </a:r>
            <a:r>
              <a:rPr lang="fr-FR" dirty="0" smtClean="0"/>
              <a:t>transformés</a:t>
            </a:r>
            <a:r>
              <a:rPr lang="fr-FR" dirty="0"/>
              <a:t> </a:t>
            </a:r>
            <a:r>
              <a:rPr lang="fr-FR" dirty="0" smtClean="0"/>
              <a:t>(prorogation pour une durée raisonnable possible sur demande justifiée).</a:t>
            </a: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96</a:t>
            </a:fld>
            <a:endParaRPr lang="fr-CH"/>
          </a:p>
        </p:txBody>
      </p:sp>
    </p:spTree>
    <p:extLst>
      <p:ext uri="{BB962C8B-B14F-4D97-AF65-F5344CB8AC3E}">
        <p14:creationId xmlns:p14="http://schemas.microsoft.com/office/powerpoint/2010/main" val="923220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a:t>Perfectionnement </a:t>
            </a:r>
            <a:r>
              <a:rPr lang="fr-FR" dirty="0" smtClean="0"/>
              <a:t>passif-Exclusions</a:t>
            </a:r>
            <a:endParaRPr lang="fr-FR" dirty="0"/>
          </a:p>
        </p:txBody>
      </p:sp>
      <p:sp>
        <p:nvSpPr>
          <p:cNvPr id="3" name="Content Placeholder 2"/>
          <p:cNvSpPr>
            <a:spLocks noGrp="1"/>
          </p:cNvSpPr>
          <p:nvPr>
            <p:ph idx="1"/>
          </p:nvPr>
        </p:nvSpPr>
        <p:spPr/>
        <p:txBody>
          <a:bodyPr>
            <a:normAutofit fontScale="92500" lnSpcReduction="10000"/>
          </a:bodyPr>
          <a:lstStyle/>
          <a:p>
            <a:r>
              <a:rPr lang="fr-FR" dirty="0"/>
              <a:t>Les marchandises de l'Union suivantes ne peuvent pas être placées sous le régime du perfectionnement passif:</a:t>
            </a:r>
          </a:p>
          <a:p>
            <a:pPr lvl="1"/>
            <a:r>
              <a:rPr lang="fr-FR" dirty="0" smtClean="0"/>
              <a:t>les </a:t>
            </a:r>
            <a:r>
              <a:rPr lang="fr-FR" dirty="0"/>
              <a:t>marchandises dont l'exportation donne lieu à un remboursement ou à une remise des droits à l'importation</a:t>
            </a:r>
            <a:r>
              <a:rPr lang="fr-FR" dirty="0" smtClean="0"/>
              <a:t>;</a:t>
            </a:r>
          </a:p>
          <a:p>
            <a:pPr lvl="1"/>
            <a:r>
              <a:rPr lang="fr-FR" dirty="0"/>
              <a:t>les marchandises qui, préalablement à leur exportation, avaient été mises en libre pratique en exonération ou à un taux réduit de droits en raison de leur destination particulière, aussi longtemps que les finalités de cette destination particulière ne sont pas remplies, à moins que ces marchandises ne doivent subir des opérations de </a:t>
            </a:r>
            <a:r>
              <a:rPr lang="fr-FR" dirty="0" smtClean="0"/>
              <a:t>réparation;</a:t>
            </a:r>
          </a:p>
          <a:p>
            <a:pPr lvl="1"/>
            <a:r>
              <a:rPr lang="fr-FR" dirty="0" smtClean="0"/>
              <a:t>les </a:t>
            </a:r>
            <a:r>
              <a:rPr lang="fr-FR" dirty="0"/>
              <a:t>marchandises dont l'exportation donne lieu à l'octroi de restitutions à l'exportation;</a:t>
            </a:r>
          </a:p>
          <a:p>
            <a:pPr lvl="1"/>
            <a:r>
              <a:rPr lang="fr-FR" dirty="0" smtClean="0"/>
              <a:t>les </a:t>
            </a:r>
            <a:r>
              <a:rPr lang="fr-FR" dirty="0"/>
              <a:t>marchandises pour lesquelles un avantage financier </a:t>
            </a:r>
            <a:r>
              <a:rPr lang="fr-FR" dirty="0" smtClean="0"/>
              <a:t>est </a:t>
            </a:r>
            <a:r>
              <a:rPr lang="fr-FR" dirty="0"/>
              <a:t>octroyé dans le cadre de la politique agricole commune en raison de l'exportation de ces marchandises.</a:t>
            </a:r>
          </a:p>
        </p:txBody>
      </p:sp>
      <p:sp>
        <p:nvSpPr>
          <p:cNvPr id="4" name="Slide Number Placeholder 3"/>
          <p:cNvSpPr>
            <a:spLocks noGrp="1"/>
          </p:cNvSpPr>
          <p:nvPr>
            <p:ph type="sldNum" sz="quarter" idx="12"/>
          </p:nvPr>
        </p:nvSpPr>
        <p:spPr/>
        <p:txBody>
          <a:bodyPr/>
          <a:lstStyle/>
          <a:p>
            <a:fld id="{AC11F01A-B187-4E96-A42F-7B20626A13B5}" type="slidenum">
              <a:rPr lang="fr-CH" smtClean="0"/>
              <a:t>97</a:t>
            </a:fld>
            <a:endParaRPr lang="fr-CH"/>
          </a:p>
        </p:txBody>
      </p:sp>
    </p:spTree>
    <p:extLst>
      <p:ext uri="{BB962C8B-B14F-4D97-AF65-F5344CB8AC3E}">
        <p14:creationId xmlns:p14="http://schemas.microsoft.com/office/powerpoint/2010/main" val="4202090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Perfectionnement passif-Marchandises </a:t>
            </a:r>
            <a:r>
              <a:rPr lang="fr-FR" dirty="0"/>
              <a:t>réparées gratuitement</a:t>
            </a:r>
          </a:p>
        </p:txBody>
      </p:sp>
      <p:sp>
        <p:nvSpPr>
          <p:cNvPr id="3" name="Content Placeholder 2"/>
          <p:cNvSpPr>
            <a:spLocks noGrp="1"/>
          </p:cNvSpPr>
          <p:nvPr>
            <p:ph idx="1"/>
          </p:nvPr>
        </p:nvSpPr>
        <p:spPr/>
        <p:txBody>
          <a:bodyPr/>
          <a:lstStyle/>
          <a:p>
            <a:r>
              <a:rPr lang="fr-FR" dirty="0"/>
              <a:t>Des marchandises bénéficient d'une exonération totale des droits à l'importation s'il est </a:t>
            </a:r>
            <a:r>
              <a:rPr lang="fr-FR" dirty="0" smtClean="0"/>
              <a:t>établi </a:t>
            </a:r>
            <a:r>
              <a:rPr lang="fr-FR" dirty="0"/>
              <a:t>qu'elles ont été réparées gratuitement, soit en raison d'une obligation contractuelle ou légale de garantie, soit par suite de l'existence d'un vice de fabrication ou d'un défaut matériel</a:t>
            </a:r>
            <a:r>
              <a:rPr lang="fr-FR" dirty="0" smtClean="0"/>
              <a:t>.</a:t>
            </a:r>
          </a:p>
          <a:p>
            <a:r>
              <a:rPr lang="fr-FR" dirty="0" smtClean="0"/>
              <a:t>Pas </a:t>
            </a:r>
            <a:r>
              <a:rPr lang="fr-FR" dirty="0"/>
              <a:t>applicable lorsqu'il a été tenu compte du vice de fabrication ou du défaut matériel au moment de la première mise en libre pratique des marchandises en </a:t>
            </a:r>
            <a:r>
              <a:rPr lang="fr-FR" dirty="0" smtClean="0"/>
              <a:t>question.</a:t>
            </a: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98</a:t>
            </a:fld>
            <a:endParaRPr lang="fr-CH"/>
          </a:p>
        </p:txBody>
      </p:sp>
    </p:spTree>
    <p:extLst>
      <p:ext uri="{BB962C8B-B14F-4D97-AF65-F5344CB8AC3E}">
        <p14:creationId xmlns:p14="http://schemas.microsoft.com/office/powerpoint/2010/main" val="3778590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Perfectionnement passif-Système </a:t>
            </a:r>
            <a:r>
              <a:rPr lang="fr-FR" dirty="0"/>
              <a:t>des échanges </a:t>
            </a:r>
            <a:r>
              <a:rPr lang="fr-FR" dirty="0" smtClean="0"/>
              <a:t>standard 1/2</a:t>
            </a:r>
            <a:endParaRPr lang="fr-FR" dirty="0"/>
          </a:p>
        </p:txBody>
      </p:sp>
      <p:sp>
        <p:nvSpPr>
          <p:cNvPr id="3" name="Content Placeholder 2"/>
          <p:cNvSpPr>
            <a:spLocks noGrp="1"/>
          </p:cNvSpPr>
          <p:nvPr>
            <p:ph idx="1"/>
          </p:nvPr>
        </p:nvSpPr>
        <p:spPr/>
        <p:txBody>
          <a:bodyPr/>
          <a:lstStyle/>
          <a:p>
            <a:r>
              <a:rPr lang="fr-FR" dirty="0"/>
              <a:t>Le système des échanges standard </a:t>
            </a:r>
            <a:r>
              <a:rPr lang="fr-FR" dirty="0" smtClean="0"/>
              <a:t>permet de </a:t>
            </a:r>
            <a:r>
              <a:rPr lang="fr-FR" dirty="0"/>
              <a:t>substituer un produit importé </a:t>
            </a:r>
            <a:r>
              <a:rPr lang="fr-FR" dirty="0" smtClean="0"/>
              <a:t>("</a:t>
            </a:r>
            <a:r>
              <a:rPr lang="fr-FR" dirty="0"/>
              <a:t>produit de remplacement") à un produit compensateur</a:t>
            </a:r>
            <a:r>
              <a:rPr lang="fr-FR" dirty="0" smtClean="0"/>
              <a:t>.</a:t>
            </a:r>
          </a:p>
          <a:p>
            <a:r>
              <a:rPr lang="fr-FR" dirty="0"/>
              <a:t>Les autorités douanières </a:t>
            </a:r>
            <a:r>
              <a:rPr lang="fr-FR" dirty="0" smtClean="0"/>
              <a:t>permettent le </a:t>
            </a:r>
            <a:r>
              <a:rPr lang="fr-FR" dirty="0"/>
              <a:t>recours au système des échanges standard </a:t>
            </a:r>
            <a:r>
              <a:rPr lang="fr-FR" dirty="0" smtClean="0"/>
              <a:t>lorsque </a:t>
            </a:r>
            <a:r>
              <a:rPr lang="fr-FR" dirty="0"/>
              <a:t>l'opération de transformation consiste en une réparation de marchandises de l'Union </a:t>
            </a:r>
            <a:r>
              <a:rPr lang="fr-FR" dirty="0" smtClean="0"/>
              <a:t>défectueuses.</a:t>
            </a:r>
          </a:p>
          <a:p>
            <a:r>
              <a:rPr lang="fr-FR" dirty="0"/>
              <a:t>Les produits de remplacement </a:t>
            </a:r>
            <a:r>
              <a:rPr lang="fr-FR" dirty="0" smtClean="0"/>
              <a:t>doivent:</a:t>
            </a:r>
          </a:p>
          <a:p>
            <a:pPr lvl="1"/>
            <a:r>
              <a:rPr lang="fr-FR" dirty="0" smtClean="0"/>
              <a:t>relever </a:t>
            </a:r>
            <a:r>
              <a:rPr lang="fr-FR" dirty="0"/>
              <a:t>du même code </a:t>
            </a:r>
            <a:r>
              <a:rPr lang="fr-FR" dirty="0" smtClean="0"/>
              <a:t>de </a:t>
            </a:r>
            <a:r>
              <a:rPr lang="fr-FR" dirty="0"/>
              <a:t>la nomenclature combinée, </a:t>
            </a:r>
            <a:endParaRPr lang="fr-FR" dirty="0" smtClean="0"/>
          </a:p>
          <a:p>
            <a:pPr lvl="1"/>
            <a:r>
              <a:rPr lang="fr-FR" dirty="0" smtClean="0"/>
              <a:t>être </a:t>
            </a:r>
            <a:r>
              <a:rPr lang="fr-FR" dirty="0"/>
              <a:t>de même qualité commerciale </a:t>
            </a:r>
            <a:endParaRPr lang="fr-FR" dirty="0" smtClean="0"/>
          </a:p>
          <a:p>
            <a:pPr lvl="1"/>
            <a:r>
              <a:rPr lang="fr-FR" dirty="0" smtClean="0"/>
              <a:t>et </a:t>
            </a:r>
            <a:r>
              <a:rPr lang="fr-FR" dirty="0"/>
              <a:t>présenter les mêmes caractéristiques techniques que les marchandises défectueuses si ces dernières avaient fait l'objet d'une réparation.</a:t>
            </a:r>
          </a:p>
        </p:txBody>
      </p:sp>
      <p:sp>
        <p:nvSpPr>
          <p:cNvPr id="4" name="Slide Number Placeholder 3"/>
          <p:cNvSpPr>
            <a:spLocks noGrp="1"/>
          </p:cNvSpPr>
          <p:nvPr>
            <p:ph type="sldNum" sz="quarter" idx="12"/>
          </p:nvPr>
        </p:nvSpPr>
        <p:spPr/>
        <p:txBody>
          <a:bodyPr/>
          <a:lstStyle/>
          <a:p>
            <a:fld id="{AC11F01A-B187-4E96-A42F-7B20626A13B5}" type="slidenum">
              <a:rPr lang="fr-CH" smtClean="0"/>
              <a:t>99</a:t>
            </a:fld>
            <a:endParaRPr lang="fr-CH"/>
          </a:p>
        </p:txBody>
      </p:sp>
    </p:spTree>
    <p:extLst>
      <p:ext uri="{BB962C8B-B14F-4D97-AF65-F5344CB8AC3E}">
        <p14:creationId xmlns:p14="http://schemas.microsoft.com/office/powerpoint/2010/main" val="1112895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Perfectionnement actif-Système </a:t>
            </a:r>
            <a:r>
              <a:rPr lang="fr-FR" dirty="0"/>
              <a:t>des échanges standard </a:t>
            </a:r>
            <a:r>
              <a:rPr lang="fr-FR" dirty="0" smtClean="0"/>
              <a:t>2/2</a:t>
            </a:r>
            <a:endParaRPr lang="fr-FR" dirty="0"/>
          </a:p>
        </p:txBody>
      </p:sp>
      <p:sp>
        <p:nvSpPr>
          <p:cNvPr id="3" name="Content Placeholder 2"/>
          <p:cNvSpPr>
            <a:spLocks noGrp="1"/>
          </p:cNvSpPr>
          <p:nvPr>
            <p:ph idx="1"/>
          </p:nvPr>
        </p:nvSpPr>
        <p:spPr/>
        <p:txBody>
          <a:bodyPr/>
          <a:lstStyle/>
          <a:p>
            <a:r>
              <a:rPr lang="fr-FR" dirty="0"/>
              <a:t>Si les marchandises défectueuses ont été utilisées avant l'exportation, les produits de remplacement doivent aussi l'avoir été.</a:t>
            </a:r>
          </a:p>
          <a:p>
            <a:r>
              <a:rPr lang="fr-FR" dirty="0" smtClean="0"/>
              <a:t>Dérogation si </a:t>
            </a:r>
            <a:r>
              <a:rPr lang="fr-FR" dirty="0"/>
              <a:t>le produit de remplacement a été livré </a:t>
            </a:r>
            <a:r>
              <a:rPr lang="fr-FR" dirty="0" smtClean="0"/>
              <a:t>gratuitement:</a:t>
            </a:r>
          </a:p>
          <a:p>
            <a:pPr lvl="1"/>
            <a:r>
              <a:rPr lang="fr-FR" dirty="0" smtClean="0"/>
              <a:t>soit </a:t>
            </a:r>
            <a:r>
              <a:rPr lang="fr-FR" dirty="0"/>
              <a:t>en raison d'une obligation contractuelle ou légale de garantie, </a:t>
            </a:r>
            <a:endParaRPr lang="fr-FR" dirty="0" smtClean="0"/>
          </a:p>
          <a:p>
            <a:pPr lvl="1"/>
            <a:r>
              <a:rPr lang="fr-FR" dirty="0" smtClean="0"/>
              <a:t>soit </a:t>
            </a:r>
            <a:r>
              <a:rPr lang="fr-FR" dirty="0"/>
              <a:t>par suite de l'existence d'un défaut matériel ou d'un vice de fabrication.</a:t>
            </a:r>
          </a:p>
        </p:txBody>
      </p:sp>
      <p:sp>
        <p:nvSpPr>
          <p:cNvPr id="4" name="Slide Number Placeholder 3"/>
          <p:cNvSpPr>
            <a:spLocks noGrp="1"/>
          </p:cNvSpPr>
          <p:nvPr>
            <p:ph type="sldNum" sz="quarter" idx="12"/>
          </p:nvPr>
        </p:nvSpPr>
        <p:spPr/>
        <p:txBody>
          <a:bodyPr/>
          <a:lstStyle/>
          <a:p>
            <a:fld id="{AC11F01A-B187-4E96-A42F-7B20626A13B5}" type="slidenum">
              <a:rPr lang="fr-CH" smtClean="0"/>
              <a:t>100</a:t>
            </a:fld>
            <a:endParaRPr lang="fr-CH"/>
          </a:p>
        </p:txBody>
      </p:sp>
    </p:spTree>
    <p:extLst>
      <p:ext uri="{BB962C8B-B14F-4D97-AF65-F5344CB8AC3E}">
        <p14:creationId xmlns:p14="http://schemas.microsoft.com/office/powerpoint/2010/main" val="213291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Perfectionnement passif-Importation </a:t>
            </a:r>
            <a:r>
              <a:rPr lang="fr-FR" dirty="0"/>
              <a:t>préalable de produits de remplacement</a:t>
            </a:r>
          </a:p>
        </p:txBody>
      </p:sp>
      <p:sp>
        <p:nvSpPr>
          <p:cNvPr id="3" name="Content Placeholder 2"/>
          <p:cNvSpPr>
            <a:spLocks noGrp="1"/>
          </p:cNvSpPr>
          <p:nvPr>
            <p:ph idx="1"/>
          </p:nvPr>
        </p:nvSpPr>
        <p:spPr/>
        <p:txBody>
          <a:bodyPr>
            <a:normAutofit lnSpcReduction="10000"/>
          </a:bodyPr>
          <a:lstStyle/>
          <a:p>
            <a:r>
              <a:rPr lang="fr-FR" dirty="0"/>
              <a:t>Les autorités douanières </a:t>
            </a:r>
            <a:r>
              <a:rPr lang="fr-FR" dirty="0" smtClean="0"/>
              <a:t>peuvent autoriser que </a:t>
            </a:r>
            <a:r>
              <a:rPr lang="fr-FR" dirty="0"/>
              <a:t>les produits de remplacement soient importés préalablement à l'exportation des marchandises </a:t>
            </a:r>
            <a:r>
              <a:rPr lang="fr-FR" dirty="0" smtClean="0"/>
              <a:t>défectueuses -&gt;PPV IM-EX.</a:t>
            </a:r>
          </a:p>
          <a:p>
            <a:r>
              <a:rPr lang="fr-FR" dirty="0"/>
              <a:t>En cas d'importation préalable d'un produit de remplacement, une garantie est constituée, couvrant le montant du droit à l'importation qui serait exigible si les marchandises défectueuses n'étaient pas </a:t>
            </a:r>
            <a:r>
              <a:rPr lang="fr-FR" dirty="0" smtClean="0"/>
              <a:t>exportées.</a:t>
            </a:r>
          </a:p>
          <a:p>
            <a:r>
              <a:rPr lang="fr-FR" dirty="0"/>
              <a:t>L'exportation des marchandises défectueuses est réalisée dans un délai de deux mois à compter de </a:t>
            </a:r>
            <a:r>
              <a:rPr lang="fr-FR" dirty="0" smtClean="0"/>
              <a:t>l'acceptation de </a:t>
            </a:r>
            <a:r>
              <a:rPr lang="fr-FR" dirty="0"/>
              <a:t>la déclaration de mise en libre pratique des produits de </a:t>
            </a:r>
            <a:r>
              <a:rPr lang="fr-FR" dirty="0" smtClean="0"/>
              <a:t>remplacement (prorogation possible pour une durée raisonnable sur demande justifiée).</a:t>
            </a: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101</a:t>
            </a:fld>
            <a:endParaRPr lang="fr-CH"/>
          </a:p>
        </p:txBody>
      </p:sp>
    </p:spTree>
    <p:extLst>
      <p:ext uri="{BB962C8B-B14F-4D97-AF65-F5344CB8AC3E}">
        <p14:creationId xmlns:p14="http://schemas.microsoft.com/office/powerpoint/2010/main" val="214669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Régimes particuliers: Autorisation </a:t>
            </a:r>
            <a:endParaRPr lang="fr-FR" dirty="0"/>
          </a:p>
        </p:txBody>
      </p:sp>
      <p:sp>
        <p:nvSpPr>
          <p:cNvPr id="3" name="Content Placeholder 2"/>
          <p:cNvSpPr>
            <a:spLocks noGrp="1"/>
          </p:cNvSpPr>
          <p:nvPr>
            <p:ph idx="1"/>
          </p:nvPr>
        </p:nvSpPr>
        <p:spPr/>
        <p:txBody>
          <a:bodyPr/>
          <a:lstStyle/>
          <a:p>
            <a:r>
              <a:rPr lang="fr-FR" dirty="0" smtClean="0"/>
              <a:t>Requise pour:</a:t>
            </a:r>
          </a:p>
          <a:p>
            <a:endParaRPr lang="fr-FR" dirty="0" smtClean="0"/>
          </a:p>
          <a:p>
            <a:pPr lvl="1"/>
            <a:r>
              <a:rPr lang="fr-FR" dirty="0" smtClean="0"/>
              <a:t>Entrepôt douanier</a:t>
            </a:r>
          </a:p>
          <a:p>
            <a:pPr lvl="1"/>
            <a:r>
              <a:rPr lang="fr-FR" dirty="0"/>
              <a:t>Admission temporaire</a:t>
            </a:r>
          </a:p>
          <a:p>
            <a:pPr lvl="1"/>
            <a:r>
              <a:rPr lang="fr-FR" dirty="0"/>
              <a:t>Destination particulière</a:t>
            </a:r>
          </a:p>
          <a:p>
            <a:pPr lvl="1"/>
            <a:r>
              <a:rPr lang="fr-FR" dirty="0"/>
              <a:t>Perfectionnement actif</a:t>
            </a:r>
          </a:p>
          <a:p>
            <a:pPr lvl="1"/>
            <a:r>
              <a:rPr lang="fr-FR" dirty="0"/>
              <a:t>Perfectionnement passif</a:t>
            </a:r>
          </a:p>
          <a:p>
            <a:pPr lvl="1"/>
            <a:endParaRPr lang="fr-FR" dirty="0" smtClean="0"/>
          </a:p>
          <a:p>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102</a:t>
            </a:fld>
            <a:endParaRPr lang="fr-CH"/>
          </a:p>
        </p:txBody>
      </p:sp>
    </p:spTree>
    <p:extLst>
      <p:ext uri="{BB962C8B-B14F-4D97-AF65-F5344CB8AC3E}">
        <p14:creationId xmlns:p14="http://schemas.microsoft.com/office/powerpoint/2010/main" val="166829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Autorisation Régime particulier-Conditions</a:t>
            </a:r>
            <a:endParaRPr lang="fr-FR" dirty="0"/>
          </a:p>
        </p:txBody>
      </p:sp>
      <p:sp>
        <p:nvSpPr>
          <p:cNvPr id="3" name="Content Placeholder 2"/>
          <p:cNvSpPr>
            <a:spLocks noGrp="1"/>
          </p:cNvSpPr>
          <p:nvPr>
            <p:ph idx="1"/>
          </p:nvPr>
        </p:nvSpPr>
        <p:spPr/>
        <p:txBody>
          <a:bodyPr>
            <a:normAutofit/>
          </a:bodyPr>
          <a:lstStyle/>
          <a:p>
            <a:r>
              <a:rPr lang="fr-FR" dirty="0"/>
              <a:t>Sauf dispositions </a:t>
            </a:r>
            <a:r>
              <a:rPr lang="fr-FR" dirty="0" smtClean="0"/>
              <a:t>contraires, l'autorisation n'est </a:t>
            </a:r>
            <a:r>
              <a:rPr lang="fr-FR" dirty="0"/>
              <a:t>accordée que si toutes les conditions suivantes sont réunies:</a:t>
            </a:r>
          </a:p>
          <a:p>
            <a:pPr lvl="1"/>
            <a:r>
              <a:rPr lang="fr-FR" dirty="0" smtClean="0"/>
              <a:t>les </a:t>
            </a:r>
            <a:r>
              <a:rPr lang="fr-FR" dirty="0"/>
              <a:t>autorités douanières peuvent assurer la surveillance douanière sans devoir mettre en place un dispositif administratif disproportionné par rapport aux besoins économiques en question;</a:t>
            </a:r>
          </a:p>
          <a:p>
            <a:pPr lvl="1"/>
            <a:r>
              <a:rPr lang="fr-FR" dirty="0" smtClean="0"/>
              <a:t>les </a:t>
            </a:r>
            <a:r>
              <a:rPr lang="fr-FR" dirty="0"/>
              <a:t>intérêts essentiels des producteurs de l'Union ne risquent pas d'être affectés négativement par une autorisation de placement sous un régime de transformation (conditions économiques</a:t>
            </a:r>
            <a:r>
              <a:rPr lang="fr-FR" dirty="0" smtClean="0"/>
              <a:t>).</a:t>
            </a:r>
          </a:p>
          <a:p>
            <a:r>
              <a:rPr lang="fr-FR" dirty="0" smtClean="0"/>
              <a:t>Lorsqu'il </a:t>
            </a:r>
            <a:r>
              <a:rPr lang="fr-FR" dirty="0"/>
              <a:t>est prouvé que les intérêts essentiels des producteurs de l'Union risquent d'être affectés négativement, un examen des conditions économiques est opéré au niveau de l'Union.</a:t>
            </a:r>
          </a:p>
        </p:txBody>
      </p:sp>
      <p:sp>
        <p:nvSpPr>
          <p:cNvPr id="4" name="Slide Number Placeholder 3"/>
          <p:cNvSpPr>
            <a:spLocks noGrp="1"/>
          </p:cNvSpPr>
          <p:nvPr>
            <p:ph type="sldNum" sz="quarter" idx="12"/>
          </p:nvPr>
        </p:nvSpPr>
        <p:spPr/>
        <p:txBody>
          <a:bodyPr/>
          <a:lstStyle/>
          <a:p>
            <a:fld id="{AC11F01A-B187-4E96-A42F-7B20626A13B5}" type="slidenum">
              <a:rPr lang="fr-CH" smtClean="0"/>
              <a:t>103</a:t>
            </a:fld>
            <a:endParaRPr lang="fr-CH"/>
          </a:p>
        </p:txBody>
      </p:sp>
    </p:spTree>
    <p:extLst>
      <p:ext uri="{BB962C8B-B14F-4D97-AF65-F5344CB8AC3E}">
        <p14:creationId xmlns:p14="http://schemas.microsoft.com/office/powerpoint/2010/main" val="32631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290069" cy="1325563"/>
          </a:xfrm>
        </p:spPr>
        <p:txBody>
          <a:bodyPr/>
          <a:lstStyle/>
          <a:p>
            <a:r>
              <a:rPr lang="fr-FR" dirty="0" smtClean="0"/>
              <a:t>Autorisation avec effet rétroactif – Conditions 1/2</a:t>
            </a:r>
            <a:endParaRPr lang="fr-FR" dirty="0"/>
          </a:p>
        </p:txBody>
      </p:sp>
      <p:sp>
        <p:nvSpPr>
          <p:cNvPr id="3" name="Content Placeholder 2"/>
          <p:cNvSpPr>
            <a:spLocks noGrp="1"/>
          </p:cNvSpPr>
          <p:nvPr>
            <p:ph idx="1"/>
          </p:nvPr>
        </p:nvSpPr>
        <p:spPr/>
        <p:txBody>
          <a:bodyPr>
            <a:normAutofit lnSpcReduction="10000"/>
          </a:bodyPr>
          <a:lstStyle/>
          <a:p>
            <a:r>
              <a:rPr lang="fr-FR" dirty="0" smtClean="0"/>
              <a:t>Besoin </a:t>
            </a:r>
            <a:r>
              <a:rPr lang="fr-FR" dirty="0"/>
              <a:t>économique démontré;</a:t>
            </a:r>
          </a:p>
          <a:p>
            <a:r>
              <a:rPr lang="fr-FR" dirty="0"/>
              <a:t>D</a:t>
            </a:r>
            <a:r>
              <a:rPr lang="fr-FR" dirty="0" smtClean="0"/>
              <a:t>emande </a:t>
            </a:r>
            <a:r>
              <a:rPr lang="fr-FR" dirty="0"/>
              <a:t>n'est pas liée à une tentative de </a:t>
            </a:r>
            <a:r>
              <a:rPr lang="fr-FR" dirty="0" smtClean="0"/>
              <a:t>manœuvre;</a:t>
            </a:r>
            <a:endParaRPr lang="fr-FR" dirty="0"/>
          </a:p>
          <a:p>
            <a:r>
              <a:rPr lang="fr-FR" dirty="0" smtClean="0"/>
              <a:t>Le demandeur </a:t>
            </a:r>
            <a:r>
              <a:rPr lang="fr-FR" dirty="0"/>
              <a:t>a démontré sur la base de la comptabilité ou d'écritures que</a:t>
            </a:r>
            <a:r>
              <a:rPr lang="fr-FR" dirty="0" smtClean="0"/>
              <a:t>:</a:t>
            </a:r>
          </a:p>
          <a:p>
            <a:pPr lvl="1"/>
            <a:r>
              <a:rPr lang="fr-FR" dirty="0"/>
              <a:t>toutes les exigences du régime sont respectées;</a:t>
            </a:r>
          </a:p>
          <a:p>
            <a:pPr lvl="1"/>
            <a:r>
              <a:rPr lang="fr-FR" dirty="0" smtClean="0"/>
              <a:t>le </a:t>
            </a:r>
            <a:r>
              <a:rPr lang="fr-FR" dirty="0"/>
              <a:t>cas échéant, les marchandises peuvent être identifiées pour la période concernée;</a:t>
            </a:r>
          </a:p>
          <a:p>
            <a:pPr lvl="1"/>
            <a:r>
              <a:rPr lang="fr-FR" dirty="0" smtClean="0"/>
              <a:t>les </a:t>
            </a:r>
            <a:r>
              <a:rPr lang="fr-FR" dirty="0"/>
              <a:t>comptes et écritures précités permettent de vérifier le régime</a:t>
            </a:r>
            <a:r>
              <a:rPr lang="fr-FR" dirty="0" smtClean="0"/>
              <a:t>;</a:t>
            </a:r>
          </a:p>
          <a:p>
            <a:r>
              <a:rPr lang="fr-FR" dirty="0"/>
              <a:t>T</a:t>
            </a:r>
            <a:r>
              <a:rPr lang="fr-FR" dirty="0" smtClean="0"/>
              <a:t>outes </a:t>
            </a:r>
            <a:r>
              <a:rPr lang="fr-FR" dirty="0"/>
              <a:t>les formalités nécessaires pour régulariser la situation des marchandises peuvent être accomplies, y compris, le cas échéant, l'invalidation de la déclaration en douane concernée;</a:t>
            </a:r>
          </a:p>
        </p:txBody>
      </p:sp>
      <p:sp>
        <p:nvSpPr>
          <p:cNvPr id="4" name="Slide Number Placeholder 3"/>
          <p:cNvSpPr>
            <a:spLocks noGrp="1"/>
          </p:cNvSpPr>
          <p:nvPr>
            <p:ph type="sldNum" sz="quarter" idx="12"/>
          </p:nvPr>
        </p:nvSpPr>
        <p:spPr/>
        <p:txBody>
          <a:bodyPr/>
          <a:lstStyle/>
          <a:p>
            <a:fld id="{AC11F01A-B187-4E96-A42F-7B20626A13B5}" type="slidenum">
              <a:rPr lang="fr-CH" smtClean="0"/>
              <a:t>104</a:t>
            </a:fld>
            <a:endParaRPr lang="fr-CH"/>
          </a:p>
        </p:txBody>
      </p:sp>
    </p:spTree>
    <p:extLst>
      <p:ext uri="{BB962C8B-B14F-4D97-AF65-F5344CB8AC3E}">
        <p14:creationId xmlns:p14="http://schemas.microsoft.com/office/powerpoint/2010/main" val="696733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199" y="365125"/>
            <a:ext cx="11290069" cy="1325563"/>
          </a:xfrm>
        </p:spPr>
        <p:txBody>
          <a:bodyPr/>
          <a:lstStyle/>
          <a:p>
            <a:r>
              <a:rPr lang="fr-FR" dirty="0"/>
              <a:t>Autorisation avec effet rétroactif – Conditions </a:t>
            </a:r>
            <a:r>
              <a:rPr lang="fr-FR" dirty="0" smtClean="0"/>
              <a:t>2/2</a:t>
            </a:r>
            <a:endParaRPr lang="fr-FR" dirty="0"/>
          </a:p>
        </p:txBody>
      </p:sp>
      <p:sp>
        <p:nvSpPr>
          <p:cNvPr id="3" name="Content Placeholder 2"/>
          <p:cNvSpPr>
            <a:spLocks noGrp="1"/>
          </p:cNvSpPr>
          <p:nvPr>
            <p:ph idx="1"/>
          </p:nvPr>
        </p:nvSpPr>
        <p:spPr>
          <a:xfrm>
            <a:off x="838200" y="1825625"/>
            <a:ext cx="10515600" cy="4566862"/>
          </a:xfrm>
        </p:spPr>
        <p:txBody>
          <a:bodyPr>
            <a:normAutofit fontScale="85000" lnSpcReduction="10000"/>
          </a:bodyPr>
          <a:lstStyle/>
          <a:p>
            <a:r>
              <a:rPr lang="fr-FR" dirty="0"/>
              <a:t>A</a:t>
            </a:r>
            <a:r>
              <a:rPr lang="fr-FR" dirty="0" smtClean="0"/>
              <a:t>ucune </a:t>
            </a:r>
            <a:r>
              <a:rPr lang="fr-FR" dirty="0"/>
              <a:t>autorisation avec effet rétroactif n'a été accordée au demandeur dans un délai de trois ans à compter de la date à laquelle la demande a été acceptée;</a:t>
            </a:r>
          </a:p>
          <a:p>
            <a:r>
              <a:rPr lang="fr-FR" dirty="0"/>
              <a:t>U</a:t>
            </a:r>
            <a:r>
              <a:rPr lang="fr-FR" dirty="0" smtClean="0"/>
              <a:t>n </a:t>
            </a:r>
            <a:r>
              <a:rPr lang="fr-FR" dirty="0"/>
              <a:t>examen des conditions économiques n'est pas </a:t>
            </a:r>
            <a:r>
              <a:rPr lang="fr-FR" dirty="0" smtClean="0"/>
              <a:t>requis. Lorsque la </a:t>
            </a:r>
            <a:r>
              <a:rPr lang="fr-FR" dirty="0"/>
              <a:t>demande porte sur le renouvellement d'une autorisation couvrant le même type d'opérations ou de </a:t>
            </a:r>
            <a:r>
              <a:rPr lang="fr-FR" dirty="0" smtClean="0"/>
              <a:t>marchandises, cet examen n’est pas requis;</a:t>
            </a:r>
            <a:endParaRPr lang="fr-FR" dirty="0"/>
          </a:p>
          <a:p>
            <a:r>
              <a:rPr lang="fr-FR" dirty="0"/>
              <a:t>L</a:t>
            </a:r>
            <a:r>
              <a:rPr lang="fr-FR" dirty="0" smtClean="0"/>
              <a:t>a </a:t>
            </a:r>
            <a:r>
              <a:rPr lang="fr-FR" dirty="0"/>
              <a:t>demande ne concerne pas l'exploitation d'installations de stockage pour l'entrepôt douanier de marchandises;</a:t>
            </a:r>
          </a:p>
          <a:p>
            <a:r>
              <a:rPr lang="fr-FR" dirty="0"/>
              <a:t>L</a:t>
            </a:r>
            <a:r>
              <a:rPr lang="fr-FR" dirty="0" smtClean="0"/>
              <a:t>orsque </a:t>
            </a:r>
            <a:r>
              <a:rPr lang="fr-FR" dirty="0"/>
              <a:t>la demande concerne le renouvellement d'une autorisation couvrant le même type d'opérations et de marchandises, elle est présentée dans un délai de trois ans à compter de la cessation de la validité de l'autorisation initiale</a:t>
            </a:r>
            <a:r>
              <a:rPr lang="fr-FR" dirty="0" smtClean="0"/>
              <a:t>.</a:t>
            </a:r>
          </a:p>
          <a:p>
            <a:r>
              <a:rPr lang="fr-CH" dirty="0"/>
              <a:t>Les autorités douanières peuvent également accorder une </a:t>
            </a:r>
            <a:r>
              <a:rPr lang="fr-CH" dirty="0" smtClean="0"/>
              <a:t>telle autorisation lorsque </a:t>
            </a:r>
            <a:r>
              <a:rPr lang="fr-CH" dirty="0"/>
              <a:t>les marchandises qui ont été placées sous un </a:t>
            </a:r>
            <a:r>
              <a:rPr lang="fr-CH" dirty="0" smtClean="0"/>
              <a:t>régime </a:t>
            </a:r>
            <a:r>
              <a:rPr lang="fr-CH" dirty="0"/>
              <a:t>douanier ne sont plus disponibles au moment où la demande </a:t>
            </a:r>
            <a:r>
              <a:rPr lang="fr-CH" dirty="0" smtClean="0"/>
              <a:t>d'autorisation </a:t>
            </a:r>
            <a:r>
              <a:rPr lang="fr-CH" dirty="0"/>
              <a:t>a été </a:t>
            </a:r>
            <a:r>
              <a:rPr lang="fr-CH" dirty="0" smtClean="0"/>
              <a:t>acceptée.</a:t>
            </a: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105</a:t>
            </a:fld>
            <a:endParaRPr lang="fr-CH"/>
          </a:p>
        </p:txBody>
      </p:sp>
    </p:spTree>
    <p:extLst>
      <p:ext uri="{BB962C8B-B14F-4D97-AF65-F5344CB8AC3E}">
        <p14:creationId xmlns:p14="http://schemas.microsoft.com/office/powerpoint/2010/main" val="595694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CH" dirty="0" smtClean="0"/>
              <a:t>Autorisations: Demandeur </a:t>
            </a:r>
            <a:r>
              <a:rPr lang="fr-CH" dirty="0"/>
              <a:t>établi hors du territoire douanier de l’Union</a:t>
            </a:r>
          </a:p>
        </p:txBody>
      </p:sp>
      <p:sp>
        <p:nvSpPr>
          <p:cNvPr id="3" name="Content Placeholder 2"/>
          <p:cNvSpPr>
            <a:spLocks noGrp="1"/>
          </p:cNvSpPr>
          <p:nvPr>
            <p:ph idx="1"/>
          </p:nvPr>
        </p:nvSpPr>
        <p:spPr/>
        <p:txBody>
          <a:bodyPr/>
          <a:lstStyle/>
          <a:p>
            <a:r>
              <a:rPr lang="fr-CH" dirty="0" smtClean="0"/>
              <a:t>En général, le titulaire du régime de l’admission temporaire est établi en dehors du territoire douanier de l’Union, à moins qu’il n’en soit disposé autrement. </a:t>
            </a:r>
          </a:p>
          <a:p>
            <a:r>
              <a:rPr lang="fr-CH" dirty="0" smtClean="0"/>
              <a:t>Les autorités douanières peuvent occasionnellement, lorsqu’elles l’estiment justifié, accorder une autorisation de recours au régime de la destination particulière ou au régime du perfectionnement actif à des personnes établies hors du territoire douanier de l’Union.</a:t>
            </a:r>
          </a:p>
          <a:p>
            <a:r>
              <a:rPr lang="en-US" dirty="0" smtClean="0"/>
              <a:t>Lieu </a:t>
            </a:r>
            <a:r>
              <a:rPr lang="en-US" dirty="0" err="1" smtClean="0"/>
              <a:t>d’introduction</a:t>
            </a:r>
            <a:r>
              <a:rPr lang="en-US" dirty="0" smtClean="0"/>
              <a:t> </a:t>
            </a:r>
            <a:r>
              <a:rPr lang="en-US" dirty="0" err="1" smtClean="0"/>
              <a:t>d’une</a:t>
            </a:r>
            <a:r>
              <a:rPr lang="en-US" dirty="0" smtClean="0"/>
              <a:t> </a:t>
            </a:r>
            <a:r>
              <a:rPr lang="en-US" dirty="0" err="1" smtClean="0"/>
              <a:t>telle</a:t>
            </a:r>
            <a:r>
              <a:rPr lang="en-US" dirty="0" smtClean="0"/>
              <a:t> </a:t>
            </a:r>
            <a:r>
              <a:rPr lang="en-US" dirty="0" err="1" smtClean="0"/>
              <a:t>demande</a:t>
            </a:r>
            <a:r>
              <a:rPr lang="en-US" dirty="0" smtClean="0"/>
              <a:t>:</a:t>
            </a:r>
          </a:p>
          <a:p>
            <a:pPr lvl="1"/>
            <a:r>
              <a:rPr lang="en-US" dirty="0" smtClean="0"/>
              <a:t>Lieu </a:t>
            </a:r>
            <a:r>
              <a:rPr lang="en-US" dirty="0" err="1" smtClean="0"/>
              <a:t>où</a:t>
            </a:r>
            <a:r>
              <a:rPr lang="en-US" dirty="0" smtClean="0"/>
              <a:t> les </a:t>
            </a:r>
            <a:r>
              <a:rPr lang="en-US" dirty="0" err="1" smtClean="0"/>
              <a:t>marchandises</a:t>
            </a:r>
            <a:r>
              <a:rPr lang="en-US" dirty="0" smtClean="0"/>
              <a:t> </a:t>
            </a:r>
            <a:r>
              <a:rPr lang="en-US" dirty="0" err="1" smtClean="0"/>
              <a:t>doivent</a:t>
            </a:r>
            <a:r>
              <a:rPr lang="en-US" dirty="0" smtClean="0"/>
              <a:t> faire </a:t>
            </a:r>
            <a:r>
              <a:rPr lang="en-US" dirty="0" err="1" smtClean="0"/>
              <a:t>l’objet</a:t>
            </a:r>
            <a:r>
              <a:rPr lang="en-US" dirty="0" smtClean="0"/>
              <a:t> de </a:t>
            </a:r>
            <a:r>
              <a:rPr lang="en-US" dirty="0" err="1" smtClean="0"/>
              <a:t>leur</a:t>
            </a:r>
            <a:r>
              <a:rPr lang="en-US" dirty="0" smtClean="0"/>
              <a:t> première </a:t>
            </a:r>
            <a:r>
              <a:rPr lang="en-US" dirty="0" err="1" smtClean="0"/>
              <a:t>utilisation</a:t>
            </a:r>
            <a:r>
              <a:rPr lang="en-US" dirty="0" smtClean="0"/>
              <a: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106</a:t>
            </a:fld>
            <a:endParaRPr lang="fr-CH"/>
          </a:p>
        </p:txBody>
      </p:sp>
    </p:spTree>
    <p:extLst>
      <p:ext uri="{BB962C8B-B14F-4D97-AF65-F5344CB8AC3E}">
        <p14:creationId xmlns:p14="http://schemas.microsoft.com/office/powerpoint/2010/main" val="1864723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a:t>Demande d’autorisation sur la base d’une déclaration en douane</a:t>
            </a:r>
          </a:p>
        </p:txBody>
      </p:sp>
      <p:sp>
        <p:nvSpPr>
          <p:cNvPr id="3" name="Content Placeholder 2"/>
          <p:cNvSpPr>
            <a:spLocks noGrp="1"/>
          </p:cNvSpPr>
          <p:nvPr>
            <p:ph idx="1"/>
          </p:nvPr>
        </p:nvSpPr>
        <p:spPr>
          <a:xfrm>
            <a:off x="838200" y="1825624"/>
            <a:ext cx="10891058" cy="4641677"/>
          </a:xfrm>
        </p:spPr>
        <p:txBody>
          <a:bodyPr>
            <a:normAutofit fontScale="92500"/>
          </a:bodyPr>
          <a:lstStyle/>
          <a:p>
            <a:r>
              <a:rPr lang="fr-FR" dirty="0"/>
              <a:t>Une déclaration en douane, pour autant qu’elle soit complétée par les éléments de données supplémentaires prévus à l’annexe </a:t>
            </a:r>
            <a:r>
              <a:rPr lang="fr-FR" dirty="0" smtClean="0"/>
              <a:t>A du RD, </a:t>
            </a:r>
            <a:r>
              <a:rPr lang="fr-FR" dirty="0"/>
              <a:t>est considérée comme une demande d’autorisation dans les cas suivants:</a:t>
            </a:r>
          </a:p>
          <a:p>
            <a:pPr lvl="1"/>
            <a:r>
              <a:rPr lang="fr-FR" dirty="0" smtClean="0"/>
              <a:t>lorsque </a:t>
            </a:r>
            <a:r>
              <a:rPr lang="fr-FR" dirty="0"/>
              <a:t>les marchandises doivent être placées sous le régime de </a:t>
            </a:r>
            <a:r>
              <a:rPr lang="fr-FR" dirty="0" smtClean="0"/>
              <a:t>l’admission temporaire;</a:t>
            </a:r>
            <a:endParaRPr lang="fr-FR" dirty="0"/>
          </a:p>
          <a:p>
            <a:pPr lvl="1"/>
            <a:r>
              <a:rPr lang="fr-FR" dirty="0" smtClean="0"/>
              <a:t>lorsque </a:t>
            </a:r>
            <a:r>
              <a:rPr lang="fr-FR" dirty="0"/>
              <a:t>les marchandises doivent être placées sous le régime de la destination particulière et que le demandeur a l’intention d’affecter la totalité des marchandises à la destination particulière prescrite</a:t>
            </a:r>
            <a:r>
              <a:rPr lang="fr-FR" dirty="0" smtClean="0"/>
              <a:t>;</a:t>
            </a:r>
          </a:p>
          <a:p>
            <a:pPr lvl="1"/>
            <a:r>
              <a:rPr lang="fr-FR" dirty="0"/>
              <a:t>lorsque les marchandises autres que celles énumérées à l’annexe </a:t>
            </a:r>
            <a:r>
              <a:rPr lang="fr-FR" dirty="0">
                <a:hlinkClick r:id="rId2"/>
              </a:rPr>
              <a:t>71- 02 </a:t>
            </a:r>
            <a:r>
              <a:rPr lang="fr-FR" dirty="0" smtClean="0"/>
              <a:t>(marchandises sensibles) sont </a:t>
            </a:r>
            <a:r>
              <a:rPr lang="fr-FR" dirty="0"/>
              <a:t>destinées à être placées sous </a:t>
            </a:r>
            <a:r>
              <a:rPr lang="fr-FR" dirty="0" smtClean="0"/>
              <a:t>un régime de transformation;</a:t>
            </a:r>
          </a:p>
          <a:p>
            <a:pPr lvl="1"/>
            <a:r>
              <a:rPr lang="fr-FR" dirty="0"/>
              <a:t>lorsqu’une autorisation de recours au régime du p</a:t>
            </a:r>
            <a:r>
              <a:rPr lang="fr-FR" dirty="0" smtClean="0"/>
              <a:t>erfectionnement passif a </a:t>
            </a:r>
            <a:r>
              <a:rPr lang="fr-FR" dirty="0"/>
              <a:t>été accordée et que les produits de remplacement doivent être mis en libre pratique avec utilisation </a:t>
            </a:r>
            <a:r>
              <a:rPr lang="fr-FR" dirty="0" smtClean="0"/>
              <a:t>du </a:t>
            </a:r>
            <a:r>
              <a:rPr lang="fr-FR" dirty="0"/>
              <a:t>système des échanges standard, qui n’est pas couvert par cette autorisation</a:t>
            </a:r>
            <a:r>
              <a:rPr lang="fr-FR" dirty="0" smtClean="0"/>
              <a:t>;</a:t>
            </a:r>
          </a:p>
          <a:p>
            <a:pPr marL="457200" lvl="1" indent="0">
              <a:buNone/>
            </a:pP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107</a:t>
            </a:fld>
            <a:endParaRPr lang="fr-CH"/>
          </a:p>
        </p:txBody>
      </p:sp>
    </p:spTree>
    <p:extLst>
      <p:ext uri="{BB962C8B-B14F-4D97-AF65-F5344CB8AC3E}">
        <p14:creationId xmlns:p14="http://schemas.microsoft.com/office/powerpoint/2010/main" val="18799978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Interdiction de </a:t>
            </a:r>
            <a:r>
              <a:rPr lang="en-US" dirty="0" err="1" smtClean="0"/>
              <a:t>demande</a:t>
            </a:r>
            <a:r>
              <a:rPr lang="en-US" dirty="0" smtClean="0"/>
              <a:t> </a:t>
            </a:r>
            <a:r>
              <a:rPr lang="en-US" dirty="0" err="1" smtClean="0"/>
              <a:t>d’autorisation</a:t>
            </a:r>
            <a:r>
              <a:rPr lang="en-US" dirty="0" smtClean="0"/>
              <a:t> sur </a:t>
            </a:r>
            <a:r>
              <a:rPr lang="en-US" dirty="0" err="1" smtClean="0"/>
              <a:t>déclaration</a:t>
            </a:r>
            <a:endParaRPr lang="fr-CH" dirty="0"/>
          </a:p>
        </p:txBody>
      </p:sp>
      <p:sp>
        <p:nvSpPr>
          <p:cNvPr id="3" name="Content Placeholder 2"/>
          <p:cNvSpPr>
            <a:spLocks noGrp="1"/>
          </p:cNvSpPr>
          <p:nvPr>
            <p:ph idx="1"/>
          </p:nvPr>
        </p:nvSpPr>
        <p:spPr/>
        <p:txBody>
          <a:bodyPr>
            <a:normAutofit/>
          </a:bodyPr>
          <a:lstStyle/>
          <a:p>
            <a:r>
              <a:rPr lang="fr-CH" dirty="0"/>
              <a:t>D</a:t>
            </a:r>
            <a:r>
              <a:rPr lang="fr-CH" dirty="0" smtClean="0"/>
              <a:t>éclaration </a:t>
            </a:r>
            <a:r>
              <a:rPr lang="fr-CH" dirty="0"/>
              <a:t>simplifiée;</a:t>
            </a:r>
          </a:p>
          <a:p>
            <a:r>
              <a:rPr lang="fr-CH" dirty="0"/>
              <a:t>D</a:t>
            </a:r>
            <a:r>
              <a:rPr lang="fr-CH" dirty="0" smtClean="0"/>
              <a:t>édouanement </a:t>
            </a:r>
            <a:r>
              <a:rPr lang="fr-CH" dirty="0"/>
              <a:t>centralisé;</a:t>
            </a:r>
          </a:p>
          <a:p>
            <a:r>
              <a:rPr lang="fr-CH" dirty="0"/>
              <a:t>I</a:t>
            </a:r>
            <a:r>
              <a:rPr lang="fr-CH" dirty="0" smtClean="0"/>
              <a:t>nscriptions </a:t>
            </a:r>
            <a:r>
              <a:rPr lang="fr-CH" dirty="0"/>
              <a:t>dans les écritures du déclarant;</a:t>
            </a:r>
          </a:p>
          <a:p>
            <a:r>
              <a:rPr lang="fr-CH" dirty="0"/>
              <a:t>A</a:t>
            </a:r>
            <a:r>
              <a:rPr lang="fr-CH" dirty="0" smtClean="0"/>
              <a:t>utorisation </a:t>
            </a:r>
            <a:r>
              <a:rPr lang="fr-CH" dirty="0"/>
              <a:t>autre que celle relative à l’admission </a:t>
            </a:r>
            <a:r>
              <a:rPr lang="fr-CH" dirty="0" smtClean="0"/>
              <a:t>temporaire </a:t>
            </a:r>
            <a:r>
              <a:rPr lang="fr-CH" dirty="0"/>
              <a:t>intéressant plusieurs États membres est demandée;</a:t>
            </a:r>
          </a:p>
          <a:p>
            <a:r>
              <a:rPr lang="fr-CH" dirty="0"/>
              <a:t>L</a:t>
            </a:r>
            <a:r>
              <a:rPr lang="fr-CH" dirty="0" smtClean="0"/>
              <a:t>’utilisation </a:t>
            </a:r>
            <a:r>
              <a:rPr lang="fr-CH" dirty="0"/>
              <a:t>de marchandises équivalentes est </a:t>
            </a:r>
            <a:r>
              <a:rPr lang="fr-CH" dirty="0" smtClean="0"/>
              <a:t>demandée;</a:t>
            </a:r>
          </a:p>
          <a:p>
            <a:r>
              <a:rPr lang="en-US" dirty="0" err="1" smtClean="0"/>
              <a:t>Demande</a:t>
            </a:r>
            <a:r>
              <a:rPr lang="en-US" dirty="0" smtClean="0"/>
              <a:t> </a:t>
            </a:r>
            <a:r>
              <a:rPr lang="en-US" dirty="0" err="1" smtClean="0"/>
              <a:t>d’autorisation</a:t>
            </a:r>
            <a:r>
              <a:rPr lang="en-US" dirty="0" smtClean="0"/>
              <a:t> avec </a:t>
            </a:r>
            <a:r>
              <a:rPr lang="en-US" dirty="0" err="1" smtClean="0"/>
              <a:t>effet</a:t>
            </a:r>
            <a:r>
              <a:rPr lang="en-US" dirty="0" smtClean="0"/>
              <a:t> </a:t>
            </a:r>
            <a:r>
              <a:rPr lang="en-US" dirty="0" err="1" smtClean="0"/>
              <a:t>rétroactif</a:t>
            </a:r>
            <a:r>
              <a:rPr lang="en-US" dirty="0" smtClean="0"/>
              <a: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108</a:t>
            </a:fld>
            <a:endParaRPr lang="fr-CH"/>
          </a:p>
        </p:txBody>
      </p:sp>
    </p:spTree>
    <p:extLst>
      <p:ext uri="{BB962C8B-B14F-4D97-AF65-F5344CB8AC3E}">
        <p14:creationId xmlns:p14="http://schemas.microsoft.com/office/powerpoint/2010/main" val="4179952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2712" y="365125"/>
            <a:ext cx="11269287" cy="1325563"/>
          </a:xfrm>
        </p:spPr>
        <p:txBody>
          <a:bodyPr/>
          <a:lstStyle/>
          <a:p>
            <a:pPr algn="ctr"/>
            <a:r>
              <a:rPr lang="fr-FR" dirty="0"/>
              <a:t>Apurement d'un régime </a:t>
            </a:r>
            <a:r>
              <a:rPr lang="fr-FR" dirty="0" smtClean="0"/>
              <a:t>particulier</a:t>
            </a:r>
            <a:endParaRPr lang="fr-FR" dirty="0"/>
          </a:p>
        </p:txBody>
      </p:sp>
      <p:sp>
        <p:nvSpPr>
          <p:cNvPr id="3" name="Content Placeholder 2"/>
          <p:cNvSpPr>
            <a:spLocks noGrp="1"/>
          </p:cNvSpPr>
          <p:nvPr>
            <p:ph idx="1"/>
          </p:nvPr>
        </p:nvSpPr>
        <p:spPr/>
        <p:txBody>
          <a:bodyPr/>
          <a:lstStyle/>
          <a:p>
            <a:r>
              <a:rPr lang="fr-FR" dirty="0" smtClean="0"/>
              <a:t>Un </a:t>
            </a:r>
            <a:r>
              <a:rPr lang="fr-FR" dirty="0"/>
              <a:t>régime particulier est apuré lorsque les marchandises admises sous ce régime ou les produits </a:t>
            </a:r>
            <a:r>
              <a:rPr lang="fr-FR" dirty="0" smtClean="0"/>
              <a:t>transformés:</a:t>
            </a:r>
          </a:p>
          <a:p>
            <a:pPr lvl="1"/>
            <a:r>
              <a:rPr lang="fr-FR" dirty="0" smtClean="0"/>
              <a:t>sont </a:t>
            </a:r>
            <a:r>
              <a:rPr lang="fr-FR" dirty="0"/>
              <a:t>placés sous un nouveau régime </a:t>
            </a:r>
            <a:r>
              <a:rPr lang="fr-FR" dirty="0" smtClean="0"/>
              <a:t>douanier; </a:t>
            </a:r>
          </a:p>
          <a:p>
            <a:pPr lvl="1"/>
            <a:r>
              <a:rPr lang="fr-FR" dirty="0" smtClean="0"/>
              <a:t>sont </a:t>
            </a:r>
            <a:r>
              <a:rPr lang="fr-FR" dirty="0"/>
              <a:t>sortis du territoire douanier de </a:t>
            </a:r>
            <a:r>
              <a:rPr lang="fr-FR" dirty="0" smtClean="0"/>
              <a:t>l'Union</a:t>
            </a:r>
            <a:r>
              <a:rPr lang="fr-FR" dirty="0"/>
              <a:t>;</a:t>
            </a:r>
            <a:endParaRPr lang="fr-FR" dirty="0" smtClean="0"/>
          </a:p>
          <a:p>
            <a:pPr lvl="1"/>
            <a:r>
              <a:rPr lang="fr-FR" dirty="0" smtClean="0"/>
              <a:t>ont </a:t>
            </a:r>
            <a:r>
              <a:rPr lang="fr-FR" dirty="0"/>
              <a:t>été détruits sans laisser de </a:t>
            </a:r>
            <a:r>
              <a:rPr lang="fr-FR" dirty="0" smtClean="0"/>
              <a:t>déchets; </a:t>
            </a:r>
          </a:p>
          <a:p>
            <a:pPr lvl="1"/>
            <a:r>
              <a:rPr lang="fr-FR" dirty="0" smtClean="0"/>
              <a:t>ou </a:t>
            </a:r>
            <a:r>
              <a:rPr lang="fr-FR" dirty="0"/>
              <a:t>sont abandonnés à </a:t>
            </a:r>
            <a:r>
              <a:rPr lang="fr-FR" dirty="0" smtClean="0"/>
              <a:t>l'État.</a:t>
            </a:r>
          </a:p>
          <a:p>
            <a:r>
              <a:rPr lang="fr-FR" dirty="0"/>
              <a:t>L'apurement du régime s'effectue dans un certain délai, sauf dispositions contraires</a:t>
            </a:r>
            <a:r>
              <a:rPr lang="fr-FR" dirty="0" smtClean="0"/>
              <a:t>. </a:t>
            </a:r>
            <a:r>
              <a:rPr lang="fr-FR" dirty="0" smtClean="0">
                <a:sym typeface="Wingdings" panose="05000000000000000000" pitchFamily="2" charset="2"/>
              </a:rPr>
              <a:t> Stockage</a:t>
            </a: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109</a:t>
            </a:fld>
            <a:endParaRPr lang="fr-CH"/>
          </a:p>
        </p:txBody>
      </p:sp>
    </p:spTree>
    <p:extLst>
      <p:ext uri="{BB962C8B-B14F-4D97-AF65-F5344CB8AC3E}">
        <p14:creationId xmlns:p14="http://schemas.microsoft.com/office/powerpoint/2010/main" val="3304857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smtClean="0"/>
              <a:t>Régime particulier: Décompte </a:t>
            </a:r>
            <a:r>
              <a:rPr lang="fr-FR" dirty="0"/>
              <a:t>d’apurement</a:t>
            </a:r>
          </a:p>
        </p:txBody>
      </p:sp>
      <p:sp>
        <p:nvSpPr>
          <p:cNvPr id="3" name="Content Placeholder 2"/>
          <p:cNvSpPr>
            <a:spLocks noGrp="1"/>
          </p:cNvSpPr>
          <p:nvPr>
            <p:ph idx="1"/>
          </p:nvPr>
        </p:nvSpPr>
        <p:spPr/>
        <p:txBody>
          <a:bodyPr>
            <a:normAutofit lnSpcReduction="10000"/>
          </a:bodyPr>
          <a:lstStyle/>
          <a:p>
            <a:r>
              <a:rPr lang="fr-FR" dirty="0" smtClean="0"/>
              <a:t>Les autorisations de PAV ou de </a:t>
            </a:r>
            <a:r>
              <a:rPr lang="fr-FR" dirty="0"/>
              <a:t>destination particulière prévoient que le titulaire de l’autorisation est tenu de présenter le décompte d’apurement au bureau de douane de contrôle dans les 30 jours suivant l’expiration du délai d’apurement</a:t>
            </a:r>
            <a:r>
              <a:rPr lang="fr-FR" dirty="0" smtClean="0"/>
              <a:t>.</a:t>
            </a:r>
          </a:p>
          <a:p>
            <a:r>
              <a:rPr lang="fr-FR" dirty="0"/>
              <a:t>Toutefois, le bureau de douane de contrôle peut lever l’obligation de présenter le décompte d’apurement lorsqu’il considère qu’il n’est pas nécessaire</a:t>
            </a:r>
            <a:r>
              <a:rPr lang="fr-FR" dirty="0" smtClean="0"/>
              <a:t>.</a:t>
            </a:r>
          </a:p>
          <a:p>
            <a:r>
              <a:rPr lang="fr-CH" dirty="0"/>
              <a:t>À la demande du titulaire de l’autorisation, les autorités douanières </a:t>
            </a:r>
            <a:r>
              <a:rPr lang="fr-CH" dirty="0" smtClean="0"/>
              <a:t>peuvent </a:t>
            </a:r>
            <a:r>
              <a:rPr lang="fr-CH" dirty="0"/>
              <a:t>porter </a:t>
            </a:r>
            <a:r>
              <a:rPr lang="fr-CH" dirty="0" smtClean="0"/>
              <a:t>ce </a:t>
            </a:r>
            <a:r>
              <a:rPr lang="fr-CH" dirty="0"/>
              <a:t>délai </a:t>
            </a:r>
            <a:r>
              <a:rPr lang="fr-CH" dirty="0" smtClean="0"/>
              <a:t>à </a:t>
            </a:r>
            <a:r>
              <a:rPr lang="fr-CH" dirty="0"/>
              <a:t>60 jours. Dans des </a:t>
            </a:r>
            <a:r>
              <a:rPr lang="fr-CH"/>
              <a:t>cas </a:t>
            </a:r>
            <a:r>
              <a:rPr lang="fr-CH" smtClean="0"/>
              <a:t>exceptionnels</a:t>
            </a:r>
            <a:r>
              <a:rPr lang="fr-CH" dirty="0"/>
              <a:t>, les autorités douanières peuvent prolonger ce délai </a:t>
            </a:r>
            <a:r>
              <a:rPr lang="fr-CH"/>
              <a:t>même </a:t>
            </a:r>
            <a:r>
              <a:rPr lang="fr-CH" smtClean="0"/>
              <a:t>après </a:t>
            </a:r>
            <a:r>
              <a:rPr lang="fr-CH"/>
              <a:t>son </a:t>
            </a:r>
            <a:r>
              <a:rPr lang="fr-CH" smtClean="0"/>
              <a:t>expiration.</a:t>
            </a:r>
            <a:endParaRPr lang="fr-FR" dirty="0"/>
          </a:p>
        </p:txBody>
      </p:sp>
      <p:sp>
        <p:nvSpPr>
          <p:cNvPr id="4" name="Slide Number Placeholder 3"/>
          <p:cNvSpPr>
            <a:spLocks noGrp="1"/>
          </p:cNvSpPr>
          <p:nvPr>
            <p:ph type="sldNum" sz="quarter" idx="12"/>
          </p:nvPr>
        </p:nvSpPr>
        <p:spPr/>
        <p:txBody>
          <a:bodyPr/>
          <a:lstStyle/>
          <a:p>
            <a:fld id="{AC11F01A-B187-4E96-A42F-7B20626A13B5}" type="slidenum">
              <a:rPr lang="fr-CH" smtClean="0"/>
              <a:t>110</a:t>
            </a:fld>
            <a:endParaRPr lang="fr-CH"/>
          </a:p>
        </p:txBody>
      </p:sp>
    </p:spTree>
    <p:extLst>
      <p:ext uri="{BB962C8B-B14F-4D97-AF65-F5344CB8AC3E}">
        <p14:creationId xmlns:p14="http://schemas.microsoft.com/office/powerpoint/2010/main" val="527649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err="1" smtClean="0"/>
              <a:t>Écritures</a:t>
            </a:r>
            <a:endParaRPr lang="fr-CH" dirty="0"/>
          </a:p>
        </p:txBody>
      </p:sp>
      <p:sp>
        <p:nvSpPr>
          <p:cNvPr id="3" name="Content Placeholder 2"/>
          <p:cNvSpPr>
            <a:spLocks noGrp="1"/>
          </p:cNvSpPr>
          <p:nvPr>
            <p:ph idx="1"/>
          </p:nvPr>
        </p:nvSpPr>
        <p:spPr/>
        <p:txBody>
          <a:bodyPr>
            <a:normAutofit lnSpcReduction="10000"/>
          </a:bodyPr>
          <a:lstStyle/>
          <a:p>
            <a:r>
              <a:rPr lang="fr-CH" dirty="0" smtClean="0"/>
              <a:t> Sauf dans le cas du régime du transit, ou sauf dispositions contraires, le titulaire de l'autorisation, le titulaire du régime et toutes les personnes exerçant une activité portant sur le stockage, l'ouvraison ou la transformation de marchandises, ou encore sur la vente ou l'achat de marchandises dans des zones franches tiennent des écritures appropriées </a:t>
            </a:r>
            <a:r>
              <a:rPr lang="fr-CH" dirty="0"/>
              <a:t>sous la forme approuvée par les autorités </a:t>
            </a:r>
            <a:r>
              <a:rPr lang="fr-CH" dirty="0" smtClean="0"/>
              <a:t>douanières.</a:t>
            </a:r>
            <a:endParaRPr lang="fr-CH" dirty="0"/>
          </a:p>
          <a:p>
            <a:r>
              <a:rPr lang="fr-CH" dirty="0"/>
              <a:t>Ces écritures comportent les informations et les énonciations qui </a:t>
            </a:r>
            <a:r>
              <a:rPr lang="fr-CH" dirty="0" smtClean="0"/>
              <a:t>permettent </a:t>
            </a:r>
            <a:r>
              <a:rPr lang="fr-CH" dirty="0"/>
              <a:t>aux autorités douanières de surveiller le régime concerné, </a:t>
            </a:r>
            <a:r>
              <a:rPr lang="fr-CH" dirty="0" smtClean="0"/>
              <a:t>et </a:t>
            </a:r>
            <a:r>
              <a:rPr lang="fr-CH" dirty="0"/>
              <a:t>plus particulièrement en ce qui concerne l'identification des </a:t>
            </a:r>
            <a:r>
              <a:rPr lang="fr-CH" dirty="0" smtClean="0"/>
              <a:t>marchandises </a:t>
            </a:r>
            <a:r>
              <a:rPr lang="fr-CH" dirty="0"/>
              <a:t>placées sous ce régime, leur statut douanier et les </a:t>
            </a:r>
            <a:r>
              <a:rPr lang="fr-CH" dirty="0" smtClean="0"/>
              <a:t>mouvements dont </a:t>
            </a:r>
            <a:r>
              <a:rPr lang="fr-CH" dirty="0"/>
              <a:t>elles font l'objet</a:t>
            </a:r>
            <a:r>
              <a:rPr lang="fr-CH" dirty="0" smtClean="0"/>
              <a:t>.</a:t>
            </a:r>
            <a:endParaRPr lang="fr-CH" dirty="0"/>
          </a:p>
        </p:txBody>
      </p:sp>
      <p:sp>
        <p:nvSpPr>
          <p:cNvPr id="4" name="Slide Number Placeholder 3"/>
          <p:cNvSpPr>
            <a:spLocks noGrp="1"/>
          </p:cNvSpPr>
          <p:nvPr>
            <p:ph type="sldNum" sz="quarter" idx="12"/>
          </p:nvPr>
        </p:nvSpPr>
        <p:spPr/>
        <p:txBody>
          <a:bodyPr/>
          <a:lstStyle/>
          <a:p>
            <a:fld id="{AC11F01A-B187-4E96-A42F-7B20626A13B5}" type="slidenum">
              <a:rPr lang="fr-CH" smtClean="0"/>
              <a:t>111</a:t>
            </a:fld>
            <a:endParaRPr lang="fr-CH"/>
          </a:p>
        </p:txBody>
      </p:sp>
    </p:spTree>
    <p:extLst>
      <p:ext uri="{BB962C8B-B14F-4D97-AF65-F5344CB8AC3E}">
        <p14:creationId xmlns:p14="http://schemas.microsoft.com/office/powerpoint/2010/main" val="2894060912"/>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fr-FR" dirty="0"/>
              <a:t>Transfert des droits et obligations</a:t>
            </a:r>
          </a:p>
        </p:txBody>
      </p:sp>
      <p:sp>
        <p:nvSpPr>
          <p:cNvPr id="3" name="Content Placeholder 2"/>
          <p:cNvSpPr>
            <a:spLocks noGrp="1"/>
          </p:cNvSpPr>
          <p:nvPr>
            <p:ph idx="1"/>
          </p:nvPr>
        </p:nvSpPr>
        <p:spPr/>
        <p:txBody>
          <a:bodyPr/>
          <a:lstStyle/>
          <a:p>
            <a:r>
              <a:rPr lang="fr-FR" dirty="0"/>
              <a:t>Les droits et obligations du titulaire d'un régime, au regard des marchandises placées sous un régime </a:t>
            </a:r>
            <a:r>
              <a:rPr lang="fr-FR" dirty="0" smtClean="0"/>
              <a:t>particulier, </a:t>
            </a:r>
            <a:r>
              <a:rPr lang="fr-FR" dirty="0"/>
              <a:t>peuvent être partiellement ou entièrement transférés à une autre personne remplissant les conditions définies pour le régime en question.</a:t>
            </a:r>
          </a:p>
        </p:txBody>
      </p:sp>
      <p:sp>
        <p:nvSpPr>
          <p:cNvPr id="4" name="Slide Number Placeholder 3"/>
          <p:cNvSpPr>
            <a:spLocks noGrp="1"/>
          </p:cNvSpPr>
          <p:nvPr>
            <p:ph type="sldNum" sz="quarter" idx="12"/>
          </p:nvPr>
        </p:nvSpPr>
        <p:spPr/>
        <p:txBody>
          <a:bodyPr/>
          <a:lstStyle/>
          <a:p>
            <a:fld id="{AC11F01A-B187-4E96-A42F-7B20626A13B5}" type="slidenum">
              <a:rPr lang="fr-CH" smtClean="0"/>
              <a:t>112</a:t>
            </a:fld>
            <a:endParaRPr lang="fr-CH"/>
          </a:p>
        </p:txBody>
      </p:sp>
    </p:spTree>
    <p:extLst>
      <p:ext uri="{BB962C8B-B14F-4D97-AF65-F5344CB8AC3E}">
        <p14:creationId xmlns:p14="http://schemas.microsoft.com/office/powerpoint/2010/main" val="2379400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41230" y="1565031"/>
            <a:ext cx="8847993" cy="2872897"/>
          </a:xfrm>
        </p:spPr>
        <p:txBody>
          <a:bodyPr>
            <a:normAutofit/>
          </a:bodyPr>
          <a:lstStyle/>
          <a:p>
            <a:pPr algn="ctr"/>
            <a:r>
              <a:rPr lang="fr-FR" sz="7200" b="1" dirty="0" smtClean="0"/>
              <a:t>Questions?</a:t>
            </a:r>
            <a:endParaRPr lang="fr-FR" sz="6600" b="1" dirty="0"/>
          </a:p>
        </p:txBody>
      </p:sp>
      <p:sp>
        <p:nvSpPr>
          <p:cNvPr id="4" name="Slide Number Placeholder 3"/>
          <p:cNvSpPr>
            <a:spLocks noGrp="1"/>
          </p:cNvSpPr>
          <p:nvPr>
            <p:ph type="sldNum" sz="quarter" idx="12"/>
          </p:nvPr>
        </p:nvSpPr>
        <p:spPr/>
        <p:txBody>
          <a:bodyPr/>
          <a:lstStyle/>
          <a:p>
            <a:fld id="{AC11F01A-B187-4E96-A42F-7B20626A13B5}" type="slidenum">
              <a:rPr lang="fr-CH" smtClean="0"/>
              <a:t>113</a:t>
            </a:fld>
            <a:endParaRPr lang="fr-CH"/>
          </a:p>
        </p:txBody>
      </p:sp>
    </p:spTree>
    <p:extLst>
      <p:ext uri="{BB962C8B-B14F-4D97-AF65-F5344CB8AC3E}">
        <p14:creationId xmlns:p14="http://schemas.microsoft.com/office/powerpoint/2010/main" val="385078527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8736</Words>
  <Application>Microsoft Office PowerPoint</Application>
  <PresentationFormat>Widescreen</PresentationFormat>
  <Paragraphs>710</Paragraphs>
  <Slides>113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113</vt:i4>
      </vt:variant>
    </vt:vector>
  </HeadingPairs>
  <TitlesOfParts>
    <vt:vector size="118" baseType="lpstr">
      <vt:lpstr>Arial</vt:lpstr>
      <vt:lpstr>Calibri</vt:lpstr>
      <vt:lpstr>Calibri Light</vt:lpstr>
      <vt:lpstr>Wingdings</vt:lpstr>
      <vt:lpstr>Office Theme</vt:lpstr>
      <vt:lpstr>PowerPoint Presentation</vt:lpstr>
      <vt:lpstr>Mission des régimes particuliers</vt:lpstr>
      <vt:lpstr>Effet des régimes particuliers</vt:lpstr>
      <vt:lpstr>Régimes particuliers applicables dans l’UE</vt:lpstr>
      <vt:lpstr>Transit</vt:lpstr>
      <vt:lpstr>Stockage</vt:lpstr>
      <vt:lpstr>Stockage de marchandises non Union</vt:lpstr>
      <vt:lpstr>Stockage de marchandises de l’Union</vt:lpstr>
      <vt:lpstr>Durée d'un régime de stockage</vt:lpstr>
      <vt:lpstr>Régime Entrepôt douanier- Utilité</vt:lpstr>
      <vt:lpstr>Stockage dans l’entrepôt douanier</vt:lpstr>
      <vt:lpstr>Types d’entrepôts douaniers</vt:lpstr>
      <vt:lpstr>Types d’entrepôts douaniers publics</vt:lpstr>
      <vt:lpstr>Entrepôt douanier-Écritures 1/2</vt:lpstr>
      <vt:lpstr>Entrepôt douanier-Écritures 2/2</vt:lpstr>
      <vt:lpstr>Enlèvement temporaire de marchandises de l’entrepôt douanier</vt:lpstr>
      <vt:lpstr>Transformation de marchandises dans les locaux de l’entrepôt douanier</vt:lpstr>
      <vt:lpstr>Marchandises de l’Union dans les locaux de l’entrepôt douanier-séparation comptable</vt:lpstr>
      <vt:lpstr>Vente au détail dans l’entrepôt douanier</vt:lpstr>
      <vt:lpstr>Circulation de marchandises entre différents entrepôts douaniers</vt:lpstr>
      <vt:lpstr>Marchandises équivalentes</vt:lpstr>
      <vt:lpstr>Stockage des marchandises- Manipulations autorisées</vt:lpstr>
      <vt:lpstr>Manipulations usuelles autorisées dans l’entrepôt douanier</vt:lpstr>
      <vt:lpstr>Manipulations usuelles - Conditions</vt:lpstr>
      <vt:lpstr>Liste des manipulations usuelles 1/6</vt:lpstr>
      <vt:lpstr>Liste des manipulations usuelles 2/6</vt:lpstr>
      <vt:lpstr>Liste des manipulations usuelles 3/6</vt:lpstr>
      <vt:lpstr>Liste des manipulations usuelles 4/6</vt:lpstr>
      <vt:lpstr>Liste des manipulations usuelles 5/6</vt:lpstr>
      <vt:lpstr>Liste des manipulations usuelles 6/6</vt:lpstr>
      <vt:lpstr>Zone franche</vt:lpstr>
      <vt:lpstr>Désignation des zones franches</vt:lpstr>
      <vt:lpstr>Constructions et activités autorisées dans les zones franches</vt:lpstr>
      <vt:lpstr>Présentation des marchandises et placement sous le régime</vt:lpstr>
      <vt:lpstr>Marchandises non Union en zone franche</vt:lpstr>
      <vt:lpstr>Marchandises de l'Union en zone franche</vt:lpstr>
      <vt:lpstr>Marchandises sortant d'une zone franche</vt:lpstr>
      <vt:lpstr>Statut douanier</vt:lpstr>
      <vt:lpstr>Admission temporaire 1/2</vt:lpstr>
      <vt:lpstr>Admission temporaire 2/2</vt:lpstr>
      <vt:lpstr>Admission temporaire - Conditions</vt:lpstr>
      <vt:lpstr>Délai de séjour des marchandises sous le régime de l’admission temporaire</vt:lpstr>
      <vt:lpstr>Opérations permises sous le régime de l’admission temporaire</vt:lpstr>
      <vt:lpstr>Lieu d’introduction d’une demande d’admission temporaire</vt:lpstr>
      <vt:lpstr>Admission temporaire en exonération partielle des droits à l’importation</vt:lpstr>
      <vt:lpstr>Cas d’admission temporaire en 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Cas d’exonération totale des droits à l’importation</vt:lpstr>
      <vt:lpstr>Destination particulière</vt:lpstr>
      <vt:lpstr>Destination particulière: Surveillance douanière</vt:lpstr>
      <vt:lpstr>Destination particulière: Fin de la surveillance douanière</vt:lpstr>
      <vt:lpstr>Destination particulière: Taux de rendement</vt:lpstr>
      <vt:lpstr>Destination particulière: Déchets et débris</vt:lpstr>
      <vt:lpstr>Destination particulière: Obligations du titulaire de l’autorisation</vt:lpstr>
      <vt:lpstr>Transformation</vt:lpstr>
      <vt:lpstr>Transformation - Taux de rendement</vt:lpstr>
      <vt:lpstr>Transformation-Autorisation</vt:lpstr>
      <vt:lpstr>Perfectionnement actif 1/2</vt:lpstr>
      <vt:lpstr>Perfectionnement actif 2/2</vt:lpstr>
      <vt:lpstr>Perfectionnement actif: Changements liés au Code des Douanes de l’Union</vt:lpstr>
      <vt:lpstr>Perfectionnement actif-Aides à la production</vt:lpstr>
      <vt:lpstr>Perfectionnement actif-Marchandises équivalentes</vt:lpstr>
      <vt:lpstr>Perfectionnement actif-Interdiction de marchandises équivalentes</vt:lpstr>
      <vt:lpstr>Autorisation perfectionnement actif-Conditions 1/2</vt:lpstr>
      <vt:lpstr>Autorisation perfectionnement actif-Conditions 2/2 </vt:lpstr>
      <vt:lpstr>Perfectionnement actif-Délai d'apurement</vt:lpstr>
      <vt:lpstr>Perfectionnement actif-Délai en cas d’exportation anticipée</vt:lpstr>
      <vt:lpstr>Perfectionnement actif-Réexportation temporaire pour transformation complémentaire</vt:lpstr>
      <vt:lpstr>Perfectionnement passif</vt:lpstr>
      <vt:lpstr>Perfectionnement passif-Exclusions</vt:lpstr>
      <vt:lpstr>Perfectionnement passif-Marchandises réparées gratuitement</vt:lpstr>
      <vt:lpstr>Perfectionnement passif-Système des échanges standard 1/2</vt:lpstr>
      <vt:lpstr>Perfectionnement actif-Système des échanges standard 2/2</vt:lpstr>
      <vt:lpstr>Perfectionnement passif-Importation préalable de produits de remplacement</vt:lpstr>
      <vt:lpstr>Régimes particuliers: Autorisation </vt:lpstr>
      <vt:lpstr>Autorisation Régime particulier-Conditions</vt:lpstr>
      <vt:lpstr>Autorisation avec effet rétroactif – Conditions 1/2</vt:lpstr>
      <vt:lpstr>Autorisation avec effet rétroactif – Conditions 2/2</vt:lpstr>
      <vt:lpstr>Autorisations: Demandeur établi hors du territoire douanier de l’Union</vt:lpstr>
      <vt:lpstr>Demande d’autorisation sur la base d’une déclaration en douane</vt:lpstr>
      <vt:lpstr>Interdiction de demande d’autorisation sur déclaration</vt:lpstr>
      <vt:lpstr>Apurement d'un régime particulier</vt:lpstr>
      <vt:lpstr>Régime particulier: Décompte d’apurement</vt:lpstr>
      <vt:lpstr>Écritures</vt:lpstr>
      <vt:lpstr>Transfert des droits et obligations</vt:lpstr>
      <vt:lpstr>Questions?</vt:lpstr>
    </vt:vector>
  </TitlesOfParts>
  <Company>DOUANES ET ACCISES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Taxe sur les boissons non alcoolisées sucrées</dc:title>
  <dc:creator>mschlink</dc:creator>
  <cp:lastModifiedBy>schweitzer</cp:lastModifiedBy>
  <cp:revision>252</cp:revision>
  <cp:lastPrinted>2017-07-12T12:12:41Z</cp:lastPrinted>
  <dcterms:created xsi:type="dcterms:W3CDTF">2017-07-11T09:59:41Z</dcterms:created>
  <dcterms:modified xsi:type="dcterms:W3CDTF">2024-10-18T16:01:29Z</dcterms:modified>
</cp:coreProperties>
</file>