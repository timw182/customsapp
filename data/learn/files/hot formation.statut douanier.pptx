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handoutMasterIdLst>
    <p:handoutMasterId r:id="rId39"/>
  </p:handoutMasterIdLst>
  <p:sldIdLst>
    <p:sldId id="258" r:id="rId2"/>
    <p:sldId id="259" r:id="rId3"/>
    <p:sldId id="260" r:id="rId4"/>
    <p:sldId id="263" r:id="rId5"/>
    <p:sldId id="264" r:id="rId6"/>
    <p:sldId id="266" r:id="rId7"/>
    <p:sldId id="267" r:id="rId8"/>
    <p:sldId id="265" r:id="rId9"/>
    <p:sldId id="261" r:id="rId10"/>
    <p:sldId id="287" r:id="rId11"/>
    <p:sldId id="288" r:id="rId12"/>
    <p:sldId id="284" r:id="rId13"/>
    <p:sldId id="285" r:id="rId14"/>
    <p:sldId id="268" r:id="rId15"/>
    <p:sldId id="269" r:id="rId16"/>
    <p:sldId id="270" r:id="rId17"/>
    <p:sldId id="271" r:id="rId18"/>
    <p:sldId id="289" r:id="rId19"/>
    <p:sldId id="272" r:id="rId20"/>
    <p:sldId id="294" r:id="rId21"/>
    <p:sldId id="295" r:id="rId22"/>
    <p:sldId id="292" r:id="rId23"/>
    <p:sldId id="293" r:id="rId24"/>
    <p:sldId id="278" r:id="rId25"/>
    <p:sldId id="279" r:id="rId26"/>
    <p:sldId id="280" r:id="rId27"/>
    <p:sldId id="281" r:id="rId28"/>
    <p:sldId id="282" r:id="rId29"/>
    <p:sldId id="290" r:id="rId30"/>
    <p:sldId id="296" r:id="rId31"/>
    <p:sldId id="297" r:id="rId32"/>
    <p:sldId id="298" r:id="rId33"/>
    <p:sldId id="291" r:id="rId34"/>
    <p:sldId id="299" r:id="rId35"/>
    <p:sldId id="300" r:id="rId36"/>
    <p:sldId id="286" r:id="rId37"/>
  </p:sldIdLst>
  <p:sldSz cx="12192000" cy="6858000"/>
  <p:notesSz cx="6797675" cy="9926638"/>
  <p:defaultTextStyle>
    <a:defPPr>
      <a:defRPr lang="lb-L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1" d="100"/>
          <a:sy n="111" d="100"/>
        </p:scale>
        <p:origin x="456"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50443" y="0"/>
            <a:ext cx="2945659" cy="498056"/>
          </a:xfrm>
          <a:prstGeom prst="rect">
            <a:avLst/>
          </a:prstGeom>
        </p:spPr>
        <p:txBody>
          <a:bodyPr vert="horz" lIns="91440" tIns="45720" rIns="91440" bIns="45720" rtlCol="0"/>
          <a:lstStyle>
            <a:lvl1pPr algn="r">
              <a:defRPr sz="1200"/>
            </a:lvl1pPr>
          </a:lstStyle>
          <a:p>
            <a:fld id="{17693DDA-2C6C-461D-B3BC-864EFEF4C025}" type="datetimeFigureOut">
              <a:rPr lang="en-US" smtClean="0"/>
              <a:t>10/7/2024</a:t>
            </a:fld>
            <a:endParaRPr lang="en-US"/>
          </a:p>
        </p:txBody>
      </p:sp>
      <p:sp>
        <p:nvSpPr>
          <p:cNvPr id="4" name="Footer Placeholder 3"/>
          <p:cNvSpPr>
            <a:spLocks noGrp="1"/>
          </p:cNvSpPr>
          <p:nvPr>
            <p:ph type="ftr" sz="quarter" idx="2"/>
          </p:nvPr>
        </p:nvSpPr>
        <p:spPr>
          <a:xfrm>
            <a:off x="0" y="9428584"/>
            <a:ext cx="2945659" cy="49805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50443" y="9428584"/>
            <a:ext cx="2945659" cy="498055"/>
          </a:xfrm>
          <a:prstGeom prst="rect">
            <a:avLst/>
          </a:prstGeom>
        </p:spPr>
        <p:txBody>
          <a:bodyPr vert="horz" lIns="91440" tIns="45720" rIns="91440" bIns="45720" rtlCol="0" anchor="b"/>
          <a:lstStyle>
            <a:lvl1pPr algn="r">
              <a:defRPr sz="1200"/>
            </a:lvl1pPr>
          </a:lstStyle>
          <a:p>
            <a:fld id="{B900E258-1E09-4828-9969-53753A0C71E7}" type="slidenum">
              <a:rPr lang="en-US" smtClean="0"/>
              <a:t>‹#›</a:t>
            </a:fld>
            <a:endParaRPr lang="en-US"/>
          </a:p>
        </p:txBody>
      </p:sp>
    </p:spTree>
    <p:extLst>
      <p:ext uri="{BB962C8B-B14F-4D97-AF65-F5344CB8AC3E}">
        <p14:creationId xmlns:p14="http://schemas.microsoft.com/office/powerpoint/2010/main" val="69810000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lb-LU"/>
          </a:p>
        </p:txBody>
      </p:sp>
      <p:sp>
        <p:nvSpPr>
          <p:cNvPr id="3" name="Espace réservé de la date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81F1B515-D64E-4A6D-86DE-D44065EC59AD}" type="datetimeFigureOut">
              <a:rPr lang="lb-LU" smtClean="0"/>
              <a:t>07.10.24</a:t>
            </a:fld>
            <a:endParaRPr lang="lb-LU"/>
          </a:p>
        </p:txBody>
      </p:sp>
      <p:sp>
        <p:nvSpPr>
          <p:cNvPr id="4" name="Espace réservé de l'image des diapositives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lb-LU"/>
          </a:p>
        </p:txBody>
      </p:sp>
      <p:sp>
        <p:nvSpPr>
          <p:cNvPr id="5" name="Espace réservé des notes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lb-LU"/>
          </a:p>
        </p:txBody>
      </p:sp>
      <p:sp>
        <p:nvSpPr>
          <p:cNvPr id="6" name="Espace réservé du pied de page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lb-LU"/>
          </a:p>
        </p:txBody>
      </p:sp>
      <p:sp>
        <p:nvSpPr>
          <p:cNvPr id="7" name="Espace réservé du numéro de diapositive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BA5962E4-1040-4138-BC49-5558BF59E7C5}" type="slidenum">
              <a:rPr lang="lb-LU" smtClean="0"/>
              <a:t>‹#›</a:t>
            </a:fld>
            <a:endParaRPr lang="lb-LU"/>
          </a:p>
        </p:txBody>
      </p:sp>
    </p:spTree>
    <p:extLst>
      <p:ext uri="{BB962C8B-B14F-4D97-AF65-F5344CB8AC3E}">
        <p14:creationId xmlns:p14="http://schemas.microsoft.com/office/powerpoint/2010/main" val="9023541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smtClean="0"/>
              <a:t>Modifiez le style du titre</a:t>
            </a:r>
            <a:endParaRPr lang="lb-LU"/>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smtClean="0"/>
              <a:t>Modifier le style des sous-titres du masque</a:t>
            </a:r>
            <a:endParaRPr lang="lb-LU"/>
          </a:p>
        </p:txBody>
      </p:sp>
      <p:sp>
        <p:nvSpPr>
          <p:cNvPr id="6" name="Espace réservé du numéro de diapositive 5"/>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419553557"/>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lb-LU"/>
          </a:p>
        </p:txBody>
      </p:sp>
      <p:sp>
        <p:nvSpPr>
          <p:cNvPr id="3" name="Espace réservé du contenu 2"/>
          <p:cNvSpPr>
            <a:spLocks noGrp="1"/>
          </p:cNvSpPr>
          <p:nvPr>
            <p:ph idx="1"/>
          </p:nvPr>
        </p:nvSpPr>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lb-LU"/>
          </a:p>
        </p:txBody>
      </p:sp>
      <p:sp>
        <p:nvSpPr>
          <p:cNvPr id="4" name="Espace réservé de la date 3"/>
          <p:cNvSpPr>
            <a:spLocks noGrp="1"/>
          </p:cNvSpPr>
          <p:nvPr>
            <p:ph type="dt" sz="half" idx="10"/>
          </p:nvPr>
        </p:nvSpPr>
        <p:spPr>
          <a:xfrm>
            <a:off x="838200" y="6356350"/>
            <a:ext cx="2743200" cy="365125"/>
          </a:xfrm>
          <a:prstGeom prst="rect">
            <a:avLst/>
          </a:prstGeom>
        </p:spPr>
        <p:txBody>
          <a:bodyPr/>
          <a:lstStyle/>
          <a:p>
            <a:fld id="{05E49347-3AF1-433D-A682-80E91A771D46}" type="datetime1">
              <a:rPr lang="lb-LU" smtClean="0"/>
              <a:t>07.10.24</a:t>
            </a:fld>
            <a:endParaRPr lang="lb-LU"/>
          </a:p>
        </p:txBody>
      </p:sp>
      <p:sp>
        <p:nvSpPr>
          <p:cNvPr id="5" name="Espace réservé du pied de page 4"/>
          <p:cNvSpPr>
            <a:spLocks noGrp="1"/>
          </p:cNvSpPr>
          <p:nvPr>
            <p:ph type="ftr" sz="quarter" idx="11"/>
          </p:nvPr>
        </p:nvSpPr>
        <p:spPr>
          <a:xfrm>
            <a:off x="4038600" y="6356350"/>
            <a:ext cx="4114800" cy="365125"/>
          </a:xfrm>
          <a:prstGeom prst="rect">
            <a:avLst/>
          </a:prstGeom>
        </p:spPr>
        <p:txBody>
          <a:bodyPr/>
          <a:lstStyle/>
          <a:p>
            <a:endParaRPr lang="lb-LU"/>
          </a:p>
        </p:txBody>
      </p:sp>
      <p:sp>
        <p:nvSpPr>
          <p:cNvPr id="6" name="Espace réservé du numéro de diapositive 5"/>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2507588199"/>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smtClean="0"/>
              <a:t>Modifiez le style du titre</a:t>
            </a:r>
            <a:endParaRPr lang="lb-LU"/>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smtClean="0"/>
              <a:t>Modifier les styles du texte du masque</a:t>
            </a:r>
          </a:p>
        </p:txBody>
      </p:sp>
      <p:sp>
        <p:nvSpPr>
          <p:cNvPr id="4" name="Espace réservé de la date 3"/>
          <p:cNvSpPr>
            <a:spLocks noGrp="1"/>
          </p:cNvSpPr>
          <p:nvPr>
            <p:ph type="dt" sz="half" idx="10"/>
          </p:nvPr>
        </p:nvSpPr>
        <p:spPr>
          <a:xfrm>
            <a:off x="838200" y="6356350"/>
            <a:ext cx="2743200" cy="365125"/>
          </a:xfrm>
          <a:prstGeom prst="rect">
            <a:avLst/>
          </a:prstGeom>
        </p:spPr>
        <p:txBody>
          <a:bodyPr/>
          <a:lstStyle/>
          <a:p>
            <a:fld id="{72073C46-185D-4256-90CD-D943250C7625}" type="datetime1">
              <a:rPr lang="lb-LU" smtClean="0"/>
              <a:t>07.10.24</a:t>
            </a:fld>
            <a:endParaRPr lang="lb-LU"/>
          </a:p>
        </p:txBody>
      </p:sp>
      <p:sp>
        <p:nvSpPr>
          <p:cNvPr id="5" name="Espace réservé du pied de page 4"/>
          <p:cNvSpPr>
            <a:spLocks noGrp="1"/>
          </p:cNvSpPr>
          <p:nvPr>
            <p:ph type="ftr" sz="quarter" idx="11"/>
          </p:nvPr>
        </p:nvSpPr>
        <p:spPr>
          <a:xfrm>
            <a:off x="4038600" y="6356350"/>
            <a:ext cx="4114800" cy="365125"/>
          </a:xfrm>
          <a:prstGeom prst="rect">
            <a:avLst/>
          </a:prstGeom>
        </p:spPr>
        <p:txBody>
          <a:bodyPr/>
          <a:lstStyle/>
          <a:p>
            <a:endParaRPr lang="lb-LU"/>
          </a:p>
        </p:txBody>
      </p:sp>
      <p:sp>
        <p:nvSpPr>
          <p:cNvPr id="6" name="Espace réservé du numéro de diapositive 5"/>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3048763732"/>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lb-LU"/>
          </a:p>
        </p:txBody>
      </p:sp>
      <p:sp>
        <p:nvSpPr>
          <p:cNvPr id="3" name="Espace réservé du contenu 2"/>
          <p:cNvSpPr>
            <a:spLocks noGrp="1"/>
          </p:cNvSpPr>
          <p:nvPr>
            <p:ph sz="half" idx="1"/>
          </p:nvPr>
        </p:nvSpPr>
        <p:spPr>
          <a:xfrm>
            <a:off x="838200" y="1825625"/>
            <a:ext cx="5181600" cy="435133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lb-LU"/>
          </a:p>
        </p:txBody>
      </p:sp>
      <p:sp>
        <p:nvSpPr>
          <p:cNvPr id="4" name="Espace réservé du contenu 3"/>
          <p:cNvSpPr>
            <a:spLocks noGrp="1"/>
          </p:cNvSpPr>
          <p:nvPr>
            <p:ph sz="half" idx="2"/>
          </p:nvPr>
        </p:nvSpPr>
        <p:spPr>
          <a:xfrm>
            <a:off x="6172200" y="1825625"/>
            <a:ext cx="5181600" cy="435133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lb-LU"/>
          </a:p>
        </p:txBody>
      </p:sp>
      <p:sp>
        <p:nvSpPr>
          <p:cNvPr id="5" name="Espace réservé de la date 4"/>
          <p:cNvSpPr>
            <a:spLocks noGrp="1"/>
          </p:cNvSpPr>
          <p:nvPr>
            <p:ph type="dt" sz="half" idx="10"/>
          </p:nvPr>
        </p:nvSpPr>
        <p:spPr>
          <a:xfrm>
            <a:off x="838200" y="6356350"/>
            <a:ext cx="2743200" cy="365125"/>
          </a:xfrm>
          <a:prstGeom prst="rect">
            <a:avLst/>
          </a:prstGeom>
        </p:spPr>
        <p:txBody>
          <a:bodyPr/>
          <a:lstStyle/>
          <a:p>
            <a:fld id="{3E70FD8A-EB44-4576-A5EB-59CF14C2E478}" type="datetime1">
              <a:rPr lang="lb-LU" smtClean="0"/>
              <a:t>07.10.24</a:t>
            </a:fld>
            <a:endParaRPr lang="lb-LU"/>
          </a:p>
        </p:txBody>
      </p:sp>
      <p:sp>
        <p:nvSpPr>
          <p:cNvPr id="6" name="Espace réservé du pied de page 5"/>
          <p:cNvSpPr>
            <a:spLocks noGrp="1"/>
          </p:cNvSpPr>
          <p:nvPr>
            <p:ph type="ftr" sz="quarter" idx="11"/>
          </p:nvPr>
        </p:nvSpPr>
        <p:spPr>
          <a:xfrm>
            <a:off x="4038600" y="6356350"/>
            <a:ext cx="4114800" cy="365125"/>
          </a:xfrm>
          <a:prstGeom prst="rect">
            <a:avLst/>
          </a:prstGeom>
        </p:spPr>
        <p:txBody>
          <a:bodyPr/>
          <a:lstStyle/>
          <a:p>
            <a:endParaRPr lang="lb-LU"/>
          </a:p>
        </p:txBody>
      </p:sp>
      <p:sp>
        <p:nvSpPr>
          <p:cNvPr id="7" name="Espace réservé du numéro de diapositive 6"/>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3678963005"/>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smtClean="0"/>
              <a:t>Modifiez le style du titre</a:t>
            </a:r>
            <a:endParaRPr lang="lb-LU"/>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lb-LU"/>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lb-LU"/>
          </a:p>
        </p:txBody>
      </p:sp>
      <p:sp>
        <p:nvSpPr>
          <p:cNvPr id="7" name="Espace réservé de la date 6"/>
          <p:cNvSpPr>
            <a:spLocks noGrp="1"/>
          </p:cNvSpPr>
          <p:nvPr>
            <p:ph type="dt" sz="half" idx="10"/>
          </p:nvPr>
        </p:nvSpPr>
        <p:spPr>
          <a:xfrm>
            <a:off x="838200" y="6356350"/>
            <a:ext cx="2743200" cy="365125"/>
          </a:xfrm>
          <a:prstGeom prst="rect">
            <a:avLst/>
          </a:prstGeom>
        </p:spPr>
        <p:txBody>
          <a:bodyPr/>
          <a:lstStyle/>
          <a:p>
            <a:fld id="{B9B4AD55-9D76-419E-82AD-D8F8B1803E1E}" type="datetime1">
              <a:rPr lang="lb-LU" smtClean="0"/>
              <a:t>07.10.24</a:t>
            </a:fld>
            <a:endParaRPr lang="lb-LU"/>
          </a:p>
        </p:txBody>
      </p:sp>
      <p:sp>
        <p:nvSpPr>
          <p:cNvPr id="8" name="Espace réservé du pied de page 7"/>
          <p:cNvSpPr>
            <a:spLocks noGrp="1"/>
          </p:cNvSpPr>
          <p:nvPr>
            <p:ph type="ftr" sz="quarter" idx="11"/>
          </p:nvPr>
        </p:nvSpPr>
        <p:spPr>
          <a:xfrm>
            <a:off x="4038600" y="6356350"/>
            <a:ext cx="4114800" cy="365125"/>
          </a:xfrm>
          <a:prstGeom prst="rect">
            <a:avLst/>
          </a:prstGeom>
        </p:spPr>
        <p:txBody>
          <a:bodyPr/>
          <a:lstStyle/>
          <a:p>
            <a:endParaRPr lang="lb-LU"/>
          </a:p>
        </p:txBody>
      </p:sp>
      <p:sp>
        <p:nvSpPr>
          <p:cNvPr id="9" name="Espace réservé du numéro de diapositive 8"/>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1327699419"/>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lb-LU"/>
          </a:p>
        </p:txBody>
      </p:sp>
      <p:sp>
        <p:nvSpPr>
          <p:cNvPr id="3" name="Espace réservé de la date 2"/>
          <p:cNvSpPr>
            <a:spLocks noGrp="1"/>
          </p:cNvSpPr>
          <p:nvPr>
            <p:ph type="dt" sz="half" idx="10"/>
          </p:nvPr>
        </p:nvSpPr>
        <p:spPr>
          <a:xfrm>
            <a:off x="838200" y="6356350"/>
            <a:ext cx="2743200" cy="365125"/>
          </a:xfrm>
          <a:prstGeom prst="rect">
            <a:avLst/>
          </a:prstGeom>
        </p:spPr>
        <p:txBody>
          <a:bodyPr/>
          <a:lstStyle/>
          <a:p>
            <a:fld id="{353E7AE7-6380-4DBB-8393-DA4B838F9DF2}" type="datetime1">
              <a:rPr lang="lb-LU" smtClean="0"/>
              <a:t>07.10.24</a:t>
            </a:fld>
            <a:endParaRPr lang="lb-LU"/>
          </a:p>
        </p:txBody>
      </p:sp>
      <p:sp>
        <p:nvSpPr>
          <p:cNvPr id="4" name="Espace réservé du pied de page 3"/>
          <p:cNvSpPr>
            <a:spLocks noGrp="1"/>
          </p:cNvSpPr>
          <p:nvPr>
            <p:ph type="ftr" sz="quarter" idx="11"/>
          </p:nvPr>
        </p:nvSpPr>
        <p:spPr>
          <a:xfrm>
            <a:off x="4038600" y="6356350"/>
            <a:ext cx="4114800" cy="365125"/>
          </a:xfrm>
          <a:prstGeom prst="rect">
            <a:avLst/>
          </a:prstGeom>
        </p:spPr>
        <p:txBody>
          <a:bodyPr/>
          <a:lstStyle/>
          <a:p>
            <a:endParaRPr lang="lb-LU"/>
          </a:p>
        </p:txBody>
      </p:sp>
      <p:sp>
        <p:nvSpPr>
          <p:cNvPr id="5" name="Espace réservé du numéro de diapositive 4"/>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3999345377"/>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a:xfrm>
            <a:off x="838200" y="6356350"/>
            <a:ext cx="2743200" cy="365125"/>
          </a:xfrm>
          <a:prstGeom prst="rect">
            <a:avLst/>
          </a:prstGeom>
        </p:spPr>
        <p:txBody>
          <a:bodyPr/>
          <a:lstStyle/>
          <a:p>
            <a:fld id="{8C3A6886-80EF-4C3D-B97B-EB4BA09BA0D9}" type="datetime1">
              <a:rPr lang="lb-LU" smtClean="0"/>
              <a:t>07.10.24</a:t>
            </a:fld>
            <a:endParaRPr lang="lb-LU"/>
          </a:p>
        </p:txBody>
      </p:sp>
      <p:sp>
        <p:nvSpPr>
          <p:cNvPr id="3" name="Espace réservé du pied de page 2"/>
          <p:cNvSpPr>
            <a:spLocks noGrp="1"/>
          </p:cNvSpPr>
          <p:nvPr>
            <p:ph type="ftr" sz="quarter" idx="11"/>
          </p:nvPr>
        </p:nvSpPr>
        <p:spPr>
          <a:xfrm>
            <a:off x="4038600" y="6356350"/>
            <a:ext cx="4114800" cy="365125"/>
          </a:xfrm>
          <a:prstGeom prst="rect">
            <a:avLst/>
          </a:prstGeom>
        </p:spPr>
        <p:txBody>
          <a:bodyPr/>
          <a:lstStyle/>
          <a:p>
            <a:endParaRPr lang="lb-LU"/>
          </a:p>
        </p:txBody>
      </p:sp>
      <p:sp>
        <p:nvSpPr>
          <p:cNvPr id="4" name="Espace réservé du numéro de diapositive 3"/>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436144287"/>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lb-LU"/>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lb-LU"/>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Espace réservé de la date 4"/>
          <p:cNvSpPr>
            <a:spLocks noGrp="1"/>
          </p:cNvSpPr>
          <p:nvPr>
            <p:ph type="dt" sz="half" idx="10"/>
          </p:nvPr>
        </p:nvSpPr>
        <p:spPr>
          <a:xfrm>
            <a:off x="838200" y="6356350"/>
            <a:ext cx="2743200" cy="365125"/>
          </a:xfrm>
          <a:prstGeom prst="rect">
            <a:avLst/>
          </a:prstGeom>
        </p:spPr>
        <p:txBody>
          <a:bodyPr/>
          <a:lstStyle/>
          <a:p>
            <a:fld id="{6B07343E-EECC-477D-ADB1-BE348E75B209}" type="datetime1">
              <a:rPr lang="lb-LU" smtClean="0"/>
              <a:t>07.10.24</a:t>
            </a:fld>
            <a:endParaRPr lang="lb-LU"/>
          </a:p>
        </p:txBody>
      </p:sp>
      <p:sp>
        <p:nvSpPr>
          <p:cNvPr id="6" name="Espace réservé du pied de page 5"/>
          <p:cNvSpPr>
            <a:spLocks noGrp="1"/>
          </p:cNvSpPr>
          <p:nvPr>
            <p:ph type="ftr" sz="quarter" idx="11"/>
          </p:nvPr>
        </p:nvSpPr>
        <p:spPr>
          <a:xfrm>
            <a:off x="4038600" y="6356350"/>
            <a:ext cx="4114800" cy="365125"/>
          </a:xfrm>
          <a:prstGeom prst="rect">
            <a:avLst/>
          </a:prstGeom>
        </p:spPr>
        <p:txBody>
          <a:bodyPr/>
          <a:lstStyle/>
          <a:p>
            <a:endParaRPr lang="lb-LU"/>
          </a:p>
        </p:txBody>
      </p:sp>
      <p:sp>
        <p:nvSpPr>
          <p:cNvPr id="7" name="Espace réservé du numéro de diapositive 6"/>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15645850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lb-LU"/>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lb-LU"/>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Espace réservé de la date 4"/>
          <p:cNvSpPr>
            <a:spLocks noGrp="1"/>
          </p:cNvSpPr>
          <p:nvPr>
            <p:ph type="dt" sz="half" idx="10"/>
          </p:nvPr>
        </p:nvSpPr>
        <p:spPr>
          <a:xfrm>
            <a:off x="838200" y="6356350"/>
            <a:ext cx="2743200" cy="365125"/>
          </a:xfrm>
          <a:prstGeom prst="rect">
            <a:avLst/>
          </a:prstGeom>
        </p:spPr>
        <p:txBody>
          <a:bodyPr/>
          <a:lstStyle/>
          <a:p>
            <a:fld id="{FF41995F-23F3-4ACB-B0E6-81B3B11AF4D1}" type="datetime1">
              <a:rPr lang="lb-LU" smtClean="0"/>
              <a:t>07.10.24</a:t>
            </a:fld>
            <a:endParaRPr lang="lb-LU"/>
          </a:p>
        </p:txBody>
      </p:sp>
      <p:sp>
        <p:nvSpPr>
          <p:cNvPr id="6" name="Espace réservé du pied de page 5"/>
          <p:cNvSpPr>
            <a:spLocks noGrp="1"/>
          </p:cNvSpPr>
          <p:nvPr>
            <p:ph type="ftr" sz="quarter" idx="11"/>
          </p:nvPr>
        </p:nvSpPr>
        <p:spPr>
          <a:xfrm>
            <a:off x="4038600" y="6356350"/>
            <a:ext cx="4114800" cy="365125"/>
          </a:xfrm>
          <a:prstGeom prst="rect">
            <a:avLst/>
          </a:prstGeom>
        </p:spPr>
        <p:txBody>
          <a:bodyPr/>
          <a:lstStyle/>
          <a:p>
            <a:endParaRPr lang="lb-LU"/>
          </a:p>
        </p:txBody>
      </p:sp>
      <p:sp>
        <p:nvSpPr>
          <p:cNvPr id="7" name="Espace réservé du numéro de diapositive 6"/>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19659347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lb-LU"/>
          </a:p>
        </p:txBody>
      </p:sp>
      <p:sp>
        <p:nvSpPr>
          <p:cNvPr id="3" name="Espace réservé du texte vertical 2"/>
          <p:cNvSpPr>
            <a:spLocks noGrp="1"/>
          </p:cNvSpPr>
          <p:nvPr>
            <p:ph type="body" orient="vert" idx="1"/>
          </p:nvPr>
        </p:nvSpPr>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lb-LU"/>
          </a:p>
        </p:txBody>
      </p:sp>
      <p:sp>
        <p:nvSpPr>
          <p:cNvPr id="4" name="Espace réservé de la date 3"/>
          <p:cNvSpPr>
            <a:spLocks noGrp="1"/>
          </p:cNvSpPr>
          <p:nvPr>
            <p:ph type="dt" sz="half" idx="10"/>
          </p:nvPr>
        </p:nvSpPr>
        <p:spPr>
          <a:xfrm>
            <a:off x="838200" y="6356350"/>
            <a:ext cx="2743200" cy="365125"/>
          </a:xfrm>
          <a:prstGeom prst="rect">
            <a:avLst/>
          </a:prstGeom>
        </p:spPr>
        <p:txBody>
          <a:bodyPr/>
          <a:lstStyle/>
          <a:p>
            <a:fld id="{D9AF1255-0305-47BF-B8FF-F11D3278E29F}" type="datetime1">
              <a:rPr lang="lb-LU" smtClean="0"/>
              <a:t>07.10.24</a:t>
            </a:fld>
            <a:endParaRPr lang="lb-LU"/>
          </a:p>
        </p:txBody>
      </p:sp>
      <p:sp>
        <p:nvSpPr>
          <p:cNvPr id="5" name="Espace réservé du pied de page 4"/>
          <p:cNvSpPr>
            <a:spLocks noGrp="1"/>
          </p:cNvSpPr>
          <p:nvPr>
            <p:ph type="ftr" sz="quarter" idx="11"/>
          </p:nvPr>
        </p:nvSpPr>
        <p:spPr>
          <a:xfrm>
            <a:off x="4038600" y="6356350"/>
            <a:ext cx="4114800" cy="365125"/>
          </a:xfrm>
          <a:prstGeom prst="rect">
            <a:avLst/>
          </a:prstGeom>
        </p:spPr>
        <p:txBody>
          <a:bodyPr/>
          <a:lstStyle/>
          <a:p>
            <a:endParaRPr lang="lb-LU"/>
          </a:p>
        </p:txBody>
      </p:sp>
      <p:sp>
        <p:nvSpPr>
          <p:cNvPr id="6" name="Espace réservé du numéro de diapositive 5"/>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1665576923"/>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smtClean="0"/>
              <a:t>Modifiez le style du titre</a:t>
            </a:r>
            <a:endParaRPr lang="lb-LU"/>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lb-LU"/>
          </a:p>
        </p:txBody>
      </p:sp>
      <p:sp>
        <p:nvSpPr>
          <p:cNvPr id="4" name="Espace réservé de la date 3"/>
          <p:cNvSpPr>
            <a:spLocks noGrp="1"/>
          </p:cNvSpPr>
          <p:nvPr>
            <p:ph type="dt" sz="half" idx="10"/>
          </p:nvPr>
        </p:nvSpPr>
        <p:spPr>
          <a:xfrm>
            <a:off x="838200" y="6356350"/>
            <a:ext cx="2743200" cy="365125"/>
          </a:xfrm>
          <a:prstGeom prst="rect">
            <a:avLst/>
          </a:prstGeom>
        </p:spPr>
        <p:txBody>
          <a:bodyPr/>
          <a:lstStyle/>
          <a:p>
            <a:fld id="{BAA19295-06D0-4606-8969-0296AE3C0540}" type="datetime1">
              <a:rPr lang="lb-LU" smtClean="0"/>
              <a:t>07.10.24</a:t>
            </a:fld>
            <a:endParaRPr lang="lb-LU"/>
          </a:p>
        </p:txBody>
      </p:sp>
      <p:sp>
        <p:nvSpPr>
          <p:cNvPr id="5" name="Espace réservé du pied de page 4"/>
          <p:cNvSpPr>
            <a:spLocks noGrp="1"/>
          </p:cNvSpPr>
          <p:nvPr>
            <p:ph type="ftr" sz="quarter" idx="11"/>
          </p:nvPr>
        </p:nvSpPr>
        <p:spPr>
          <a:xfrm>
            <a:off x="4038600" y="6356350"/>
            <a:ext cx="4114800" cy="365125"/>
          </a:xfrm>
          <a:prstGeom prst="rect">
            <a:avLst/>
          </a:prstGeom>
        </p:spPr>
        <p:txBody>
          <a:bodyPr/>
          <a:lstStyle/>
          <a:p>
            <a:endParaRPr lang="lb-LU"/>
          </a:p>
        </p:txBody>
      </p:sp>
      <p:sp>
        <p:nvSpPr>
          <p:cNvPr id="6" name="Espace réservé du numéro de diapositive 5"/>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2956616459"/>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1" name="Image 10"/>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8429625" y="1294065"/>
            <a:ext cx="3744806" cy="5563935"/>
          </a:xfrm>
          <a:prstGeom prst="rect">
            <a:avLst/>
          </a:prstGeom>
        </p:spPr>
      </p:pic>
      <p:sp>
        <p:nvSpPr>
          <p:cNvPr id="2" name="Espace réservé du titre 1"/>
          <p:cNvSpPr>
            <a:spLocks noGrp="1"/>
          </p:cNvSpPr>
          <p:nvPr>
            <p:ph type="title"/>
          </p:nvPr>
        </p:nvSpPr>
        <p:spPr>
          <a:xfrm>
            <a:off x="838200" y="1060450"/>
            <a:ext cx="10515600" cy="662187"/>
          </a:xfrm>
          <a:prstGeom prst="rect">
            <a:avLst/>
          </a:prstGeom>
        </p:spPr>
        <p:txBody>
          <a:bodyPr vert="horz" lIns="91440" tIns="45720" rIns="91440" bIns="45720" rtlCol="0" anchor="ctr">
            <a:normAutofit/>
          </a:bodyPr>
          <a:lstStyle/>
          <a:p>
            <a:r>
              <a:rPr lang="fr-FR" smtClean="0"/>
              <a:t>Modifiez le style du titre</a:t>
            </a:r>
            <a:endParaRPr lang="lb-LU"/>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dirty="0" smtClean="0"/>
              <a:t>Modifier les styles du texte du masque</a:t>
            </a:r>
          </a:p>
          <a:p>
            <a:pPr lvl="1"/>
            <a:r>
              <a:rPr lang="fr-FR" dirty="0" smtClean="0"/>
              <a:t>Deuxième niveau</a:t>
            </a:r>
          </a:p>
          <a:p>
            <a:pPr lvl="2"/>
            <a:r>
              <a:rPr lang="fr-FR" dirty="0" smtClean="0"/>
              <a:t>Troisième niveau</a:t>
            </a:r>
          </a:p>
          <a:p>
            <a:pPr lvl="3"/>
            <a:r>
              <a:rPr lang="fr-FR" dirty="0" smtClean="0"/>
              <a:t>Quatrième niveau</a:t>
            </a:r>
          </a:p>
          <a:p>
            <a:pPr lvl="4"/>
            <a:r>
              <a:rPr lang="fr-FR" dirty="0" smtClean="0"/>
              <a:t>Cinquième niveau</a:t>
            </a:r>
            <a:endParaRPr lang="lb-LU" dirty="0"/>
          </a:p>
        </p:txBody>
      </p:sp>
      <p:pic>
        <p:nvPicPr>
          <p:cNvPr id="7" name="Picture 2" descr="https://douanes.public.lu/etc/designs/douanes/clientlibs/default/img/bg-header.jpg"/>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5976851" y="0"/>
            <a:ext cx="6215149" cy="102161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https://douanes.public.lu/etc/designs/douanes/clientlibs/default/img/bg-header.jpg"/>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0" y="0"/>
            <a:ext cx="6215149" cy="1021616"/>
          </a:xfrm>
          <a:prstGeom prst="rect">
            <a:avLst/>
          </a:prstGeom>
          <a:noFill/>
          <a:extLst>
            <a:ext uri="{909E8E84-426E-40DD-AFC4-6F175D3DCCD1}">
              <a14:hiddenFill xmlns:a14="http://schemas.microsoft.com/office/drawing/2010/main">
                <a:solidFill>
                  <a:srgbClr val="FFFFFF"/>
                </a:solidFill>
              </a14:hiddenFill>
            </a:ext>
          </a:extLst>
        </p:spPr>
      </p:pic>
      <p:pic>
        <p:nvPicPr>
          <p:cNvPr id="9" name="Image 8"/>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5331229" y="102988"/>
            <a:ext cx="3347258" cy="815640"/>
          </a:xfrm>
          <a:prstGeom prst="rect">
            <a:avLst/>
          </a:prstGeom>
        </p:spPr>
      </p:pic>
      <p:sp>
        <p:nvSpPr>
          <p:cNvPr id="6" name="Espace réservé du numéro de diapositive 5"/>
          <p:cNvSpPr>
            <a:spLocks noGrp="1"/>
          </p:cNvSpPr>
          <p:nvPr>
            <p:ph type="sldNum" sz="quarter" idx="4"/>
          </p:nvPr>
        </p:nvSpPr>
        <p:spPr>
          <a:xfrm>
            <a:off x="9324108" y="328245"/>
            <a:ext cx="2743200" cy="365125"/>
          </a:xfrm>
          <a:prstGeom prst="rect">
            <a:avLst/>
          </a:prstGeom>
        </p:spPr>
        <p:txBody>
          <a:bodyPr vert="horz" lIns="91440" tIns="45720" rIns="91440" bIns="45720" rtlCol="0" anchor="ctr"/>
          <a:lstStyle>
            <a:lvl1pPr algn="r">
              <a:defRPr sz="1400">
                <a:solidFill>
                  <a:schemeClr val="bg1"/>
                </a:solidFill>
              </a:defRPr>
            </a:lvl1pPr>
          </a:lstStyle>
          <a:p>
            <a:fld id="{C58F520E-0D3C-4C73-96DF-B271C0F692B0}" type="slidenum">
              <a:rPr lang="lb-LU" smtClean="0"/>
              <a:pPr/>
              <a:t>‹#›</a:t>
            </a:fld>
            <a:endParaRPr lang="lb-LU" dirty="0"/>
          </a:p>
        </p:txBody>
      </p:sp>
      <p:pic>
        <p:nvPicPr>
          <p:cNvPr id="10" name="Image 9"/>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0" y="2442"/>
            <a:ext cx="1389210" cy="1019174"/>
          </a:xfrm>
          <a:prstGeom prst="rect">
            <a:avLst/>
          </a:prstGeom>
        </p:spPr>
      </p:pic>
    </p:spTree>
    <p:extLst>
      <p:ext uri="{BB962C8B-B14F-4D97-AF65-F5344CB8AC3E}">
        <p14:creationId xmlns:p14="http://schemas.microsoft.com/office/powerpoint/2010/main" val="39622725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par>
    </p:tnLst>
  </p:timing>
  <p:hf hdr="0" ftr="0" dt="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b-L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2.png"/><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2.png"/><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3" Type="http://schemas.openxmlformats.org/officeDocument/2006/relationships/image" Target="../media/image10.jpeg"/><Relationship Id="rId7" Type="http://schemas.openxmlformats.org/officeDocument/2006/relationships/image" Target="../media/image17.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2.png"/><Relationship Id="rId4" Type="http://schemas.openxmlformats.org/officeDocument/2006/relationships/image" Target="../media/image14.png"/></Relationships>
</file>

<file path=ppt/slides/_rels/slide2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2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22.jpeg"/><Relationship Id="rId5" Type="http://schemas.openxmlformats.org/officeDocument/2006/relationships/image" Target="../media/image21.png"/><Relationship Id="rId4" Type="http://schemas.openxmlformats.org/officeDocument/2006/relationships/image" Target="../media/image18.png"/></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hyperlink" Target="https://douanes.public.lu/fr/commerce-international/pous.html"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lb-LU" dirty="0"/>
          </a:p>
        </p:txBody>
      </p:sp>
      <p:sp>
        <p:nvSpPr>
          <p:cNvPr id="3" name="Espace réservé du contenu 2"/>
          <p:cNvSpPr>
            <a:spLocks noGrp="1"/>
          </p:cNvSpPr>
          <p:nvPr>
            <p:ph idx="1"/>
          </p:nvPr>
        </p:nvSpPr>
        <p:spPr/>
        <p:txBody>
          <a:bodyPr/>
          <a:lstStyle/>
          <a:p>
            <a:pPr marL="0" indent="0">
              <a:buNone/>
            </a:pPr>
            <a:endParaRPr lang="lb-LU" dirty="0" smtClean="0"/>
          </a:p>
          <a:p>
            <a:pPr marL="0" indent="0">
              <a:buNone/>
            </a:pPr>
            <a:endParaRPr lang="lb-LU" dirty="0"/>
          </a:p>
        </p:txBody>
      </p:sp>
      <p:sp>
        <p:nvSpPr>
          <p:cNvPr id="4" name="Espace réservé du numéro de diapositive 3"/>
          <p:cNvSpPr>
            <a:spLocks noGrp="1"/>
          </p:cNvSpPr>
          <p:nvPr>
            <p:ph type="sldNum" sz="quarter" idx="12"/>
          </p:nvPr>
        </p:nvSpPr>
        <p:spPr/>
        <p:txBody>
          <a:bodyPr/>
          <a:lstStyle/>
          <a:p>
            <a:fld id="{C58F520E-0D3C-4C73-96DF-B271C0F692B0}" type="slidenum">
              <a:rPr lang="lb-LU" smtClean="0"/>
              <a:t>1</a:t>
            </a:fld>
            <a:endParaRPr lang="lb-LU" dirty="0"/>
          </a:p>
        </p:txBody>
      </p:sp>
      <p:sp>
        <p:nvSpPr>
          <p:cNvPr id="6" name="Titre 1"/>
          <p:cNvSpPr txBox="1">
            <a:spLocks/>
          </p:cNvSpPr>
          <p:nvPr/>
        </p:nvSpPr>
        <p:spPr>
          <a:xfrm>
            <a:off x="918402" y="2867891"/>
            <a:ext cx="10355195" cy="1454728"/>
          </a:xfrm>
          <a:prstGeom prst="rect">
            <a:avLst/>
          </a:prstGeom>
          <a:solidFill>
            <a:schemeClr val="accent5"/>
          </a:solidFill>
          <a:effectLst>
            <a:innerShdw blurRad="63500" dist="50800" dir="13500000">
              <a:prstClr val="black">
                <a:alpha val="50000"/>
              </a:prstClr>
            </a:innerShdw>
            <a:reflection blurRad="6350" stA="50000" endA="300" endPos="55000" dir="5400000" sy="-100000" algn="bl" rotWithShape="0"/>
          </a:effectLst>
          <a:scene3d>
            <a:camera prst="perspectiveContrastingRightFacing"/>
            <a:lightRig rig="threePt" dir="t"/>
          </a:scene3d>
        </p:spPr>
        <p:style>
          <a:lnRef idx="3">
            <a:schemeClr val="lt1"/>
          </a:lnRef>
          <a:fillRef idx="1">
            <a:schemeClr val="accent4"/>
          </a:fillRef>
          <a:effectRef idx="1">
            <a:schemeClr val="accent4"/>
          </a:effectRef>
          <a:fontRef idx="minor">
            <a:schemeClr val="lt1"/>
          </a:fontRef>
        </p:style>
        <p:txBody>
          <a:bodyPr vert="horz" lIns="91440" tIns="45720" rIns="91440" bIns="45720" rtlCol="0" anchor="ctr">
            <a:normAutofit fontScale="97500"/>
          </a:bodyPr>
          <a:lstStyle>
            <a:lvl1pPr algn="l" defTabSz="914400" rtl="0" eaLnBrk="1" latinLnBrk="0" hangingPunct="1">
              <a:lnSpc>
                <a:spcPct val="90000"/>
              </a:lnSpc>
              <a:spcBef>
                <a:spcPct val="0"/>
              </a:spcBef>
              <a:buNone/>
              <a:defRPr sz="3200" b="1"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lb-LU" sz="4100" dirty="0" smtClean="0"/>
              <a:t>Statut douanier</a:t>
            </a:r>
            <a:endParaRPr lang="fr-LU" sz="4100" dirty="0"/>
          </a:p>
        </p:txBody>
      </p:sp>
    </p:spTree>
    <p:extLst>
      <p:ext uri="{BB962C8B-B14F-4D97-AF65-F5344CB8AC3E}">
        <p14:creationId xmlns:p14="http://schemas.microsoft.com/office/powerpoint/2010/main" val="409786806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lb-LU" dirty="0" smtClean="0"/>
              <a:t/>
            </a:r>
            <a:br>
              <a:rPr lang="lb-LU" dirty="0" smtClean="0"/>
            </a:br>
            <a:r>
              <a:rPr lang="lb-LU" dirty="0"/>
              <a:t>D</a:t>
            </a:r>
            <a:r>
              <a:rPr lang="lb-LU" dirty="0" smtClean="0"/>
              <a:t>éfinir le statut douanier:</a:t>
            </a:r>
            <a:endParaRPr lang="lb-LU" b="0" dirty="0">
              <a:latin typeface="+mn-lt"/>
            </a:endParaRPr>
          </a:p>
        </p:txBody>
      </p:sp>
      <p:sp>
        <p:nvSpPr>
          <p:cNvPr id="3" name="Espace réservé du contenu 2"/>
          <p:cNvSpPr>
            <a:spLocks noGrp="1"/>
          </p:cNvSpPr>
          <p:nvPr>
            <p:ph idx="1"/>
          </p:nvPr>
        </p:nvSpPr>
        <p:spPr/>
        <p:txBody>
          <a:bodyPr/>
          <a:lstStyle/>
          <a:p>
            <a:pPr marL="0" indent="0">
              <a:buNone/>
            </a:pPr>
            <a:endParaRPr lang="lb-LU" dirty="0" smtClean="0"/>
          </a:p>
          <a:p>
            <a:pPr marL="0" indent="0">
              <a:buNone/>
            </a:pPr>
            <a:r>
              <a:rPr lang="fr-CH" dirty="0" smtClean="0"/>
              <a:t>‎ «Marchandises </a:t>
            </a:r>
            <a:r>
              <a:rPr lang="fr-CH" dirty="0"/>
              <a:t>de l'Union» 	</a:t>
            </a:r>
            <a:r>
              <a:rPr lang="fr-CH" dirty="0" smtClean="0"/>
              <a:t>									ou 									           «Marchandises </a:t>
            </a:r>
            <a:r>
              <a:rPr lang="fr-CH" dirty="0"/>
              <a:t>non </a:t>
            </a:r>
            <a:r>
              <a:rPr lang="fr-CH" dirty="0" smtClean="0"/>
              <a:t>Union» ?</a:t>
            </a:r>
          </a:p>
          <a:p>
            <a:pPr marL="0" indent="0">
              <a:buNone/>
            </a:pPr>
            <a:endParaRPr lang="fr-CH" sz="2400" dirty="0"/>
          </a:p>
        </p:txBody>
      </p:sp>
      <p:sp>
        <p:nvSpPr>
          <p:cNvPr id="4" name="Espace réservé du numéro de diapositive 3"/>
          <p:cNvSpPr>
            <a:spLocks noGrp="1"/>
          </p:cNvSpPr>
          <p:nvPr>
            <p:ph type="sldNum" sz="quarter" idx="12"/>
          </p:nvPr>
        </p:nvSpPr>
        <p:spPr/>
        <p:txBody>
          <a:bodyPr/>
          <a:lstStyle/>
          <a:p>
            <a:fld id="{C58F520E-0D3C-4C73-96DF-B271C0F692B0}" type="slidenum">
              <a:rPr lang="lb-LU" smtClean="0"/>
              <a:t>2</a:t>
            </a:fld>
            <a:endParaRPr lang="lb-LU" dirty="0"/>
          </a:p>
        </p:txBody>
      </p:sp>
    </p:spTree>
    <p:extLst>
      <p:ext uri="{BB962C8B-B14F-4D97-AF65-F5344CB8AC3E}">
        <p14:creationId xmlns:p14="http://schemas.microsoft.com/office/powerpoint/2010/main" val="245314747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p:cTn id="7"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8"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9"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smtClean="0"/>
              <a:t>Pourquoi connaître le statut douanier?</a:t>
            </a:r>
            <a:endParaRPr lang="en-US" dirty="0"/>
          </a:p>
        </p:txBody>
      </p:sp>
      <p:sp>
        <p:nvSpPr>
          <p:cNvPr id="3" name="Content Placeholder 2"/>
          <p:cNvSpPr>
            <a:spLocks noGrp="1"/>
          </p:cNvSpPr>
          <p:nvPr>
            <p:ph idx="1"/>
          </p:nvPr>
        </p:nvSpPr>
        <p:spPr/>
        <p:txBody>
          <a:bodyPr>
            <a:normAutofit/>
          </a:bodyPr>
          <a:lstStyle/>
          <a:p>
            <a:pPr marL="0" indent="0">
              <a:buNone/>
            </a:pPr>
            <a:r>
              <a:rPr lang="fr-CH" dirty="0" smtClean="0"/>
              <a:t>Libre </a:t>
            </a:r>
            <a:r>
              <a:rPr lang="fr-CH" dirty="0"/>
              <a:t>circulation des </a:t>
            </a:r>
            <a:r>
              <a:rPr lang="fr-CH" dirty="0" smtClean="0"/>
              <a:t>marchandises (une des quatre </a:t>
            </a:r>
            <a:r>
              <a:rPr lang="fr-CH" dirty="0"/>
              <a:t>libertés fondamentales du marché </a:t>
            </a:r>
            <a:r>
              <a:rPr lang="fr-CH" dirty="0" smtClean="0"/>
              <a:t>intérieur de l’Union)</a:t>
            </a:r>
            <a:endParaRPr lang="fr-CH" dirty="0"/>
          </a:p>
          <a:p>
            <a:pPr marL="534988" indent="0">
              <a:buNone/>
            </a:pPr>
            <a:r>
              <a:rPr lang="fr-CH" dirty="0" smtClean="0"/>
              <a:t>    </a:t>
            </a:r>
            <a:r>
              <a:rPr lang="fr-CH" dirty="0" smtClean="0">
                <a:sym typeface="Wingdings" panose="05000000000000000000" pitchFamily="2" charset="2"/>
              </a:rPr>
              <a:t> implique u</a:t>
            </a:r>
            <a:r>
              <a:rPr lang="fr-CH" dirty="0" smtClean="0"/>
              <a:t>ne politique douanière harmonisé</a:t>
            </a:r>
          </a:p>
          <a:p>
            <a:pPr marL="0" indent="0">
              <a:buNone/>
            </a:pPr>
            <a:endParaRPr lang="fr-CH" dirty="0" smtClean="0"/>
          </a:p>
          <a:p>
            <a:r>
              <a:rPr lang="fr-CH" dirty="0" smtClean="0"/>
              <a:t>Statut des marchandises = marchandises de l’Union : </a:t>
            </a:r>
          </a:p>
          <a:p>
            <a:pPr marL="0" indent="0">
              <a:buNone/>
            </a:pPr>
            <a:r>
              <a:rPr lang="fr-CH" dirty="0">
                <a:sym typeface="Wingdings" panose="05000000000000000000" pitchFamily="2" charset="2"/>
              </a:rPr>
              <a:t> </a:t>
            </a:r>
            <a:r>
              <a:rPr lang="fr-CH" dirty="0" smtClean="0">
                <a:sym typeface="Wingdings" panose="05000000000000000000" pitchFamily="2" charset="2"/>
              </a:rPr>
              <a:t>  </a:t>
            </a:r>
            <a:r>
              <a:rPr lang="fr-CH" b="1" dirty="0" smtClean="0"/>
              <a:t>libre circulation </a:t>
            </a:r>
            <a:r>
              <a:rPr lang="fr-CH" dirty="0" smtClean="0"/>
              <a:t>des marchandises dans toute l’Union</a:t>
            </a:r>
          </a:p>
          <a:p>
            <a:r>
              <a:rPr lang="fr-CH" dirty="0" smtClean="0"/>
              <a:t>Statut </a:t>
            </a:r>
            <a:r>
              <a:rPr lang="fr-CH" dirty="0"/>
              <a:t>des marchandises = marchandises </a:t>
            </a:r>
            <a:r>
              <a:rPr lang="fr-CH" dirty="0" smtClean="0"/>
              <a:t>non Union : </a:t>
            </a:r>
            <a:endParaRPr lang="fr-CH" dirty="0" smtClean="0"/>
          </a:p>
          <a:p>
            <a:pPr marL="0" indent="0">
              <a:buNone/>
            </a:pPr>
            <a:r>
              <a:rPr lang="fr-CH" dirty="0" smtClean="0"/>
              <a:t>  </a:t>
            </a:r>
            <a:r>
              <a:rPr lang="fr-CH" dirty="0" smtClean="0">
                <a:sym typeface="Wingdings" panose="05000000000000000000" pitchFamily="2" charset="2"/>
              </a:rPr>
              <a:t> </a:t>
            </a:r>
            <a:r>
              <a:rPr lang="fr-CH" b="1" dirty="0" smtClean="0"/>
              <a:t>circulation sous surveillance douanière </a:t>
            </a:r>
            <a:r>
              <a:rPr lang="fr-CH" dirty="0" smtClean="0"/>
              <a:t>dans l’Union</a:t>
            </a:r>
            <a:endParaRPr lang="en-US" dirty="0"/>
          </a:p>
        </p:txBody>
      </p:sp>
      <p:sp>
        <p:nvSpPr>
          <p:cNvPr id="4" name="Slide Number Placeholder 3"/>
          <p:cNvSpPr>
            <a:spLocks noGrp="1"/>
          </p:cNvSpPr>
          <p:nvPr>
            <p:ph type="sldNum" sz="quarter" idx="12"/>
          </p:nvPr>
        </p:nvSpPr>
        <p:spPr/>
        <p:txBody>
          <a:bodyPr/>
          <a:lstStyle/>
          <a:p>
            <a:fld id="{C58F520E-0D3C-4C73-96DF-B271C0F692B0}" type="slidenum">
              <a:rPr lang="lb-LU" smtClean="0"/>
              <a:t>3</a:t>
            </a:fld>
            <a:endParaRPr lang="lb-LU"/>
          </a:p>
        </p:txBody>
      </p:sp>
    </p:spTree>
    <p:extLst>
      <p:ext uri="{BB962C8B-B14F-4D97-AF65-F5344CB8AC3E}">
        <p14:creationId xmlns:p14="http://schemas.microsoft.com/office/powerpoint/2010/main" val="1577821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circle(in)">
                                      <p:cBhvr>
                                        <p:cTn id="14" dur="2000"/>
                                        <p:tgtEl>
                                          <p:spTgt spid="3">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1000"/>
                                        <p:tgtEl>
                                          <p:spTgt spid="3">
                                            <p:txEl>
                                              <p:pRg st="3" end="3"/>
                                            </p:txEl>
                                          </p:spTgt>
                                        </p:tgtEl>
                                      </p:cBhvr>
                                    </p:animEffect>
                                    <p:anim calcmode="lin" valueType="num">
                                      <p:cBhvr>
                                        <p:cTn id="20"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1000"/>
                                        <p:tgtEl>
                                          <p:spTgt spid="3">
                                            <p:txEl>
                                              <p:pRg st="4" end="4"/>
                                            </p:txEl>
                                          </p:spTgt>
                                        </p:tgtEl>
                                      </p:cBhvr>
                                    </p:animEffect>
                                    <p:anim calcmode="lin" valueType="num">
                                      <p:cBhvr>
                                        <p:cTn id="25"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6"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down)">
                                      <p:cBhvr>
                                        <p:cTn id="37" dur="580">
                                          <p:stCondLst>
                                            <p:cond delay="0"/>
                                          </p:stCondLst>
                                        </p:cTn>
                                        <p:tgtEl>
                                          <p:spTgt spid="3">
                                            <p:txEl>
                                              <p:pRg st="6" end="6"/>
                                            </p:txEl>
                                          </p:spTgt>
                                        </p:tgtEl>
                                      </p:cBhvr>
                                    </p:animEffect>
                                    <p:anim calcmode="lin" valueType="num">
                                      <p:cBhvr>
                                        <p:cTn id="38" dur="1822" tmFilter="0,0; 0.14,0.36; 0.43,0.73; 0.71,0.91; 1.0,1.0">
                                          <p:stCondLst>
                                            <p:cond delay="0"/>
                                          </p:stCondLst>
                                        </p:cTn>
                                        <p:tgtEl>
                                          <p:spTgt spid="3">
                                            <p:txEl>
                                              <p:pRg st="6" end="6"/>
                                            </p:txEl>
                                          </p:spTgt>
                                        </p:tgtEl>
                                        <p:attrNameLst>
                                          <p:attrName>ppt_x</p:attrName>
                                        </p:attrNameLst>
                                      </p:cBhvr>
                                      <p:tavLst>
                                        <p:tav tm="0">
                                          <p:val>
                                            <p:strVal val="#ppt_x-0.25"/>
                                          </p:val>
                                        </p:tav>
                                        <p:tav tm="100000">
                                          <p:val>
                                            <p:strVal val="#ppt_x"/>
                                          </p:val>
                                        </p:tav>
                                      </p:tavLst>
                                    </p:anim>
                                    <p:anim calcmode="lin" valueType="num">
                                      <p:cBhvr>
                                        <p:cTn id="39" dur="664" tmFilter="0.0,0.0; 0.25,0.07; 0.50,0.2; 0.75,0.467; 1.0,1.0">
                                          <p:stCondLst>
                                            <p:cond delay="0"/>
                                          </p:stCondLst>
                                        </p:cTn>
                                        <p:tgtEl>
                                          <p:spTgt spid="3">
                                            <p:txEl>
                                              <p:pRg st="6" end="6"/>
                                            </p:txEl>
                                          </p:spTgt>
                                        </p:tgtEl>
                                        <p:attrNameLst>
                                          <p:attrName>ppt_y</p:attrName>
                                        </p:attrNameLst>
                                      </p:cBhvr>
                                      <p:tavLst>
                                        <p:tav tm="0" fmla="#ppt_y-sin(pi*$)/3">
                                          <p:val>
                                            <p:fltVal val="0.5"/>
                                          </p:val>
                                        </p:tav>
                                        <p:tav tm="100000">
                                          <p:val>
                                            <p:fltVal val="1"/>
                                          </p:val>
                                        </p:tav>
                                      </p:tavLst>
                                    </p:anim>
                                    <p:anim calcmode="lin" valueType="num">
                                      <p:cBhvr>
                                        <p:cTn id="40" dur="664" tmFilter="0, 0; 0.125,0.2665; 0.25,0.4; 0.375,0.465; 0.5,0.5;  0.625,0.535; 0.75,0.6; 0.875,0.7335; 1,1">
                                          <p:stCondLst>
                                            <p:cond delay="664"/>
                                          </p:stCondLst>
                                        </p:cTn>
                                        <p:tgtEl>
                                          <p:spTgt spid="3">
                                            <p:txEl>
                                              <p:pRg st="6" end="6"/>
                                            </p:txEl>
                                          </p:spTgt>
                                        </p:tgtEl>
                                        <p:attrNameLst>
                                          <p:attrName>ppt_y</p:attrName>
                                        </p:attrNameLst>
                                      </p:cBhvr>
                                      <p:tavLst>
                                        <p:tav tm="0" fmla="#ppt_y-sin(pi*$)/9">
                                          <p:val>
                                            <p:fltVal val="0"/>
                                          </p:val>
                                        </p:tav>
                                        <p:tav tm="100000">
                                          <p:val>
                                            <p:fltVal val="1"/>
                                          </p:val>
                                        </p:tav>
                                      </p:tavLst>
                                    </p:anim>
                                    <p:anim calcmode="lin" valueType="num">
                                      <p:cBhvr>
                                        <p:cTn id="41" dur="332" tmFilter="0, 0; 0.125,0.2665; 0.25,0.4; 0.375,0.465; 0.5,0.5;  0.625,0.535; 0.75,0.6; 0.875,0.7335; 1,1">
                                          <p:stCondLst>
                                            <p:cond delay="1324"/>
                                          </p:stCondLst>
                                        </p:cTn>
                                        <p:tgtEl>
                                          <p:spTgt spid="3">
                                            <p:txEl>
                                              <p:pRg st="6" end="6"/>
                                            </p:txEl>
                                          </p:spTgt>
                                        </p:tgtEl>
                                        <p:attrNameLst>
                                          <p:attrName>ppt_y</p:attrName>
                                        </p:attrNameLst>
                                      </p:cBhvr>
                                      <p:tavLst>
                                        <p:tav tm="0" fmla="#ppt_y-sin(pi*$)/27">
                                          <p:val>
                                            <p:fltVal val="0"/>
                                          </p:val>
                                        </p:tav>
                                        <p:tav tm="100000">
                                          <p:val>
                                            <p:fltVal val="1"/>
                                          </p:val>
                                        </p:tav>
                                      </p:tavLst>
                                    </p:anim>
                                    <p:anim calcmode="lin" valueType="num">
                                      <p:cBhvr>
                                        <p:cTn id="42" dur="164" tmFilter="0, 0; 0.125,0.2665; 0.25,0.4; 0.375,0.465; 0.5,0.5;  0.625,0.535; 0.75,0.6; 0.875,0.7335; 1,1">
                                          <p:stCondLst>
                                            <p:cond delay="1656"/>
                                          </p:stCondLst>
                                        </p:cTn>
                                        <p:tgtEl>
                                          <p:spTgt spid="3">
                                            <p:txEl>
                                              <p:pRg st="6" end="6"/>
                                            </p:txEl>
                                          </p:spTgt>
                                        </p:tgtEl>
                                        <p:attrNameLst>
                                          <p:attrName>ppt_y</p:attrName>
                                        </p:attrNameLst>
                                      </p:cBhvr>
                                      <p:tavLst>
                                        <p:tav tm="0" fmla="#ppt_y-sin(pi*$)/81">
                                          <p:val>
                                            <p:fltVal val="0"/>
                                          </p:val>
                                        </p:tav>
                                        <p:tav tm="100000">
                                          <p:val>
                                            <p:fltVal val="1"/>
                                          </p:val>
                                        </p:tav>
                                      </p:tavLst>
                                    </p:anim>
                                    <p:animScale>
                                      <p:cBhvr>
                                        <p:cTn id="43" dur="26">
                                          <p:stCondLst>
                                            <p:cond delay="650"/>
                                          </p:stCondLst>
                                        </p:cTn>
                                        <p:tgtEl>
                                          <p:spTgt spid="3">
                                            <p:txEl>
                                              <p:pRg st="6" end="6"/>
                                            </p:txEl>
                                          </p:spTgt>
                                        </p:tgtEl>
                                      </p:cBhvr>
                                      <p:to x="100000" y="60000"/>
                                    </p:animScale>
                                    <p:animScale>
                                      <p:cBhvr>
                                        <p:cTn id="44" dur="166" decel="50000">
                                          <p:stCondLst>
                                            <p:cond delay="676"/>
                                          </p:stCondLst>
                                        </p:cTn>
                                        <p:tgtEl>
                                          <p:spTgt spid="3">
                                            <p:txEl>
                                              <p:pRg st="6" end="6"/>
                                            </p:txEl>
                                          </p:spTgt>
                                        </p:tgtEl>
                                      </p:cBhvr>
                                      <p:to x="100000" y="100000"/>
                                    </p:animScale>
                                    <p:animScale>
                                      <p:cBhvr>
                                        <p:cTn id="45" dur="26">
                                          <p:stCondLst>
                                            <p:cond delay="1312"/>
                                          </p:stCondLst>
                                        </p:cTn>
                                        <p:tgtEl>
                                          <p:spTgt spid="3">
                                            <p:txEl>
                                              <p:pRg st="6" end="6"/>
                                            </p:txEl>
                                          </p:spTgt>
                                        </p:tgtEl>
                                      </p:cBhvr>
                                      <p:to x="100000" y="80000"/>
                                    </p:animScale>
                                    <p:animScale>
                                      <p:cBhvr>
                                        <p:cTn id="46" dur="166" decel="50000">
                                          <p:stCondLst>
                                            <p:cond delay="1338"/>
                                          </p:stCondLst>
                                        </p:cTn>
                                        <p:tgtEl>
                                          <p:spTgt spid="3">
                                            <p:txEl>
                                              <p:pRg st="6" end="6"/>
                                            </p:txEl>
                                          </p:spTgt>
                                        </p:tgtEl>
                                      </p:cBhvr>
                                      <p:to x="100000" y="100000"/>
                                    </p:animScale>
                                    <p:animScale>
                                      <p:cBhvr>
                                        <p:cTn id="47" dur="26">
                                          <p:stCondLst>
                                            <p:cond delay="1642"/>
                                          </p:stCondLst>
                                        </p:cTn>
                                        <p:tgtEl>
                                          <p:spTgt spid="3">
                                            <p:txEl>
                                              <p:pRg st="6" end="6"/>
                                            </p:txEl>
                                          </p:spTgt>
                                        </p:tgtEl>
                                      </p:cBhvr>
                                      <p:to x="100000" y="90000"/>
                                    </p:animScale>
                                    <p:animScale>
                                      <p:cBhvr>
                                        <p:cTn id="48" dur="166" decel="50000">
                                          <p:stCondLst>
                                            <p:cond delay="1668"/>
                                          </p:stCondLst>
                                        </p:cTn>
                                        <p:tgtEl>
                                          <p:spTgt spid="3">
                                            <p:txEl>
                                              <p:pRg st="6" end="6"/>
                                            </p:txEl>
                                          </p:spTgt>
                                        </p:tgtEl>
                                      </p:cBhvr>
                                      <p:to x="100000" y="100000"/>
                                    </p:animScale>
                                    <p:animScale>
                                      <p:cBhvr>
                                        <p:cTn id="49" dur="26">
                                          <p:stCondLst>
                                            <p:cond delay="1808"/>
                                          </p:stCondLst>
                                        </p:cTn>
                                        <p:tgtEl>
                                          <p:spTgt spid="3">
                                            <p:txEl>
                                              <p:pRg st="6" end="6"/>
                                            </p:txEl>
                                          </p:spTgt>
                                        </p:tgtEl>
                                      </p:cBhvr>
                                      <p:to x="100000" y="95000"/>
                                    </p:animScale>
                                    <p:animScale>
                                      <p:cBhvr>
                                        <p:cTn id="50" dur="166" decel="50000">
                                          <p:stCondLst>
                                            <p:cond delay="1834"/>
                                          </p:stCondLst>
                                        </p:cTn>
                                        <p:tgtEl>
                                          <p:spTgt spid="3">
                                            <p:txEl>
                                              <p:pRg st="6" end="6"/>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r-FR" dirty="0" smtClean="0"/>
              <a:t/>
            </a:r>
            <a:br>
              <a:rPr lang="fr-FR" dirty="0" smtClean="0"/>
            </a:br>
            <a:r>
              <a:rPr lang="fr-FR" dirty="0" smtClean="0"/>
              <a:t/>
            </a:r>
            <a:br>
              <a:rPr lang="fr-FR" dirty="0" smtClean="0"/>
            </a:br>
            <a:r>
              <a:rPr lang="fr-FR" dirty="0" smtClean="0"/>
              <a:t>Quelles marchandises </a:t>
            </a:r>
            <a:r>
              <a:rPr lang="fr-CH" dirty="0"/>
              <a:t>sont considérées comme des marchandises de </a:t>
            </a:r>
            <a:r>
              <a:rPr lang="fr-CH" dirty="0" smtClean="0"/>
              <a:t>l’Union? </a:t>
            </a:r>
            <a:r>
              <a:rPr lang="fr-CH" dirty="0"/>
              <a:t>‎</a:t>
            </a:r>
            <a:endParaRPr lang="en-US" dirty="0"/>
          </a:p>
        </p:txBody>
      </p:sp>
      <p:sp>
        <p:nvSpPr>
          <p:cNvPr id="3" name="Content Placeholder 2"/>
          <p:cNvSpPr>
            <a:spLocks noGrp="1"/>
          </p:cNvSpPr>
          <p:nvPr>
            <p:ph idx="1"/>
          </p:nvPr>
        </p:nvSpPr>
        <p:spPr/>
        <p:txBody>
          <a:bodyPr/>
          <a:lstStyle/>
          <a:p>
            <a:endParaRPr lang="fr-CH" dirty="0" smtClean="0"/>
          </a:p>
          <a:p>
            <a:endParaRPr lang="fr-CH" dirty="0"/>
          </a:p>
          <a:p>
            <a:endParaRPr lang="fr-CH" dirty="0" smtClean="0"/>
          </a:p>
          <a:p>
            <a:r>
              <a:rPr lang="fr-CH" b="1" dirty="0" smtClean="0"/>
              <a:t>3 catégories de marchandises</a:t>
            </a:r>
            <a:r>
              <a:rPr lang="fr-CH" dirty="0" smtClean="0"/>
              <a:t>:</a:t>
            </a:r>
            <a:endParaRPr lang="en-US" dirty="0"/>
          </a:p>
        </p:txBody>
      </p:sp>
      <p:sp>
        <p:nvSpPr>
          <p:cNvPr id="4" name="Slide Number Placeholder 3"/>
          <p:cNvSpPr>
            <a:spLocks noGrp="1"/>
          </p:cNvSpPr>
          <p:nvPr>
            <p:ph type="sldNum" sz="quarter" idx="12"/>
          </p:nvPr>
        </p:nvSpPr>
        <p:spPr/>
        <p:txBody>
          <a:bodyPr/>
          <a:lstStyle/>
          <a:p>
            <a:fld id="{C58F520E-0D3C-4C73-96DF-B271C0F692B0}" type="slidenum">
              <a:rPr lang="lb-LU" smtClean="0"/>
              <a:t>4</a:t>
            </a:fld>
            <a:endParaRPr lang="lb-LU"/>
          </a:p>
        </p:txBody>
      </p:sp>
    </p:spTree>
    <p:extLst>
      <p:ext uri="{BB962C8B-B14F-4D97-AF65-F5344CB8AC3E}">
        <p14:creationId xmlns:p14="http://schemas.microsoft.com/office/powerpoint/2010/main" val="331923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wipe(down)">
                                      <p:cBhvr>
                                        <p:cTn id="7" dur="580">
                                          <p:stCondLst>
                                            <p:cond delay="0"/>
                                          </p:stCondLst>
                                        </p:cTn>
                                        <p:tgtEl>
                                          <p:spTgt spid="3">
                                            <p:txEl>
                                              <p:pRg st="3" end="3"/>
                                            </p:txEl>
                                          </p:spTgt>
                                        </p:tgtEl>
                                      </p:cBhvr>
                                    </p:animEffect>
                                    <p:anim calcmode="lin" valueType="num">
                                      <p:cBhvr>
                                        <p:cTn id="8" dur="1822" tmFilter="0,0; 0.14,0.36; 0.43,0.73; 0.71,0.91; 1.0,1.0">
                                          <p:stCondLst>
                                            <p:cond delay="0"/>
                                          </p:stCondLst>
                                        </p:cTn>
                                        <p:tgtEl>
                                          <p:spTgt spid="3">
                                            <p:txEl>
                                              <p:pRg st="3" end="3"/>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3" end="3"/>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3" end="3"/>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3" end="3"/>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3" end="3"/>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3" end="3"/>
                                            </p:txEl>
                                          </p:spTgt>
                                        </p:tgtEl>
                                      </p:cBhvr>
                                      <p:to x="100000" y="60000"/>
                                    </p:animScale>
                                    <p:animScale>
                                      <p:cBhvr>
                                        <p:cTn id="14" dur="166" decel="50000">
                                          <p:stCondLst>
                                            <p:cond delay="676"/>
                                          </p:stCondLst>
                                        </p:cTn>
                                        <p:tgtEl>
                                          <p:spTgt spid="3">
                                            <p:txEl>
                                              <p:pRg st="3" end="3"/>
                                            </p:txEl>
                                          </p:spTgt>
                                        </p:tgtEl>
                                      </p:cBhvr>
                                      <p:to x="100000" y="100000"/>
                                    </p:animScale>
                                    <p:animScale>
                                      <p:cBhvr>
                                        <p:cTn id="15" dur="26">
                                          <p:stCondLst>
                                            <p:cond delay="1312"/>
                                          </p:stCondLst>
                                        </p:cTn>
                                        <p:tgtEl>
                                          <p:spTgt spid="3">
                                            <p:txEl>
                                              <p:pRg st="3" end="3"/>
                                            </p:txEl>
                                          </p:spTgt>
                                        </p:tgtEl>
                                      </p:cBhvr>
                                      <p:to x="100000" y="80000"/>
                                    </p:animScale>
                                    <p:animScale>
                                      <p:cBhvr>
                                        <p:cTn id="16" dur="166" decel="50000">
                                          <p:stCondLst>
                                            <p:cond delay="1338"/>
                                          </p:stCondLst>
                                        </p:cTn>
                                        <p:tgtEl>
                                          <p:spTgt spid="3">
                                            <p:txEl>
                                              <p:pRg st="3" end="3"/>
                                            </p:txEl>
                                          </p:spTgt>
                                        </p:tgtEl>
                                      </p:cBhvr>
                                      <p:to x="100000" y="100000"/>
                                    </p:animScale>
                                    <p:animScale>
                                      <p:cBhvr>
                                        <p:cTn id="17" dur="26">
                                          <p:stCondLst>
                                            <p:cond delay="1642"/>
                                          </p:stCondLst>
                                        </p:cTn>
                                        <p:tgtEl>
                                          <p:spTgt spid="3">
                                            <p:txEl>
                                              <p:pRg st="3" end="3"/>
                                            </p:txEl>
                                          </p:spTgt>
                                        </p:tgtEl>
                                      </p:cBhvr>
                                      <p:to x="100000" y="90000"/>
                                    </p:animScale>
                                    <p:animScale>
                                      <p:cBhvr>
                                        <p:cTn id="18" dur="166" decel="50000">
                                          <p:stCondLst>
                                            <p:cond delay="1668"/>
                                          </p:stCondLst>
                                        </p:cTn>
                                        <p:tgtEl>
                                          <p:spTgt spid="3">
                                            <p:txEl>
                                              <p:pRg st="3" end="3"/>
                                            </p:txEl>
                                          </p:spTgt>
                                        </p:tgtEl>
                                      </p:cBhvr>
                                      <p:to x="100000" y="100000"/>
                                    </p:animScale>
                                    <p:animScale>
                                      <p:cBhvr>
                                        <p:cTn id="19" dur="26">
                                          <p:stCondLst>
                                            <p:cond delay="1808"/>
                                          </p:stCondLst>
                                        </p:cTn>
                                        <p:tgtEl>
                                          <p:spTgt spid="3">
                                            <p:txEl>
                                              <p:pRg st="3" end="3"/>
                                            </p:txEl>
                                          </p:spTgt>
                                        </p:tgtEl>
                                      </p:cBhvr>
                                      <p:to x="100000" y="95000"/>
                                    </p:animScale>
                                    <p:animScale>
                                      <p:cBhvr>
                                        <p:cTn id="20" dur="166" decel="50000">
                                          <p:stCondLst>
                                            <p:cond delay="1834"/>
                                          </p:stCondLst>
                                        </p:cTn>
                                        <p:tgtEl>
                                          <p:spTgt spid="3">
                                            <p:txEl>
                                              <p:pRg st="3" end="3"/>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r-CH" dirty="0" smtClean="0"/>
              <a:t/>
            </a:r>
            <a:br>
              <a:rPr lang="fr-CH" dirty="0" smtClean="0"/>
            </a:br>
            <a:r>
              <a:rPr lang="fr-CH" dirty="0" smtClean="0"/>
              <a:t/>
            </a:r>
            <a:br>
              <a:rPr lang="fr-CH" dirty="0" smtClean="0"/>
            </a:br>
            <a:r>
              <a:rPr lang="fr-CH" dirty="0" smtClean="0"/>
              <a:t>1) les </a:t>
            </a:r>
            <a:r>
              <a:rPr lang="fr-CH" dirty="0"/>
              <a:t>marchandises intégralement obtenues sur le territoire douanier </a:t>
            </a:r>
            <a:r>
              <a:rPr lang="fr-CH" dirty="0" smtClean="0"/>
              <a:t>de </a:t>
            </a:r>
            <a:r>
              <a:rPr lang="fr-CH" dirty="0"/>
              <a:t>l’Union </a:t>
            </a:r>
            <a:r>
              <a:rPr lang="fr-CH" dirty="0" smtClean="0"/>
              <a:t>(y compris sa mer territoriale)</a:t>
            </a:r>
            <a:endParaRPr lang="en-US" dirty="0"/>
          </a:p>
        </p:txBody>
      </p:sp>
      <p:sp>
        <p:nvSpPr>
          <p:cNvPr id="3" name="Content Placeholder 2"/>
          <p:cNvSpPr>
            <a:spLocks noGrp="1"/>
          </p:cNvSpPr>
          <p:nvPr>
            <p:ph idx="1"/>
          </p:nvPr>
        </p:nvSpPr>
        <p:spPr/>
        <p:txBody>
          <a:bodyPr>
            <a:normAutofit fontScale="92500" lnSpcReduction="10000"/>
          </a:bodyPr>
          <a:lstStyle/>
          <a:p>
            <a:endParaRPr lang="fr-CH" dirty="0" smtClean="0"/>
          </a:p>
          <a:p>
            <a:endParaRPr lang="fr-CH" dirty="0"/>
          </a:p>
          <a:p>
            <a:pPr marL="0" indent="0">
              <a:buNone/>
            </a:pPr>
            <a:r>
              <a:rPr lang="fr-CH" dirty="0" smtClean="0"/>
              <a:t>Par exemple:</a:t>
            </a:r>
          </a:p>
          <a:p>
            <a:pPr marL="0" indent="0">
              <a:buNone/>
            </a:pPr>
            <a:endParaRPr lang="fr-CH" dirty="0"/>
          </a:p>
          <a:p>
            <a:r>
              <a:rPr lang="fr-CH" dirty="0" smtClean="0"/>
              <a:t>les </a:t>
            </a:r>
            <a:r>
              <a:rPr lang="fr-CH" dirty="0"/>
              <a:t>produits minéraux extraits dans ce pays ou territoire</a:t>
            </a:r>
          </a:p>
          <a:p>
            <a:r>
              <a:rPr lang="fr-CH" dirty="0" smtClean="0"/>
              <a:t>les </a:t>
            </a:r>
            <a:r>
              <a:rPr lang="fr-CH" dirty="0"/>
              <a:t>produits du règne végétal qui y sont récoltés</a:t>
            </a:r>
          </a:p>
          <a:p>
            <a:r>
              <a:rPr lang="fr-CH" dirty="0" smtClean="0"/>
              <a:t>les </a:t>
            </a:r>
            <a:r>
              <a:rPr lang="fr-CH" dirty="0"/>
              <a:t>animaux vivants qui y sont nés et </a:t>
            </a:r>
            <a:r>
              <a:rPr lang="fr-CH" dirty="0" smtClean="0"/>
              <a:t>élevés </a:t>
            </a:r>
          </a:p>
          <a:p>
            <a:r>
              <a:rPr lang="fr-CH" dirty="0" smtClean="0"/>
              <a:t>les </a:t>
            </a:r>
            <a:r>
              <a:rPr lang="fr-CH" dirty="0"/>
              <a:t>produits de la chasse ou de la pêche qui y sont pratiquées</a:t>
            </a:r>
          </a:p>
          <a:p>
            <a:r>
              <a:rPr lang="fr-CH" dirty="0" smtClean="0"/>
              <a:t>les </a:t>
            </a:r>
            <a:r>
              <a:rPr lang="fr-CH" dirty="0"/>
              <a:t>marchandises qui y sont fabriquées exclusivement à partir de produits visés aux points </a:t>
            </a:r>
            <a:r>
              <a:rPr lang="fr-CH" dirty="0" smtClean="0"/>
              <a:t>ci-avant</a:t>
            </a:r>
            <a:endParaRPr lang="fr-CH" dirty="0"/>
          </a:p>
          <a:p>
            <a:pPr marL="0" indent="0">
              <a:buNone/>
            </a:pPr>
            <a:endParaRPr lang="en-US" dirty="0"/>
          </a:p>
        </p:txBody>
      </p:sp>
      <p:sp>
        <p:nvSpPr>
          <p:cNvPr id="4" name="Slide Number Placeholder 3"/>
          <p:cNvSpPr>
            <a:spLocks noGrp="1"/>
          </p:cNvSpPr>
          <p:nvPr>
            <p:ph type="sldNum" sz="quarter" idx="12"/>
          </p:nvPr>
        </p:nvSpPr>
        <p:spPr/>
        <p:txBody>
          <a:bodyPr/>
          <a:lstStyle/>
          <a:p>
            <a:fld id="{C58F520E-0D3C-4C73-96DF-B271C0F692B0}" type="slidenum">
              <a:rPr lang="lb-LU" smtClean="0"/>
              <a:t>5</a:t>
            </a:fld>
            <a:endParaRPr lang="lb-LU"/>
          </a:p>
        </p:txBody>
      </p:sp>
    </p:spTree>
    <p:extLst>
      <p:ext uri="{BB962C8B-B14F-4D97-AF65-F5344CB8AC3E}">
        <p14:creationId xmlns:p14="http://schemas.microsoft.com/office/powerpoint/2010/main" val="3328720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circle(in)">
                                      <p:cBhvr>
                                        <p:cTn id="7" dur="20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1000"/>
                                        <p:tgtEl>
                                          <p:spTgt spid="3">
                                            <p:txEl>
                                              <p:pRg st="4" end="4"/>
                                            </p:txEl>
                                          </p:spTgt>
                                        </p:tgtEl>
                                      </p:cBhvr>
                                    </p:animEffect>
                                    <p:anim calcmode="lin" valueType="num">
                                      <p:cBhvr>
                                        <p:cTn id="1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Effect transition="in" filter="fade">
                                      <p:cBhvr>
                                        <p:cTn id="19" dur="1000"/>
                                        <p:tgtEl>
                                          <p:spTgt spid="3">
                                            <p:txEl>
                                              <p:pRg st="5" end="5"/>
                                            </p:txEl>
                                          </p:spTgt>
                                        </p:tgtEl>
                                      </p:cBhvr>
                                    </p:animEffect>
                                    <p:anim calcmode="lin" valueType="num">
                                      <p:cBhvr>
                                        <p:cTn id="20"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3">
                                            <p:txEl>
                                              <p:pRg st="6" end="6"/>
                                            </p:txEl>
                                          </p:spTgt>
                                        </p:tgtEl>
                                        <p:attrNameLst>
                                          <p:attrName>style.visibility</p:attrName>
                                        </p:attrNameLst>
                                      </p:cBhvr>
                                      <p:to>
                                        <p:strVal val="visible"/>
                                      </p:to>
                                    </p:set>
                                    <p:animEffect transition="in" filter="fade">
                                      <p:cBhvr>
                                        <p:cTn id="26" dur="1000"/>
                                        <p:tgtEl>
                                          <p:spTgt spid="3">
                                            <p:txEl>
                                              <p:pRg st="6" end="6"/>
                                            </p:txEl>
                                          </p:spTgt>
                                        </p:tgtEl>
                                      </p:cBhvr>
                                    </p:animEffect>
                                    <p:anim calcmode="lin" valueType="num">
                                      <p:cBhvr>
                                        <p:cTn id="27"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animEffect transition="in" filter="fade">
                                      <p:cBhvr>
                                        <p:cTn id="33" dur="1000"/>
                                        <p:tgtEl>
                                          <p:spTgt spid="3">
                                            <p:txEl>
                                              <p:pRg st="7" end="7"/>
                                            </p:txEl>
                                          </p:spTgt>
                                        </p:tgtEl>
                                      </p:cBhvr>
                                    </p:animEffect>
                                    <p:anim calcmode="lin" valueType="num">
                                      <p:cBhvr>
                                        <p:cTn id="34"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35"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3">
                                            <p:txEl>
                                              <p:pRg st="8" end="8"/>
                                            </p:txEl>
                                          </p:spTgt>
                                        </p:tgtEl>
                                        <p:attrNameLst>
                                          <p:attrName>style.visibility</p:attrName>
                                        </p:attrNameLst>
                                      </p:cBhvr>
                                      <p:to>
                                        <p:strVal val="visible"/>
                                      </p:to>
                                    </p:set>
                                    <p:animEffect transition="in" filter="fade">
                                      <p:cBhvr>
                                        <p:cTn id="40" dur="1000"/>
                                        <p:tgtEl>
                                          <p:spTgt spid="3">
                                            <p:txEl>
                                              <p:pRg st="8" end="8"/>
                                            </p:txEl>
                                          </p:spTgt>
                                        </p:tgtEl>
                                      </p:cBhvr>
                                    </p:animEffect>
                                    <p:anim calcmode="lin" valueType="num">
                                      <p:cBhvr>
                                        <p:cTn id="41"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42"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r-CH" dirty="0" smtClean="0"/>
              <a:t/>
            </a:r>
            <a:br>
              <a:rPr lang="fr-CH" dirty="0" smtClean="0"/>
            </a:br>
            <a:r>
              <a:rPr lang="fr-CH" dirty="0"/>
              <a:t/>
            </a:r>
            <a:br>
              <a:rPr lang="fr-CH" dirty="0"/>
            </a:br>
            <a:r>
              <a:rPr lang="fr-CH" dirty="0" smtClean="0"/>
              <a:t/>
            </a:r>
            <a:br>
              <a:rPr lang="fr-CH" dirty="0" smtClean="0"/>
            </a:br>
            <a:r>
              <a:rPr lang="fr-CH" dirty="0" smtClean="0"/>
              <a:t>2) les </a:t>
            </a:r>
            <a:r>
              <a:rPr lang="fr-CH" dirty="0"/>
              <a:t>marchandises acheminées sur le territoire douanier de l’Union et mises en libre </a:t>
            </a:r>
            <a:r>
              <a:rPr lang="fr-CH" dirty="0" smtClean="0"/>
              <a:t>pratique:‎</a:t>
            </a:r>
            <a:r>
              <a:rPr lang="fr-CH" dirty="0"/>
              <a:t/>
            </a:r>
            <a:br>
              <a:rPr lang="fr-CH" dirty="0"/>
            </a:br>
            <a:endParaRPr lang="en-US" dirty="0"/>
          </a:p>
        </p:txBody>
      </p:sp>
      <p:sp>
        <p:nvSpPr>
          <p:cNvPr id="3" name="Content Placeholder 2"/>
          <p:cNvSpPr>
            <a:spLocks noGrp="1"/>
          </p:cNvSpPr>
          <p:nvPr>
            <p:ph idx="1"/>
          </p:nvPr>
        </p:nvSpPr>
        <p:spPr/>
        <p:txBody>
          <a:bodyPr>
            <a:normAutofit fontScale="92500" lnSpcReduction="10000"/>
          </a:bodyPr>
          <a:lstStyle/>
          <a:p>
            <a:endParaRPr lang="fr-CH" dirty="0" smtClean="0"/>
          </a:p>
          <a:p>
            <a:endParaRPr lang="fr-CH" dirty="0"/>
          </a:p>
          <a:p>
            <a:r>
              <a:rPr lang="fr-CH" dirty="0" smtClean="0"/>
              <a:t>« mise </a:t>
            </a:r>
            <a:r>
              <a:rPr lang="fr-CH" dirty="0"/>
              <a:t>en libre pratique » </a:t>
            </a:r>
            <a:r>
              <a:rPr lang="fr-CH" dirty="0" smtClean="0"/>
              <a:t>=  régime douanier</a:t>
            </a:r>
            <a:endParaRPr lang="fr-CH" dirty="0"/>
          </a:p>
          <a:p>
            <a:r>
              <a:rPr lang="fr-CH" dirty="0"/>
              <a:t>Ce régime confère le statut douanier de marchandise de l'Union à une marchandise non Union. ‎</a:t>
            </a:r>
          </a:p>
          <a:p>
            <a:r>
              <a:rPr lang="fr-CH" dirty="0" smtClean="0"/>
              <a:t>Concerne les </a:t>
            </a:r>
            <a:r>
              <a:rPr lang="fr-CH" dirty="0"/>
              <a:t>marchandises non Union destinées à être versées sur le marché de l’Union ou à un usage ou ‎à la consommation privés à l'intérieur du territoire de </a:t>
            </a:r>
            <a:r>
              <a:rPr lang="fr-CH" dirty="0" smtClean="0"/>
              <a:t>l’Union. </a:t>
            </a:r>
            <a:r>
              <a:rPr lang="fr-CH" dirty="0"/>
              <a:t>‎</a:t>
            </a:r>
          </a:p>
          <a:p>
            <a:r>
              <a:rPr lang="fr-CH" dirty="0" smtClean="0"/>
              <a:t>‎</a:t>
            </a:r>
            <a:r>
              <a:rPr lang="fr-CH" dirty="0"/>
              <a:t>Les marchandises mises en libre pratique peuvent donc par la suite être transportées, </a:t>
            </a:r>
            <a:r>
              <a:rPr lang="fr-CH" dirty="0" smtClean="0"/>
              <a:t>stockées, </a:t>
            </a:r>
            <a:r>
              <a:rPr lang="fr-CH" dirty="0"/>
              <a:t>commercialisées </a:t>
            </a:r>
            <a:r>
              <a:rPr lang="fr-CH" dirty="0" smtClean="0"/>
              <a:t>ou consommées dans </a:t>
            </a:r>
            <a:r>
              <a:rPr lang="fr-CH" dirty="0"/>
              <a:t>le territoire douanier de l’Union sans être soumises à la surveillance ‎douanière.‎</a:t>
            </a:r>
          </a:p>
          <a:p>
            <a:endParaRPr lang="fr-CH" dirty="0"/>
          </a:p>
          <a:p>
            <a:endParaRPr lang="en-US" dirty="0"/>
          </a:p>
        </p:txBody>
      </p:sp>
      <p:sp>
        <p:nvSpPr>
          <p:cNvPr id="4" name="Slide Number Placeholder 3"/>
          <p:cNvSpPr>
            <a:spLocks noGrp="1"/>
          </p:cNvSpPr>
          <p:nvPr>
            <p:ph type="sldNum" sz="quarter" idx="12"/>
          </p:nvPr>
        </p:nvSpPr>
        <p:spPr/>
        <p:txBody>
          <a:bodyPr/>
          <a:lstStyle/>
          <a:p>
            <a:fld id="{C58F520E-0D3C-4C73-96DF-B271C0F692B0}" type="slidenum">
              <a:rPr lang="lb-LU" smtClean="0"/>
              <a:t>6</a:t>
            </a:fld>
            <a:endParaRPr lang="lb-LU"/>
          </a:p>
        </p:txBody>
      </p:sp>
    </p:spTree>
    <p:extLst>
      <p:ext uri="{BB962C8B-B14F-4D97-AF65-F5344CB8AC3E}">
        <p14:creationId xmlns:p14="http://schemas.microsoft.com/office/powerpoint/2010/main" val="3372882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3" end="3"/>
                                            </p:txEl>
                                          </p:spTgt>
                                        </p:tgtEl>
                                        <p:attrNameLst>
                                          <p:attrName>style.visibility</p:attrName>
                                        </p:attrNameLst>
                                      </p:cBhvr>
                                      <p:to>
                                        <p:strVal val="visible"/>
                                      </p:to>
                                    </p:set>
                                    <p:animEffect transition="in" filter="fade">
                                      <p:cBhvr>
                                        <p:cTn id="14" dur="1000"/>
                                        <p:tgtEl>
                                          <p:spTgt spid="3">
                                            <p:txEl>
                                              <p:pRg st="3" end="3"/>
                                            </p:txEl>
                                          </p:spTgt>
                                        </p:tgtEl>
                                      </p:cBhvr>
                                    </p:animEffect>
                                    <p:anim calcmode="lin" valueType="num">
                                      <p:cBhvr>
                                        <p:cTn id="1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1000"/>
                                        <p:tgtEl>
                                          <p:spTgt spid="3">
                                            <p:txEl>
                                              <p:pRg st="4" end="4"/>
                                            </p:txEl>
                                          </p:spTgt>
                                        </p:tgtEl>
                                      </p:cBhvr>
                                    </p:animEffect>
                                    <p:anim calcmode="lin" valueType="num">
                                      <p:cBhvr>
                                        <p:cTn id="2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1000"/>
                                        <p:tgtEl>
                                          <p:spTgt spid="3">
                                            <p:txEl>
                                              <p:pRg st="5" end="5"/>
                                            </p:txEl>
                                          </p:spTgt>
                                        </p:tgtEl>
                                      </p:cBhvr>
                                    </p:animEffect>
                                    <p:anim calcmode="lin" valueType="num">
                                      <p:cBhvr>
                                        <p:cTn id="29"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r-CH" dirty="0" smtClean="0"/>
              <a:t/>
            </a:r>
            <a:br>
              <a:rPr lang="fr-CH" dirty="0" smtClean="0"/>
            </a:br>
            <a:r>
              <a:rPr lang="fr-CH" dirty="0"/>
              <a:t/>
            </a:r>
            <a:br>
              <a:rPr lang="fr-CH" dirty="0"/>
            </a:br>
            <a:r>
              <a:rPr lang="fr-CH" dirty="0" smtClean="0"/>
              <a:t/>
            </a:r>
            <a:br>
              <a:rPr lang="fr-CH" dirty="0" smtClean="0"/>
            </a:br>
            <a:r>
              <a:rPr lang="fr-CH" dirty="0" smtClean="0"/>
              <a:t>2) les </a:t>
            </a:r>
            <a:r>
              <a:rPr lang="fr-CH" dirty="0"/>
              <a:t>marchandises acheminées sur le territoire douanier de l’Union et mises en libre </a:t>
            </a:r>
            <a:r>
              <a:rPr lang="fr-CH" dirty="0" smtClean="0"/>
              <a:t>pratique:‎</a:t>
            </a:r>
            <a:r>
              <a:rPr lang="fr-CH" dirty="0"/>
              <a:t/>
            </a:r>
            <a:br>
              <a:rPr lang="fr-CH" dirty="0"/>
            </a:br>
            <a:endParaRPr lang="en-US" dirty="0"/>
          </a:p>
        </p:txBody>
      </p:sp>
      <p:sp>
        <p:nvSpPr>
          <p:cNvPr id="3" name="Content Placeholder 2"/>
          <p:cNvSpPr>
            <a:spLocks noGrp="1"/>
          </p:cNvSpPr>
          <p:nvPr>
            <p:ph idx="1"/>
          </p:nvPr>
        </p:nvSpPr>
        <p:spPr/>
        <p:txBody>
          <a:bodyPr>
            <a:normAutofit fontScale="85000" lnSpcReduction="20000"/>
          </a:bodyPr>
          <a:lstStyle/>
          <a:p>
            <a:endParaRPr lang="fr-CH" dirty="0" smtClean="0"/>
          </a:p>
          <a:p>
            <a:endParaRPr lang="fr-CH" dirty="0"/>
          </a:p>
          <a:p>
            <a:pPr marL="0" indent="0">
              <a:buNone/>
            </a:pPr>
            <a:r>
              <a:rPr lang="fr-CH" dirty="0"/>
              <a:t>La mise en libre pratique implique: </a:t>
            </a:r>
            <a:r>
              <a:rPr lang="fr-CH" dirty="0" smtClean="0"/>
              <a:t>‎</a:t>
            </a:r>
            <a:endParaRPr lang="fr-CH" dirty="0"/>
          </a:p>
          <a:p>
            <a:r>
              <a:rPr lang="fr-CH" dirty="0" smtClean="0"/>
              <a:t>la </a:t>
            </a:r>
            <a:r>
              <a:rPr lang="fr-CH" dirty="0"/>
              <a:t>perception des droits à l'importation dus (les droits de douane),</a:t>
            </a:r>
            <a:r>
              <a:rPr lang="fr-CH" dirty="0" smtClean="0"/>
              <a:t>‎</a:t>
            </a:r>
            <a:endParaRPr lang="fr-CH" dirty="0"/>
          </a:p>
          <a:p>
            <a:r>
              <a:rPr lang="fr-CH" dirty="0" smtClean="0"/>
              <a:t>la </a:t>
            </a:r>
            <a:r>
              <a:rPr lang="fr-CH" dirty="0"/>
              <a:t>perception, le cas échéant, d'autres impositions, selon les dispositions pertinentes en ‎vigueur en matière de perception desdites impositions; (p.ex. TVA, droits d’accise),</a:t>
            </a:r>
            <a:r>
              <a:rPr lang="fr-CH" dirty="0" smtClean="0"/>
              <a:t>‎</a:t>
            </a:r>
            <a:endParaRPr lang="fr-CH" dirty="0"/>
          </a:p>
          <a:p>
            <a:r>
              <a:rPr lang="fr-CH" dirty="0" smtClean="0"/>
              <a:t>l'application </a:t>
            </a:r>
            <a:r>
              <a:rPr lang="fr-CH" dirty="0"/>
              <a:t>des mesures de politique commerciale (p.ex. droits antidumping), </a:t>
            </a:r>
            <a:r>
              <a:rPr lang="fr-CH" dirty="0" smtClean="0"/>
              <a:t>‎</a:t>
            </a:r>
            <a:endParaRPr lang="fr-CH" dirty="0"/>
          </a:p>
          <a:p>
            <a:r>
              <a:rPr lang="fr-CH" dirty="0" smtClean="0"/>
              <a:t>l’application </a:t>
            </a:r>
            <a:r>
              <a:rPr lang="fr-CH" dirty="0"/>
              <a:t>des mesures de prohibition ou de restriction, pour autant qu'elles n'aient ‎pas été appliquées à un stade antérieur (p.ex. licence, CITES),</a:t>
            </a:r>
            <a:r>
              <a:rPr lang="fr-CH" dirty="0" smtClean="0"/>
              <a:t>‎</a:t>
            </a:r>
            <a:endParaRPr lang="fr-CH" dirty="0"/>
          </a:p>
          <a:p>
            <a:r>
              <a:rPr lang="fr-CH" dirty="0" smtClean="0"/>
              <a:t>l'accomplissement </a:t>
            </a:r>
            <a:r>
              <a:rPr lang="fr-CH" dirty="0"/>
              <a:t>des autres formalités prévues pour l'importation des marchandises ‎‎(dépôt d’une déclaration)‎</a:t>
            </a:r>
          </a:p>
          <a:p>
            <a:endParaRPr lang="fr-CH" dirty="0"/>
          </a:p>
          <a:p>
            <a:endParaRPr lang="en-US" dirty="0"/>
          </a:p>
        </p:txBody>
      </p:sp>
      <p:sp>
        <p:nvSpPr>
          <p:cNvPr id="4" name="Slide Number Placeholder 3"/>
          <p:cNvSpPr>
            <a:spLocks noGrp="1"/>
          </p:cNvSpPr>
          <p:nvPr>
            <p:ph type="sldNum" sz="quarter" idx="12"/>
          </p:nvPr>
        </p:nvSpPr>
        <p:spPr/>
        <p:txBody>
          <a:bodyPr/>
          <a:lstStyle/>
          <a:p>
            <a:fld id="{C58F520E-0D3C-4C73-96DF-B271C0F692B0}" type="slidenum">
              <a:rPr lang="lb-LU" smtClean="0"/>
              <a:t>7</a:t>
            </a:fld>
            <a:endParaRPr lang="lb-LU"/>
          </a:p>
        </p:txBody>
      </p:sp>
    </p:spTree>
    <p:extLst>
      <p:ext uri="{BB962C8B-B14F-4D97-AF65-F5344CB8AC3E}">
        <p14:creationId xmlns:p14="http://schemas.microsoft.com/office/powerpoint/2010/main" val="3137324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3" end="3"/>
                                            </p:txEl>
                                          </p:spTgt>
                                        </p:tgtEl>
                                        <p:attrNameLst>
                                          <p:attrName>style.visibility</p:attrName>
                                        </p:attrNameLst>
                                      </p:cBhvr>
                                      <p:to>
                                        <p:strVal val="visible"/>
                                      </p:to>
                                    </p:set>
                                    <p:animEffect transition="in" filter="fade">
                                      <p:cBhvr>
                                        <p:cTn id="14" dur="1000"/>
                                        <p:tgtEl>
                                          <p:spTgt spid="3">
                                            <p:txEl>
                                              <p:pRg st="3" end="3"/>
                                            </p:txEl>
                                          </p:spTgt>
                                        </p:tgtEl>
                                      </p:cBhvr>
                                    </p:animEffect>
                                    <p:anim calcmode="lin" valueType="num">
                                      <p:cBhvr>
                                        <p:cTn id="1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1000"/>
                                        <p:tgtEl>
                                          <p:spTgt spid="3">
                                            <p:txEl>
                                              <p:pRg st="4" end="4"/>
                                            </p:txEl>
                                          </p:spTgt>
                                        </p:tgtEl>
                                      </p:cBhvr>
                                    </p:animEffect>
                                    <p:anim calcmode="lin" valueType="num">
                                      <p:cBhvr>
                                        <p:cTn id="2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1000"/>
                                        <p:tgtEl>
                                          <p:spTgt spid="3">
                                            <p:txEl>
                                              <p:pRg st="5" end="5"/>
                                            </p:txEl>
                                          </p:spTgt>
                                        </p:tgtEl>
                                      </p:cBhvr>
                                    </p:animEffect>
                                    <p:anim calcmode="lin" valueType="num">
                                      <p:cBhvr>
                                        <p:cTn id="29"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fade">
                                      <p:cBhvr>
                                        <p:cTn id="35" dur="1000"/>
                                        <p:tgtEl>
                                          <p:spTgt spid="3">
                                            <p:txEl>
                                              <p:pRg st="6" end="6"/>
                                            </p:txEl>
                                          </p:spTgt>
                                        </p:tgtEl>
                                      </p:cBhvr>
                                    </p:animEffect>
                                    <p:anim calcmode="lin" valueType="num">
                                      <p:cBhvr>
                                        <p:cTn id="36"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1000"/>
                                        <p:tgtEl>
                                          <p:spTgt spid="3">
                                            <p:txEl>
                                              <p:pRg st="7" end="7"/>
                                            </p:txEl>
                                          </p:spTgt>
                                        </p:tgtEl>
                                      </p:cBhvr>
                                    </p:animEffect>
                                    <p:anim calcmode="lin" valueType="num">
                                      <p:cBhvr>
                                        <p:cTn id="43"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r-FR" dirty="0" smtClean="0"/>
              <a:t/>
            </a:r>
            <a:br>
              <a:rPr lang="fr-FR" dirty="0" smtClean="0"/>
            </a:br>
            <a:r>
              <a:rPr lang="fr-FR" dirty="0"/>
              <a:t/>
            </a:r>
            <a:br>
              <a:rPr lang="fr-FR" dirty="0"/>
            </a:br>
            <a:r>
              <a:rPr lang="fr-FR" dirty="0" smtClean="0"/>
              <a:t/>
            </a:r>
            <a:br>
              <a:rPr lang="fr-FR" dirty="0" smtClean="0"/>
            </a:br>
            <a:r>
              <a:rPr lang="fr-FR" dirty="0"/>
              <a:t/>
            </a:r>
            <a:br>
              <a:rPr lang="fr-FR" dirty="0"/>
            </a:br>
            <a:r>
              <a:rPr lang="fr-FR" dirty="0" smtClean="0"/>
              <a:t>3)</a:t>
            </a:r>
            <a:r>
              <a:rPr lang="fr-CH" dirty="0"/>
              <a:t> les marchandises obtenues ou produites sur le territoire douanier de l’Union, exclusivement à ‎partir des marchandises </a:t>
            </a:r>
            <a:r>
              <a:rPr lang="fr-CH" dirty="0" smtClean="0"/>
              <a:t>des 2 catégories mentionnées ci-avant:</a:t>
            </a:r>
            <a:r>
              <a:rPr lang="fr-CH" dirty="0"/>
              <a:t/>
            </a:r>
            <a:br>
              <a:rPr lang="fr-CH" dirty="0"/>
            </a:br>
            <a:endParaRPr lang="en-US" dirty="0"/>
          </a:p>
        </p:txBody>
      </p:sp>
      <p:sp>
        <p:nvSpPr>
          <p:cNvPr id="3" name="Content Placeholder 2"/>
          <p:cNvSpPr>
            <a:spLocks noGrp="1"/>
          </p:cNvSpPr>
          <p:nvPr>
            <p:ph idx="1"/>
          </p:nvPr>
        </p:nvSpPr>
        <p:spPr/>
        <p:txBody>
          <a:bodyPr/>
          <a:lstStyle/>
          <a:p>
            <a:pPr marL="0" indent="0">
              <a:buNone/>
            </a:pPr>
            <a:endParaRPr lang="fr-FR" dirty="0" smtClean="0"/>
          </a:p>
          <a:p>
            <a:pPr marL="0" indent="0">
              <a:buNone/>
            </a:pPr>
            <a:endParaRPr lang="fr-FR" dirty="0" smtClean="0"/>
          </a:p>
          <a:p>
            <a:pPr marL="0" indent="0">
              <a:buNone/>
            </a:pPr>
            <a:r>
              <a:rPr lang="fr-FR" dirty="0" smtClean="0"/>
              <a:t>Par exemple:</a:t>
            </a:r>
          </a:p>
          <a:p>
            <a:pPr marL="0" indent="0">
              <a:buNone/>
            </a:pPr>
            <a:r>
              <a:rPr lang="fr-FR" dirty="0" smtClean="0">
                <a:sym typeface="Wingdings" panose="05000000000000000000" pitchFamily="2" charset="2"/>
              </a:rPr>
              <a:t> </a:t>
            </a:r>
            <a:r>
              <a:rPr lang="fr-FR" dirty="0" smtClean="0"/>
              <a:t>Une entreprise luxembourgeoise importe des tissus depuis la Chine </a:t>
            </a:r>
            <a:r>
              <a:rPr lang="fr-FR" dirty="0"/>
              <a:t> </a:t>
            </a:r>
            <a:r>
              <a:rPr lang="fr-FR" dirty="0" smtClean="0"/>
              <a:t> et les dédouane/les met en libre pratique au Luxembourg. </a:t>
            </a:r>
          </a:p>
          <a:p>
            <a:pPr>
              <a:buFont typeface="Wingdings" panose="05000000000000000000" pitchFamily="2" charset="2"/>
              <a:buChar char="à"/>
            </a:pPr>
            <a:r>
              <a:rPr lang="fr-FR" dirty="0" smtClean="0"/>
              <a:t> Ensuite, elle fabrique des vêtements à partir de ces tissus. </a:t>
            </a:r>
          </a:p>
          <a:p>
            <a:pPr>
              <a:buFont typeface="Wingdings" panose="05000000000000000000" pitchFamily="2" charset="2"/>
              <a:buChar char="à"/>
            </a:pPr>
            <a:r>
              <a:rPr lang="fr-FR" dirty="0"/>
              <a:t> </a:t>
            </a:r>
            <a:r>
              <a:rPr lang="en-US" dirty="0" smtClean="0"/>
              <a:t>Le </a:t>
            </a:r>
            <a:r>
              <a:rPr lang="en-US" dirty="0" err="1" smtClean="0"/>
              <a:t>produit</a:t>
            </a:r>
            <a:r>
              <a:rPr lang="en-US" dirty="0" smtClean="0"/>
              <a:t> </a:t>
            </a:r>
            <a:r>
              <a:rPr lang="en-US" dirty="0" err="1" smtClean="0"/>
              <a:t>fini</a:t>
            </a:r>
            <a:r>
              <a:rPr lang="en-US" dirty="0" smtClean="0"/>
              <a:t> aura le </a:t>
            </a:r>
            <a:r>
              <a:rPr lang="en-US" dirty="0" err="1" smtClean="0"/>
              <a:t>statut</a:t>
            </a:r>
            <a:r>
              <a:rPr lang="en-US" dirty="0" smtClean="0"/>
              <a:t> </a:t>
            </a:r>
            <a:r>
              <a:rPr lang="en-US" dirty="0" err="1" smtClean="0"/>
              <a:t>douanier</a:t>
            </a:r>
            <a:r>
              <a:rPr lang="en-US" dirty="0" smtClean="0"/>
              <a:t> “ </a:t>
            </a:r>
            <a:r>
              <a:rPr lang="en-US" dirty="0" err="1" smtClean="0"/>
              <a:t>Marchandise</a:t>
            </a:r>
            <a:r>
              <a:rPr lang="en-US" dirty="0" smtClean="0"/>
              <a:t> de </a:t>
            </a:r>
            <a:r>
              <a:rPr lang="en-US" dirty="0" err="1" smtClean="0"/>
              <a:t>l’Union</a:t>
            </a:r>
            <a:r>
              <a:rPr lang="en-US" dirty="0" smtClean="0"/>
              <a:t>”</a:t>
            </a:r>
            <a:endParaRPr lang="fr-FR" dirty="0" smtClean="0"/>
          </a:p>
        </p:txBody>
      </p:sp>
      <p:sp>
        <p:nvSpPr>
          <p:cNvPr id="4" name="Slide Number Placeholder 3"/>
          <p:cNvSpPr>
            <a:spLocks noGrp="1"/>
          </p:cNvSpPr>
          <p:nvPr>
            <p:ph type="sldNum" sz="quarter" idx="12"/>
          </p:nvPr>
        </p:nvSpPr>
        <p:spPr/>
        <p:txBody>
          <a:bodyPr/>
          <a:lstStyle/>
          <a:p>
            <a:fld id="{C58F520E-0D3C-4C73-96DF-B271C0F692B0}" type="slidenum">
              <a:rPr lang="lb-LU" smtClean="0"/>
              <a:t>8</a:t>
            </a:fld>
            <a:endParaRPr lang="lb-LU"/>
          </a:p>
        </p:txBody>
      </p:sp>
    </p:spTree>
    <p:extLst>
      <p:ext uri="{BB962C8B-B14F-4D97-AF65-F5344CB8AC3E}">
        <p14:creationId xmlns:p14="http://schemas.microsoft.com/office/powerpoint/2010/main" val="1789600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3" end="3"/>
                                            </p:txEl>
                                          </p:spTgt>
                                        </p:tgtEl>
                                        <p:attrNameLst>
                                          <p:attrName>style.visibility</p:attrName>
                                        </p:attrNameLst>
                                      </p:cBhvr>
                                      <p:to>
                                        <p:strVal val="visible"/>
                                      </p:to>
                                    </p:set>
                                    <p:animEffect transition="in" filter="fade">
                                      <p:cBhvr>
                                        <p:cTn id="14" dur="1000"/>
                                        <p:tgtEl>
                                          <p:spTgt spid="3">
                                            <p:txEl>
                                              <p:pRg st="3" end="3"/>
                                            </p:txEl>
                                          </p:spTgt>
                                        </p:tgtEl>
                                      </p:cBhvr>
                                    </p:animEffect>
                                    <p:anim calcmode="lin" valueType="num">
                                      <p:cBhvr>
                                        <p:cTn id="1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1000"/>
                                        <p:tgtEl>
                                          <p:spTgt spid="3">
                                            <p:txEl>
                                              <p:pRg st="4" end="4"/>
                                            </p:txEl>
                                          </p:spTgt>
                                        </p:tgtEl>
                                      </p:cBhvr>
                                    </p:animEffect>
                                    <p:anim calcmode="lin" valueType="num">
                                      <p:cBhvr>
                                        <p:cTn id="2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1000"/>
                                        <p:tgtEl>
                                          <p:spTgt spid="3">
                                            <p:txEl>
                                              <p:pRg st="5" end="5"/>
                                            </p:txEl>
                                          </p:spTgt>
                                        </p:tgtEl>
                                      </p:cBhvr>
                                    </p:animEffect>
                                    <p:anim calcmode="lin" valueType="num">
                                      <p:cBhvr>
                                        <p:cTn id="29"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fr-CH" dirty="0" smtClean="0"/>
              <a:t>Détermination </a:t>
            </a:r>
            <a:r>
              <a:rPr lang="fr-CH" dirty="0"/>
              <a:t>« marchandise originaire de l’Union ».‎</a:t>
            </a:r>
            <a:endParaRPr lang="en-US" dirty="0"/>
          </a:p>
        </p:txBody>
      </p:sp>
      <p:sp>
        <p:nvSpPr>
          <p:cNvPr id="3" name="Content Placeholder 2"/>
          <p:cNvSpPr>
            <a:spLocks noGrp="1"/>
          </p:cNvSpPr>
          <p:nvPr>
            <p:ph idx="1"/>
          </p:nvPr>
        </p:nvSpPr>
        <p:spPr/>
        <p:txBody>
          <a:bodyPr>
            <a:normAutofit fontScale="92500" lnSpcReduction="10000"/>
          </a:bodyPr>
          <a:lstStyle/>
          <a:p>
            <a:pPr marL="0" indent="0">
              <a:buNone/>
            </a:pPr>
            <a:r>
              <a:rPr lang="fr-FR" dirty="0" smtClean="0"/>
              <a:t>Le statut « marchandise de l’Union» </a:t>
            </a:r>
            <a:r>
              <a:rPr lang="fr-FR" dirty="0"/>
              <a:t>n’est pas à confondre avec </a:t>
            </a:r>
            <a:r>
              <a:rPr lang="fr-FR" dirty="0" smtClean="0"/>
              <a:t>la détermination «</a:t>
            </a:r>
            <a:r>
              <a:rPr lang="fr-FR" dirty="0"/>
              <a:t> marchandise originaire de l’Union </a:t>
            </a:r>
            <a:r>
              <a:rPr lang="fr-FR" dirty="0" smtClean="0"/>
              <a:t>».</a:t>
            </a:r>
          </a:p>
          <a:p>
            <a:pPr marL="0" indent="0">
              <a:buNone/>
            </a:pPr>
            <a:endParaRPr lang="fr-FR" dirty="0"/>
          </a:p>
          <a:p>
            <a:pPr marL="0" indent="0">
              <a:buNone/>
            </a:pPr>
            <a:r>
              <a:rPr lang="fr-FR" dirty="0" smtClean="0"/>
              <a:t>La détermination «</a:t>
            </a:r>
            <a:r>
              <a:rPr lang="fr-FR" dirty="0"/>
              <a:t> marchandise originaire de l’Union </a:t>
            </a:r>
            <a:r>
              <a:rPr lang="fr-FR" dirty="0" smtClean="0"/>
              <a:t>» est utilisée dans les 2 domaines suivantes:</a:t>
            </a:r>
          </a:p>
          <a:p>
            <a:pPr marL="0" indent="0">
              <a:buNone/>
            </a:pPr>
            <a:endParaRPr lang="fr-FR" dirty="0"/>
          </a:p>
          <a:p>
            <a:pPr marL="514350" indent="-514350">
              <a:buFont typeface="+mj-lt"/>
              <a:buAutoNum type="arabicPeriod"/>
            </a:pPr>
            <a:r>
              <a:rPr lang="fr-CH" u="sng" dirty="0"/>
              <a:t>L’origine non préférentielle </a:t>
            </a:r>
            <a:r>
              <a:rPr lang="fr-CH" dirty="0"/>
              <a:t>d’une </a:t>
            </a:r>
            <a:r>
              <a:rPr lang="fr-CH" dirty="0" smtClean="0"/>
              <a:t>marchandise</a:t>
            </a:r>
          </a:p>
          <a:p>
            <a:pPr marL="0" indent="0">
              <a:buNone/>
            </a:pPr>
            <a:r>
              <a:rPr lang="fr-CH" dirty="0" smtClean="0"/>
              <a:t> </a:t>
            </a:r>
          </a:p>
          <a:p>
            <a:pPr marL="457200" lvl="1" indent="0">
              <a:buNone/>
            </a:pPr>
            <a:r>
              <a:rPr lang="fr-CH" dirty="0"/>
              <a:t>	</a:t>
            </a:r>
            <a:r>
              <a:rPr lang="fr-CH" dirty="0" smtClean="0">
                <a:sym typeface="Wingdings" panose="05000000000000000000" pitchFamily="2" charset="2"/>
              </a:rPr>
              <a:t> </a:t>
            </a:r>
            <a:r>
              <a:rPr lang="fr-CH" sz="2900" dirty="0">
                <a:sym typeface="Wingdings" panose="05000000000000000000" pitchFamily="2" charset="2"/>
              </a:rPr>
              <a:t>A</a:t>
            </a:r>
            <a:r>
              <a:rPr lang="fr-CH" sz="2900" dirty="0"/>
              <a:t>pplication de mesures de politique commerciale (droits </a:t>
            </a:r>
            <a:r>
              <a:rPr lang="fr-CH" sz="2900" dirty="0" smtClean="0"/>
              <a:t>antidumping, </a:t>
            </a:r>
            <a:r>
              <a:rPr lang="fr-CH" sz="2900" dirty="0"/>
              <a:t>prohibitions et restrictions, etc.).</a:t>
            </a:r>
          </a:p>
          <a:p>
            <a:pPr marL="0" indent="0">
              <a:buNone/>
            </a:pPr>
            <a:endParaRPr lang="en-US" dirty="0"/>
          </a:p>
        </p:txBody>
      </p:sp>
      <p:sp>
        <p:nvSpPr>
          <p:cNvPr id="4" name="Slide Number Placeholder 3"/>
          <p:cNvSpPr>
            <a:spLocks noGrp="1"/>
          </p:cNvSpPr>
          <p:nvPr>
            <p:ph type="sldNum" sz="quarter" idx="12"/>
          </p:nvPr>
        </p:nvSpPr>
        <p:spPr/>
        <p:txBody>
          <a:bodyPr/>
          <a:lstStyle/>
          <a:p>
            <a:fld id="{C58F520E-0D3C-4C73-96DF-B271C0F692B0}" type="slidenum">
              <a:rPr lang="lb-LU" smtClean="0"/>
              <a:t>9</a:t>
            </a:fld>
            <a:endParaRPr lang="lb-LU"/>
          </a:p>
        </p:txBody>
      </p:sp>
    </p:spTree>
    <p:extLst>
      <p:ext uri="{BB962C8B-B14F-4D97-AF65-F5344CB8AC3E}">
        <p14:creationId xmlns:p14="http://schemas.microsoft.com/office/powerpoint/2010/main" val="4289315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1000"/>
                                        <p:tgtEl>
                                          <p:spTgt spid="3">
                                            <p:txEl>
                                              <p:pRg st="4" end="4"/>
                                            </p:txEl>
                                          </p:spTgt>
                                        </p:tgtEl>
                                      </p:cBhvr>
                                    </p:animEffect>
                                    <p:anim calcmode="lin" valueType="num">
                                      <p:cBhvr>
                                        <p:cTn id="1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1000"/>
                                        <p:tgtEl>
                                          <p:spTgt spid="3">
                                            <p:txEl>
                                              <p:pRg st="5" end="5"/>
                                            </p:txEl>
                                          </p:spTgt>
                                        </p:tgtEl>
                                      </p:cBhvr>
                                    </p:animEffect>
                                    <p:anim calcmode="lin" valueType="num">
                                      <p:cBhvr>
                                        <p:cTn id="25"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5" end="5"/>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fade">
                                      <p:cBhvr>
                                        <p:cTn id="29" dur="1000"/>
                                        <p:tgtEl>
                                          <p:spTgt spid="3">
                                            <p:txEl>
                                              <p:pRg st="6" end="6"/>
                                            </p:txEl>
                                          </p:spTgt>
                                        </p:tgtEl>
                                      </p:cBhvr>
                                    </p:animEffect>
                                    <p:anim calcmode="lin" valueType="num">
                                      <p:cBhvr>
                                        <p:cTn id="3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fr-CH" dirty="0" smtClean="0"/>
              <a:t>Détermination </a:t>
            </a:r>
            <a:r>
              <a:rPr lang="fr-CH" dirty="0"/>
              <a:t>« marchandise originaire de l’Union ».‎</a:t>
            </a:r>
            <a:endParaRPr lang="en-US" dirty="0"/>
          </a:p>
        </p:txBody>
      </p:sp>
      <p:sp>
        <p:nvSpPr>
          <p:cNvPr id="3" name="Content Placeholder 2"/>
          <p:cNvSpPr>
            <a:spLocks noGrp="1"/>
          </p:cNvSpPr>
          <p:nvPr>
            <p:ph idx="1"/>
          </p:nvPr>
        </p:nvSpPr>
        <p:spPr/>
        <p:txBody>
          <a:bodyPr>
            <a:normAutofit lnSpcReduction="10000"/>
          </a:bodyPr>
          <a:lstStyle/>
          <a:p>
            <a:pPr marL="0" indent="0">
              <a:buNone/>
            </a:pPr>
            <a:endParaRPr lang="fr-CH" sz="2900" dirty="0" smtClean="0"/>
          </a:p>
          <a:p>
            <a:pPr marL="0" indent="0">
              <a:buNone/>
            </a:pPr>
            <a:endParaRPr lang="fr-CH" sz="2900" dirty="0"/>
          </a:p>
          <a:p>
            <a:pPr marL="0" indent="0">
              <a:buNone/>
            </a:pPr>
            <a:endParaRPr lang="fr-CH" sz="2900" dirty="0" smtClean="0"/>
          </a:p>
          <a:p>
            <a:pPr marL="0" indent="0">
              <a:buNone/>
            </a:pPr>
            <a:endParaRPr lang="fr-CH" sz="2900" dirty="0" smtClean="0"/>
          </a:p>
          <a:p>
            <a:pPr marL="0" indent="0">
              <a:buNone/>
            </a:pPr>
            <a:endParaRPr lang="fr-CH" sz="2900" dirty="0"/>
          </a:p>
          <a:p>
            <a:pPr marL="0" indent="0">
              <a:buNone/>
            </a:pPr>
            <a:r>
              <a:rPr lang="fr-CH" dirty="0" smtClean="0"/>
              <a:t>2.  </a:t>
            </a:r>
            <a:r>
              <a:rPr lang="fr-CH" u="sng" dirty="0" smtClean="0"/>
              <a:t>L’origine </a:t>
            </a:r>
            <a:r>
              <a:rPr lang="fr-CH" u="sng" dirty="0"/>
              <a:t>préférentielle </a:t>
            </a:r>
            <a:r>
              <a:rPr lang="fr-CH" dirty="0"/>
              <a:t>d’une marchandise</a:t>
            </a:r>
          </a:p>
          <a:p>
            <a:pPr marL="0" indent="0">
              <a:buNone/>
            </a:pPr>
            <a:r>
              <a:rPr lang="fr-CH" dirty="0" smtClean="0"/>
              <a:t>	</a:t>
            </a:r>
            <a:r>
              <a:rPr lang="fr-CH" dirty="0" smtClean="0">
                <a:sym typeface="Wingdings" panose="05000000000000000000" pitchFamily="2" charset="2"/>
              </a:rPr>
              <a:t> B</a:t>
            </a:r>
            <a:r>
              <a:rPr lang="fr-CH" dirty="0" smtClean="0"/>
              <a:t>énéfice </a:t>
            </a:r>
            <a:r>
              <a:rPr lang="fr-CH" dirty="0"/>
              <a:t>de droits de douane réduits ou nuls à l'importation. </a:t>
            </a:r>
            <a:r>
              <a:rPr lang="fr-CH" dirty="0" smtClean="0"/>
              <a:t>(p.ex. dans </a:t>
            </a:r>
            <a:r>
              <a:rPr lang="fr-CH" dirty="0"/>
              <a:t>les accords préférentiels </a:t>
            </a:r>
            <a:r>
              <a:rPr lang="fr-CH" dirty="0" smtClean="0"/>
              <a:t>que </a:t>
            </a:r>
            <a:r>
              <a:rPr lang="fr-CH" dirty="0"/>
              <a:t>l’UE entretient avec un grand nombre de pays </a:t>
            </a:r>
            <a:r>
              <a:rPr lang="fr-CH" dirty="0" smtClean="0"/>
              <a:t>tiers)</a:t>
            </a:r>
            <a:endParaRPr lang="fr-CH" dirty="0"/>
          </a:p>
          <a:p>
            <a:pPr marL="0" indent="0">
              <a:buNone/>
            </a:pPr>
            <a:endParaRPr lang="en-US" dirty="0"/>
          </a:p>
        </p:txBody>
      </p:sp>
      <p:sp>
        <p:nvSpPr>
          <p:cNvPr id="4" name="Slide Number Placeholder 3"/>
          <p:cNvSpPr>
            <a:spLocks noGrp="1"/>
          </p:cNvSpPr>
          <p:nvPr>
            <p:ph type="sldNum" sz="quarter" idx="12"/>
          </p:nvPr>
        </p:nvSpPr>
        <p:spPr/>
        <p:txBody>
          <a:bodyPr/>
          <a:lstStyle/>
          <a:p>
            <a:fld id="{C58F520E-0D3C-4C73-96DF-B271C0F692B0}" type="slidenum">
              <a:rPr lang="lb-LU" smtClean="0"/>
              <a:t>10</a:t>
            </a:fld>
            <a:endParaRPr lang="lb-LU"/>
          </a:p>
        </p:txBody>
      </p:sp>
    </p:spTree>
    <p:extLst>
      <p:ext uri="{BB962C8B-B14F-4D97-AF65-F5344CB8AC3E}">
        <p14:creationId xmlns:p14="http://schemas.microsoft.com/office/powerpoint/2010/main" val="830836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fade">
                                      <p:cBhvr>
                                        <p:cTn id="7" dur="1000"/>
                                        <p:tgtEl>
                                          <p:spTgt spid="3">
                                            <p:txEl>
                                              <p:pRg st="5" end="5"/>
                                            </p:txEl>
                                          </p:spTgt>
                                        </p:tgtEl>
                                      </p:cBhvr>
                                    </p:animEffect>
                                    <p:anim calcmode="lin" valueType="num">
                                      <p:cBhvr>
                                        <p:cTn id="8"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6" end="6"/>
                                            </p:txEl>
                                          </p:spTgt>
                                        </p:tgtEl>
                                        <p:attrNameLst>
                                          <p:attrName>style.visibility</p:attrName>
                                        </p:attrNameLst>
                                      </p:cBhvr>
                                      <p:to>
                                        <p:strVal val="visible"/>
                                      </p:to>
                                    </p:set>
                                    <p:animEffect transition="in" filter="fade">
                                      <p:cBhvr>
                                        <p:cTn id="14" dur="1000"/>
                                        <p:tgtEl>
                                          <p:spTgt spid="3">
                                            <p:txEl>
                                              <p:pRg st="6" end="6"/>
                                            </p:txEl>
                                          </p:spTgt>
                                        </p:tgtEl>
                                      </p:cBhvr>
                                    </p:animEffect>
                                    <p:anim calcmode="lin" valueType="num">
                                      <p:cBhvr>
                                        <p:cTn id="15"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fr-CH" dirty="0" smtClean="0"/>
              <a:t>Détermination </a:t>
            </a:r>
            <a:r>
              <a:rPr lang="fr-CH" dirty="0"/>
              <a:t>« marchandise originaire de l’Union ».‎</a:t>
            </a:r>
            <a:endParaRPr lang="en-US" dirty="0"/>
          </a:p>
        </p:txBody>
      </p:sp>
      <p:sp>
        <p:nvSpPr>
          <p:cNvPr id="3" name="Content Placeholder 2"/>
          <p:cNvSpPr>
            <a:spLocks noGrp="1"/>
          </p:cNvSpPr>
          <p:nvPr>
            <p:ph idx="1"/>
          </p:nvPr>
        </p:nvSpPr>
        <p:spPr/>
        <p:txBody>
          <a:bodyPr>
            <a:normAutofit/>
          </a:bodyPr>
          <a:lstStyle/>
          <a:p>
            <a:pPr marL="0" indent="0">
              <a:buNone/>
            </a:pPr>
            <a:endParaRPr lang="fr-CH" sz="2900" dirty="0"/>
          </a:p>
          <a:p>
            <a:pPr marL="0" indent="0">
              <a:buNone/>
            </a:pPr>
            <a:r>
              <a:rPr lang="fr-CH" dirty="0" smtClean="0"/>
              <a:t>Pour </a:t>
            </a:r>
            <a:r>
              <a:rPr lang="fr-CH" dirty="0"/>
              <a:t>être considérée comme produit originaire d’un pays, la marchandise doit y avoir été entièrement obtenue (minéraux, végétaux, animaux, ou marchandises qui y sont fabriquées exclusivement à partir de ces produits, etc.) </a:t>
            </a:r>
            <a:endParaRPr lang="fr-CH" dirty="0" smtClean="0"/>
          </a:p>
          <a:p>
            <a:pPr marL="0" indent="0">
              <a:buNone/>
            </a:pPr>
            <a:r>
              <a:rPr lang="fr-CH" dirty="0" smtClean="0"/>
              <a:t>ou </a:t>
            </a:r>
          </a:p>
          <a:p>
            <a:pPr marL="0" indent="0">
              <a:buNone/>
            </a:pPr>
            <a:r>
              <a:rPr lang="fr-CH" dirty="0" smtClean="0"/>
              <a:t>y </a:t>
            </a:r>
            <a:r>
              <a:rPr lang="fr-CH" dirty="0"/>
              <a:t>avoir subi la </a:t>
            </a:r>
            <a:r>
              <a:rPr lang="fr-CH" b="1" dirty="0"/>
              <a:t>dernière transformation "substantielle".</a:t>
            </a:r>
          </a:p>
          <a:p>
            <a:pPr marL="0" indent="0">
              <a:buNone/>
            </a:pPr>
            <a:endParaRPr lang="en-US" dirty="0"/>
          </a:p>
        </p:txBody>
      </p:sp>
      <p:sp>
        <p:nvSpPr>
          <p:cNvPr id="4" name="Slide Number Placeholder 3"/>
          <p:cNvSpPr>
            <a:spLocks noGrp="1"/>
          </p:cNvSpPr>
          <p:nvPr>
            <p:ph type="sldNum" sz="quarter" idx="12"/>
          </p:nvPr>
        </p:nvSpPr>
        <p:spPr/>
        <p:txBody>
          <a:bodyPr/>
          <a:lstStyle/>
          <a:p>
            <a:fld id="{C58F520E-0D3C-4C73-96DF-B271C0F692B0}" type="slidenum">
              <a:rPr lang="lb-LU" smtClean="0"/>
              <a:t>11</a:t>
            </a:fld>
            <a:endParaRPr lang="lb-LU"/>
          </a:p>
        </p:txBody>
      </p:sp>
    </p:spTree>
    <p:extLst>
      <p:ext uri="{BB962C8B-B14F-4D97-AF65-F5344CB8AC3E}">
        <p14:creationId xmlns:p14="http://schemas.microsoft.com/office/powerpoint/2010/main" val="2189420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3" end="3"/>
                                            </p:txEl>
                                          </p:spTgt>
                                        </p:tgtEl>
                                        <p:attrNameLst>
                                          <p:attrName>style.visibility</p:attrName>
                                        </p:attrNameLst>
                                      </p:cBhvr>
                                      <p:to>
                                        <p:strVal val="visible"/>
                                      </p:to>
                                    </p:set>
                                    <p:animEffect transition="in" filter="fade">
                                      <p:cBhvr>
                                        <p:cTn id="14" dur="1000"/>
                                        <p:tgtEl>
                                          <p:spTgt spid="3">
                                            <p:txEl>
                                              <p:pRg st="3" end="3"/>
                                            </p:txEl>
                                          </p:spTgt>
                                        </p:tgtEl>
                                      </p:cBhvr>
                                    </p:animEffect>
                                    <p:anim calcmode="lin" valueType="num">
                                      <p:cBhvr>
                                        <p:cTn id="1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H" dirty="0"/>
              <a:t>Présomption du statut douanier de marchandises de l’Union </a:t>
            </a:r>
            <a:endParaRPr lang="en-US" dirty="0"/>
          </a:p>
        </p:txBody>
      </p:sp>
      <p:sp>
        <p:nvSpPr>
          <p:cNvPr id="3" name="Content Placeholder 2"/>
          <p:cNvSpPr>
            <a:spLocks noGrp="1"/>
          </p:cNvSpPr>
          <p:nvPr>
            <p:ph idx="1"/>
          </p:nvPr>
        </p:nvSpPr>
        <p:spPr/>
        <p:txBody>
          <a:bodyPr/>
          <a:lstStyle/>
          <a:p>
            <a:pPr marL="0" indent="0">
              <a:buNone/>
            </a:pPr>
            <a:endParaRPr lang="fr-CH" dirty="0" smtClean="0"/>
          </a:p>
          <a:p>
            <a:pPr marL="0" indent="0">
              <a:buNone/>
            </a:pPr>
            <a:r>
              <a:rPr lang="fr-CH" dirty="0" smtClean="0"/>
              <a:t>Principe:</a:t>
            </a:r>
          </a:p>
          <a:p>
            <a:pPr marL="0" indent="0">
              <a:buNone/>
            </a:pPr>
            <a:endParaRPr lang="fr-CH" dirty="0"/>
          </a:p>
          <a:p>
            <a:pPr marL="0" indent="0">
              <a:buNone/>
            </a:pPr>
            <a:r>
              <a:rPr lang="fr-CH" dirty="0" smtClean="0"/>
              <a:t>Toutes </a:t>
            </a:r>
            <a:r>
              <a:rPr lang="fr-CH" dirty="0"/>
              <a:t>les marchandises se trouvant sur le territoire douanier de l'Union sont présumées avoir le ‎statut douanier de marchandises de l'Union, sauf s'il est établi qu'elles ne sont pas des marchandises ‎de l'Union.</a:t>
            </a:r>
            <a:r>
              <a:rPr lang="fr-CH" dirty="0" smtClean="0"/>
              <a:t>‎ (art. 153 CDC)</a:t>
            </a:r>
            <a:endParaRPr lang="fr-CH" dirty="0"/>
          </a:p>
          <a:p>
            <a:endParaRPr lang="en-US" dirty="0"/>
          </a:p>
        </p:txBody>
      </p:sp>
      <p:sp>
        <p:nvSpPr>
          <p:cNvPr id="4" name="Slide Number Placeholder 3"/>
          <p:cNvSpPr>
            <a:spLocks noGrp="1"/>
          </p:cNvSpPr>
          <p:nvPr>
            <p:ph type="sldNum" sz="quarter" idx="12"/>
          </p:nvPr>
        </p:nvSpPr>
        <p:spPr/>
        <p:txBody>
          <a:bodyPr/>
          <a:lstStyle/>
          <a:p>
            <a:fld id="{C58F520E-0D3C-4C73-96DF-B271C0F692B0}" type="slidenum">
              <a:rPr lang="lb-LU" smtClean="0"/>
              <a:t>12</a:t>
            </a:fld>
            <a:endParaRPr lang="lb-LU"/>
          </a:p>
        </p:txBody>
      </p:sp>
    </p:spTree>
    <p:extLst>
      <p:ext uri="{BB962C8B-B14F-4D97-AF65-F5344CB8AC3E}">
        <p14:creationId xmlns:p14="http://schemas.microsoft.com/office/powerpoint/2010/main" val="2093130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animEffect transition="in" filter="fade">
                                      <p:cBhvr>
                                        <p:cTn id="11" dur="1000"/>
                                        <p:tgtEl>
                                          <p:spTgt spid="3">
                                            <p:txEl>
                                              <p:pRg st="3" end="3"/>
                                            </p:txEl>
                                          </p:spTgt>
                                        </p:tgtEl>
                                      </p:cBhvr>
                                    </p:animEffect>
                                    <p:anim calcmode="lin" valueType="num">
                                      <p:cBhvr>
                                        <p:cTn id="12"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3"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H" dirty="0"/>
              <a:t>Présomption du statut douanier de marchandises de l’Union </a:t>
            </a:r>
            <a:endParaRPr lang="en-US" dirty="0"/>
          </a:p>
        </p:txBody>
      </p:sp>
      <p:sp>
        <p:nvSpPr>
          <p:cNvPr id="3" name="Content Placeholder 2"/>
          <p:cNvSpPr>
            <a:spLocks noGrp="1"/>
          </p:cNvSpPr>
          <p:nvPr>
            <p:ph idx="1"/>
          </p:nvPr>
        </p:nvSpPr>
        <p:spPr/>
        <p:txBody>
          <a:bodyPr>
            <a:normAutofit fontScale="70000" lnSpcReduction="20000"/>
          </a:bodyPr>
          <a:lstStyle/>
          <a:p>
            <a:pPr marL="0" indent="0">
              <a:buNone/>
            </a:pPr>
            <a:endParaRPr lang="fr-CH" dirty="0" smtClean="0"/>
          </a:p>
          <a:p>
            <a:pPr marL="0" indent="0">
              <a:buNone/>
            </a:pPr>
            <a:r>
              <a:rPr lang="fr-CH" dirty="0" smtClean="0"/>
              <a:t>Exceptions à ce principe:</a:t>
            </a:r>
          </a:p>
          <a:p>
            <a:endParaRPr lang="fr-CH" dirty="0"/>
          </a:p>
          <a:p>
            <a:r>
              <a:rPr lang="fr-CH" dirty="0" smtClean="0"/>
              <a:t>les </a:t>
            </a:r>
            <a:r>
              <a:rPr lang="fr-CH" dirty="0"/>
              <a:t>marchandises introduites sur le territoire douanier de l'Union qui font l'objet de la ‎supervision des douanes afin de déterminer leur statut douanier;‎</a:t>
            </a:r>
          </a:p>
          <a:p>
            <a:r>
              <a:rPr lang="fr-CH" dirty="0" smtClean="0"/>
              <a:t>les </a:t>
            </a:r>
            <a:r>
              <a:rPr lang="fr-CH" dirty="0"/>
              <a:t>marchandises en dépôt temporaire;‎</a:t>
            </a:r>
          </a:p>
          <a:p>
            <a:r>
              <a:rPr lang="fr-CH" dirty="0" smtClean="0"/>
              <a:t>les </a:t>
            </a:r>
            <a:r>
              <a:rPr lang="fr-CH" dirty="0"/>
              <a:t>marchandises placées sous l'un des régimes spéciaux (à l'exception du transit interne, du ‎perfectionnement passif et de la destination particulière);</a:t>
            </a:r>
            <a:r>
              <a:rPr lang="fr-CH" dirty="0" smtClean="0"/>
              <a:t>‎</a:t>
            </a:r>
          </a:p>
          <a:p>
            <a:r>
              <a:rPr lang="fr-CH" dirty="0" smtClean="0"/>
              <a:t>les produits de la pêche maritime capturés par un navire de pêche de l'Union en dehors du ‎territoire douanier de l'Union ;‎</a:t>
            </a:r>
          </a:p>
          <a:p>
            <a:r>
              <a:rPr lang="fr-CH" dirty="0" smtClean="0"/>
              <a:t>les </a:t>
            </a:r>
            <a:r>
              <a:rPr lang="fr-CH" dirty="0"/>
              <a:t>marchandises obtenues à partir des produits de la pêche maritime et autres produits ‎capturés ou pêchés par des navires battant pavillon d'un pays tiers.</a:t>
            </a:r>
            <a:r>
              <a:rPr lang="fr-CH" dirty="0" smtClean="0"/>
              <a:t>‎</a:t>
            </a:r>
          </a:p>
          <a:p>
            <a:r>
              <a:rPr lang="fr-CH" dirty="0"/>
              <a:t>les produits de la pêche maritime et les autres produits extraits ou capturés par les navires battant pavillon d’un pays tiers au sein du territoire douanier de l’Union</a:t>
            </a:r>
          </a:p>
        </p:txBody>
      </p:sp>
      <p:sp>
        <p:nvSpPr>
          <p:cNvPr id="4" name="Slide Number Placeholder 3"/>
          <p:cNvSpPr>
            <a:spLocks noGrp="1"/>
          </p:cNvSpPr>
          <p:nvPr>
            <p:ph type="sldNum" sz="quarter" idx="12"/>
          </p:nvPr>
        </p:nvSpPr>
        <p:spPr/>
        <p:txBody>
          <a:bodyPr/>
          <a:lstStyle/>
          <a:p>
            <a:fld id="{C58F520E-0D3C-4C73-96DF-B271C0F692B0}" type="slidenum">
              <a:rPr lang="lb-LU" smtClean="0"/>
              <a:t>13</a:t>
            </a:fld>
            <a:endParaRPr lang="lb-LU"/>
          </a:p>
        </p:txBody>
      </p:sp>
    </p:spTree>
    <p:extLst>
      <p:ext uri="{BB962C8B-B14F-4D97-AF65-F5344CB8AC3E}">
        <p14:creationId xmlns:p14="http://schemas.microsoft.com/office/powerpoint/2010/main" val="1548043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80">
                                          <p:stCondLst>
                                            <p:cond delay="0"/>
                                          </p:stCondLst>
                                        </p:cTn>
                                        <p:tgtEl>
                                          <p:spTgt spid="3">
                                            <p:txEl>
                                              <p:pRg st="1" end="1"/>
                                            </p:txEl>
                                          </p:spTgt>
                                        </p:tgtEl>
                                      </p:cBhvr>
                                    </p:animEffect>
                                    <p:anim calcmode="lin" valueType="num">
                                      <p:cBhvr>
                                        <p:cTn id="8"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1" end="1"/>
                                            </p:txEl>
                                          </p:spTgt>
                                        </p:tgtEl>
                                      </p:cBhvr>
                                      <p:to x="100000" y="60000"/>
                                    </p:animScale>
                                    <p:animScale>
                                      <p:cBhvr>
                                        <p:cTn id="14" dur="166" decel="50000">
                                          <p:stCondLst>
                                            <p:cond delay="676"/>
                                          </p:stCondLst>
                                        </p:cTn>
                                        <p:tgtEl>
                                          <p:spTgt spid="3">
                                            <p:txEl>
                                              <p:pRg st="1" end="1"/>
                                            </p:txEl>
                                          </p:spTgt>
                                        </p:tgtEl>
                                      </p:cBhvr>
                                      <p:to x="100000" y="100000"/>
                                    </p:animScale>
                                    <p:animScale>
                                      <p:cBhvr>
                                        <p:cTn id="15" dur="26">
                                          <p:stCondLst>
                                            <p:cond delay="1312"/>
                                          </p:stCondLst>
                                        </p:cTn>
                                        <p:tgtEl>
                                          <p:spTgt spid="3">
                                            <p:txEl>
                                              <p:pRg st="1" end="1"/>
                                            </p:txEl>
                                          </p:spTgt>
                                        </p:tgtEl>
                                      </p:cBhvr>
                                      <p:to x="100000" y="80000"/>
                                    </p:animScale>
                                    <p:animScale>
                                      <p:cBhvr>
                                        <p:cTn id="16" dur="166" decel="50000">
                                          <p:stCondLst>
                                            <p:cond delay="1338"/>
                                          </p:stCondLst>
                                        </p:cTn>
                                        <p:tgtEl>
                                          <p:spTgt spid="3">
                                            <p:txEl>
                                              <p:pRg st="1" end="1"/>
                                            </p:txEl>
                                          </p:spTgt>
                                        </p:tgtEl>
                                      </p:cBhvr>
                                      <p:to x="100000" y="100000"/>
                                    </p:animScale>
                                    <p:animScale>
                                      <p:cBhvr>
                                        <p:cTn id="17" dur="26">
                                          <p:stCondLst>
                                            <p:cond delay="1642"/>
                                          </p:stCondLst>
                                        </p:cTn>
                                        <p:tgtEl>
                                          <p:spTgt spid="3">
                                            <p:txEl>
                                              <p:pRg st="1" end="1"/>
                                            </p:txEl>
                                          </p:spTgt>
                                        </p:tgtEl>
                                      </p:cBhvr>
                                      <p:to x="100000" y="90000"/>
                                    </p:animScale>
                                    <p:animScale>
                                      <p:cBhvr>
                                        <p:cTn id="18" dur="166" decel="50000">
                                          <p:stCondLst>
                                            <p:cond delay="1668"/>
                                          </p:stCondLst>
                                        </p:cTn>
                                        <p:tgtEl>
                                          <p:spTgt spid="3">
                                            <p:txEl>
                                              <p:pRg st="1" end="1"/>
                                            </p:txEl>
                                          </p:spTgt>
                                        </p:tgtEl>
                                      </p:cBhvr>
                                      <p:to x="100000" y="100000"/>
                                    </p:animScale>
                                    <p:animScale>
                                      <p:cBhvr>
                                        <p:cTn id="19" dur="26">
                                          <p:stCondLst>
                                            <p:cond delay="1808"/>
                                          </p:stCondLst>
                                        </p:cTn>
                                        <p:tgtEl>
                                          <p:spTgt spid="3">
                                            <p:txEl>
                                              <p:pRg st="1" end="1"/>
                                            </p:txEl>
                                          </p:spTgt>
                                        </p:tgtEl>
                                      </p:cBhvr>
                                      <p:to x="100000" y="95000"/>
                                    </p:animScale>
                                    <p:animScale>
                                      <p:cBhvr>
                                        <p:cTn id="20" dur="166" decel="50000">
                                          <p:stCondLst>
                                            <p:cond delay="1834"/>
                                          </p:stCondLst>
                                        </p:cTn>
                                        <p:tgtEl>
                                          <p:spTgt spid="3">
                                            <p:txEl>
                                              <p:pRg st="1" end="1"/>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1000"/>
                                        <p:tgtEl>
                                          <p:spTgt spid="3">
                                            <p:txEl>
                                              <p:pRg st="3" end="3"/>
                                            </p:txEl>
                                          </p:spTgt>
                                        </p:tgtEl>
                                      </p:cBhvr>
                                    </p:animEffect>
                                    <p:anim calcmode="lin" valueType="num">
                                      <p:cBhvr>
                                        <p:cTn id="26"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7"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 calcmode="lin" valueType="num">
                                      <p:cBhvr additive="base">
                                        <p:cTn id="32"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nodeType="clickEffect">
                                  <p:stCondLst>
                                    <p:cond delay="0"/>
                                  </p:stCondLst>
                                  <p:childTnLst>
                                    <p:set>
                                      <p:cBhvr>
                                        <p:cTn id="37" dur="1" fill="hold">
                                          <p:stCondLst>
                                            <p:cond delay="0"/>
                                          </p:stCondLst>
                                        </p:cTn>
                                        <p:tgtEl>
                                          <p:spTgt spid="3">
                                            <p:txEl>
                                              <p:pRg st="5" end="5"/>
                                            </p:txEl>
                                          </p:spTgt>
                                        </p:tgtEl>
                                        <p:attrNameLst>
                                          <p:attrName>style.visibility</p:attrName>
                                        </p:attrNameLst>
                                      </p:cBhvr>
                                      <p:to>
                                        <p:strVal val="visible"/>
                                      </p:to>
                                    </p:set>
                                    <p:animEffect transition="in" filter="fade">
                                      <p:cBhvr>
                                        <p:cTn id="38" dur="1000"/>
                                        <p:tgtEl>
                                          <p:spTgt spid="3">
                                            <p:txEl>
                                              <p:pRg st="5" end="5"/>
                                            </p:txEl>
                                          </p:spTgt>
                                        </p:tgtEl>
                                      </p:cBhvr>
                                    </p:animEffect>
                                    <p:anim calcmode="lin" valueType="num">
                                      <p:cBhvr>
                                        <p:cTn id="39"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0"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nodeType="clickEffect">
                                  <p:stCondLst>
                                    <p:cond delay="0"/>
                                  </p:stCondLst>
                                  <p:childTnLst>
                                    <p:set>
                                      <p:cBhvr>
                                        <p:cTn id="44" dur="1" fill="hold">
                                          <p:stCondLst>
                                            <p:cond delay="0"/>
                                          </p:stCondLst>
                                        </p:cTn>
                                        <p:tgtEl>
                                          <p:spTgt spid="3">
                                            <p:txEl>
                                              <p:pRg st="6" end="6"/>
                                            </p:txEl>
                                          </p:spTgt>
                                        </p:tgtEl>
                                        <p:attrNameLst>
                                          <p:attrName>style.visibility</p:attrName>
                                        </p:attrNameLst>
                                      </p:cBhvr>
                                      <p:to>
                                        <p:strVal val="visible"/>
                                      </p:to>
                                    </p:set>
                                    <p:animEffect transition="in" filter="fade">
                                      <p:cBhvr>
                                        <p:cTn id="45" dur="1000"/>
                                        <p:tgtEl>
                                          <p:spTgt spid="3">
                                            <p:txEl>
                                              <p:pRg st="6" end="6"/>
                                            </p:txEl>
                                          </p:spTgt>
                                        </p:tgtEl>
                                      </p:cBhvr>
                                    </p:animEffect>
                                    <p:anim calcmode="lin" valueType="num">
                                      <p:cBhvr>
                                        <p:cTn id="46"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7"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42" presetClass="entr" presetSubtype="0" fill="hold" nodeType="clickEffect">
                                  <p:stCondLst>
                                    <p:cond delay="0"/>
                                  </p:stCondLst>
                                  <p:childTnLst>
                                    <p:set>
                                      <p:cBhvr>
                                        <p:cTn id="51" dur="1" fill="hold">
                                          <p:stCondLst>
                                            <p:cond delay="0"/>
                                          </p:stCondLst>
                                        </p:cTn>
                                        <p:tgtEl>
                                          <p:spTgt spid="3">
                                            <p:txEl>
                                              <p:pRg st="7" end="7"/>
                                            </p:txEl>
                                          </p:spTgt>
                                        </p:tgtEl>
                                        <p:attrNameLst>
                                          <p:attrName>style.visibility</p:attrName>
                                        </p:attrNameLst>
                                      </p:cBhvr>
                                      <p:to>
                                        <p:strVal val="visible"/>
                                      </p:to>
                                    </p:set>
                                    <p:animEffect transition="in" filter="fade">
                                      <p:cBhvr>
                                        <p:cTn id="52" dur="1000"/>
                                        <p:tgtEl>
                                          <p:spTgt spid="3">
                                            <p:txEl>
                                              <p:pRg st="7" end="7"/>
                                            </p:txEl>
                                          </p:spTgt>
                                        </p:tgtEl>
                                      </p:cBhvr>
                                    </p:animEffect>
                                    <p:anim calcmode="lin" valueType="num">
                                      <p:cBhvr>
                                        <p:cTn id="53"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4"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42" presetClass="entr" presetSubtype="0" fill="hold" nodeType="clickEffect">
                                  <p:stCondLst>
                                    <p:cond delay="0"/>
                                  </p:stCondLst>
                                  <p:childTnLst>
                                    <p:set>
                                      <p:cBhvr>
                                        <p:cTn id="58" dur="1" fill="hold">
                                          <p:stCondLst>
                                            <p:cond delay="0"/>
                                          </p:stCondLst>
                                        </p:cTn>
                                        <p:tgtEl>
                                          <p:spTgt spid="3">
                                            <p:txEl>
                                              <p:pRg st="8" end="8"/>
                                            </p:txEl>
                                          </p:spTgt>
                                        </p:tgtEl>
                                        <p:attrNameLst>
                                          <p:attrName>style.visibility</p:attrName>
                                        </p:attrNameLst>
                                      </p:cBhvr>
                                      <p:to>
                                        <p:strVal val="visible"/>
                                      </p:to>
                                    </p:set>
                                    <p:animEffect transition="in" filter="fade">
                                      <p:cBhvr>
                                        <p:cTn id="59" dur="1000"/>
                                        <p:tgtEl>
                                          <p:spTgt spid="3">
                                            <p:txEl>
                                              <p:pRg st="8" end="8"/>
                                            </p:txEl>
                                          </p:spTgt>
                                        </p:tgtEl>
                                      </p:cBhvr>
                                    </p:animEffect>
                                    <p:anim calcmode="lin" valueType="num">
                                      <p:cBhvr>
                                        <p:cTn id="60"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61"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H" dirty="0"/>
              <a:t>Perte du statut douanier de </a:t>
            </a:r>
            <a:r>
              <a:rPr lang="fr-CH" dirty="0" smtClean="0"/>
              <a:t>«marchandises </a:t>
            </a:r>
            <a:r>
              <a:rPr lang="fr-CH" dirty="0"/>
              <a:t>de </a:t>
            </a:r>
            <a:r>
              <a:rPr lang="fr-CH" dirty="0" smtClean="0"/>
              <a:t>l'Union» </a:t>
            </a:r>
            <a:endParaRPr lang="en-US" dirty="0"/>
          </a:p>
        </p:txBody>
      </p:sp>
      <p:sp>
        <p:nvSpPr>
          <p:cNvPr id="3" name="Content Placeholder 2"/>
          <p:cNvSpPr>
            <a:spLocks noGrp="1"/>
          </p:cNvSpPr>
          <p:nvPr>
            <p:ph idx="1"/>
          </p:nvPr>
        </p:nvSpPr>
        <p:spPr/>
        <p:txBody>
          <a:bodyPr>
            <a:normAutofit/>
          </a:bodyPr>
          <a:lstStyle/>
          <a:p>
            <a:pPr marL="0" indent="0">
              <a:buNone/>
            </a:pPr>
            <a:r>
              <a:rPr lang="fr-CH" dirty="0" smtClean="0"/>
              <a:t>Les </a:t>
            </a:r>
            <a:r>
              <a:rPr lang="fr-CH" dirty="0"/>
              <a:t>marchandises de l'Union deviennent des marchandises non Union dans les cas suivants:‎</a:t>
            </a:r>
          </a:p>
          <a:p>
            <a:pPr marL="0" indent="0">
              <a:buNone/>
            </a:pPr>
            <a:r>
              <a:rPr lang="fr-CH" dirty="0" smtClean="0"/>
              <a:t>1) lorsqu'elles </a:t>
            </a:r>
            <a:r>
              <a:rPr lang="fr-CH" dirty="0"/>
              <a:t>sont sorties du territoire douanier de </a:t>
            </a:r>
            <a:r>
              <a:rPr lang="fr-CH" dirty="0" smtClean="0"/>
              <a:t>l'Union;‎ (dans </a:t>
            </a:r>
            <a:r>
              <a:rPr lang="fr-CH" dirty="0"/>
              <a:t>la mesure où les règles en matière de transit interne ne s'appliquent </a:t>
            </a:r>
            <a:r>
              <a:rPr lang="fr-CH" dirty="0" smtClean="0"/>
              <a:t>pas)</a:t>
            </a:r>
            <a:endParaRPr lang="en-US" dirty="0"/>
          </a:p>
        </p:txBody>
      </p:sp>
      <p:sp>
        <p:nvSpPr>
          <p:cNvPr id="4" name="Slide Number Placeholder 3"/>
          <p:cNvSpPr>
            <a:spLocks noGrp="1"/>
          </p:cNvSpPr>
          <p:nvPr>
            <p:ph type="sldNum" sz="quarter" idx="12"/>
          </p:nvPr>
        </p:nvSpPr>
        <p:spPr/>
        <p:txBody>
          <a:bodyPr/>
          <a:lstStyle/>
          <a:p>
            <a:fld id="{C58F520E-0D3C-4C73-96DF-B271C0F692B0}" type="slidenum">
              <a:rPr lang="lb-LU" smtClean="0"/>
              <a:t>14</a:t>
            </a:fld>
            <a:endParaRPr lang="lb-LU"/>
          </a:p>
        </p:txBody>
      </p:sp>
      <p:pic>
        <p:nvPicPr>
          <p:cNvPr id="7" name="Picture 6" descr="DAPI profile - MDApplicants.com"/>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3163" y="4816073"/>
            <a:ext cx="1219200" cy="1219200"/>
          </a:xfrm>
          <a:prstGeom prst="rect">
            <a:avLst/>
          </a:prstGeom>
        </p:spPr>
      </p:pic>
      <p:pic>
        <p:nvPicPr>
          <p:cNvPr id="8" name="Picture 7" descr="EU Flag by hriemdlor on DeviantArt"/>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003369" y="5560628"/>
            <a:ext cx="856210" cy="481380"/>
          </a:xfrm>
          <a:prstGeom prst="rect">
            <a:avLst/>
          </a:prstGeom>
        </p:spPr>
      </p:pic>
      <p:pic>
        <p:nvPicPr>
          <p:cNvPr id="9" name="Picture 8" descr="National symbols of the United States - Wikipedia"/>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965125" y="3789509"/>
            <a:ext cx="877683" cy="462155"/>
          </a:xfrm>
          <a:prstGeom prst="rect">
            <a:avLst/>
          </a:prstGeom>
        </p:spPr>
      </p:pic>
    </p:spTree>
    <p:extLst>
      <p:ext uri="{BB962C8B-B14F-4D97-AF65-F5344CB8AC3E}">
        <p14:creationId xmlns:p14="http://schemas.microsoft.com/office/powerpoint/2010/main" val="3192688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500"/>
                                        <p:tgtEl>
                                          <p:spTgt spid="8"/>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42" presetClass="path" presetSubtype="0" accel="50000" decel="50000" fill="hold" nodeType="clickEffect">
                                  <p:stCondLst>
                                    <p:cond delay="0"/>
                                  </p:stCondLst>
                                  <p:childTnLst>
                                    <p:animMotion origin="layout" path="M 2.08333E-6 -3.7037E-6 L 0.15091 -0.17129 " pathEditMode="relative" rAng="0" ptsTypes="AA">
                                      <p:cBhvr>
                                        <p:cTn id="23" dur="2000" fill="hold"/>
                                        <p:tgtEl>
                                          <p:spTgt spid="7"/>
                                        </p:tgtEl>
                                        <p:attrNameLst>
                                          <p:attrName>ppt_x</p:attrName>
                                          <p:attrName>ppt_y</p:attrName>
                                        </p:attrNameLst>
                                      </p:cBhvr>
                                      <p:rCtr x="7539" y="-8565"/>
                                    </p:animMotion>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1" end="1"/>
                                            </p:txEl>
                                          </p:spTgt>
                                        </p:tgtEl>
                                        <p:attrNameLst>
                                          <p:attrName>style.visibility</p:attrName>
                                        </p:attrNameLst>
                                      </p:cBhvr>
                                      <p:to>
                                        <p:strVal val="visible"/>
                                      </p:to>
                                    </p:set>
                                    <p:animEffect transition="in" filter="fade">
                                      <p:cBhvr>
                                        <p:cTn id="28" dur="1000"/>
                                        <p:tgtEl>
                                          <p:spTgt spid="3">
                                            <p:txEl>
                                              <p:pRg st="1" end="1"/>
                                            </p:txEl>
                                          </p:spTgt>
                                        </p:tgtEl>
                                      </p:cBhvr>
                                    </p:animEffect>
                                    <p:anim calcmode="lin" valueType="num">
                                      <p:cBhvr>
                                        <p:cTn id="29"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H" dirty="0"/>
              <a:t>Perte du statut douanier de </a:t>
            </a:r>
            <a:r>
              <a:rPr lang="fr-CH" dirty="0" smtClean="0"/>
              <a:t>«marchandises </a:t>
            </a:r>
            <a:r>
              <a:rPr lang="fr-CH" dirty="0"/>
              <a:t>de </a:t>
            </a:r>
            <a:r>
              <a:rPr lang="fr-CH" dirty="0" smtClean="0"/>
              <a:t>l'Union» </a:t>
            </a:r>
            <a:endParaRPr lang="en-US" dirty="0"/>
          </a:p>
        </p:txBody>
      </p:sp>
      <p:sp>
        <p:nvSpPr>
          <p:cNvPr id="3" name="Content Placeholder 2"/>
          <p:cNvSpPr>
            <a:spLocks noGrp="1"/>
          </p:cNvSpPr>
          <p:nvPr>
            <p:ph idx="1"/>
          </p:nvPr>
        </p:nvSpPr>
        <p:spPr/>
        <p:txBody>
          <a:bodyPr>
            <a:normAutofit/>
          </a:bodyPr>
          <a:lstStyle/>
          <a:p>
            <a:pPr marL="0" indent="0">
              <a:buNone/>
            </a:pPr>
            <a:r>
              <a:rPr lang="fr-CH" dirty="0" smtClean="0"/>
              <a:t>Les </a:t>
            </a:r>
            <a:r>
              <a:rPr lang="fr-CH" dirty="0"/>
              <a:t>marchandises de l'Union deviennent des marchandises non Union dans les cas suivants:‎</a:t>
            </a:r>
          </a:p>
          <a:p>
            <a:pPr marL="0" indent="0">
              <a:buNone/>
            </a:pPr>
            <a:r>
              <a:rPr lang="fr-CH" dirty="0" smtClean="0"/>
              <a:t>2) lorsqu'elles </a:t>
            </a:r>
            <a:r>
              <a:rPr lang="fr-CH" dirty="0"/>
              <a:t>sont </a:t>
            </a:r>
            <a:r>
              <a:rPr lang="fr-CH" u="sng" dirty="0"/>
              <a:t>placées</a:t>
            </a:r>
            <a:r>
              <a:rPr lang="fr-CH" dirty="0"/>
              <a:t> sous le régime du transit externe, le régime du stockage ou le régime ‎du perfectionnement actif, </a:t>
            </a:r>
            <a:r>
              <a:rPr lang="fr-CH" u="sng" dirty="0"/>
              <a:t>dans la mesure où la législation douanière le prévoit</a:t>
            </a:r>
            <a:r>
              <a:rPr lang="fr-CH" dirty="0"/>
              <a:t>;</a:t>
            </a:r>
            <a:r>
              <a:rPr lang="fr-CH" dirty="0" smtClean="0"/>
              <a:t>‎</a:t>
            </a:r>
          </a:p>
          <a:p>
            <a:pPr marL="0" indent="0">
              <a:buNone/>
            </a:pPr>
            <a:endParaRPr lang="fr-CH" dirty="0"/>
          </a:p>
          <a:p>
            <a:pPr marL="0" indent="0">
              <a:buNone/>
            </a:pPr>
            <a:r>
              <a:rPr lang="fr-CH" dirty="0" smtClean="0"/>
              <a:t>(p.ex. produits concernés par la politique agricole commune)</a:t>
            </a:r>
            <a:endParaRPr lang="en-US" dirty="0"/>
          </a:p>
        </p:txBody>
      </p:sp>
      <p:sp>
        <p:nvSpPr>
          <p:cNvPr id="4" name="Slide Number Placeholder 3"/>
          <p:cNvSpPr>
            <a:spLocks noGrp="1"/>
          </p:cNvSpPr>
          <p:nvPr>
            <p:ph type="sldNum" sz="quarter" idx="12"/>
          </p:nvPr>
        </p:nvSpPr>
        <p:spPr/>
        <p:txBody>
          <a:bodyPr/>
          <a:lstStyle/>
          <a:p>
            <a:fld id="{C58F520E-0D3C-4C73-96DF-B271C0F692B0}" type="slidenum">
              <a:rPr lang="lb-LU" smtClean="0"/>
              <a:t>15</a:t>
            </a:fld>
            <a:endParaRPr lang="lb-LU"/>
          </a:p>
        </p:txBody>
      </p:sp>
    </p:spTree>
    <p:extLst>
      <p:ext uri="{BB962C8B-B14F-4D97-AF65-F5344CB8AC3E}">
        <p14:creationId xmlns:p14="http://schemas.microsoft.com/office/powerpoint/2010/main" val="4036682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3" end="3"/>
                                            </p:txEl>
                                          </p:spTgt>
                                        </p:tgtEl>
                                        <p:attrNameLst>
                                          <p:attrName>style.visibility</p:attrName>
                                        </p:attrNameLst>
                                      </p:cBhvr>
                                      <p:to>
                                        <p:strVal val="visible"/>
                                      </p:to>
                                    </p:set>
                                    <p:animEffect transition="in" filter="fade">
                                      <p:cBhvr>
                                        <p:cTn id="14" dur="1000"/>
                                        <p:tgtEl>
                                          <p:spTgt spid="3">
                                            <p:txEl>
                                              <p:pRg st="3" end="3"/>
                                            </p:txEl>
                                          </p:spTgt>
                                        </p:tgtEl>
                                      </p:cBhvr>
                                    </p:animEffect>
                                    <p:anim calcmode="lin" valueType="num">
                                      <p:cBhvr>
                                        <p:cTn id="1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H" dirty="0"/>
              <a:t>Perte du statut douanier de </a:t>
            </a:r>
            <a:r>
              <a:rPr lang="fr-CH" dirty="0" smtClean="0"/>
              <a:t>«marchandises </a:t>
            </a:r>
            <a:r>
              <a:rPr lang="fr-CH" dirty="0"/>
              <a:t>de </a:t>
            </a:r>
            <a:r>
              <a:rPr lang="fr-CH" dirty="0" smtClean="0"/>
              <a:t>l'Union» </a:t>
            </a:r>
            <a:endParaRPr lang="en-US" dirty="0"/>
          </a:p>
        </p:txBody>
      </p:sp>
      <p:sp>
        <p:nvSpPr>
          <p:cNvPr id="3" name="Content Placeholder 2"/>
          <p:cNvSpPr>
            <a:spLocks noGrp="1"/>
          </p:cNvSpPr>
          <p:nvPr>
            <p:ph idx="1"/>
          </p:nvPr>
        </p:nvSpPr>
        <p:spPr/>
        <p:txBody>
          <a:bodyPr>
            <a:normAutofit/>
          </a:bodyPr>
          <a:lstStyle/>
          <a:p>
            <a:pPr marL="0" indent="0">
              <a:buNone/>
            </a:pPr>
            <a:r>
              <a:rPr lang="fr-CH" dirty="0" smtClean="0"/>
              <a:t>Les </a:t>
            </a:r>
            <a:r>
              <a:rPr lang="fr-CH" dirty="0"/>
              <a:t>marchandises de l'Union deviennent des marchandises non Union dans les cas suivants:‎</a:t>
            </a:r>
          </a:p>
          <a:p>
            <a:pPr marL="0" indent="0">
              <a:buNone/>
            </a:pPr>
            <a:r>
              <a:rPr lang="fr-CH" dirty="0" smtClean="0"/>
              <a:t>3) lorsqu'elles </a:t>
            </a:r>
            <a:r>
              <a:rPr lang="fr-CH" dirty="0"/>
              <a:t>sont placées sous le régime de la destination particulière et sont ensuite soit ‎abandonnées à l'État soit détruites en laissant des déchets;</a:t>
            </a:r>
            <a:r>
              <a:rPr lang="fr-CH" dirty="0" smtClean="0"/>
              <a:t>‎</a:t>
            </a:r>
          </a:p>
          <a:p>
            <a:pPr marL="0" indent="0">
              <a:buNone/>
            </a:pPr>
            <a:r>
              <a:rPr lang="fr-CH" dirty="0" smtClean="0"/>
              <a:t>(n’ont pas obtenu leur destination particulière)</a:t>
            </a:r>
            <a:endParaRPr lang="fr-CH" dirty="0"/>
          </a:p>
          <a:p>
            <a:pPr marL="0" indent="0">
              <a:buNone/>
            </a:pPr>
            <a:endParaRPr lang="en-US" dirty="0"/>
          </a:p>
        </p:txBody>
      </p:sp>
      <p:sp>
        <p:nvSpPr>
          <p:cNvPr id="4" name="Slide Number Placeholder 3"/>
          <p:cNvSpPr>
            <a:spLocks noGrp="1"/>
          </p:cNvSpPr>
          <p:nvPr>
            <p:ph type="sldNum" sz="quarter" idx="12"/>
          </p:nvPr>
        </p:nvSpPr>
        <p:spPr/>
        <p:txBody>
          <a:bodyPr/>
          <a:lstStyle/>
          <a:p>
            <a:fld id="{C58F520E-0D3C-4C73-96DF-B271C0F692B0}" type="slidenum">
              <a:rPr lang="lb-LU" smtClean="0"/>
              <a:t>16</a:t>
            </a:fld>
            <a:endParaRPr lang="lb-LU"/>
          </a:p>
        </p:txBody>
      </p:sp>
    </p:spTree>
    <p:extLst>
      <p:ext uri="{BB962C8B-B14F-4D97-AF65-F5344CB8AC3E}">
        <p14:creationId xmlns:p14="http://schemas.microsoft.com/office/powerpoint/2010/main" val="2768411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1000"/>
                                        <p:tgtEl>
                                          <p:spTgt spid="3">
                                            <p:txEl>
                                              <p:pRg st="2" end="2"/>
                                            </p:txEl>
                                          </p:spTgt>
                                        </p:tgtEl>
                                      </p:cBhvr>
                                    </p:animEffect>
                                    <p:anim calcmode="lin" valueType="num">
                                      <p:cBhvr>
                                        <p:cTn id="14"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H" dirty="0"/>
              <a:t>Perte du statut douanier de </a:t>
            </a:r>
            <a:r>
              <a:rPr lang="fr-CH" dirty="0" smtClean="0"/>
              <a:t>«marchandises </a:t>
            </a:r>
            <a:r>
              <a:rPr lang="fr-CH" dirty="0"/>
              <a:t>de </a:t>
            </a:r>
            <a:r>
              <a:rPr lang="fr-CH" dirty="0" smtClean="0"/>
              <a:t>l'Union» </a:t>
            </a:r>
            <a:endParaRPr lang="en-US" dirty="0"/>
          </a:p>
        </p:txBody>
      </p:sp>
      <p:sp>
        <p:nvSpPr>
          <p:cNvPr id="3" name="Content Placeholder 2"/>
          <p:cNvSpPr>
            <a:spLocks noGrp="1"/>
          </p:cNvSpPr>
          <p:nvPr>
            <p:ph idx="1"/>
          </p:nvPr>
        </p:nvSpPr>
        <p:spPr/>
        <p:txBody>
          <a:bodyPr>
            <a:normAutofit/>
          </a:bodyPr>
          <a:lstStyle/>
          <a:p>
            <a:pPr marL="0" indent="0">
              <a:buNone/>
            </a:pPr>
            <a:r>
              <a:rPr lang="fr-CH" dirty="0" smtClean="0"/>
              <a:t>Les </a:t>
            </a:r>
            <a:r>
              <a:rPr lang="fr-CH" dirty="0"/>
              <a:t>marchandises de l'Union deviennent des marchandises non Union dans les cas suivants:‎</a:t>
            </a:r>
          </a:p>
          <a:p>
            <a:pPr marL="0" indent="0">
              <a:buNone/>
            </a:pPr>
            <a:r>
              <a:rPr lang="fr-CH" dirty="0"/>
              <a:t>4</a:t>
            </a:r>
            <a:r>
              <a:rPr lang="fr-CH" dirty="0" smtClean="0"/>
              <a:t>) lorsque </a:t>
            </a:r>
            <a:r>
              <a:rPr lang="fr-CH" dirty="0"/>
              <a:t>la déclaration de mise en libre pratique est invalidée après octroi de la mainlevée des ‎marchandises.‎</a:t>
            </a:r>
          </a:p>
          <a:p>
            <a:endParaRPr lang="en-US" dirty="0"/>
          </a:p>
        </p:txBody>
      </p:sp>
      <p:sp>
        <p:nvSpPr>
          <p:cNvPr id="4" name="Slide Number Placeholder 3"/>
          <p:cNvSpPr>
            <a:spLocks noGrp="1"/>
          </p:cNvSpPr>
          <p:nvPr>
            <p:ph type="sldNum" sz="quarter" idx="12"/>
          </p:nvPr>
        </p:nvSpPr>
        <p:spPr/>
        <p:txBody>
          <a:bodyPr/>
          <a:lstStyle/>
          <a:p>
            <a:fld id="{C58F520E-0D3C-4C73-96DF-B271C0F692B0}" type="slidenum">
              <a:rPr lang="lb-LU" smtClean="0"/>
              <a:t>17</a:t>
            </a:fld>
            <a:endParaRPr lang="lb-LU"/>
          </a:p>
        </p:txBody>
      </p:sp>
      <p:pic>
        <p:nvPicPr>
          <p:cNvPr id="5" name="Picture 4" descr="Red Croix Erreur · Images vectorielles gratuites sur Pixabay"/>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844935" y="4001294"/>
            <a:ext cx="1896687" cy="1896687"/>
          </a:xfrm>
          <a:prstGeom prst="rect">
            <a:avLst/>
          </a:prstGeom>
        </p:spPr>
      </p:pic>
    </p:spTree>
    <p:extLst>
      <p:ext uri="{BB962C8B-B14F-4D97-AF65-F5344CB8AC3E}">
        <p14:creationId xmlns:p14="http://schemas.microsoft.com/office/powerpoint/2010/main" val="2369807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80">
                                          <p:stCondLst>
                                            <p:cond delay="0"/>
                                          </p:stCondLst>
                                        </p:cTn>
                                        <p:tgtEl>
                                          <p:spTgt spid="5"/>
                                        </p:tgtEl>
                                      </p:cBhvr>
                                    </p:animEffect>
                                    <p:anim calcmode="lin" valueType="num">
                                      <p:cBhvr>
                                        <p:cTn id="8" dur="1822"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5"/>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5"/>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5"/>
                                        </p:tgtEl>
                                        <p:attrNameLst>
                                          <p:attrName>ppt_y</p:attrName>
                                        </p:attrNameLst>
                                      </p:cBhvr>
                                      <p:tavLst>
                                        <p:tav tm="0" fmla="#ppt_y-sin(pi*$)/81">
                                          <p:val>
                                            <p:fltVal val="0"/>
                                          </p:val>
                                        </p:tav>
                                        <p:tav tm="100000">
                                          <p:val>
                                            <p:fltVal val="1"/>
                                          </p:val>
                                        </p:tav>
                                      </p:tavLst>
                                    </p:anim>
                                    <p:animScale>
                                      <p:cBhvr>
                                        <p:cTn id="13" dur="26">
                                          <p:stCondLst>
                                            <p:cond delay="650"/>
                                          </p:stCondLst>
                                        </p:cTn>
                                        <p:tgtEl>
                                          <p:spTgt spid="5"/>
                                        </p:tgtEl>
                                      </p:cBhvr>
                                      <p:to x="100000" y="60000"/>
                                    </p:animScale>
                                    <p:animScale>
                                      <p:cBhvr>
                                        <p:cTn id="14" dur="166" decel="50000">
                                          <p:stCondLst>
                                            <p:cond delay="676"/>
                                          </p:stCondLst>
                                        </p:cTn>
                                        <p:tgtEl>
                                          <p:spTgt spid="5"/>
                                        </p:tgtEl>
                                      </p:cBhvr>
                                      <p:to x="100000" y="100000"/>
                                    </p:animScale>
                                    <p:animScale>
                                      <p:cBhvr>
                                        <p:cTn id="15" dur="26">
                                          <p:stCondLst>
                                            <p:cond delay="1312"/>
                                          </p:stCondLst>
                                        </p:cTn>
                                        <p:tgtEl>
                                          <p:spTgt spid="5"/>
                                        </p:tgtEl>
                                      </p:cBhvr>
                                      <p:to x="100000" y="80000"/>
                                    </p:animScale>
                                    <p:animScale>
                                      <p:cBhvr>
                                        <p:cTn id="16" dur="166" decel="50000">
                                          <p:stCondLst>
                                            <p:cond delay="1338"/>
                                          </p:stCondLst>
                                        </p:cTn>
                                        <p:tgtEl>
                                          <p:spTgt spid="5"/>
                                        </p:tgtEl>
                                      </p:cBhvr>
                                      <p:to x="100000" y="100000"/>
                                    </p:animScale>
                                    <p:animScale>
                                      <p:cBhvr>
                                        <p:cTn id="17" dur="26">
                                          <p:stCondLst>
                                            <p:cond delay="1642"/>
                                          </p:stCondLst>
                                        </p:cTn>
                                        <p:tgtEl>
                                          <p:spTgt spid="5"/>
                                        </p:tgtEl>
                                      </p:cBhvr>
                                      <p:to x="100000" y="90000"/>
                                    </p:animScale>
                                    <p:animScale>
                                      <p:cBhvr>
                                        <p:cTn id="18" dur="166" decel="50000">
                                          <p:stCondLst>
                                            <p:cond delay="1668"/>
                                          </p:stCondLst>
                                        </p:cTn>
                                        <p:tgtEl>
                                          <p:spTgt spid="5"/>
                                        </p:tgtEl>
                                      </p:cBhvr>
                                      <p:to x="100000" y="100000"/>
                                    </p:animScale>
                                    <p:animScale>
                                      <p:cBhvr>
                                        <p:cTn id="19" dur="26">
                                          <p:stCondLst>
                                            <p:cond delay="1808"/>
                                          </p:stCondLst>
                                        </p:cTn>
                                        <p:tgtEl>
                                          <p:spTgt spid="5"/>
                                        </p:tgtEl>
                                      </p:cBhvr>
                                      <p:to x="100000" y="95000"/>
                                    </p:animScale>
                                    <p:animScale>
                                      <p:cBhvr>
                                        <p:cTn id="20" dur="166" decel="50000">
                                          <p:stCondLst>
                                            <p:cond delay="1834"/>
                                          </p:stCondLst>
                                        </p:cTn>
                                        <p:tgtEl>
                                          <p:spTgt spid="5"/>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animEffect transition="in" filter="fade">
                                      <p:cBhvr>
                                        <p:cTn id="25" dur="1000"/>
                                        <p:tgtEl>
                                          <p:spTgt spid="3">
                                            <p:txEl>
                                              <p:pRg st="1" end="1"/>
                                            </p:txEl>
                                          </p:spTgt>
                                        </p:tgtEl>
                                      </p:cBhvr>
                                    </p:animEffect>
                                    <p:anim calcmode="lin" valueType="num">
                                      <p:cBhvr>
                                        <p:cTn id="26"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7"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Circulation des </a:t>
            </a:r>
            <a:r>
              <a:rPr lang="en-US" dirty="0" err="1" smtClean="0"/>
              <a:t>marchandises</a:t>
            </a:r>
            <a:r>
              <a:rPr lang="en-US" dirty="0" smtClean="0"/>
              <a:t> de </a:t>
            </a:r>
            <a:r>
              <a:rPr lang="en-US" dirty="0" err="1" smtClean="0"/>
              <a:t>l’Union</a:t>
            </a:r>
            <a:r>
              <a:rPr lang="en-US" dirty="0" smtClean="0"/>
              <a:t>:</a:t>
            </a:r>
            <a:endParaRPr lang="en-US" dirty="0"/>
          </a:p>
        </p:txBody>
      </p:sp>
      <p:sp>
        <p:nvSpPr>
          <p:cNvPr id="3" name="Content Placeholder 2"/>
          <p:cNvSpPr>
            <a:spLocks noGrp="1"/>
          </p:cNvSpPr>
          <p:nvPr>
            <p:ph idx="1"/>
          </p:nvPr>
        </p:nvSpPr>
        <p:spPr>
          <a:xfrm>
            <a:off x="838200" y="1825625"/>
            <a:ext cx="8856306" cy="4351338"/>
          </a:xfrm>
        </p:spPr>
        <p:txBody>
          <a:bodyPr>
            <a:normAutofit lnSpcReduction="10000"/>
          </a:bodyPr>
          <a:lstStyle/>
          <a:p>
            <a:pPr marL="914400" lvl="2" indent="0" algn="ctr">
              <a:buNone/>
            </a:pPr>
            <a:endParaRPr lang="fr-FR" dirty="0"/>
          </a:p>
          <a:p>
            <a:pPr marL="914400" lvl="2" indent="0" algn="ctr">
              <a:buNone/>
            </a:pPr>
            <a:endParaRPr lang="fr-FR" sz="4800" dirty="0"/>
          </a:p>
          <a:p>
            <a:pPr marL="180975" lvl="2" indent="0">
              <a:buNone/>
            </a:pPr>
            <a:r>
              <a:rPr lang="fr-CH" sz="3300" dirty="0"/>
              <a:t>Les marchandises de l’Union peuvent circuler, sans faire l’objet d’un régime douanier, d’un point à l’autre du territoire douanier de l’Union </a:t>
            </a:r>
            <a:endParaRPr lang="fr-CH" sz="3300" dirty="0" smtClean="0"/>
          </a:p>
          <a:p>
            <a:pPr marL="180975" lvl="2" indent="0">
              <a:buNone/>
            </a:pPr>
            <a:r>
              <a:rPr lang="fr-CH" sz="3300" dirty="0" smtClean="0"/>
              <a:t>et </a:t>
            </a:r>
          </a:p>
          <a:p>
            <a:pPr marL="180975" lvl="2" indent="0">
              <a:buNone/>
            </a:pPr>
            <a:r>
              <a:rPr lang="fr-CH" sz="3300" dirty="0" smtClean="0"/>
              <a:t>quitter </a:t>
            </a:r>
            <a:r>
              <a:rPr lang="fr-CH" sz="3300" dirty="0"/>
              <a:t>temporairement ce territoire sans modification de leur statut douanier dans les cas </a:t>
            </a:r>
            <a:r>
              <a:rPr lang="fr-CH" sz="3300" dirty="0" smtClean="0"/>
              <a:t>suivants</a:t>
            </a:r>
            <a:r>
              <a:rPr lang="fr-FR" sz="3300" dirty="0" smtClean="0"/>
              <a:t>:</a:t>
            </a:r>
            <a:endParaRPr lang="en-US" sz="3300" dirty="0"/>
          </a:p>
        </p:txBody>
      </p:sp>
      <p:sp>
        <p:nvSpPr>
          <p:cNvPr id="4" name="Slide Number Placeholder 3"/>
          <p:cNvSpPr>
            <a:spLocks noGrp="1"/>
          </p:cNvSpPr>
          <p:nvPr>
            <p:ph type="sldNum" sz="quarter" idx="12"/>
          </p:nvPr>
        </p:nvSpPr>
        <p:spPr/>
        <p:txBody>
          <a:bodyPr/>
          <a:lstStyle/>
          <a:p>
            <a:fld id="{C58F520E-0D3C-4C73-96DF-B271C0F692B0}" type="slidenum">
              <a:rPr lang="lb-LU" smtClean="0"/>
              <a:t>18</a:t>
            </a:fld>
            <a:endParaRPr lang="lb-LU"/>
          </a:p>
        </p:txBody>
      </p:sp>
    </p:spTree>
    <p:extLst>
      <p:ext uri="{BB962C8B-B14F-4D97-AF65-F5344CB8AC3E}">
        <p14:creationId xmlns:p14="http://schemas.microsoft.com/office/powerpoint/2010/main" val="121965398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H" dirty="0"/>
              <a:t>Circulation des marchandises de l’Union:</a:t>
            </a:r>
            <a:endParaRPr lang="en-US" dirty="0"/>
          </a:p>
        </p:txBody>
      </p:sp>
      <p:sp>
        <p:nvSpPr>
          <p:cNvPr id="3" name="Content Placeholder 2"/>
          <p:cNvSpPr>
            <a:spLocks noGrp="1"/>
          </p:cNvSpPr>
          <p:nvPr>
            <p:ph idx="1"/>
          </p:nvPr>
        </p:nvSpPr>
        <p:spPr>
          <a:xfrm>
            <a:off x="838200" y="1825625"/>
            <a:ext cx="10515600" cy="4407224"/>
          </a:xfrm>
        </p:spPr>
        <p:txBody>
          <a:bodyPr>
            <a:normAutofit/>
          </a:bodyPr>
          <a:lstStyle/>
          <a:p>
            <a:pPr marL="0" indent="0">
              <a:buNone/>
            </a:pPr>
            <a:endParaRPr lang="fr-CH" sz="2000" dirty="0"/>
          </a:p>
          <a:p>
            <a:pPr marL="0" indent="0">
              <a:buNone/>
            </a:pPr>
            <a:r>
              <a:rPr lang="fr-CH" sz="2000" dirty="0" smtClean="0"/>
              <a:t>Lorsque </a:t>
            </a:r>
            <a:r>
              <a:rPr lang="fr-CH" sz="2000" dirty="0"/>
              <a:t>les marchandises sont acheminées par voie aérienne et ont été embarquées ou transbordées dans un aéroport de l’Union à destination d’un autre aéroport de l’Union, sans escale en dehors du territoire douanier de l’Union, pour autant que le transport s’effectue sous le couvert d’un document de transport unique délivré dans un État </a:t>
            </a:r>
            <a:r>
              <a:rPr lang="fr-CH" sz="2000" dirty="0" smtClean="0"/>
              <a:t>membre.</a:t>
            </a:r>
          </a:p>
          <a:p>
            <a:endParaRPr lang="fr-CH" sz="2000" dirty="0" smtClean="0"/>
          </a:p>
          <a:p>
            <a:endParaRPr lang="fr-CH" sz="2000" dirty="0" smtClean="0"/>
          </a:p>
          <a:p>
            <a:endParaRPr lang="fr-CH" sz="2000" dirty="0" smtClean="0"/>
          </a:p>
          <a:p>
            <a:endParaRPr lang="fr-CH" sz="2000" dirty="0" smtClean="0"/>
          </a:p>
          <a:p>
            <a:pPr marL="0" indent="0">
              <a:buNone/>
            </a:pPr>
            <a:endParaRPr lang="fr-CH" sz="2000" dirty="0" smtClean="0"/>
          </a:p>
          <a:p>
            <a:endParaRPr lang="fr-CH" sz="2000" dirty="0"/>
          </a:p>
          <a:p>
            <a:endParaRPr lang="en-US" sz="2000" dirty="0"/>
          </a:p>
        </p:txBody>
      </p:sp>
      <p:sp>
        <p:nvSpPr>
          <p:cNvPr id="4" name="Slide Number Placeholder 3"/>
          <p:cNvSpPr>
            <a:spLocks noGrp="1"/>
          </p:cNvSpPr>
          <p:nvPr>
            <p:ph type="sldNum" sz="quarter" idx="12"/>
          </p:nvPr>
        </p:nvSpPr>
        <p:spPr/>
        <p:txBody>
          <a:bodyPr/>
          <a:lstStyle/>
          <a:p>
            <a:fld id="{C58F520E-0D3C-4C73-96DF-B271C0F692B0}" type="slidenum">
              <a:rPr lang="lb-LU" smtClean="0"/>
              <a:t>19</a:t>
            </a:fld>
            <a:endParaRPr lang="lb-LU"/>
          </a:p>
        </p:txBody>
      </p:sp>
      <p:pic>
        <p:nvPicPr>
          <p:cNvPr id="5" name="Picture 4"/>
          <p:cNvPicPr>
            <a:picLocks noChangeAspect="1"/>
          </p:cNvPicPr>
          <p:nvPr/>
        </p:nvPicPr>
        <p:blipFill>
          <a:blip r:embed="rId2"/>
          <a:stretch>
            <a:fillRect/>
          </a:stretch>
        </p:blipFill>
        <p:spPr>
          <a:xfrm>
            <a:off x="5944129" y="4088095"/>
            <a:ext cx="2328874" cy="987638"/>
          </a:xfrm>
          <a:prstGeom prst="rect">
            <a:avLst/>
          </a:prstGeom>
        </p:spPr>
      </p:pic>
      <p:pic>
        <p:nvPicPr>
          <p:cNvPr id="6" name="Picture 5"/>
          <p:cNvPicPr>
            <a:picLocks noChangeAspect="1"/>
          </p:cNvPicPr>
          <p:nvPr/>
        </p:nvPicPr>
        <p:blipFill>
          <a:blip r:embed="rId2"/>
          <a:stretch>
            <a:fillRect/>
          </a:stretch>
        </p:blipFill>
        <p:spPr>
          <a:xfrm>
            <a:off x="1033297" y="4864967"/>
            <a:ext cx="2328874" cy="987638"/>
          </a:xfrm>
          <a:prstGeom prst="rect">
            <a:avLst/>
          </a:prstGeom>
        </p:spPr>
      </p:pic>
      <p:pic>
        <p:nvPicPr>
          <p:cNvPr id="9" name="Picture 8" descr="Flag Of France Free Stock Photo - Public Domain Pictures"/>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82511" y="5082187"/>
            <a:ext cx="830446" cy="553198"/>
          </a:xfrm>
          <a:prstGeom prst="rect">
            <a:avLst/>
          </a:prstGeom>
        </p:spPr>
      </p:pic>
      <p:pic>
        <p:nvPicPr>
          <p:cNvPr id="7" name="Picture 6"/>
          <p:cNvPicPr>
            <a:picLocks noChangeAspect="1"/>
          </p:cNvPicPr>
          <p:nvPr/>
        </p:nvPicPr>
        <p:blipFill>
          <a:blip r:embed="rId4"/>
          <a:stretch>
            <a:fillRect/>
          </a:stretch>
        </p:blipFill>
        <p:spPr>
          <a:xfrm rot="1980000">
            <a:off x="3612584" y="4321781"/>
            <a:ext cx="1219306" cy="1219306"/>
          </a:xfrm>
          <a:prstGeom prst="rect">
            <a:avLst/>
          </a:prstGeom>
        </p:spPr>
      </p:pic>
      <p:pic>
        <p:nvPicPr>
          <p:cNvPr id="11" name="Picture 10" descr="File:Flag of Austria (WFB).svg - Wikimedia Commons"/>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710069" y="4272646"/>
            <a:ext cx="852258" cy="567950"/>
          </a:xfrm>
          <a:prstGeom prst="rect">
            <a:avLst/>
          </a:prstGeom>
        </p:spPr>
      </p:pic>
    </p:spTree>
    <p:extLst>
      <p:ext uri="{BB962C8B-B14F-4D97-AF65-F5344CB8AC3E}">
        <p14:creationId xmlns:p14="http://schemas.microsoft.com/office/powerpoint/2010/main" val="3905849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9"/>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5"/>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1"/>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6" presetClass="entr" presetSubtype="21" fill="hold"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barn(inVertical)">
                                      <p:cBhvr>
                                        <p:cTn id="28" dur="500"/>
                                        <p:tgtEl>
                                          <p:spTgt spid="7"/>
                                        </p:tgtEl>
                                      </p:cBhvr>
                                    </p:animEffect>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3">
                                            <p:txEl>
                                              <p:pRg st="1" end="1"/>
                                            </p:txEl>
                                          </p:spTgt>
                                        </p:tgtEl>
                                        <p:attrNameLst>
                                          <p:attrName>style.visibility</p:attrName>
                                        </p:attrNameLst>
                                      </p:cBhvr>
                                      <p:to>
                                        <p:strVal val="visible"/>
                                      </p:to>
                                    </p:set>
                                    <p:animEffect transition="in" filter="fade">
                                      <p:cBhvr>
                                        <p:cTn id="33" dur="1000"/>
                                        <p:tgtEl>
                                          <p:spTgt spid="3">
                                            <p:txEl>
                                              <p:pRg st="1" end="1"/>
                                            </p:txEl>
                                          </p:spTgt>
                                        </p:tgtEl>
                                      </p:cBhvr>
                                    </p:animEffect>
                                    <p:anim calcmode="lin" valueType="num">
                                      <p:cBhvr>
                                        <p:cTn id="34"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35"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H" dirty="0"/>
              <a:t>Circulation des marchandises de l’Union:</a:t>
            </a:r>
            <a:endParaRPr lang="en-US" dirty="0"/>
          </a:p>
        </p:txBody>
      </p:sp>
      <p:sp>
        <p:nvSpPr>
          <p:cNvPr id="3" name="Content Placeholder 2"/>
          <p:cNvSpPr>
            <a:spLocks noGrp="1"/>
          </p:cNvSpPr>
          <p:nvPr>
            <p:ph idx="1"/>
          </p:nvPr>
        </p:nvSpPr>
        <p:spPr>
          <a:xfrm>
            <a:off x="838200" y="1825625"/>
            <a:ext cx="10515600" cy="4407224"/>
          </a:xfrm>
        </p:spPr>
        <p:txBody>
          <a:bodyPr>
            <a:normAutofit fontScale="92500" lnSpcReduction="20000"/>
          </a:bodyPr>
          <a:lstStyle/>
          <a:p>
            <a:pPr marL="0" indent="0">
              <a:buNone/>
            </a:pPr>
            <a:endParaRPr lang="fr-CH" sz="2000" dirty="0"/>
          </a:p>
          <a:p>
            <a:pPr marL="0" indent="0">
              <a:buNone/>
            </a:pPr>
            <a:r>
              <a:rPr lang="fr-CH" sz="2000" dirty="0" smtClean="0"/>
              <a:t>Lorsque </a:t>
            </a:r>
            <a:r>
              <a:rPr lang="fr-CH" sz="2000" dirty="0"/>
              <a:t>les marchandises sont acheminées par voie maritime et ont été transportées entre des ports de l’Union sur une ligne régulière autorisée.</a:t>
            </a:r>
            <a:endParaRPr lang="fr-CH" sz="2000" dirty="0" smtClean="0"/>
          </a:p>
          <a:p>
            <a:endParaRPr lang="fr-CH" sz="2000" dirty="0" smtClean="0"/>
          </a:p>
          <a:p>
            <a:endParaRPr lang="fr-CH" sz="2000" dirty="0" smtClean="0"/>
          </a:p>
          <a:p>
            <a:endParaRPr lang="fr-CH" sz="2000" dirty="0" smtClean="0"/>
          </a:p>
          <a:p>
            <a:endParaRPr lang="fr-CH" sz="2000" dirty="0" smtClean="0"/>
          </a:p>
          <a:p>
            <a:pPr marL="0" indent="0">
              <a:buNone/>
            </a:pPr>
            <a:endParaRPr lang="fr-CH" sz="2000" dirty="0" smtClean="0"/>
          </a:p>
          <a:p>
            <a:endParaRPr lang="fr-CH" sz="2000" dirty="0"/>
          </a:p>
          <a:p>
            <a:pPr marL="0" indent="0">
              <a:buNone/>
            </a:pPr>
            <a:r>
              <a:rPr lang="fr-CH" sz="2000" dirty="0"/>
              <a:t>Une ligne maritime régulière est une ligne maritime sur laquelle les navires transportent des </a:t>
            </a:r>
            <a:r>
              <a:rPr lang="fr-CH" sz="2000" dirty="0" smtClean="0"/>
              <a:t>marchandises uniquement </a:t>
            </a:r>
            <a:r>
              <a:rPr lang="fr-CH" sz="2000" dirty="0"/>
              <a:t>entre des ports de l'Union et ne peuvent pas venir d'un point quelconque </a:t>
            </a:r>
            <a:r>
              <a:rPr lang="fr-CH" sz="2000" dirty="0" smtClean="0"/>
              <a:t>situé hors </a:t>
            </a:r>
            <a:r>
              <a:rPr lang="fr-CH" sz="2000" dirty="0"/>
              <a:t>du territoire douanier de l'Union ou dans une zone franche d'un port de l'Union, ni </a:t>
            </a:r>
            <a:r>
              <a:rPr lang="fr-CH" sz="2000" dirty="0" smtClean="0"/>
              <a:t>s'y rendre </a:t>
            </a:r>
            <a:r>
              <a:rPr lang="fr-CH" sz="2000" dirty="0"/>
              <a:t>ou y faire escale. </a:t>
            </a:r>
            <a:endParaRPr lang="fr-CH" sz="2000" dirty="0" smtClean="0"/>
          </a:p>
          <a:p>
            <a:pPr marL="0" indent="0">
              <a:buNone/>
            </a:pPr>
            <a:r>
              <a:rPr lang="fr-CH" sz="2000" dirty="0" smtClean="0"/>
              <a:t>Un </a:t>
            </a:r>
            <a:r>
              <a:rPr lang="fr-CH" sz="2000" dirty="0"/>
              <a:t>opérateur économique doit demander une autorisation de LMR auprès de </a:t>
            </a:r>
            <a:r>
              <a:rPr lang="fr-CH" sz="2000" dirty="0" smtClean="0"/>
              <a:t>l'autorité douanière </a:t>
            </a:r>
            <a:r>
              <a:rPr lang="fr-CH" sz="2000" dirty="0"/>
              <a:t>compétente.</a:t>
            </a:r>
            <a:endParaRPr lang="en-US" sz="2000" dirty="0"/>
          </a:p>
        </p:txBody>
      </p:sp>
      <p:sp>
        <p:nvSpPr>
          <p:cNvPr id="4" name="Slide Number Placeholder 3"/>
          <p:cNvSpPr>
            <a:spLocks noGrp="1"/>
          </p:cNvSpPr>
          <p:nvPr>
            <p:ph type="sldNum" sz="quarter" idx="12"/>
          </p:nvPr>
        </p:nvSpPr>
        <p:spPr/>
        <p:txBody>
          <a:bodyPr/>
          <a:lstStyle/>
          <a:p>
            <a:fld id="{C58F520E-0D3C-4C73-96DF-B271C0F692B0}" type="slidenum">
              <a:rPr lang="lb-LU" smtClean="0"/>
              <a:t>20</a:t>
            </a:fld>
            <a:endParaRPr lang="lb-LU"/>
          </a:p>
        </p:txBody>
      </p:sp>
      <p:pic>
        <p:nvPicPr>
          <p:cNvPr id="6" name="Picture 5"/>
          <p:cNvPicPr>
            <a:picLocks noChangeAspect="1"/>
          </p:cNvPicPr>
          <p:nvPr/>
        </p:nvPicPr>
        <p:blipFill>
          <a:blip r:embed="rId2"/>
          <a:stretch>
            <a:fillRect/>
          </a:stretch>
        </p:blipFill>
        <p:spPr>
          <a:xfrm>
            <a:off x="2111599" y="3471195"/>
            <a:ext cx="2328874" cy="987638"/>
          </a:xfrm>
          <a:prstGeom prst="rect">
            <a:avLst/>
          </a:prstGeom>
        </p:spPr>
      </p:pic>
      <p:pic>
        <p:nvPicPr>
          <p:cNvPr id="9" name="Picture 8" descr="Flag Of France Free Stock Photo - Public Domain Pictures"/>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860813" y="3688415"/>
            <a:ext cx="830446" cy="553198"/>
          </a:xfrm>
          <a:prstGeom prst="rect">
            <a:avLst/>
          </a:prstGeom>
        </p:spPr>
      </p:pic>
      <p:pic>
        <p:nvPicPr>
          <p:cNvPr id="8" name="Picture 7"/>
          <p:cNvPicPr>
            <a:picLocks noChangeAspect="1"/>
          </p:cNvPicPr>
          <p:nvPr/>
        </p:nvPicPr>
        <p:blipFill>
          <a:blip r:embed="rId4"/>
          <a:stretch>
            <a:fillRect/>
          </a:stretch>
        </p:blipFill>
        <p:spPr>
          <a:xfrm>
            <a:off x="4866239" y="3166596"/>
            <a:ext cx="1672584" cy="1292237"/>
          </a:xfrm>
          <a:prstGeom prst="rect">
            <a:avLst/>
          </a:prstGeom>
        </p:spPr>
      </p:pic>
    </p:spTree>
    <p:extLst>
      <p:ext uri="{BB962C8B-B14F-4D97-AF65-F5344CB8AC3E}">
        <p14:creationId xmlns:p14="http://schemas.microsoft.com/office/powerpoint/2010/main" val="3085416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9"/>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6" presetClass="entr" presetSubtype="16" fill="hold"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circle(in)">
                                      <p:cBhvr>
                                        <p:cTn id="20" dur="200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animEffect transition="in" filter="fade">
                                      <p:cBhvr>
                                        <p:cTn id="25" dur="1000"/>
                                        <p:tgtEl>
                                          <p:spTgt spid="3">
                                            <p:txEl>
                                              <p:pRg st="1" end="1"/>
                                            </p:txEl>
                                          </p:spTgt>
                                        </p:tgtEl>
                                      </p:cBhvr>
                                    </p:animEffect>
                                    <p:anim calcmode="lin" valueType="num">
                                      <p:cBhvr>
                                        <p:cTn id="26"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7"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nodeType="clickEffect">
                                  <p:stCondLst>
                                    <p:cond delay="0"/>
                                  </p:stCondLst>
                                  <p:childTnLst>
                                    <p:set>
                                      <p:cBhvr>
                                        <p:cTn id="31" dur="1" fill="hold">
                                          <p:stCondLst>
                                            <p:cond delay="0"/>
                                          </p:stCondLst>
                                        </p:cTn>
                                        <p:tgtEl>
                                          <p:spTgt spid="3">
                                            <p:txEl>
                                              <p:pRg st="8" end="8"/>
                                            </p:txEl>
                                          </p:spTgt>
                                        </p:tgtEl>
                                        <p:attrNameLst>
                                          <p:attrName>style.visibility</p:attrName>
                                        </p:attrNameLst>
                                      </p:cBhvr>
                                      <p:to>
                                        <p:strVal val="visible"/>
                                      </p:to>
                                    </p:set>
                                    <p:animEffect transition="in" filter="fade">
                                      <p:cBhvr>
                                        <p:cTn id="32" dur="1000"/>
                                        <p:tgtEl>
                                          <p:spTgt spid="3">
                                            <p:txEl>
                                              <p:pRg st="8" end="8"/>
                                            </p:txEl>
                                          </p:spTgt>
                                        </p:tgtEl>
                                      </p:cBhvr>
                                    </p:animEffect>
                                    <p:anim calcmode="lin" valueType="num">
                                      <p:cBhvr>
                                        <p:cTn id="33"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animEffect transition="in" filter="fade">
                                      <p:cBhvr>
                                        <p:cTn id="39" dur="1000"/>
                                        <p:tgtEl>
                                          <p:spTgt spid="3">
                                            <p:txEl>
                                              <p:pRg st="9" end="9"/>
                                            </p:txEl>
                                          </p:spTgt>
                                        </p:tgtEl>
                                      </p:cBhvr>
                                    </p:animEffect>
                                    <p:anim calcmode="lin" valueType="num">
                                      <p:cBhvr>
                                        <p:cTn id="40"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41"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H" dirty="0"/>
              <a:t>Circulation des marchandises de l’Union:</a:t>
            </a:r>
            <a:endParaRPr lang="en-US" dirty="0"/>
          </a:p>
        </p:txBody>
      </p:sp>
      <p:sp>
        <p:nvSpPr>
          <p:cNvPr id="3" name="Content Placeholder 2"/>
          <p:cNvSpPr>
            <a:spLocks noGrp="1"/>
          </p:cNvSpPr>
          <p:nvPr>
            <p:ph idx="1"/>
          </p:nvPr>
        </p:nvSpPr>
        <p:spPr>
          <a:xfrm>
            <a:off x="838200" y="1825625"/>
            <a:ext cx="10515600" cy="4407224"/>
          </a:xfrm>
        </p:spPr>
        <p:txBody>
          <a:bodyPr>
            <a:normAutofit/>
          </a:bodyPr>
          <a:lstStyle/>
          <a:p>
            <a:pPr marL="0" indent="0">
              <a:buNone/>
            </a:pPr>
            <a:endParaRPr lang="fr-CH" sz="2000" dirty="0"/>
          </a:p>
          <a:p>
            <a:r>
              <a:rPr lang="fr-CH" sz="2000" dirty="0" smtClean="0"/>
              <a:t>Lorsque </a:t>
            </a:r>
            <a:r>
              <a:rPr lang="fr-CH" sz="2000" dirty="0"/>
              <a:t>les marchandises sont acheminées par chemin de fer et ont été transportées avec passage par un pays tiers qui est partie contractante à la convention relative à un régime de transit commun sous le couvert d’un document de transport unique délivré dans un État membre, et qu’une telle possibilité est prévue par un accord international.</a:t>
            </a:r>
            <a:endParaRPr lang="fr-CH" sz="2000" dirty="0" smtClean="0"/>
          </a:p>
          <a:p>
            <a:endParaRPr lang="fr-CH" sz="2000" dirty="0" smtClean="0"/>
          </a:p>
          <a:p>
            <a:endParaRPr lang="fr-CH" sz="2000" dirty="0" smtClean="0"/>
          </a:p>
          <a:p>
            <a:endParaRPr lang="fr-CH" sz="2000" dirty="0" smtClean="0"/>
          </a:p>
          <a:p>
            <a:endParaRPr lang="fr-CH" sz="2000" dirty="0" smtClean="0"/>
          </a:p>
          <a:p>
            <a:pPr marL="0" indent="0">
              <a:buNone/>
            </a:pPr>
            <a:endParaRPr lang="fr-CH" sz="2000" dirty="0" smtClean="0"/>
          </a:p>
          <a:p>
            <a:endParaRPr lang="fr-CH" sz="2000" dirty="0"/>
          </a:p>
          <a:p>
            <a:endParaRPr lang="en-US" sz="2000" dirty="0"/>
          </a:p>
        </p:txBody>
      </p:sp>
      <p:sp>
        <p:nvSpPr>
          <p:cNvPr id="4" name="Slide Number Placeholder 3"/>
          <p:cNvSpPr>
            <a:spLocks noGrp="1"/>
          </p:cNvSpPr>
          <p:nvPr>
            <p:ph type="sldNum" sz="quarter" idx="12"/>
          </p:nvPr>
        </p:nvSpPr>
        <p:spPr/>
        <p:txBody>
          <a:bodyPr/>
          <a:lstStyle/>
          <a:p>
            <a:fld id="{C58F520E-0D3C-4C73-96DF-B271C0F692B0}" type="slidenum">
              <a:rPr lang="lb-LU" smtClean="0"/>
              <a:t>21</a:t>
            </a:fld>
            <a:endParaRPr lang="lb-LU"/>
          </a:p>
        </p:txBody>
      </p:sp>
      <p:pic>
        <p:nvPicPr>
          <p:cNvPr id="5" name="Picture 4"/>
          <p:cNvPicPr>
            <a:picLocks noChangeAspect="1"/>
          </p:cNvPicPr>
          <p:nvPr/>
        </p:nvPicPr>
        <p:blipFill>
          <a:blip r:embed="rId2"/>
          <a:stretch>
            <a:fillRect/>
          </a:stretch>
        </p:blipFill>
        <p:spPr>
          <a:xfrm>
            <a:off x="5944129" y="4088095"/>
            <a:ext cx="2328874" cy="987638"/>
          </a:xfrm>
          <a:prstGeom prst="rect">
            <a:avLst/>
          </a:prstGeom>
        </p:spPr>
      </p:pic>
      <p:pic>
        <p:nvPicPr>
          <p:cNvPr id="6" name="Picture 5"/>
          <p:cNvPicPr>
            <a:picLocks noChangeAspect="1"/>
          </p:cNvPicPr>
          <p:nvPr/>
        </p:nvPicPr>
        <p:blipFill>
          <a:blip r:embed="rId2"/>
          <a:stretch>
            <a:fillRect/>
          </a:stretch>
        </p:blipFill>
        <p:spPr>
          <a:xfrm>
            <a:off x="1033297" y="4864967"/>
            <a:ext cx="2328874" cy="987638"/>
          </a:xfrm>
          <a:prstGeom prst="rect">
            <a:avLst/>
          </a:prstGeom>
        </p:spPr>
      </p:pic>
      <p:pic>
        <p:nvPicPr>
          <p:cNvPr id="9" name="Picture 8" descr="Flag Of France Free Stock Photo - Public Domain Pictures"/>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82511" y="5082187"/>
            <a:ext cx="830446" cy="553198"/>
          </a:xfrm>
          <a:prstGeom prst="rect">
            <a:avLst/>
          </a:prstGeom>
        </p:spPr>
      </p:pic>
      <p:pic>
        <p:nvPicPr>
          <p:cNvPr id="10" name="Picture 9" descr="Flag of Switzerland - Wikipedia"/>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178809" y="3997818"/>
            <a:ext cx="1000994" cy="1000994"/>
          </a:xfrm>
          <a:prstGeom prst="rect">
            <a:avLst/>
          </a:prstGeom>
        </p:spPr>
      </p:pic>
      <p:pic>
        <p:nvPicPr>
          <p:cNvPr id="11" name="Picture 10" descr="File:Flag of Austria (WFB).svg - Wikimedia Commons"/>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710069" y="4272646"/>
            <a:ext cx="852258" cy="567950"/>
          </a:xfrm>
          <a:prstGeom prst="rect">
            <a:avLst/>
          </a:prstGeom>
        </p:spPr>
      </p:pic>
      <p:pic>
        <p:nvPicPr>
          <p:cNvPr id="8" name="Picture 7"/>
          <p:cNvPicPr>
            <a:picLocks noChangeAspect="1"/>
          </p:cNvPicPr>
          <p:nvPr/>
        </p:nvPicPr>
        <p:blipFill>
          <a:blip r:embed="rId6"/>
          <a:stretch>
            <a:fillRect/>
          </a:stretch>
        </p:blipFill>
        <p:spPr>
          <a:xfrm>
            <a:off x="3494013" y="4864967"/>
            <a:ext cx="2450116" cy="684561"/>
          </a:xfrm>
          <a:prstGeom prst="rect">
            <a:avLst/>
          </a:prstGeom>
        </p:spPr>
      </p:pic>
    </p:spTree>
    <p:extLst>
      <p:ext uri="{BB962C8B-B14F-4D97-AF65-F5344CB8AC3E}">
        <p14:creationId xmlns:p14="http://schemas.microsoft.com/office/powerpoint/2010/main" val="210941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9"/>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5"/>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1"/>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circle(in)">
                                      <p:cBhvr>
                                        <p:cTn id="28" dur="2000"/>
                                        <p:tgtEl>
                                          <p:spTgt spid="8"/>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Circulation des </a:t>
            </a:r>
            <a:r>
              <a:rPr lang="en-US" dirty="0" err="1" smtClean="0"/>
              <a:t>marchandises</a:t>
            </a:r>
            <a:r>
              <a:rPr lang="en-US" dirty="0" smtClean="0"/>
              <a:t> de </a:t>
            </a:r>
            <a:r>
              <a:rPr lang="en-US" dirty="0" err="1" smtClean="0"/>
              <a:t>l’Union</a:t>
            </a:r>
            <a:r>
              <a:rPr lang="en-US" dirty="0" smtClean="0"/>
              <a:t>:</a:t>
            </a:r>
            <a:endParaRPr lang="en-US" dirty="0"/>
          </a:p>
        </p:txBody>
      </p:sp>
      <p:sp>
        <p:nvSpPr>
          <p:cNvPr id="3" name="Content Placeholder 2"/>
          <p:cNvSpPr>
            <a:spLocks noGrp="1"/>
          </p:cNvSpPr>
          <p:nvPr>
            <p:ph idx="1"/>
          </p:nvPr>
        </p:nvSpPr>
        <p:spPr>
          <a:xfrm>
            <a:off x="838200" y="1825625"/>
            <a:ext cx="8856306" cy="4351338"/>
          </a:xfrm>
        </p:spPr>
        <p:txBody>
          <a:bodyPr>
            <a:normAutofit fontScale="92500" lnSpcReduction="10000"/>
          </a:bodyPr>
          <a:lstStyle/>
          <a:p>
            <a:pPr marL="914400" lvl="2" indent="0" algn="ctr">
              <a:buNone/>
            </a:pPr>
            <a:endParaRPr lang="fr-FR" dirty="0"/>
          </a:p>
          <a:p>
            <a:pPr marL="914400" lvl="2" indent="0" algn="ctr">
              <a:buNone/>
            </a:pPr>
            <a:endParaRPr lang="fr-FR" sz="4800" dirty="0"/>
          </a:p>
          <a:p>
            <a:pPr marL="180975" lvl="2" indent="0">
              <a:buNone/>
            </a:pPr>
            <a:r>
              <a:rPr lang="fr-CH" sz="3300" dirty="0"/>
              <a:t>Les marchandises de l’Union peuvent circuler, sans faire l’objet d’un régime douanier, d’un point à l’autre du territoire douanier de l’Union </a:t>
            </a:r>
            <a:endParaRPr lang="fr-CH" sz="3300" dirty="0" smtClean="0"/>
          </a:p>
          <a:p>
            <a:pPr marL="180975" lvl="2" indent="0">
              <a:buNone/>
            </a:pPr>
            <a:r>
              <a:rPr lang="fr-CH" sz="3300" dirty="0" smtClean="0"/>
              <a:t>et </a:t>
            </a:r>
          </a:p>
          <a:p>
            <a:pPr marL="180975" lvl="2" indent="0">
              <a:buNone/>
            </a:pPr>
            <a:r>
              <a:rPr lang="fr-CH" sz="3300" dirty="0" smtClean="0"/>
              <a:t>quitter </a:t>
            </a:r>
            <a:r>
              <a:rPr lang="fr-CH" sz="3300" dirty="0"/>
              <a:t>temporairement ce territoire sans modification de leur statut douanier dans les cas </a:t>
            </a:r>
            <a:r>
              <a:rPr lang="fr-CH" sz="3300" dirty="0" smtClean="0"/>
              <a:t>suivants, </a:t>
            </a:r>
            <a:r>
              <a:rPr lang="fr-CH" sz="3300" u="sng" dirty="0" smtClean="0"/>
              <a:t>pour </a:t>
            </a:r>
            <a:r>
              <a:rPr lang="fr-CH" sz="3300" u="sng" dirty="0"/>
              <a:t>autant que leur statut douanier de marchandises de l’Union soit prouvé</a:t>
            </a:r>
            <a:r>
              <a:rPr lang="fr-FR" sz="3300" dirty="0" smtClean="0"/>
              <a:t>:</a:t>
            </a:r>
          </a:p>
        </p:txBody>
      </p:sp>
      <p:sp>
        <p:nvSpPr>
          <p:cNvPr id="4" name="Slide Number Placeholder 3"/>
          <p:cNvSpPr>
            <a:spLocks noGrp="1"/>
          </p:cNvSpPr>
          <p:nvPr>
            <p:ph type="sldNum" sz="quarter" idx="12"/>
          </p:nvPr>
        </p:nvSpPr>
        <p:spPr/>
        <p:txBody>
          <a:bodyPr/>
          <a:lstStyle/>
          <a:p>
            <a:fld id="{C58F520E-0D3C-4C73-96DF-B271C0F692B0}" type="slidenum">
              <a:rPr lang="lb-LU" smtClean="0"/>
              <a:t>22</a:t>
            </a:fld>
            <a:endParaRPr lang="lb-LU"/>
          </a:p>
        </p:txBody>
      </p:sp>
    </p:spTree>
    <p:extLst>
      <p:ext uri="{BB962C8B-B14F-4D97-AF65-F5344CB8AC3E}">
        <p14:creationId xmlns:p14="http://schemas.microsoft.com/office/powerpoint/2010/main" val="200075784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H" dirty="0" smtClean="0"/>
              <a:t>Sortie temporaire du </a:t>
            </a:r>
            <a:r>
              <a:rPr lang="fr-CH" dirty="0"/>
              <a:t>‎territoire de l’Union </a:t>
            </a:r>
            <a:endParaRPr lang="en-US" dirty="0"/>
          </a:p>
        </p:txBody>
      </p:sp>
      <p:sp>
        <p:nvSpPr>
          <p:cNvPr id="3" name="Content Placeholder 2"/>
          <p:cNvSpPr>
            <a:spLocks noGrp="1"/>
          </p:cNvSpPr>
          <p:nvPr>
            <p:ph idx="1"/>
          </p:nvPr>
        </p:nvSpPr>
        <p:spPr>
          <a:xfrm>
            <a:off x="838200" y="1825625"/>
            <a:ext cx="10515600" cy="4407224"/>
          </a:xfrm>
        </p:spPr>
        <p:txBody>
          <a:bodyPr>
            <a:normAutofit/>
          </a:bodyPr>
          <a:lstStyle/>
          <a:p>
            <a:pPr marL="0" indent="0">
              <a:buNone/>
            </a:pPr>
            <a:endParaRPr lang="fr-CH" sz="2000" dirty="0"/>
          </a:p>
          <a:p>
            <a:r>
              <a:rPr lang="fr-CH" sz="2000" dirty="0" smtClean="0"/>
              <a:t>les </a:t>
            </a:r>
            <a:r>
              <a:rPr lang="fr-CH" sz="2000" dirty="0"/>
              <a:t>marchandises qui ont été transportées d’un point à l’autre du territoire douanier de l’Union ‎et qui quittent </a:t>
            </a:r>
            <a:r>
              <a:rPr lang="fr-CH" sz="2000" dirty="0" smtClean="0"/>
              <a:t>temporairement </a:t>
            </a:r>
            <a:r>
              <a:rPr lang="fr-CH" sz="2000" dirty="0"/>
              <a:t>ce </a:t>
            </a:r>
            <a:r>
              <a:rPr lang="fr-CH" sz="2000" dirty="0" smtClean="0"/>
              <a:t>territoire </a:t>
            </a:r>
            <a:r>
              <a:rPr lang="fr-CH" sz="2000" dirty="0"/>
              <a:t>par voie maritime ou aérienne; </a:t>
            </a:r>
            <a:r>
              <a:rPr lang="fr-CH" sz="2000" dirty="0" smtClean="0"/>
              <a:t>‎</a:t>
            </a:r>
          </a:p>
          <a:p>
            <a:r>
              <a:rPr lang="fr-CH" sz="2000" b="1" dirty="0"/>
              <a:t>Condition: </a:t>
            </a:r>
            <a:r>
              <a:rPr lang="fr-CH" sz="2000" dirty="0"/>
              <a:t>le statut douanier ‎doit être prouvé au moment de retour. </a:t>
            </a:r>
            <a:endParaRPr lang="fr-CH" sz="2000" dirty="0" smtClean="0"/>
          </a:p>
          <a:p>
            <a:pPr marL="0" indent="0">
              <a:buNone/>
            </a:pPr>
            <a:r>
              <a:rPr lang="fr-CH" sz="2000" dirty="0" smtClean="0"/>
              <a:t>	(par manifeste douanier)</a:t>
            </a:r>
          </a:p>
          <a:p>
            <a:endParaRPr lang="fr-CH" sz="2000" dirty="0" smtClean="0"/>
          </a:p>
          <a:p>
            <a:endParaRPr lang="fr-CH" sz="2000" dirty="0" smtClean="0"/>
          </a:p>
          <a:p>
            <a:endParaRPr lang="fr-CH" sz="2000" dirty="0" smtClean="0"/>
          </a:p>
          <a:p>
            <a:endParaRPr lang="fr-CH" sz="2000" dirty="0" smtClean="0"/>
          </a:p>
          <a:p>
            <a:endParaRPr lang="fr-CH" sz="2000" dirty="0" smtClean="0"/>
          </a:p>
          <a:p>
            <a:pPr marL="0" indent="0">
              <a:buNone/>
            </a:pPr>
            <a:endParaRPr lang="fr-CH" sz="2000" dirty="0" smtClean="0"/>
          </a:p>
          <a:p>
            <a:endParaRPr lang="fr-CH" sz="2000" dirty="0"/>
          </a:p>
          <a:p>
            <a:endParaRPr lang="en-US" sz="2000" dirty="0"/>
          </a:p>
        </p:txBody>
      </p:sp>
      <p:sp>
        <p:nvSpPr>
          <p:cNvPr id="4" name="Slide Number Placeholder 3"/>
          <p:cNvSpPr>
            <a:spLocks noGrp="1"/>
          </p:cNvSpPr>
          <p:nvPr>
            <p:ph type="sldNum" sz="quarter" idx="12"/>
          </p:nvPr>
        </p:nvSpPr>
        <p:spPr/>
        <p:txBody>
          <a:bodyPr/>
          <a:lstStyle/>
          <a:p>
            <a:fld id="{C58F520E-0D3C-4C73-96DF-B271C0F692B0}" type="slidenum">
              <a:rPr lang="lb-LU" smtClean="0"/>
              <a:t>23</a:t>
            </a:fld>
            <a:endParaRPr lang="lb-LU"/>
          </a:p>
        </p:txBody>
      </p:sp>
      <p:pic>
        <p:nvPicPr>
          <p:cNvPr id="5" name="Picture 4"/>
          <p:cNvPicPr>
            <a:picLocks noChangeAspect="1"/>
          </p:cNvPicPr>
          <p:nvPr/>
        </p:nvPicPr>
        <p:blipFill>
          <a:blip r:embed="rId2"/>
          <a:stretch>
            <a:fillRect/>
          </a:stretch>
        </p:blipFill>
        <p:spPr>
          <a:xfrm>
            <a:off x="5944129" y="4088095"/>
            <a:ext cx="2328874" cy="987638"/>
          </a:xfrm>
          <a:prstGeom prst="rect">
            <a:avLst/>
          </a:prstGeom>
        </p:spPr>
      </p:pic>
      <p:pic>
        <p:nvPicPr>
          <p:cNvPr id="6" name="Picture 5"/>
          <p:cNvPicPr>
            <a:picLocks noChangeAspect="1"/>
          </p:cNvPicPr>
          <p:nvPr/>
        </p:nvPicPr>
        <p:blipFill>
          <a:blip r:embed="rId2"/>
          <a:stretch>
            <a:fillRect/>
          </a:stretch>
        </p:blipFill>
        <p:spPr>
          <a:xfrm>
            <a:off x="1033297" y="4864967"/>
            <a:ext cx="2328874" cy="987638"/>
          </a:xfrm>
          <a:prstGeom prst="rect">
            <a:avLst/>
          </a:prstGeom>
        </p:spPr>
      </p:pic>
      <p:pic>
        <p:nvPicPr>
          <p:cNvPr id="9" name="Picture 8" descr="Flag Of France Free Stock Photo - Public Domain Pictures"/>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82511" y="5082187"/>
            <a:ext cx="830446" cy="553198"/>
          </a:xfrm>
          <a:prstGeom prst="rect">
            <a:avLst/>
          </a:prstGeom>
        </p:spPr>
      </p:pic>
      <p:pic>
        <p:nvPicPr>
          <p:cNvPr id="10" name="Picture 9" descr="Flag of Switzerland - Wikipedia"/>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191212" y="4340099"/>
            <a:ext cx="1000994" cy="1000994"/>
          </a:xfrm>
          <a:prstGeom prst="rect">
            <a:avLst/>
          </a:prstGeom>
        </p:spPr>
      </p:pic>
      <p:pic>
        <p:nvPicPr>
          <p:cNvPr id="7" name="Picture 6"/>
          <p:cNvPicPr>
            <a:picLocks noChangeAspect="1"/>
          </p:cNvPicPr>
          <p:nvPr/>
        </p:nvPicPr>
        <p:blipFill>
          <a:blip r:embed="rId5"/>
          <a:stretch>
            <a:fillRect/>
          </a:stretch>
        </p:blipFill>
        <p:spPr>
          <a:xfrm rot="1980000">
            <a:off x="3271838" y="4506333"/>
            <a:ext cx="1219306" cy="1219306"/>
          </a:xfrm>
          <a:prstGeom prst="rect">
            <a:avLst/>
          </a:prstGeom>
        </p:spPr>
      </p:pic>
      <p:pic>
        <p:nvPicPr>
          <p:cNvPr id="11" name="Picture 10" descr="File:Flag of Austria (WFB).svg - Wikimedia Commons"/>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710069" y="4272646"/>
            <a:ext cx="852258" cy="567950"/>
          </a:xfrm>
          <a:prstGeom prst="rect">
            <a:avLst/>
          </a:prstGeom>
        </p:spPr>
      </p:pic>
    </p:spTree>
    <p:extLst>
      <p:ext uri="{BB962C8B-B14F-4D97-AF65-F5344CB8AC3E}">
        <p14:creationId xmlns:p14="http://schemas.microsoft.com/office/powerpoint/2010/main" val="1710840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9"/>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5"/>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1"/>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10"/>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barn(inVertical)">
                                      <p:cBhvr>
                                        <p:cTn id="32" dur="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nodeType="clickEffect">
                                  <p:stCondLst>
                                    <p:cond delay="0"/>
                                  </p:stCondLst>
                                  <p:childTnLst>
                                    <p:set>
                                      <p:cBhvr>
                                        <p:cTn id="36" dur="1" fill="hold">
                                          <p:stCondLst>
                                            <p:cond delay="0"/>
                                          </p:stCondLst>
                                        </p:cTn>
                                        <p:tgtEl>
                                          <p:spTgt spid="3">
                                            <p:txEl>
                                              <p:pRg st="1" end="1"/>
                                            </p:txEl>
                                          </p:spTgt>
                                        </p:tgtEl>
                                        <p:attrNameLst>
                                          <p:attrName>style.visibility</p:attrName>
                                        </p:attrNameLst>
                                      </p:cBhvr>
                                      <p:to>
                                        <p:strVal val="visible"/>
                                      </p:to>
                                    </p:set>
                                    <p:animEffect transition="in" filter="fade">
                                      <p:cBhvr>
                                        <p:cTn id="37" dur="1000"/>
                                        <p:tgtEl>
                                          <p:spTgt spid="3">
                                            <p:txEl>
                                              <p:pRg st="1" end="1"/>
                                            </p:txEl>
                                          </p:spTgt>
                                        </p:tgtEl>
                                      </p:cBhvr>
                                    </p:animEffect>
                                    <p:anim calcmode="lin" valueType="num">
                                      <p:cBhvr>
                                        <p:cTn id="3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3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42" presetClass="entr" presetSubtype="0" fill="hold" nodeType="clickEffect">
                                  <p:stCondLst>
                                    <p:cond delay="0"/>
                                  </p:stCondLst>
                                  <p:childTnLst>
                                    <p:set>
                                      <p:cBhvr>
                                        <p:cTn id="43" dur="1" fill="hold">
                                          <p:stCondLst>
                                            <p:cond delay="0"/>
                                          </p:stCondLst>
                                        </p:cTn>
                                        <p:tgtEl>
                                          <p:spTgt spid="3">
                                            <p:txEl>
                                              <p:pRg st="2" end="2"/>
                                            </p:txEl>
                                          </p:spTgt>
                                        </p:tgtEl>
                                        <p:attrNameLst>
                                          <p:attrName>style.visibility</p:attrName>
                                        </p:attrNameLst>
                                      </p:cBhvr>
                                      <p:to>
                                        <p:strVal val="visible"/>
                                      </p:to>
                                    </p:set>
                                    <p:animEffect transition="in" filter="fade">
                                      <p:cBhvr>
                                        <p:cTn id="44" dur="1000"/>
                                        <p:tgtEl>
                                          <p:spTgt spid="3">
                                            <p:txEl>
                                              <p:pRg st="2" end="2"/>
                                            </p:txEl>
                                          </p:spTgt>
                                        </p:tgtEl>
                                      </p:cBhvr>
                                    </p:animEffect>
                                    <p:anim calcmode="lin" valueType="num">
                                      <p:cBhvr>
                                        <p:cTn id="4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4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nodeType="clickEffect">
                                  <p:stCondLst>
                                    <p:cond delay="0"/>
                                  </p:stCondLst>
                                  <p:childTnLst>
                                    <p:set>
                                      <p:cBhvr>
                                        <p:cTn id="50" dur="1" fill="hold">
                                          <p:stCondLst>
                                            <p:cond delay="0"/>
                                          </p:stCondLst>
                                        </p:cTn>
                                        <p:tgtEl>
                                          <p:spTgt spid="3">
                                            <p:txEl>
                                              <p:pRg st="3" end="3"/>
                                            </p:txEl>
                                          </p:spTgt>
                                        </p:tgtEl>
                                        <p:attrNameLst>
                                          <p:attrName>style.visibility</p:attrName>
                                        </p:attrNameLst>
                                      </p:cBhvr>
                                      <p:to>
                                        <p:strVal val="visible"/>
                                      </p:to>
                                    </p:set>
                                    <p:animEffect transition="in" filter="fade">
                                      <p:cBhvr>
                                        <p:cTn id="51" dur="1000"/>
                                        <p:tgtEl>
                                          <p:spTgt spid="3">
                                            <p:txEl>
                                              <p:pRg st="3" end="3"/>
                                            </p:txEl>
                                          </p:spTgt>
                                        </p:tgtEl>
                                      </p:cBhvr>
                                    </p:animEffect>
                                    <p:anim calcmode="lin" valueType="num">
                                      <p:cBhvr>
                                        <p:cTn id="52"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53"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H" dirty="0" smtClean="0"/>
              <a:t>Sortie temporaire du </a:t>
            </a:r>
            <a:r>
              <a:rPr lang="fr-CH" dirty="0"/>
              <a:t>‎territoire de l’Union </a:t>
            </a:r>
            <a:endParaRPr lang="en-US" dirty="0"/>
          </a:p>
        </p:txBody>
      </p:sp>
      <p:sp>
        <p:nvSpPr>
          <p:cNvPr id="3" name="Content Placeholder 2"/>
          <p:cNvSpPr>
            <a:spLocks noGrp="1"/>
          </p:cNvSpPr>
          <p:nvPr>
            <p:ph idx="1"/>
          </p:nvPr>
        </p:nvSpPr>
        <p:spPr/>
        <p:txBody>
          <a:bodyPr>
            <a:normAutofit/>
          </a:bodyPr>
          <a:lstStyle/>
          <a:p>
            <a:pPr marL="0" indent="0">
              <a:buNone/>
            </a:pPr>
            <a:endParaRPr lang="fr-CH" sz="2000" dirty="0"/>
          </a:p>
          <a:p>
            <a:r>
              <a:rPr lang="fr-CH" sz="2000" dirty="0"/>
              <a:t>les marchandises qui ont été transportées d’un point à l’autre du territoire douanier de l’Union ‎avec passage par un territoire situé hors du territoire douanier de </a:t>
            </a:r>
            <a:r>
              <a:rPr lang="fr-CH" sz="2000" dirty="0" smtClean="0"/>
              <a:t>l’Union</a:t>
            </a:r>
          </a:p>
          <a:p>
            <a:pPr marL="0" indent="0">
              <a:buNone/>
            </a:pPr>
            <a:r>
              <a:rPr lang="fr-CH" sz="2000" dirty="0" smtClean="0"/>
              <a:t> 	- sans </a:t>
            </a:r>
            <a:r>
              <a:rPr lang="fr-CH" sz="2000" dirty="0"/>
              <a:t>être ‎transbordées, </a:t>
            </a:r>
            <a:endParaRPr lang="fr-CH" sz="2000" dirty="0" smtClean="0"/>
          </a:p>
          <a:p>
            <a:pPr marL="0" indent="0">
              <a:buNone/>
            </a:pPr>
            <a:r>
              <a:rPr lang="fr-CH" sz="2000" dirty="0" smtClean="0"/>
              <a:t>	- et </a:t>
            </a:r>
            <a:r>
              <a:rPr lang="fr-CH" sz="2000" dirty="0"/>
              <a:t>qui sont acheminées sous le couvert d’un document de transport unique ‎délivré dans </a:t>
            </a:r>
            <a:r>
              <a:rPr lang="fr-CH" sz="2000" dirty="0" smtClean="0"/>
              <a:t>	  un État </a:t>
            </a:r>
            <a:r>
              <a:rPr lang="fr-CH" sz="2000" dirty="0"/>
              <a:t>membre; </a:t>
            </a:r>
            <a:endParaRPr lang="fr-CH" sz="2000" dirty="0" smtClean="0"/>
          </a:p>
          <a:p>
            <a:r>
              <a:rPr lang="fr-CH" sz="2000" b="1" dirty="0" smtClean="0"/>
              <a:t>Condition</a:t>
            </a:r>
            <a:r>
              <a:rPr lang="fr-CH" sz="2000" dirty="0"/>
              <a:t>: le statut douanier ‎doit être prouvé au moment de retour. </a:t>
            </a:r>
            <a:endParaRPr lang="fr-CH" sz="2000" dirty="0" smtClean="0"/>
          </a:p>
          <a:p>
            <a:pPr marL="0" indent="0">
              <a:buNone/>
            </a:pPr>
            <a:r>
              <a:rPr lang="fr-CH" sz="2000" dirty="0" smtClean="0"/>
              <a:t>	 (données </a:t>
            </a:r>
            <a:r>
              <a:rPr lang="fr-CH" sz="2000" dirty="0"/>
              <a:t>de la déclaration de </a:t>
            </a:r>
            <a:r>
              <a:rPr lang="fr-CH" sz="2000" dirty="0" smtClean="0"/>
              <a:t>transit)</a:t>
            </a:r>
            <a:endParaRPr lang="fr-CH" sz="2000" dirty="0"/>
          </a:p>
          <a:p>
            <a:endParaRPr lang="en-US" sz="2000" dirty="0"/>
          </a:p>
        </p:txBody>
      </p:sp>
      <p:sp>
        <p:nvSpPr>
          <p:cNvPr id="4" name="Slide Number Placeholder 3"/>
          <p:cNvSpPr>
            <a:spLocks noGrp="1"/>
          </p:cNvSpPr>
          <p:nvPr>
            <p:ph type="sldNum" sz="quarter" idx="12"/>
          </p:nvPr>
        </p:nvSpPr>
        <p:spPr/>
        <p:txBody>
          <a:bodyPr/>
          <a:lstStyle/>
          <a:p>
            <a:fld id="{C58F520E-0D3C-4C73-96DF-B271C0F692B0}" type="slidenum">
              <a:rPr lang="lb-LU" smtClean="0"/>
              <a:t>24</a:t>
            </a:fld>
            <a:endParaRPr lang="lb-LU"/>
          </a:p>
        </p:txBody>
      </p:sp>
      <p:pic>
        <p:nvPicPr>
          <p:cNvPr id="5" name="Picture 4"/>
          <p:cNvPicPr>
            <a:picLocks noChangeAspect="1"/>
          </p:cNvPicPr>
          <p:nvPr/>
        </p:nvPicPr>
        <p:blipFill>
          <a:blip r:embed="rId2"/>
          <a:stretch>
            <a:fillRect/>
          </a:stretch>
        </p:blipFill>
        <p:spPr>
          <a:xfrm>
            <a:off x="5927651" y="4876408"/>
            <a:ext cx="2328874" cy="987638"/>
          </a:xfrm>
          <a:prstGeom prst="rect">
            <a:avLst/>
          </a:prstGeom>
        </p:spPr>
      </p:pic>
      <p:pic>
        <p:nvPicPr>
          <p:cNvPr id="6" name="Picture 5"/>
          <p:cNvPicPr>
            <a:picLocks noChangeAspect="1"/>
          </p:cNvPicPr>
          <p:nvPr/>
        </p:nvPicPr>
        <p:blipFill>
          <a:blip r:embed="rId2"/>
          <a:stretch>
            <a:fillRect/>
          </a:stretch>
        </p:blipFill>
        <p:spPr>
          <a:xfrm>
            <a:off x="1245287" y="5683144"/>
            <a:ext cx="2328874" cy="987638"/>
          </a:xfrm>
          <a:prstGeom prst="rect">
            <a:avLst/>
          </a:prstGeom>
        </p:spPr>
      </p:pic>
      <p:pic>
        <p:nvPicPr>
          <p:cNvPr id="9" name="Picture 8" descr="Flag Of France Free Stock Photo - Public Domain Pictures"/>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94501" y="5870675"/>
            <a:ext cx="830446" cy="553198"/>
          </a:xfrm>
          <a:prstGeom prst="rect">
            <a:avLst/>
          </a:prstGeom>
        </p:spPr>
      </p:pic>
      <p:pic>
        <p:nvPicPr>
          <p:cNvPr id="10" name="Picture 9" descr="Flag of Switzerland - Wikipedia"/>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588533" y="4985702"/>
            <a:ext cx="1000994" cy="1000994"/>
          </a:xfrm>
          <a:prstGeom prst="rect">
            <a:avLst/>
          </a:prstGeom>
        </p:spPr>
      </p:pic>
      <p:pic>
        <p:nvPicPr>
          <p:cNvPr id="11" name="Picture 10" descr="File:Flag of Austria (WFB).svg - Wikimedia Commons"/>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665959" y="5100096"/>
            <a:ext cx="852258" cy="567950"/>
          </a:xfrm>
          <a:prstGeom prst="rect">
            <a:avLst/>
          </a:prstGeom>
        </p:spPr>
      </p:pic>
      <p:pic>
        <p:nvPicPr>
          <p:cNvPr id="12" name="Picture 11" descr="Camión Gastos De Envío · Gráficos vectoriales gratis en Pixabay"/>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627711" y="5282739"/>
            <a:ext cx="1623692" cy="1097684"/>
          </a:xfrm>
          <a:prstGeom prst="rect">
            <a:avLst/>
          </a:prstGeom>
        </p:spPr>
      </p:pic>
      <p:sp>
        <p:nvSpPr>
          <p:cNvPr id="13" name="Rectangle 12"/>
          <p:cNvSpPr/>
          <p:nvPr/>
        </p:nvSpPr>
        <p:spPr>
          <a:xfrm>
            <a:off x="3837300" y="5386592"/>
            <a:ext cx="541645" cy="3995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t>T2</a:t>
            </a:r>
            <a:endParaRPr lang="en-US" dirty="0"/>
          </a:p>
        </p:txBody>
      </p:sp>
    </p:spTree>
    <p:extLst>
      <p:ext uri="{BB962C8B-B14F-4D97-AF65-F5344CB8AC3E}">
        <p14:creationId xmlns:p14="http://schemas.microsoft.com/office/powerpoint/2010/main" val="3448767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1" end="1"/>
                                            </p:txEl>
                                          </p:spTgt>
                                        </p:tgtEl>
                                        <p:attrNameLst>
                                          <p:attrName>style.visibility</p:attrName>
                                        </p:attrNameLst>
                                      </p:cBhvr>
                                      <p:to>
                                        <p:strVal val="visible"/>
                                      </p:to>
                                    </p:set>
                                    <p:animEffect transition="in" filter="fade">
                                      <p:cBhvr>
                                        <p:cTn id="35" dur="1000"/>
                                        <p:tgtEl>
                                          <p:spTgt spid="3">
                                            <p:txEl>
                                              <p:pRg st="1" end="1"/>
                                            </p:txEl>
                                          </p:spTgt>
                                        </p:tgtEl>
                                      </p:cBhvr>
                                    </p:animEffect>
                                    <p:anim calcmode="lin" valueType="num">
                                      <p:cBhvr>
                                        <p:cTn id="36"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2" end="2"/>
                                            </p:txEl>
                                          </p:spTgt>
                                        </p:tgtEl>
                                        <p:attrNameLst>
                                          <p:attrName>style.visibility</p:attrName>
                                        </p:attrNameLst>
                                      </p:cBhvr>
                                      <p:to>
                                        <p:strVal val="visible"/>
                                      </p:to>
                                    </p:set>
                                    <p:animEffect transition="in" filter="fade">
                                      <p:cBhvr>
                                        <p:cTn id="42" dur="1000"/>
                                        <p:tgtEl>
                                          <p:spTgt spid="3">
                                            <p:txEl>
                                              <p:pRg st="2" end="2"/>
                                            </p:txEl>
                                          </p:spTgt>
                                        </p:tgtEl>
                                      </p:cBhvr>
                                    </p:animEffect>
                                    <p:anim calcmode="lin" valueType="num">
                                      <p:cBhvr>
                                        <p:cTn id="43"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3">
                                            <p:txEl>
                                              <p:pRg st="3" end="3"/>
                                            </p:txEl>
                                          </p:spTgt>
                                        </p:tgtEl>
                                        <p:attrNameLst>
                                          <p:attrName>style.visibility</p:attrName>
                                        </p:attrNameLst>
                                      </p:cBhvr>
                                      <p:to>
                                        <p:strVal val="visible"/>
                                      </p:to>
                                    </p:set>
                                    <p:animEffect transition="in" filter="fade">
                                      <p:cBhvr>
                                        <p:cTn id="49" dur="1000"/>
                                        <p:tgtEl>
                                          <p:spTgt spid="3">
                                            <p:txEl>
                                              <p:pRg st="3" end="3"/>
                                            </p:txEl>
                                          </p:spTgt>
                                        </p:tgtEl>
                                      </p:cBhvr>
                                    </p:animEffect>
                                    <p:anim calcmode="lin" valueType="num">
                                      <p:cBhvr>
                                        <p:cTn id="50"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3">
                                            <p:txEl>
                                              <p:pRg st="4" end="4"/>
                                            </p:txEl>
                                          </p:spTgt>
                                        </p:tgtEl>
                                        <p:attrNameLst>
                                          <p:attrName>style.visibility</p:attrName>
                                        </p:attrNameLst>
                                      </p:cBhvr>
                                      <p:to>
                                        <p:strVal val="visible"/>
                                      </p:to>
                                    </p:set>
                                    <p:animEffect transition="in" filter="fade">
                                      <p:cBhvr>
                                        <p:cTn id="56" dur="1000"/>
                                        <p:tgtEl>
                                          <p:spTgt spid="3">
                                            <p:txEl>
                                              <p:pRg st="4" end="4"/>
                                            </p:txEl>
                                          </p:spTgt>
                                        </p:tgtEl>
                                      </p:cBhvr>
                                    </p:animEffect>
                                    <p:anim calcmode="lin" valueType="num">
                                      <p:cBhvr>
                                        <p:cTn id="57"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3">
                                            <p:txEl>
                                              <p:pRg st="5" end="5"/>
                                            </p:txEl>
                                          </p:spTgt>
                                        </p:tgtEl>
                                        <p:attrNameLst>
                                          <p:attrName>style.visibility</p:attrName>
                                        </p:attrNameLst>
                                      </p:cBhvr>
                                      <p:to>
                                        <p:strVal val="visible"/>
                                      </p:to>
                                    </p:set>
                                    <p:animEffect transition="in" filter="fade">
                                      <p:cBhvr>
                                        <p:cTn id="63" dur="1000"/>
                                        <p:tgtEl>
                                          <p:spTgt spid="3">
                                            <p:txEl>
                                              <p:pRg st="5" end="5"/>
                                            </p:txEl>
                                          </p:spTgt>
                                        </p:tgtEl>
                                      </p:cBhvr>
                                    </p:animEffect>
                                    <p:anim calcmode="lin" valueType="num">
                                      <p:cBhvr>
                                        <p:cTn id="64"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H" dirty="0" smtClean="0"/>
              <a:t>Sortie temporaire du </a:t>
            </a:r>
            <a:r>
              <a:rPr lang="fr-CH" dirty="0"/>
              <a:t>‎territoire de l’Union </a:t>
            </a:r>
            <a:endParaRPr lang="en-US" dirty="0"/>
          </a:p>
        </p:txBody>
      </p:sp>
      <p:sp>
        <p:nvSpPr>
          <p:cNvPr id="3" name="Content Placeholder 2"/>
          <p:cNvSpPr>
            <a:spLocks noGrp="1"/>
          </p:cNvSpPr>
          <p:nvPr>
            <p:ph idx="1"/>
          </p:nvPr>
        </p:nvSpPr>
        <p:spPr>
          <a:xfrm>
            <a:off x="838200" y="1722636"/>
            <a:ext cx="10515600" cy="4799461"/>
          </a:xfrm>
        </p:spPr>
        <p:txBody>
          <a:bodyPr>
            <a:normAutofit/>
          </a:bodyPr>
          <a:lstStyle/>
          <a:p>
            <a:r>
              <a:rPr lang="fr-CH" sz="2000" dirty="0" smtClean="0"/>
              <a:t>les </a:t>
            </a:r>
            <a:r>
              <a:rPr lang="fr-CH" sz="2000" dirty="0"/>
              <a:t>marchandises qui ont été transportées d’un point à l’autre du territoire douanier de l’Union ‎avec passage par un territoire situé hors du territoire douanier de l’Union et </a:t>
            </a:r>
            <a:endParaRPr lang="fr-CH" sz="2000" dirty="0" smtClean="0"/>
          </a:p>
          <a:p>
            <a:pPr marL="0" indent="0">
              <a:buNone/>
            </a:pPr>
            <a:r>
              <a:rPr lang="fr-CH" sz="2000" dirty="0"/>
              <a:t>	</a:t>
            </a:r>
            <a:r>
              <a:rPr lang="fr-CH" sz="2000" dirty="0" smtClean="0"/>
              <a:t>- qui </a:t>
            </a:r>
            <a:r>
              <a:rPr lang="fr-CH" sz="2000" dirty="0"/>
              <a:t>ont été ‎transbordées hors du territoire douanier de l’Union sur un moyen de </a:t>
            </a:r>
            <a:r>
              <a:rPr lang="fr-CH" sz="2000" dirty="0" smtClean="0"/>
              <a:t>	  	transport </a:t>
            </a:r>
            <a:r>
              <a:rPr lang="fr-CH" sz="2000" dirty="0"/>
              <a:t>autre que celui ‎à bord duquel elles avaient été initialement chargées </a:t>
            </a:r>
            <a:endParaRPr lang="fr-CH" sz="2000" dirty="0" smtClean="0"/>
          </a:p>
          <a:p>
            <a:pPr marL="0" indent="0">
              <a:buNone/>
            </a:pPr>
            <a:r>
              <a:rPr lang="fr-CH" sz="2000" dirty="0"/>
              <a:t>	</a:t>
            </a:r>
            <a:r>
              <a:rPr lang="fr-CH" sz="2000" dirty="0" smtClean="0"/>
              <a:t>- avec délivrance </a:t>
            </a:r>
            <a:r>
              <a:rPr lang="fr-CH" sz="2000" dirty="0"/>
              <a:t>d’un nouveau document ‎de transport, couvrant le transport depuis le </a:t>
            </a:r>
            <a:r>
              <a:rPr lang="fr-CH" sz="2000" dirty="0" smtClean="0"/>
              <a:t>	territoire </a:t>
            </a:r>
            <a:r>
              <a:rPr lang="fr-CH" sz="2000" dirty="0"/>
              <a:t>situé hors du territoire douanier de ‎l’Union, </a:t>
            </a:r>
            <a:endParaRPr lang="fr-CH" sz="2000" dirty="0" smtClean="0"/>
          </a:p>
          <a:p>
            <a:pPr marL="0" indent="0">
              <a:buNone/>
            </a:pPr>
            <a:r>
              <a:rPr lang="fr-CH" sz="2000" dirty="0"/>
              <a:t>	</a:t>
            </a:r>
            <a:r>
              <a:rPr lang="fr-CH" sz="2000" dirty="0" smtClean="0"/>
              <a:t>- à </a:t>
            </a:r>
            <a:r>
              <a:rPr lang="fr-CH" sz="2000" dirty="0"/>
              <a:t>condition que le nouveau document soit accompagné d’une copie du document </a:t>
            </a:r>
            <a:r>
              <a:rPr lang="fr-CH" sz="2000" dirty="0" smtClean="0"/>
              <a:t>	de </a:t>
            </a:r>
            <a:r>
              <a:rPr lang="fr-CH" sz="2000" dirty="0"/>
              <a:t>‎transport unique original; </a:t>
            </a:r>
            <a:endParaRPr lang="fr-CH" sz="2000" dirty="0" smtClean="0"/>
          </a:p>
          <a:p>
            <a:r>
              <a:rPr lang="fr-CH" sz="2000" dirty="0" smtClean="0"/>
              <a:t>‎</a:t>
            </a:r>
            <a:r>
              <a:rPr lang="fr-CH" sz="2000" b="1" dirty="0"/>
              <a:t>Condition</a:t>
            </a:r>
            <a:r>
              <a:rPr lang="fr-CH" sz="2000" dirty="0"/>
              <a:t>: le statut douanier ‎doit être prouvé au moment de retour. </a:t>
            </a:r>
            <a:endParaRPr lang="fr-CH" sz="2000" dirty="0" smtClean="0"/>
          </a:p>
          <a:p>
            <a:pPr marL="0" indent="0">
              <a:buNone/>
            </a:pPr>
            <a:r>
              <a:rPr lang="fr-CH" sz="2000" dirty="0" smtClean="0"/>
              <a:t>	 </a:t>
            </a:r>
            <a:r>
              <a:rPr lang="fr-CH" sz="2000" dirty="0"/>
              <a:t>(données de la déclaration de transit)</a:t>
            </a:r>
          </a:p>
          <a:p>
            <a:endParaRPr lang="fr-CH" sz="2000" dirty="0"/>
          </a:p>
          <a:p>
            <a:endParaRPr lang="fr-CH" sz="2000" dirty="0"/>
          </a:p>
        </p:txBody>
      </p:sp>
      <p:sp>
        <p:nvSpPr>
          <p:cNvPr id="4" name="Slide Number Placeholder 3"/>
          <p:cNvSpPr>
            <a:spLocks noGrp="1"/>
          </p:cNvSpPr>
          <p:nvPr>
            <p:ph type="sldNum" sz="quarter" idx="12"/>
          </p:nvPr>
        </p:nvSpPr>
        <p:spPr/>
        <p:txBody>
          <a:bodyPr/>
          <a:lstStyle/>
          <a:p>
            <a:fld id="{C58F520E-0D3C-4C73-96DF-B271C0F692B0}" type="slidenum">
              <a:rPr lang="lb-LU" smtClean="0"/>
              <a:t>25</a:t>
            </a:fld>
            <a:endParaRPr lang="lb-LU"/>
          </a:p>
        </p:txBody>
      </p:sp>
      <p:pic>
        <p:nvPicPr>
          <p:cNvPr id="5" name="Picture 4"/>
          <p:cNvPicPr>
            <a:picLocks noChangeAspect="1"/>
          </p:cNvPicPr>
          <p:nvPr/>
        </p:nvPicPr>
        <p:blipFill>
          <a:blip r:embed="rId2"/>
          <a:stretch>
            <a:fillRect/>
          </a:stretch>
        </p:blipFill>
        <p:spPr>
          <a:xfrm>
            <a:off x="6935607" y="5331086"/>
            <a:ext cx="2328874" cy="987638"/>
          </a:xfrm>
          <a:prstGeom prst="rect">
            <a:avLst/>
          </a:prstGeom>
        </p:spPr>
      </p:pic>
      <p:pic>
        <p:nvPicPr>
          <p:cNvPr id="6" name="Picture 5"/>
          <p:cNvPicPr>
            <a:picLocks noChangeAspect="1"/>
          </p:cNvPicPr>
          <p:nvPr/>
        </p:nvPicPr>
        <p:blipFill>
          <a:blip r:embed="rId2"/>
          <a:stretch>
            <a:fillRect/>
          </a:stretch>
        </p:blipFill>
        <p:spPr>
          <a:xfrm>
            <a:off x="693678" y="5372570"/>
            <a:ext cx="2328874" cy="987638"/>
          </a:xfrm>
          <a:prstGeom prst="rect">
            <a:avLst/>
          </a:prstGeom>
        </p:spPr>
      </p:pic>
      <p:pic>
        <p:nvPicPr>
          <p:cNvPr id="9" name="Picture 8" descr="Flag Of France Free Stock Photo - Public Domain Pictures"/>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87283" y="5611356"/>
            <a:ext cx="830446" cy="553198"/>
          </a:xfrm>
          <a:prstGeom prst="rect">
            <a:avLst/>
          </a:prstGeom>
        </p:spPr>
      </p:pic>
      <p:pic>
        <p:nvPicPr>
          <p:cNvPr id="10" name="Picture 9" descr="Flag of Switzerland - Wikipedia"/>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521151" y="5317730"/>
            <a:ext cx="1000994" cy="1000994"/>
          </a:xfrm>
          <a:prstGeom prst="rect">
            <a:avLst/>
          </a:prstGeom>
        </p:spPr>
      </p:pic>
      <p:pic>
        <p:nvPicPr>
          <p:cNvPr id="11" name="Picture 10" descr="File:Flag of Austria (WFB).svg - Wikimedia Commons"/>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696465" y="5485907"/>
            <a:ext cx="852258" cy="567950"/>
          </a:xfrm>
          <a:prstGeom prst="rect">
            <a:avLst/>
          </a:prstGeom>
        </p:spPr>
      </p:pic>
      <p:pic>
        <p:nvPicPr>
          <p:cNvPr id="12" name="Picture 11" descr="Camión Gastos De Envío · Gráficos vectoriales gratis en Pixabay"/>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159794" y="5221040"/>
            <a:ext cx="1623692" cy="1097684"/>
          </a:xfrm>
          <a:prstGeom prst="rect">
            <a:avLst/>
          </a:prstGeom>
        </p:spPr>
      </p:pic>
      <p:sp>
        <p:nvSpPr>
          <p:cNvPr id="13" name="Rectangle 12"/>
          <p:cNvSpPr/>
          <p:nvPr/>
        </p:nvSpPr>
        <p:spPr>
          <a:xfrm>
            <a:off x="3434279" y="5370285"/>
            <a:ext cx="541645" cy="3995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t>T2</a:t>
            </a:r>
            <a:endParaRPr lang="en-US" dirty="0"/>
          </a:p>
        </p:txBody>
      </p:sp>
      <p:pic>
        <p:nvPicPr>
          <p:cNvPr id="15" name="Picture 14" descr="File:Linecons small-truck.svg - Wikimedia Commons"/>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440549" y="5221040"/>
            <a:ext cx="1248896" cy="1248896"/>
          </a:xfrm>
          <a:prstGeom prst="rect">
            <a:avLst/>
          </a:prstGeom>
        </p:spPr>
      </p:pic>
      <p:sp>
        <p:nvSpPr>
          <p:cNvPr id="16" name="Rectangle 15"/>
          <p:cNvSpPr/>
          <p:nvPr/>
        </p:nvSpPr>
        <p:spPr>
          <a:xfrm>
            <a:off x="5699080" y="5550045"/>
            <a:ext cx="418771" cy="31634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t>T2</a:t>
            </a:r>
            <a:endParaRPr lang="en-US" dirty="0"/>
          </a:p>
        </p:txBody>
      </p:sp>
    </p:spTree>
    <p:extLst>
      <p:ext uri="{BB962C8B-B14F-4D97-AF65-F5344CB8AC3E}">
        <p14:creationId xmlns:p14="http://schemas.microsoft.com/office/powerpoint/2010/main" val="2179864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nodeType="clickEffect">
                                  <p:stCondLst>
                                    <p:cond delay="0"/>
                                  </p:stCondLst>
                                  <p:childTnLst>
                                    <p:set>
                                      <p:cBhvr>
                                        <p:cTn id="42" dur="1" fill="hold">
                                          <p:stCondLst>
                                            <p:cond delay="0"/>
                                          </p:stCondLst>
                                        </p:cTn>
                                        <p:tgtEl>
                                          <p:spTgt spid="3">
                                            <p:txEl>
                                              <p:pRg st="0" end="0"/>
                                            </p:txEl>
                                          </p:spTgt>
                                        </p:tgtEl>
                                        <p:attrNameLst>
                                          <p:attrName>style.visibility</p:attrName>
                                        </p:attrNameLst>
                                      </p:cBhvr>
                                      <p:to>
                                        <p:strVal val="visible"/>
                                      </p:to>
                                    </p:set>
                                    <p:animEffect transition="in" filter="fade">
                                      <p:cBhvr>
                                        <p:cTn id="43" dur="1000"/>
                                        <p:tgtEl>
                                          <p:spTgt spid="3">
                                            <p:txEl>
                                              <p:pRg st="0" end="0"/>
                                            </p:txEl>
                                          </p:spTgt>
                                        </p:tgtEl>
                                      </p:cBhvr>
                                    </p:animEffect>
                                    <p:anim calcmode="lin" valueType="num">
                                      <p:cBhvr>
                                        <p:cTn id="44"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45"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42" presetClass="entr" presetSubtype="0" fill="hold" nodeType="clickEffect">
                                  <p:stCondLst>
                                    <p:cond delay="0"/>
                                  </p:stCondLst>
                                  <p:childTnLst>
                                    <p:set>
                                      <p:cBhvr>
                                        <p:cTn id="49" dur="1" fill="hold">
                                          <p:stCondLst>
                                            <p:cond delay="0"/>
                                          </p:stCondLst>
                                        </p:cTn>
                                        <p:tgtEl>
                                          <p:spTgt spid="3">
                                            <p:txEl>
                                              <p:pRg st="1" end="1"/>
                                            </p:txEl>
                                          </p:spTgt>
                                        </p:tgtEl>
                                        <p:attrNameLst>
                                          <p:attrName>style.visibility</p:attrName>
                                        </p:attrNameLst>
                                      </p:cBhvr>
                                      <p:to>
                                        <p:strVal val="visible"/>
                                      </p:to>
                                    </p:set>
                                    <p:animEffect transition="in" filter="fade">
                                      <p:cBhvr>
                                        <p:cTn id="50" dur="1000"/>
                                        <p:tgtEl>
                                          <p:spTgt spid="3">
                                            <p:txEl>
                                              <p:pRg st="1" end="1"/>
                                            </p:txEl>
                                          </p:spTgt>
                                        </p:tgtEl>
                                      </p:cBhvr>
                                    </p:animEffect>
                                    <p:anim calcmode="lin" valueType="num">
                                      <p:cBhvr>
                                        <p:cTn id="51"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52"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42" presetClass="entr" presetSubtype="0" fill="hold" nodeType="clickEffect">
                                  <p:stCondLst>
                                    <p:cond delay="0"/>
                                  </p:stCondLst>
                                  <p:childTnLst>
                                    <p:set>
                                      <p:cBhvr>
                                        <p:cTn id="56" dur="1" fill="hold">
                                          <p:stCondLst>
                                            <p:cond delay="0"/>
                                          </p:stCondLst>
                                        </p:cTn>
                                        <p:tgtEl>
                                          <p:spTgt spid="3">
                                            <p:txEl>
                                              <p:pRg st="2" end="2"/>
                                            </p:txEl>
                                          </p:spTgt>
                                        </p:tgtEl>
                                        <p:attrNameLst>
                                          <p:attrName>style.visibility</p:attrName>
                                        </p:attrNameLst>
                                      </p:cBhvr>
                                      <p:to>
                                        <p:strVal val="visible"/>
                                      </p:to>
                                    </p:set>
                                    <p:animEffect transition="in" filter="fade">
                                      <p:cBhvr>
                                        <p:cTn id="57" dur="1000"/>
                                        <p:tgtEl>
                                          <p:spTgt spid="3">
                                            <p:txEl>
                                              <p:pRg st="2" end="2"/>
                                            </p:txEl>
                                          </p:spTgt>
                                        </p:tgtEl>
                                      </p:cBhvr>
                                    </p:animEffect>
                                    <p:anim calcmode="lin" valueType="num">
                                      <p:cBhvr>
                                        <p:cTn id="5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5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42" presetClass="entr" presetSubtype="0" fill="hold" nodeType="clickEffect">
                                  <p:stCondLst>
                                    <p:cond delay="0"/>
                                  </p:stCondLst>
                                  <p:childTnLst>
                                    <p:set>
                                      <p:cBhvr>
                                        <p:cTn id="63" dur="1" fill="hold">
                                          <p:stCondLst>
                                            <p:cond delay="0"/>
                                          </p:stCondLst>
                                        </p:cTn>
                                        <p:tgtEl>
                                          <p:spTgt spid="3">
                                            <p:txEl>
                                              <p:pRg st="3" end="3"/>
                                            </p:txEl>
                                          </p:spTgt>
                                        </p:tgtEl>
                                        <p:attrNameLst>
                                          <p:attrName>style.visibility</p:attrName>
                                        </p:attrNameLst>
                                      </p:cBhvr>
                                      <p:to>
                                        <p:strVal val="visible"/>
                                      </p:to>
                                    </p:set>
                                    <p:animEffect transition="in" filter="fade">
                                      <p:cBhvr>
                                        <p:cTn id="64" dur="1000"/>
                                        <p:tgtEl>
                                          <p:spTgt spid="3">
                                            <p:txEl>
                                              <p:pRg st="3" end="3"/>
                                            </p:txEl>
                                          </p:spTgt>
                                        </p:tgtEl>
                                      </p:cBhvr>
                                    </p:animEffect>
                                    <p:anim calcmode="lin" valueType="num">
                                      <p:cBhvr>
                                        <p:cTn id="6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6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26" presetClass="entr" presetSubtype="0" fill="hold" nodeType="clickEffect">
                                  <p:stCondLst>
                                    <p:cond delay="0"/>
                                  </p:stCondLst>
                                  <p:childTnLst>
                                    <p:set>
                                      <p:cBhvr>
                                        <p:cTn id="70" dur="1" fill="hold">
                                          <p:stCondLst>
                                            <p:cond delay="0"/>
                                          </p:stCondLst>
                                        </p:cTn>
                                        <p:tgtEl>
                                          <p:spTgt spid="3">
                                            <p:txEl>
                                              <p:pRg st="4" end="4"/>
                                            </p:txEl>
                                          </p:spTgt>
                                        </p:tgtEl>
                                        <p:attrNameLst>
                                          <p:attrName>style.visibility</p:attrName>
                                        </p:attrNameLst>
                                      </p:cBhvr>
                                      <p:to>
                                        <p:strVal val="visible"/>
                                      </p:to>
                                    </p:set>
                                    <p:animEffect transition="in" filter="wipe(down)">
                                      <p:cBhvr>
                                        <p:cTn id="71" dur="580">
                                          <p:stCondLst>
                                            <p:cond delay="0"/>
                                          </p:stCondLst>
                                        </p:cTn>
                                        <p:tgtEl>
                                          <p:spTgt spid="3">
                                            <p:txEl>
                                              <p:pRg st="4" end="4"/>
                                            </p:txEl>
                                          </p:spTgt>
                                        </p:tgtEl>
                                      </p:cBhvr>
                                    </p:animEffect>
                                    <p:anim calcmode="lin" valueType="num">
                                      <p:cBhvr>
                                        <p:cTn id="72" dur="1822" tmFilter="0,0; 0.14,0.36; 0.43,0.73; 0.71,0.91; 1.0,1.0">
                                          <p:stCondLst>
                                            <p:cond delay="0"/>
                                          </p:stCondLst>
                                        </p:cTn>
                                        <p:tgtEl>
                                          <p:spTgt spid="3">
                                            <p:txEl>
                                              <p:pRg st="4" end="4"/>
                                            </p:txEl>
                                          </p:spTgt>
                                        </p:tgtEl>
                                        <p:attrNameLst>
                                          <p:attrName>ppt_x</p:attrName>
                                        </p:attrNameLst>
                                      </p:cBhvr>
                                      <p:tavLst>
                                        <p:tav tm="0">
                                          <p:val>
                                            <p:strVal val="#ppt_x-0.25"/>
                                          </p:val>
                                        </p:tav>
                                        <p:tav tm="100000">
                                          <p:val>
                                            <p:strVal val="#ppt_x"/>
                                          </p:val>
                                        </p:tav>
                                      </p:tavLst>
                                    </p:anim>
                                    <p:anim calcmode="lin" valueType="num">
                                      <p:cBhvr>
                                        <p:cTn id="73" dur="664" tmFilter="0.0,0.0; 0.25,0.07; 0.50,0.2; 0.75,0.467; 1.0,1.0">
                                          <p:stCondLst>
                                            <p:cond delay="0"/>
                                          </p:stCondLst>
                                        </p:cTn>
                                        <p:tgtEl>
                                          <p:spTgt spid="3">
                                            <p:txEl>
                                              <p:pRg st="4" end="4"/>
                                            </p:txEl>
                                          </p:spTgt>
                                        </p:tgtEl>
                                        <p:attrNameLst>
                                          <p:attrName>ppt_y</p:attrName>
                                        </p:attrNameLst>
                                      </p:cBhvr>
                                      <p:tavLst>
                                        <p:tav tm="0" fmla="#ppt_y-sin(pi*$)/3">
                                          <p:val>
                                            <p:fltVal val="0.5"/>
                                          </p:val>
                                        </p:tav>
                                        <p:tav tm="100000">
                                          <p:val>
                                            <p:fltVal val="1"/>
                                          </p:val>
                                        </p:tav>
                                      </p:tavLst>
                                    </p:anim>
                                    <p:anim calcmode="lin" valueType="num">
                                      <p:cBhvr>
                                        <p:cTn id="74" dur="664" tmFilter="0, 0; 0.125,0.2665; 0.25,0.4; 0.375,0.465; 0.5,0.5;  0.625,0.535; 0.75,0.6; 0.875,0.7335; 1,1">
                                          <p:stCondLst>
                                            <p:cond delay="664"/>
                                          </p:stCondLst>
                                        </p:cTn>
                                        <p:tgtEl>
                                          <p:spTgt spid="3">
                                            <p:txEl>
                                              <p:pRg st="4" end="4"/>
                                            </p:txEl>
                                          </p:spTgt>
                                        </p:tgtEl>
                                        <p:attrNameLst>
                                          <p:attrName>ppt_y</p:attrName>
                                        </p:attrNameLst>
                                      </p:cBhvr>
                                      <p:tavLst>
                                        <p:tav tm="0" fmla="#ppt_y-sin(pi*$)/9">
                                          <p:val>
                                            <p:fltVal val="0"/>
                                          </p:val>
                                        </p:tav>
                                        <p:tav tm="100000">
                                          <p:val>
                                            <p:fltVal val="1"/>
                                          </p:val>
                                        </p:tav>
                                      </p:tavLst>
                                    </p:anim>
                                    <p:anim calcmode="lin" valueType="num">
                                      <p:cBhvr>
                                        <p:cTn id="75" dur="332" tmFilter="0, 0; 0.125,0.2665; 0.25,0.4; 0.375,0.465; 0.5,0.5;  0.625,0.535; 0.75,0.6; 0.875,0.7335; 1,1">
                                          <p:stCondLst>
                                            <p:cond delay="1324"/>
                                          </p:stCondLst>
                                        </p:cTn>
                                        <p:tgtEl>
                                          <p:spTgt spid="3">
                                            <p:txEl>
                                              <p:pRg st="4" end="4"/>
                                            </p:txEl>
                                          </p:spTgt>
                                        </p:tgtEl>
                                        <p:attrNameLst>
                                          <p:attrName>ppt_y</p:attrName>
                                        </p:attrNameLst>
                                      </p:cBhvr>
                                      <p:tavLst>
                                        <p:tav tm="0" fmla="#ppt_y-sin(pi*$)/27">
                                          <p:val>
                                            <p:fltVal val="0"/>
                                          </p:val>
                                        </p:tav>
                                        <p:tav tm="100000">
                                          <p:val>
                                            <p:fltVal val="1"/>
                                          </p:val>
                                        </p:tav>
                                      </p:tavLst>
                                    </p:anim>
                                    <p:anim calcmode="lin" valueType="num">
                                      <p:cBhvr>
                                        <p:cTn id="76" dur="164" tmFilter="0, 0; 0.125,0.2665; 0.25,0.4; 0.375,0.465; 0.5,0.5;  0.625,0.535; 0.75,0.6; 0.875,0.7335; 1,1">
                                          <p:stCondLst>
                                            <p:cond delay="1656"/>
                                          </p:stCondLst>
                                        </p:cTn>
                                        <p:tgtEl>
                                          <p:spTgt spid="3">
                                            <p:txEl>
                                              <p:pRg st="4" end="4"/>
                                            </p:txEl>
                                          </p:spTgt>
                                        </p:tgtEl>
                                        <p:attrNameLst>
                                          <p:attrName>ppt_y</p:attrName>
                                        </p:attrNameLst>
                                      </p:cBhvr>
                                      <p:tavLst>
                                        <p:tav tm="0" fmla="#ppt_y-sin(pi*$)/81">
                                          <p:val>
                                            <p:fltVal val="0"/>
                                          </p:val>
                                        </p:tav>
                                        <p:tav tm="100000">
                                          <p:val>
                                            <p:fltVal val="1"/>
                                          </p:val>
                                        </p:tav>
                                      </p:tavLst>
                                    </p:anim>
                                    <p:animScale>
                                      <p:cBhvr>
                                        <p:cTn id="77" dur="26">
                                          <p:stCondLst>
                                            <p:cond delay="650"/>
                                          </p:stCondLst>
                                        </p:cTn>
                                        <p:tgtEl>
                                          <p:spTgt spid="3">
                                            <p:txEl>
                                              <p:pRg st="4" end="4"/>
                                            </p:txEl>
                                          </p:spTgt>
                                        </p:tgtEl>
                                      </p:cBhvr>
                                      <p:to x="100000" y="60000"/>
                                    </p:animScale>
                                    <p:animScale>
                                      <p:cBhvr>
                                        <p:cTn id="78" dur="166" decel="50000">
                                          <p:stCondLst>
                                            <p:cond delay="676"/>
                                          </p:stCondLst>
                                        </p:cTn>
                                        <p:tgtEl>
                                          <p:spTgt spid="3">
                                            <p:txEl>
                                              <p:pRg st="4" end="4"/>
                                            </p:txEl>
                                          </p:spTgt>
                                        </p:tgtEl>
                                      </p:cBhvr>
                                      <p:to x="100000" y="100000"/>
                                    </p:animScale>
                                    <p:animScale>
                                      <p:cBhvr>
                                        <p:cTn id="79" dur="26">
                                          <p:stCondLst>
                                            <p:cond delay="1312"/>
                                          </p:stCondLst>
                                        </p:cTn>
                                        <p:tgtEl>
                                          <p:spTgt spid="3">
                                            <p:txEl>
                                              <p:pRg st="4" end="4"/>
                                            </p:txEl>
                                          </p:spTgt>
                                        </p:tgtEl>
                                      </p:cBhvr>
                                      <p:to x="100000" y="80000"/>
                                    </p:animScale>
                                    <p:animScale>
                                      <p:cBhvr>
                                        <p:cTn id="80" dur="166" decel="50000">
                                          <p:stCondLst>
                                            <p:cond delay="1338"/>
                                          </p:stCondLst>
                                        </p:cTn>
                                        <p:tgtEl>
                                          <p:spTgt spid="3">
                                            <p:txEl>
                                              <p:pRg st="4" end="4"/>
                                            </p:txEl>
                                          </p:spTgt>
                                        </p:tgtEl>
                                      </p:cBhvr>
                                      <p:to x="100000" y="100000"/>
                                    </p:animScale>
                                    <p:animScale>
                                      <p:cBhvr>
                                        <p:cTn id="81" dur="26">
                                          <p:stCondLst>
                                            <p:cond delay="1642"/>
                                          </p:stCondLst>
                                        </p:cTn>
                                        <p:tgtEl>
                                          <p:spTgt spid="3">
                                            <p:txEl>
                                              <p:pRg st="4" end="4"/>
                                            </p:txEl>
                                          </p:spTgt>
                                        </p:tgtEl>
                                      </p:cBhvr>
                                      <p:to x="100000" y="90000"/>
                                    </p:animScale>
                                    <p:animScale>
                                      <p:cBhvr>
                                        <p:cTn id="82" dur="166" decel="50000">
                                          <p:stCondLst>
                                            <p:cond delay="1668"/>
                                          </p:stCondLst>
                                        </p:cTn>
                                        <p:tgtEl>
                                          <p:spTgt spid="3">
                                            <p:txEl>
                                              <p:pRg st="4" end="4"/>
                                            </p:txEl>
                                          </p:spTgt>
                                        </p:tgtEl>
                                      </p:cBhvr>
                                      <p:to x="100000" y="100000"/>
                                    </p:animScale>
                                    <p:animScale>
                                      <p:cBhvr>
                                        <p:cTn id="83" dur="26">
                                          <p:stCondLst>
                                            <p:cond delay="1808"/>
                                          </p:stCondLst>
                                        </p:cTn>
                                        <p:tgtEl>
                                          <p:spTgt spid="3">
                                            <p:txEl>
                                              <p:pRg st="4" end="4"/>
                                            </p:txEl>
                                          </p:spTgt>
                                        </p:tgtEl>
                                      </p:cBhvr>
                                      <p:to x="100000" y="95000"/>
                                    </p:animScale>
                                    <p:animScale>
                                      <p:cBhvr>
                                        <p:cTn id="84" dur="166" decel="50000">
                                          <p:stCondLst>
                                            <p:cond delay="1834"/>
                                          </p:stCondLst>
                                        </p:cTn>
                                        <p:tgtEl>
                                          <p:spTgt spid="3">
                                            <p:txEl>
                                              <p:pRg st="4" end="4"/>
                                            </p:txEl>
                                          </p:spTgt>
                                        </p:tgtEl>
                                      </p:cBhvr>
                                      <p:to x="100000" y="100000"/>
                                    </p:animScale>
                                  </p:childTnLst>
                                </p:cTn>
                              </p:par>
                            </p:childTnLst>
                          </p:cTn>
                        </p:par>
                      </p:childTnLst>
                    </p:cTn>
                  </p:par>
                  <p:par>
                    <p:cTn id="85" fill="hold">
                      <p:stCondLst>
                        <p:cond delay="indefinite"/>
                      </p:stCondLst>
                      <p:childTnLst>
                        <p:par>
                          <p:cTn id="86" fill="hold">
                            <p:stCondLst>
                              <p:cond delay="0"/>
                            </p:stCondLst>
                            <p:childTnLst>
                              <p:par>
                                <p:cTn id="87" presetID="26" presetClass="entr" presetSubtype="0" fill="hold" nodeType="clickEffect">
                                  <p:stCondLst>
                                    <p:cond delay="0"/>
                                  </p:stCondLst>
                                  <p:childTnLst>
                                    <p:set>
                                      <p:cBhvr>
                                        <p:cTn id="88" dur="1" fill="hold">
                                          <p:stCondLst>
                                            <p:cond delay="0"/>
                                          </p:stCondLst>
                                        </p:cTn>
                                        <p:tgtEl>
                                          <p:spTgt spid="3">
                                            <p:txEl>
                                              <p:pRg st="5" end="5"/>
                                            </p:txEl>
                                          </p:spTgt>
                                        </p:tgtEl>
                                        <p:attrNameLst>
                                          <p:attrName>style.visibility</p:attrName>
                                        </p:attrNameLst>
                                      </p:cBhvr>
                                      <p:to>
                                        <p:strVal val="visible"/>
                                      </p:to>
                                    </p:set>
                                    <p:animEffect transition="in" filter="wipe(down)">
                                      <p:cBhvr>
                                        <p:cTn id="89" dur="580">
                                          <p:stCondLst>
                                            <p:cond delay="0"/>
                                          </p:stCondLst>
                                        </p:cTn>
                                        <p:tgtEl>
                                          <p:spTgt spid="3">
                                            <p:txEl>
                                              <p:pRg st="5" end="5"/>
                                            </p:txEl>
                                          </p:spTgt>
                                        </p:tgtEl>
                                      </p:cBhvr>
                                    </p:animEffect>
                                    <p:anim calcmode="lin" valueType="num">
                                      <p:cBhvr>
                                        <p:cTn id="90" dur="1822" tmFilter="0,0; 0.14,0.36; 0.43,0.73; 0.71,0.91; 1.0,1.0">
                                          <p:stCondLst>
                                            <p:cond delay="0"/>
                                          </p:stCondLst>
                                        </p:cTn>
                                        <p:tgtEl>
                                          <p:spTgt spid="3">
                                            <p:txEl>
                                              <p:pRg st="5" end="5"/>
                                            </p:txEl>
                                          </p:spTgt>
                                        </p:tgtEl>
                                        <p:attrNameLst>
                                          <p:attrName>ppt_x</p:attrName>
                                        </p:attrNameLst>
                                      </p:cBhvr>
                                      <p:tavLst>
                                        <p:tav tm="0">
                                          <p:val>
                                            <p:strVal val="#ppt_x-0.25"/>
                                          </p:val>
                                        </p:tav>
                                        <p:tav tm="100000">
                                          <p:val>
                                            <p:strVal val="#ppt_x"/>
                                          </p:val>
                                        </p:tav>
                                      </p:tavLst>
                                    </p:anim>
                                    <p:anim calcmode="lin" valueType="num">
                                      <p:cBhvr>
                                        <p:cTn id="91" dur="664" tmFilter="0.0,0.0; 0.25,0.07; 0.50,0.2; 0.75,0.467; 1.0,1.0">
                                          <p:stCondLst>
                                            <p:cond delay="0"/>
                                          </p:stCondLst>
                                        </p:cTn>
                                        <p:tgtEl>
                                          <p:spTgt spid="3">
                                            <p:txEl>
                                              <p:pRg st="5" end="5"/>
                                            </p:txEl>
                                          </p:spTgt>
                                        </p:tgtEl>
                                        <p:attrNameLst>
                                          <p:attrName>ppt_y</p:attrName>
                                        </p:attrNameLst>
                                      </p:cBhvr>
                                      <p:tavLst>
                                        <p:tav tm="0" fmla="#ppt_y-sin(pi*$)/3">
                                          <p:val>
                                            <p:fltVal val="0.5"/>
                                          </p:val>
                                        </p:tav>
                                        <p:tav tm="100000">
                                          <p:val>
                                            <p:fltVal val="1"/>
                                          </p:val>
                                        </p:tav>
                                      </p:tavLst>
                                    </p:anim>
                                    <p:anim calcmode="lin" valueType="num">
                                      <p:cBhvr>
                                        <p:cTn id="92" dur="664" tmFilter="0, 0; 0.125,0.2665; 0.25,0.4; 0.375,0.465; 0.5,0.5;  0.625,0.535; 0.75,0.6; 0.875,0.7335; 1,1">
                                          <p:stCondLst>
                                            <p:cond delay="664"/>
                                          </p:stCondLst>
                                        </p:cTn>
                                        <p:tgtEl>
                                          <p:spTgt spid="3">
                                            <p:txEl>
                                              <p:pRg st="5" end="5"/>
                                            </p:txEl>
                                          </p:spTgt>
                                        </p:tgtEl>
                                        <p:attrNameLst>
                                          <p:attrName>ppt_y</p:attrName>
                                        </p:attrNameLst>
                                      </p:cBhvr>
                                      <p:tavLst>
                                        <p:tav tm="0" fmla="#ppt_y-sin(pi*$)/9">
                                          <p:val>
                                            <p:fltVal val="0"/>
                                          </p:val>
                                        </p:tav>
                                        <p:tav tm="100000">
                                          <p:val>
                                            <p:fltVal val="1"/>
                                          </p:val>
                                        </p:tav>
                                      </p:tavLst>
                                    </p:anim>
                                    <p:anim calcmode="lin" valueType="num">
                                      <p:cBhvr>
                                        <p:cTn id="93" dur="332" tmFilter="0, 0; 0.125,0.2665; 0.25,0.4; 0.375,0.465; 0.5,0.5;  0.625,0.535; 0.75,0.6; 0.875,0.7335; 1,1">
                                          <p:stCondLst>
                                            <p:cond delay="1324"/>
                                          </p:stCondLst>
                                        </p:cTn>
                                        <p:tgtEl>
                                          <p:spTgt spid="3">
                                            <p:txEl>
                                              <p:pRg st="5" end="5"/>
                                            </p:txEl>
                                          </p:spTgt>
                                        </p:tgtEl>
                                        <p:attrNameLst>
                                          <p:attrName>ppt_y</p:attrName>
                                        </p:attrNameLst>
                                      </p:cBhvr>
                                      <p:tavLst>
                                        <p:tav tm="0" fmla="#ppt_y-sin(pi*$)/27">
                                          <p:val>
                                            <p:fltVal val="0"/>
                                          </p:val>
                                        </p:tav>
                                        <p:tav tm="100000">
                                          <p:val>
                                            <p:fltVal val="1"/>
                                          </p:val>
                                        </p:tav>
                                      </p:tavLst>
                                    </p:anim>
                                    <p:anim calcmode="lin" valueType="num">
                                      <p:cBhvr>
                                        <p:cTn id="94" dur="164" tmFilter="0, 0; 0.125,0.2665; 0.25,0.4; 0.375,0.465; 0.5,0.5;  0.625,0.535; 0.75,0.6; 0.875,0.7335; 1,1">
                                          <p:stCondLst>
                                            <p:cond delay="1656"/>
                                          </p:stCondLst>
                                        </p:cTn>
                                        <p:tgtEl>
                                          <p:spTgt spid="3">
                                            <p:txEl>
                                              <p:pRg st="5" end="5"/>
                                            </p:txEl>
                                          </p:spTgt>
                                        </p:tgtEl>
                                        <p:attrNameLst>
                                          <p:attrName>ppt_y</p:attrName>
                                        </p:attrNameLst>
                                      </p:cBhvr>
                                      <p:tavLst>
                                        <p:tav tm="0" fmla="#ppt_y-sin(pi*$)/81">
                                          <p:val>
                                            <p:fltVal val="0"/>
                                          </p:val>
                                        </p:tav>
                                        <p:tav tm="100000">
                                          <p:val>
                                            <p:fltVal val="1"/>
                                          </p:val>
                                        </p:tav>
                                      </p:tavLst>
                                    </p:anim>
                                    <p:animScale>
                                      <p:cBhvr>
                                        <p:cTn id="95" dur="26">
                                          <p:stCondLst>
                                            <p:cond delay="650"/>
                                          </p:stCondLst>
                                        </p:cTn>
                                        <p:tgtEl>
                                          <p:spTgt spid="3">
                                            <p:txEl>
                                              <p:pRg st="5" end="5"/>
                                            </p:txEl>
                                          </p:spTgt>
                                        </p:tgtEl>
                                      </p:cBhvr>
                                      <p:to x="100000" y="60000"/>
                                    </p:animScale>
                                    <p:animScale>
                                      <p:cBhvr>
                                        <p:cTn id="96" dur="166" decel="50000">
                                          <p:stCondLst>
                                            <p:cond delay="676"/>
                                          </p:stCondLst>
                                        </p:cTn>
                                        <p:tgtEl>
                                          <p:spTgt spid="3">
                                            <p:txEl>
                                              <p:pRg st="5" end="5"/>
                                            </p:txEl>
                                          </p:spTgt>
                                        </p:tgtEl>
                                      </p:cBhvr>
                                      <p:to x="100000" y="100000"/>
                                    </p:animScale>
                                    <p:animScale>
                                      <p:cBhvr>
                                        <p:cTn id="97" dur="26">
                                          <p:stCondLst>
                                            <p:cond delay="1312"/>
                                          </p:stCondLst>
                                        </p:cTn>
                                        <p:tgtEl>
                                          <p:spTgt spid="3">
                                            <p:txEl>
                                              <p:pRg st="5" end="5"/>
                                            </p:txEl>
                                          </p:spTgt>
                                        </p:tgtEl>
                                      </p:cBhvr>
                                      <p:to x="100000" y="80000"/>
                                    </p:animScale>
                                    <p:animScale>
                                      <p:cBhvr>
                                        <p:cTn id="98" dur="166" decel="50000">
                                          <p:stCondLst>
                                            <p:cond delay="1338"/>
                                          </p:stCondLst>
                                        </p:cTn>
                                        <p:tgtEl>
                                          <p:spTgt spid="3">
                                            <p:txEl>
                                              <p:pRg st="5" end="5"/>
                                            </p:txEl>
                                          </p:spTgt>
                                        </p:tgtEl>
                                      </p:cBhvr>
                                      <p:to x="100000" y="100000"/>
                                    </p:animScale>
                                    <p:animScale>
                                      <p:cBhvr>
                                        <p:cTn id="99" dur="26">
                                          <p:stCondLst>
                                            <p:cond delay="1642"/>
                                          </p:stCondLst>
                                        </p:cTn>
                                        <p:tgtEl>
                                          <p:spTgt spid="3">
                                            <p:txEl>
                                              <p:pRg st="5" end="5"/>
                                            </p:txEl>
                                          </p:spTgt>
                                        </p:tgtEl>
                                      </p:cBhvr>
                                      <p:to x="100000" y="90000"/>
                                    </p:animScale>
                                    <p:animScale>
                                      <p:cBhvr>
                                        <p:cTn id="100" dur="166" decel="50000">
                                          <p:stCondLst>
                                            <p:cond delay="1668"/>
                                          </p:stCondLst>
                                        </p:cTn>
                                        <p:tgtEl>
                                          <p:spTgt spid="3">
                                            <p:txEl>
                                              <p:pRg st="5" end="5"/>
                                            </p:txEl>
                                          </p:spTgt>
                                        </p:tgtEl>
                                      </p:cBhvr>
                                      <p:to x="100000" y="100000"/>
                                    </p:animScale>
                                    <p:animScale>
                                      <p:cBhvr>
                                        <p:cTn id="101" dur="26">
                                          <p:stCondLst>
                                            <p:cond delay="1808"/>
                                          </p:stCondLst>
                                        </p:cTn>
                                        <p:tgtEl>
                                          <p:spTgt spid="3">
                                            <p:txEl>
                                              <p:pRg st="5" end="5"/>
                                            </p:txEl>
                                          </p:spTgt>
                                        </p:tgtEl>
                                      </p:cBhvr>
                                      <p:to x="100000" y="95000"/>
                                    </p:animScale>
                                    <p:animScale>
                                      <p:cBhvr>
                                        <p:cTn id="102" dur="166" decel="50000">
                                          <p:stCondLst>
                                            <p:cond delay="1834"/>
                                          </p:stCondLst>
                                        </p:cTn>
                                        <p:tgtEl>
                                          <p:spTgt spid="3">
                                            <p:txEl>
                                              <p:pRg st="5" end="5"/>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6"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H" dirty="0" smtClean="0"/>
              <a:t>Sortie temporaire du </a:t>
            </a:r>
            <a:r>
              <a:rPr lang="fr-CH" dirty="0"/>
              <a:t>‎territoire de l’Union </a:t>
            </a:r>
            <a:endParaRPr lang="en-US" dirty="0"/>
          </a:p>
        </p:txBody>
      </p:sp>
      <p:sp>
        <p:nvSpPr>
          <p:cNvPr id="3" name="Content Placeholder 2"/>
          <p:cNvSpPr>
            <a:spLocks noGrp="1"/>
          </p:cNvSpPr>
          <p:nvPr>
            <p:ph idx="1"/>
          </p:nvPr>
        </p:nvSpPr>
        <p:spPr/>
        <p:txBody>
          <a:bodyPr>
            <a:normAutofit/>
          </a:bodyPr>
          <a:lstStyle/>
          <a:p>
            <a:pPr marL="0" indent="0">
              <a:buNone/>
            </a:pPr>
            <a:endParaRPr lang="fr-CH" sz="2000" dirty="0"/>
          </a:p>
          <a:p>
            <a:r>
              <a:rPr lang="fr-CH" sz="2000" dirty="0"/>
              <a:t>les véhicules routiers à moteur immatriculés dans un État membre qui ont temporairement ‎quitté le territoire douanier de l’Union et y ont été réintroduits; ‎</a:t>
            </a:r>
          </a:p>
          <a:p>
            <a:pPr marL="0" indent="0">
              <a:buNone/>
            </a:pPr>
            <a:endParaRPr lang="fr-CH" sz="2000" dirty="0" smtClean="0"/>
          </a:p>
          <a:p>
            <a:pPr marL="0" indent="0">
              <a:buNone/>
            </a:pPr>
            <a:r>
              <a:rPr lang="fr-CH" sz="2000" dirty="0" smtClean="0"/>
              <a:t>‎</a:t>
            </a:r>
            <a:r>
              <a:rPr lang="fr-CH" sz="2000" b="1" dirty="0"/>
              <a:t>Condition</a:t>
            </a:r>
            <a:r>
              <a:rPr lang="fr-CH" sz="2000" dirty="0"/>
              <a:t>: le statut douanier ‎doit être prouvé au moment de retour. </a:t>
            </a:r>
            <a:endParaRPr lang="fr-CH" sz="2000" dirty="0" smtClean="0"/>
          </a:p>
          <a:p>
            <a:pPr marL="0" indent="0">
              <a:buNone/>
            </a:pPr>
            <a:r>
              <a:rPr lang="fr-CH" sz="2000" dirty="0" smtClean="0"/>
              <a:t>		(</a:t>
            </a:r>
            <a:r>
              <a:rPr lang="fr-CH" sz="2000" dirty="0"/>
              <a:t>plaque et documents d’immatriculation )</a:t>
            </a:r>
          </a:p>
          <a:p>
            <a:pPr marL="0" indent="0">
              <a:buNone/>
            </a:pPr>
            <a:endParaRPr lang="fr-CH" sz="2000" dirty="0"/>
          </a:p>
        </p:txBody>
      </p:sp>
      <p:sp>
        <p:nvSpPr>
          <p:cNvPr id="4" name="Slide Number Placeholder 3"/>
          <p:cNvSpPr>
            <a:spLocks noGrp="1"/>
          </p:cNvSpPr>
          <p:nvPr>
            <p:ph type="sldNum" sz="quarter" idx="12"/>
          </p:nvPr>
        </p:nvSpPr>
        <p:spPr/>
        <p:txBody>
          <a:bodyPr/>
          <a:lstStyle/>
          <a:p>
            <a:fld id="{C58F520E-0D3C-4C73-96DF-B271C0F692B0}" type="slidenum">
              <a:rPr lang="lb-LU" smtClean="0"/>
              <a:t>26</a:t>
            </a:fld>
            <a:endParaRPr lang="lb-LU"/>
          </a:p>
        </p:txBody>
      </p:sp>
      <p:pic>
        <p:nvPicPr>
          <p:cNvPr id="5" name="Picture 4"/>
          <p:cNvPicPr>
            <a:picLocks noChangeAspect="1"/>
          </p:cNvPicPr>
          <p:nvPr/>
        </p:nvPicPr>
        <p:blipFill>
          <a:blip r:embed="rId2"/>
          <a:stretch>
            <a:fillRect/>
          </a:stretch>
        </p:blipFill>
        <p:spPr>
          <a:xfrm>
            <a:off x="5547300" y="4639121"/>
            <a:ext cx="2328874" cy="987638"/>
          </a:xfrm>
          <a:prstGeom prst="rect">
            <a:avLst/>
          </a:prstGeom>
        </p:spPr>
      </p:pic>
      <p:pic>
        <p:nvPicPr>
          <p:cNvPr id="6" name="Picture 5"/>
          <p:cNvPicPr>
            <a:picLocks noChangeAspect="1"/>
          </p:cNvPicPr>
          <p:nvPr/>
        </p:nvPicPr>
        <p:blipFill>
          <a:blip r:embed="rId2"/>
          <a:stretch>
            <a:fillRect/>
          </a:stretch>
        </p:blipFill>
        <p:spPr>
          <a:xfrm>
            <a:off x="920570" y="4717906"/>
            <a:ext cx="2328874" cy="987638"/>
          </a:xfrm>
          <a:prstGeom prst="rect">
            <a:avLst/>
          </a:prstGeom>
        </p:spPr>
      </p:pic>
      <p:pic>
        <p:nvPicPr>
          <p:cNvPr id="9" name="Picture 8" descr="Flag Of France Free Stock Photo - Public Domain Pictures"/>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96514" y="4856341"/>
            <a:ext cx="830446" cy="553198"/>
          </a:xfrm>
          <a:prstGeom prst="rect">
            <a:avLst/>
          </a:prstGeom>
        </p:spPr>
      </p:pic>
      <p:pic>
        <p:nvPicPr>
          <p:cNvPr id="8" name="Picture 7" descr="England (Earth-Prime) - DC Multiverse Wiki"/>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98665" y="4919920"/>
            <a:ext cx="972684" cy="583610"/>
          </a:xfrm>
          <a:prstGeom prst="rect">
            <a:avLst/>
          </a:prstGeom>
        </p:spPr>
      </p:pic>
      <p:pic>
        <p:nvPicPr>
          <p:cNvPr id="14" name="Picture 13" descr="Category:Beach icons - Wikimedia Commons"/>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629539" y="4346195"/>
            <a:ext cx="861807" cy="861807"/>
          </a:xfrm>
          <a:prstGeom prst="rect">
            <a:avLst/>
          </a:prstGeom>
        </p:spPr>
      </p:pic>
      <p:pic>
        <p:nvPicPr>
          <p:cNvPr id="16" name="Picture 15" descr="Voiture De Course Logo Symbole · Images vectorielles gratuites sur Pixabay"/>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885657" y="3699163"/>
            <a:ext cx="2709806" cy="2709806"/>
          </a:xfrm>
          <a:prstGeom prst="rect">
            <a:avLst/>
          </a:prstGeom>
        </p:spPr>
      </p:pic>
    </p:spTree>
    <p:extLst>
      <p:ext uri="{BB962C8B-B14F-4D97-AF65-F5344CB8AC3E}">
        <p14:creationId xmlns:p14="http://schemas.microsoft.com/office/powerpoint/2010/main" val="18604386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3">
                                            <p:txEl>
                                              <p:pRg st="3" end="3"/>
                                            </p:txEl>
                                          </p:spTgt>
                                        </p:tgtEl>
                                        <p:attrNameLst>
                                          <p:attrName>style.visibility</p:attrName>
                                        </p:attrNameLst>
                                      </p:cBhvr>
                                      <p:to>
                                        <p:strVal val="visible"/>
                                      </p:to>
                                    </p:set>
                                    <p:animEffect transition="in" filter="fade">
                                      <p:cBhvr>
                                        <p:cTn id="36" dur="1000"/>
                                        <p:tgtEl>
                                          <p:spTgt spid="3">
                                            <p:txEl>
                                              <p:pRg st="3" end="3"/>
                                            </p:txEl>
                                          </p:spTgt>
                                        </p:tgtEl>
                                      </p:cBhvr>
                                    </p:animEffect>
                                    <p:anim calcmode="lin" valueType="num">
                                      <p:cBhvr>
                                        <p:cTn id="37"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8"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nodeType="clickEffect">
                                  <p:stCondLst>
                                    <p:cond delay="0"/>
                                  </p:stCondLst>
                                  <p:childTnLst>
                                    <p:set>
                                      <p:cBhvr>
                                        <p:cTn id="42" dur="1" fill="hold">
                                          <p:stCondLst>
                                            <p:cond delay="0"/>
                                          </p:stCondLst>
                                        </p:cTn>
                                        <p:tgtEl>
                                          <p:spTgt spid="3">
                                            <p:txEl>
                                              <p:pRg st="4" end="4"/>
                                            </p:txEl>
                                          </p:spTgt>
                                        </p:tgtEl>
                                        <p:attrNameLst>
                                          <p:attrName>style.visibility</p:attrName>
                                        </p:attrNameLst>
                                      </p:cBhvr>
                                      <p:to>
                                        <p:strVal val="visible"/>
                                      </p:to>
                                    </p:set>
                                    <p:animEffect transition="in" filter="fade">
                                      <p:cBhvr>
                                        <p:cTn id="43" dur="1000"/>
                                        <p:tgtEl>
                                          <p:spTgt spid="3">
                                            <p:txEl>
                                              <p:pRg st="4" end="4"/>
                                            </p:txEl>
                                          </p:spTgt>
                                        </p:tgtEl>
                                      </p:cBhvr>
                                    </p:animEffect>
                                    <p:anim calcmode="lin" valueType="num">
                                      <p:cBhvr>
                                        <p:cTn id="44"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5"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H" dirty="0" smtClean="0"/>
              <a:t>Sortie temporaire du </a:t>
            </a:r>
            <a:r>
              <a:rPr lang="fr-CH" dirty="0"/>
              <a:t>‎territoire de l’Union </a:t>
            </a:r>
            <a:endParaRPr lang="en-US" dirty="0"/>
          </a:p>
        </p:txBody>
      </p:sp>
      <p:sp>
        <p:nvSpPr>
          <p:cNvPr id="3" name="Content Placeholder 2"/>
          <p:cNvSpPr>
            <a:spLocks noGrp="1"/>
          </p:cNvSpPr>
          <p:nvPr>
            <p:ph idx="1"/>
          </p:nvPr>
        </p:nvSpPr>
        <p:spPr>
          <a:xfrm>
            <a:off x="838200" y="1722637"/>
            <a:ext cx="10515600" cy="4454326"/>
          </a:xfrm>
        </p:spPr>
        <p:txBody>
          <a:bodyPr>
            <a:normAutofit/>
          </a:bodyPr>
          <a:lstStyle/>
          <a:p>
            <a:r>
              <a:rPr lang="fr-CH" sz="2000" dirty="0" smtClean="0"/>
              <a:t>les </a:t>
            </a:r>
            <a:r>
              <a:rPr lang="fr-CH" sz="2000" dirty="0"/>
              <a:t>emballages, palettes et autres équipements similaires, à l’exclusion des conteneurs, </a:t>
            </a:r>
            <a:r>
              <a:rPr lang="fr-CH" sz="2000" dirty="0" smtClean="0"/>
              <a:t>‎                   -appartenant </a:t>
            </a:r>
            <a:r>
              <a:rPr lang="fr-CH" sz="2000" dirty="0"/>
              <a:t>à une personne établie sur le territoire douanier de l’Union, </a:t>
            </a:r>
            <a:r>
              <a:rPr lang="fr-CH" sz="2000" dirty="0" smtClean="0"/>
              <a:t>                                           -servant </a:t>
            </a:r>
            <a:r>
              <a:rPr lang="fr-CH" sz="2000" dirty="0"/>
              <a:t>au transport ‎de marchandises </a:t>
            </a:r>
            <a:r>
              <a:rPr lang="fr-CH" sz="2000" dirty="0" smtClean="0"/>
              <a:t>                                                                                                                       -qui </a:t>
            </a:r>
            <a:r>
              <a:rPr lang="fr-CH" sz="2000" dirty="0"/>
              <a:t>ont temporairement quitté le territoire douanier de l’Union et y ont été ‎réintroduites; </a:t>
            </a:r>
            <a:r>
              <a:rPr lang="fr-CH" sz="2000" dirty="0" smtClean="0"/>
              <a:t>‎</a:t>
            </a:r>
          </a:p>
          <a:p>
            <a:r>
              <a:rPr lang="fr-CH" sz="2000" b="1" dirty="0" smtClean="0"/>
              <a:t>Condition</a:t>
            </a:r>
            <a:r>
              <a:rPr lang="fr-CH" sz="2000" dirty="0"/>
              <a:t>: le statut douanier ‎doit être prouvé au moment de retour. </a:t>
            </a:r>
            <a:endParaRPr lang="fr-CH" sz="2000" dirty="0" smtClean="0"/>
          </a:p>
          <a:p>
            <a:pPr marL="0" indent="0">
              <a:buNone/>
            </a:pPr>
            <a:r>
              <a:rPr lang="fr-CH" sz="2000" dirty="0" smtClean="0"/>
              <a:t>	(est </a:t>
            </a:r>
            <a:r>
              <a:rPr lang="fr-CH" sz="2000" dirty="0"/>
              <a:t>considéré comme prouvé lorsque les emballages, palettes et autres équipements </a:t>
            </a:r>
            <a:r>
              <a:rPr lang="fr-CH" sz="2000" dirty="0" smtClean="0"/>
              <a:t>	similaires </a:t>
            </a:r>
            <a:r>
              <a:rPr lang="fr-CH" sz="2000" dirty="0"/>
              <a:t>peuvent être identifiés comme appartenant à ladite personne, qu’ils sont </a:t>
            </a:r>
            <a:r>
              <a:rPr lang="fr-CH" sz="2000" dirty="0" smtClean="0"/>
              <a:t>	déclarés </a:t>
            </a:r>
            <a:r>
              <a:rPr lang="fr-CH" sz="2000" dirty="0"/>
              <a:t>comme ayant le statut douanier de marchandises de l’Union et qu’il n’existe </a:t>
            </a:r>
            <a:r>
              <a:rPr lang="fr-CH" sz="2000" dirty="0" smtClean="0"/>
              <a:t>	aucun </a:t>
            </a:r>
            <a:r>
              <a:rPr lang="fr-CH" sz="2000" dirty="0"/>
              <a:t>doute à propos de la véracité de la </a:t>
            </a:r>
            <a:r>
              <a:rPr lang="fr-CH" sz="2000" dirty="0" smtClean="0"/>
              <a:t>déclaration)</a:t>
            </a:r>
            <a:endParaRPr lang="fr-CH" sz="2000" dirty="0"/>
          </a:p>
          <a:p>
            <a:endParaRPr lang="fr-CH" sz="2000" dirty="0"/>
          </a:p>
        </p:txBody>
      </p:sp>
      <p:sp>
        <p:nvSpPr>
          <p:cNvPr id="4" name="Slide Number Placeholder 3"/>
          <p:cNvSpPr>
            <a:spLocks noGrp="1"/>
          </p:cNvSpPr>
          <p:nvPr>
            <p:ph type="sldNum" sz="quarter" idx="12"/>
          </p:nvPr>
        </p:nvSpPr>
        <p:spPr/>
        <p:txBody>
          <a:bodyPr/>
          <a:lstStyle/>
          <a:p>
            <a:fld id="{C58F520E-0D3C-4C73-96DF-B271C0F692B0}" type="slidenum">
              <a:rPr lang="lb-LU" smtClean="0"/>
              <a:t>27</a:t>
            </a:fld>
            <a:endParaRPr lang="lb-LU"/>
          </a:p>
        </p:txBody>
      </p:sp>
      <p:pic>
        <p:nvPicPr>
          <p:cNvPr id="5" name="Picture 4"/>
          <p:cNvPicPr>
            <a:picLocks noChangeAspect="1"/>
          </p:cNvPicPr>
          <p:nvPr/>
        </p:nvPicPr>
        <p:blipFill>
          <a:blip r:embed="rId2"/>
          <a:stretch>
            <a:fillRect/>
          </a:stretch>
        </p:blipFill>
        <p:spPr>
          <a:xfrm>
            <a:off x="5724582" y="5079218"/>
            <a:ext cx="2328874" cy="987638"/>
          </a:xfrm>
          <a:prstGeom prst="rect">
            <a:avLst/>
          </a:prstGeom>
        </p:spPr>
      </p:pic>
      <p:pic>
        <p:nvPicPr>
          <p:cNvPr id="6" name="Picture 5"/>
          <p:cNvPicPr>
            <a:picLocks noChangeAspect="1"/>
          </p:cNvPicPr>
          <p:nvPr/>
        </p:nvPicPr>
        <p:blipFill>
          <a:blip r:embed="rId2"/>
          <a:stretch>
            <a:fillRect/>
          </a:stretch>
        </p:blipFill>
        <p:spPr>
          <a:xfrm>
            <a:off x="920570" y="5032223"/>
            <a:ext cx="2328874" cy="987638"/>
          </a:xfrm>
          <a:prstGeom prst="rect">
            <a:avLst/>
          </a:prstGeom>
        </p:spPr>
      </p:pic>
      <p:pic>
        <p:nvPicPr>
          <p:cNvPr id="9" name="Picture 8" descr="Flag Of France Free Stock Photo - Public Domain Pictures"/>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73796" y="5236380"/>
            <a:ext cx="830446" cy="553198"/>
          </a:xfrm>
          <a:prstGeom prst="rect">
            <a:avLst/>
          </a:prstGeom>
        </p:spPr>
      </p:pic>
      <p:pic>
        <p:nvPicPr>
          <p:cNvPr id="8" name="Picture 7" descr="England (Earth-Prime) - DC Multiverse Wiki"/>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98665" y="5221174"/>
            <a:ext cx="972684" cy="583610"/>
          </a:xfrm>
          <a:prstGeom prst="rect">
            <a:avLst/>
          </a:prstGeom>
        </p:spPr>
      </p:pic>
      <p:pic>
        <p:nvPicPr>
          <p:cNvPr id="7" name="Picture 6"/>
          <p:cNvPicPr>
            <a:picLocks noChangeAspect="1"/>
          </p:cNvPicPr>
          <p:nvPr/>
        </p:nvPicPr>
        <p:blipFill>
          <a:blip r:embed="rId5"/>
          <a:stretch>
            <a:fillRect/>
          </a:stretch>
        </p:blipFill>
        <p:spPr>
          <a:xfrm>
            <a:off x="3920360" y="5333844"/>
            <a:ext cx="1013781" cy="686017"/>
          </a:xfrm>
          <a:prstGeom prst="rect">
            <a:avLst/>
          </a:prstGeom>
        </p:spPr>
      </p:pic>
      <p:pic>
        <p:nvPicPr>
          <p:cNvPr id="10" name="Picture 9" descr="Photo gratuite: Palettes En Bois, Palettes, Pile - Image gratuite sur ..."/>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824026" y="4817879"/>
            <a:ext cx="740179" cy="986905"/>
          </a:xfrm>
          <a:prstGeom prst="rect">
            <a:avLst/>
          </a:prstGeom>
        </p:spPr>
      </p:pic>
    </p:spTree>
    <p:extLst>
      <p:ext uri="{BB962C8B-B14F-4D97-AF65-F5344CB8AC3E}">
        <p14:creationId xmlns:p14="http://schemas.microsoft.com/office/powerpoint/2010/main" val="576081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3">
                                            <p:txEl>
                                              <p:pRg st="0" end="0"/>
                                            </p:txEl>
                                          </p:spTgt>
                                        </p:tgtEl>
                                        <p:attrNameLst>
                                          <p:attrName>style.visibility</p:attrName>
                                        </p:attrNameLst>
                                      </p:cBhvr>
                                      <p:to>
                                        <p:strVal val="visible"/>
                                      </p:to>
                                    </p:set>
                                    <p:animEffect transition="in" filter="fade">
                                      <p:cBhvr>
                                        <p:cTn id="31" dur="1000"/>
                                        <p:tgtEl>
                                          <p:spTgt spid="3">
                                            <p:txEl>
                                              <p:pRg st="0" end="0"/>
                                            </p:txEl>
                                          </p:spTgt>
                                        </p:tgtEl>
                                      </p:cBhvr>
                                    </p:animEffect>
                                    <p:anim calcmode="lin" valueType="num">
                                      <p:cBhvr>
                                        <p:cTn id="32"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33"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nodeType="clickEffect">
                                  <p:stCondLst>
                                    <p:cond delay="0"/>
                                  </p:stCondLst>
                                  <p:childTnLst>
                                    <p:set>
                                      <p:cBhvr>
                                        <p:cTn id="37" dur="1" fill="hold">
                                          <p:stCondLst>
                                            <p:cond delay="0"/>
                                          </p:stCondLst>
                                        </p:cTn>
                                        <p:tgtEl>
                                          <p:spTgt spid="3">
                                            <p:txEl>
                                              <p:pRg st="1" end="1"/>
                                            </p:txEl>
                                          </p:spTgt>
                                        </p:tgtEl>
                                        <p:attrNameLst>
                                          <p:attrName>style.visibility</p:attrName>
                                        </p:attrNameLst>
                                      </p:cBhvr>
                                      <p:to>
                                        <p:strVal val="visible"/>
                                      </p:to>
                                    </p:set>
                                    <p:anim calcmode="lin" valueType="num">
                                      <p:cBhvr additive="base">
                                        <p:cTn id="3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3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3">
                                            <p:txEl>
                                              <p:pRg st="2" end="2"/>
                                            </p:txEl>
                                          </p:spTgt>
                                        </p:tgtEl>
                                        <p:attrNameLst>
                                          <p:attrName>style.visibility</p:attrName>
                                        </p:attrNameLst>
                                      </p:cBhvr>
                                      <p:to>
                                        <p:strVal val="visible"/>
                                      </p:to>
                                    </p:set>
                                    <p:animEffect transition="in" filter="fade">
                                      <p:cBhvr>
                                        <p:cTn id="44"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H" dirty="0" smtClean="0"/>
              <a:t>Sortie temporaire du </a:t>
            </a:r>
            <a:r>
              <a:rPr lang="fr-CH" dirty="0"/>
              <a:t>‎territoire de l’Union </a:t>
            </a:r>
            <a:endParaRPr lang="en-US" dirty="0"/>
          </a:p>
        </p:txBody>
      </p:sp>
      <p:sp>
        <p:nvSpPr>
          <p:cNvPr id="3" name="Content Placeholder 2"/>
          <p:cNvSpPr>
            <a:spLocks noGrp="1"/>
          </p:cNvSpPr>
          <p:nvPr>
            <p:ph idx="1"/>
          </p:nvPr>
        </p:nvSpPr>
        <p:spPr/>
        <p:txBody>
          <a:bodyPr>
            <a:normAutofit/>
          </a:bodyPr>
          <a:lstStyle/>
          <a:p>
            <a:r>
              <a:rPr lang="fr-CH" sz="2000" dirty="0"/>
              <a:t>les marchandises contenues dans les bagages transportés par des passagers qui ne sont pas ‎destinées à un usage commercial et qui ont temporairement quitté le territoire douanier de ‎l’Union et y ont été réintroduites.‎</a:t>
            </a:r>
          </a:p>
          <a:p>
            <a:pPr marL="0" indent="0">
              <a:buNone/>
            </a:pPr>
            <a:r>
              <a:rPr lang="fr-CH" sz="2000" b="1" dirty="0" smtClean="0"/>
              <a:t>Condition</a:t>
            </a:r>
            <a:r>
              <a:rPr lang="fr-CH" sz="2000" dirty="0" smtClean="0"/>
              <a:t>: </a:t>
            </a:r>
            <a:r>
              <a:rPr lang="fr-CH" sz="2000" dirty="0"/>
              <a:t>le statut douanier ‎doit être prouvé au moment de retour. </a:t>
            </a:r>
            <a:endParaRPr lang="fr-CH" sz="2000" dirty="0" smtClean="0"/>
          </a:p>
          <a:p>
            <a:pPr marL="0" indent="0">
              <a:buNone/>
            </a:pPr>
            <a:r>
              <a:rPr lang="fr-CH" sz="2000" dirty="0" smtClean="0"/>
              <a:t>(est </a:t>
            </a:r>
            <a:r>
              <a:rPr lang="fr-CH" sz="2000" dirty="0"/>
              <a:t>considéré comme prouvé lorsque le passager déclare ‎qu’elles ont le statut douanier de ‎marchandises de l’Union et qu’il n’existe aucun ‎doute à propos de la véracité de la </a:t>
            </a:r>
            <a:r>
              <a:rPr lang="fr-CH" sz="2000" dirty="0" smtClean="0"/>
              <a:t>déclaration) </a:t>
            </a:r>
          </a:p>
          <a:p>
            <a:pPr marL="0" indent="0">
              <a:buNone/>
            </a:pPr>
            <a:endParaRPr lang="fr-CH" sz="2000" dirty="0"/>
          </a:p>
        </p:txBody>
      </p:sp>
      <p:sp>
        <p:nvSpPr>
          <p:cNvPr id="4" name="Slide Number Placeholder 3"/>
          <p:cNvSpPr>
            <a:spLocks noGrp="1"/>
          </p:cNvSpPr>
          <p:nvPr>
            <p:ph type="sldNum" sz="quarter" idx="12"/>
          </p:nvPr>
        </p:nvSpPr>
        <p:spPr/>
        <p:txBody>
          <a:bodyPr/>
          <a:lstStyle/>
          <a:p>
            <a:fld id="{C58F520E-0D3C-4C73-96DF-B271C0F692B0}" type="slidenum">
              <a:rPr lang="lb-LU" smtClean="0"/>
              <a:t>28</a:t>
            </a:fld>
            <a:endParaRPr lang="lb-LU"/>
          </a:p>
        </p:txBody>
      </p:sp>
      <p:pic>
        <p:nvPicPr>
          <p:cNvPr id="5" name="Picture 4"/>
          <p:cNvPicPr>
            <a:picLocks noChangeAspect="1"/>
          </p:cNvPicPr>
          <p:nvPr/>
        </p:nvPicPr>
        <p:blipFill>
          <a:blip r:embed="rId2"/>
          <a:stretch>
            <a:fillRect/>
          </a:stretch>
        </p:blipFill>
        <p:spPr>
          <a:xfrm>
            <a:off x="5547300" y="4639121"/>
            <a:ext cx="2328874" cy="987638"/>
          </a:xfrm>
          <a:prstGeom prst="rect">
            <a:avLst/>
          </a:prstGeom>
        </p:spPr>
      </p:pic>
      <p:pic>
        <p:nvPicPr>
          <p:cNvPr id="6" name="Picture 5"/>
          <p:cNvPicPr>
            <a:picLocks noChangeAspect="1"/>
          </p:cNvPicPr>
          <p:nvPr/>
        </p:nvPicPr>
        <p:blipFill>
          <a:blip r:embed="rId2"/>
          <a:stretch>
            <a:fillRect/>
          </a:stretch>
        </p:blipFill>
        <p:spPr>
          <a:xfrm>
            <a:off x="920570" y="4717906"/>
            <a:ext cx="2328874" cy="987638"/>
          </a:xfrm>
          <a:prstGeom prst="rect">
            <a:avLst/>
          </a:prstGeom>
        </p:spPr>
      </p:pic>
      <p:pic>
        <p:nvPicPr>
          <p:cNvPr id="12" name="Picture 11" descr="Ficheiro:Flag of Luxembourg.svg - Wikcionário"/>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27174" y="4842202"/>
            <a:ext cx="969125" cy="581475"/>
          </a:xfrm>
          <a:prstGeom prst="rect">
            <a:avLst/>
          </a:prstGeom>
        </p:spPr>
      </p:pic>
      <p:pic>
        <p:nvPicPr>
          <p:cNvPr id="13" name="Picture 12" descr="Fichier:Drapeau du Maroc.svg - Vikidia, l’encyclopédie des 8-13 ans"/>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650035" y="4921601"/>
            <a:ext cx="869943" cy="580245"/>
          </a:xfrm>
          <a:prstGeom prst="rect">
            <a:avLst/>
          </a:prstGeom>
        </p:spPr>
      </p:pic>
      <p:pic>
        <p:nvPicPr>
          <p:cNvPr id="14" name="Picture 13" descr="FREE freehand icon - Pictofigo"/>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10125" y="4259224"/>
            <a:ext cx="1285875" cy="1905000"/>
          </a:xfrm>
          <a:prstGeom prst="rect">
            <a:avLst/>
          </a:prstGeom>
        </p:spPr>
      </p:pic>
      <p:cxnSp>
        <p:nvCxnSpPr>
          <p:cNvPr id="17" name="Straight Arrow Connector 16"/>
          <p:cNvCxnSpPr/>
          <p:nvPr/>
        </p:nvCxnSpPr>
        <p:spPr>
          <a:xfrm>
            <a:off x="3491345" y="5211724"/>
            <a:ext cx="1155470"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5044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0" end="0"/>
                                            </p:txEl>
                                          </p:spTgt>
                                        </p:tgtEl>
                                        <p:attrNameLst>
                                          <p:attrName>style.visibility</p:attrName>
                                        </p:attrNameLst>
                                      </p:cBhvr>
                                      <p:to>
                                        <p:strVal val="visible"/>
                                      </p:to>
                                    </p:set>
                                    <p:anim calcmode="lin" valueType="num">
                                      <p:cBhvr additive="base">
                                        <p:cTn id="31"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1" end="1"/>
                                            </p:txEl>
                                          </p:spTgt>
                                        </p:tgtEl>
                                        <p:attrNameLst>
                                          <p:attrName>style.visibility</p:attrName>
                                        </p:attrNameLst>
                                      </p:cBhvr>
                                      <p:to>
                                        <p:strVal val="visible"/>
                                      </p:to>
                                    </p:set>
                                    <p:animEffect transition="in" filter="fade">
                                      <p:cBhvr>
                                        <p:cTn id="37" dur="500"/>
                                        <p:tgtEl>
                                          <p:spTgt spid="3">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2" end="2"/>
                                            </p:txEl>
                                          </p:spTgt>
                                        </p:tgtEl>
                                        <p:attrNameLst>
                                          <p:attrName>style.visibility</p:attrName>
                                        </p:attrNameLst>
                                      </p:cBhvr>
                                      <p:to>
                                        <p:strVal val="visible"/>
                                      </p:to>
                                    </p:set>
                                    <p:animEffect transition="in" filter="fade">
                                      <p:cBhvr>
                                        <p:cTn id="42" dur="1000"/>
                                        <p:tgtEl>
                                          <p:spTgt spid="3">
                                            <p:txEl>
                                              <p:pRg st="2" end="2"/>
                                            </p:txEl>
                                          </p:spTgt>
                                        </p:tgtEl>
                                      </p:cBhvr>
                                    </p:animEffect>
                                    <p:anim calcmode="lin" valueType="num">
                                      <p:cBhvr>
                                        <p:cTn id="43"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r-CH" dirty="0" smtClean="0"/>
              <a:t/>
            </a:r>
            <a:br>
              <a:rPr lang="fr-CH" dirty="0" smtClean="0"/>
            </a:br>
            <a:r>
              <a:rPr lang="fr-CH" dirty="0" smtClean="0"/>
              <a:t>T2L </a:t>
            </a:r>
            <a:r>
              <a:rPr lang="fr-CH" dirty="0"/>
              <a:t>et T2LF</a:t>
            </a:r>
            <a:br>
              <a:rPr lang="fr-CH" dirty="0"/>
            </a:br>
            <a:endParaRPr lang="en-US" dirty="0"/>
          </a:p>
        </p:txBody>
      </p:sp>
      <p:sp>
        <p:nvSpPr>
          <p:cNvPr id="3" name="Content Placeholder 2"/>
          <p:cNvSpPr>
            <a:spLocks noGrp="1"/>
          </p:cNvSpPr>
          <p:nvPr>
            <p:ph idx="1"/>
          </p:nvPr>
        </p:nvSpPr>
        <p:spPr/>
        <p:txBody>
          <a:bodyPr>
            <a:normAutofit/>
          </a:bodyPr>
          <a:lstStyle/>
          <a:p>
            <a:pPr marL="0" indent="0">
              <a:buNone/>
            </a:pPr>
            <a:endParaRPr lang="fr-CH" dirty="0" smtClean="0"/>
          </a:p>
          <a:p>
            <a:pPr>
              <a:buFont typeface="Wingdings" panose="05000000000000000000" pitchFamily="2" charset="2"/>
              <a:buChar char="à"/>
            </a:pPr>
            <a:r>
              <a:rPr lang="fr-CH" dirty="0" smtClean="0"/>
              <a:t>Preuve </a:t>
            </a:r>
            <a:r>
              <a:rPr lang="fr-CH" dirty="0"/>
              <a:t>établissant le statut douanier de marchandises de l’Union</a:t>
            </a:r>
            <a:r>
              <a:rPr lang="fr-CH" dirty="0" smtClean="0"/>
              <a:t>.</a:t>
            </a:r>
          </a:p>
          <a:p>
            <a:pPr marL="0" indent="0">
              <a:buNone/>
            </a:pPr>
            <a:endParaRPr lang="fr-CH" dirty="0"/>
          </a:p>
          <a:p>
            <a:r>
              <a:rPr lang="fr-CH" dirty="0" smtClean="0"/>
              <a:t>échanges à l’intérieur de l’Union : T2L</a:t>
            </a:r>
            <a:endParaRPr lang="fr-CH" dirty="0"/>
          </a:p>
          <a:p>
            <a:endParaRPr lang="fr-CH" dirty="0" smtClean="0"/>
          </a:p>
          <a:p>
            <a:r>
              <a:rPr lang="fr-CH" dirty="0" smtClean="0"/>
              <a:t>expédiées </a:t>
            </a:r>
            <a:r>
              <a:rPr lang="fr-CH" dirty="0"/>
              <a:t>à destination de, en provenance de ou entre territoires fiscaux </a:t>
            </a:r>
            <a:r>
              <a:rPr lang="fr-CH" dirty="0" smtClean="0"/>
              <a:t>(</a:t>
            </a:r>
            <a:r>
              <a:rPr lang="fr-CH" dirty="0"/>
              <a:t>ex. DOM</a:t>
            </a:r>
            <a:r>
              <a:rPr lang="fr-CH" dirty="0" smtClean="0"/>
              <a:t>): T2LF</a:t>
            </a:r>
          </a:p>
          <a:p>
            <a:pPr marL="0" indent="0">
              <a:buNone/>
            </a:pPr>
            <a:endParaRPr lang="fr-CH" dirty="0"/>
          </a:p>
        </p:txBody>
      </p:sp>
      <p:sp>
        <p:nvSpPr>
          <p:cNvPr id="4" name="Slide Number Placeholder 3"/>
          <p:cNvSpPr>
            <a:spLocks noGrp="1"/>
          </p:cNvSpPr>
          <p:nvPr>
            <p:ph type="sldNum" sz="quarter" idx="12"/>
          </p:nvPr>
        </p:nvSpPr>
        <p:spPr/>
        <p:txBody>
          <a:bodyPr/>
          <a:lstStyle/>
          <a:p>
            <a:fld id="{C58F520E-0D3C-4C73-96DF-B271C0F692B0}" type="slidenum">
              <a:rPr lang="lb-LU" smtClean="0"/>
              <a:t>29</a:t>
            </a:fld>
            <a:endParaRPr lang="lb-LU"/>
          </a:p>
        </p:txBody>
      </p:sp>
    </p:spTree>
    <p:extLst>
      <p:ext uri="{BB962C8B-B14F-4D97-AF65-F5344CB8AC3E}">
        <p14:creationId xmlns:p14="http://schemas.microsoft.com/office/powerpoint/2010/main" val="24551663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3" end="3"/>
                                            </p:txEl>
                                          </p:spTgt>
                                        </p:tgtEl>
                                        <p:attrNameLst>
                                          <p:attrName>style.visibility</p:attrName>
                                        </p:attrNameLst>
                                      </p:cBhvr>
                                      <p:to>
                                        <p:strVal val="visible"/>
                                      </p:to>
                                    </p:set>
                                    <p:animEffect transition="in" filter="fade">
                                      <p:cBhvr>
                                        <p:cTn id="14" dur="1000"/>
                                        <p:tgtEl>
                                          <p:spTgt spid="3">
                                            <p:txEl>
                                              <p:pRg st="3" end="3"/>
                                            </p:txEl>
                                          </p:spTgt>
                                        </p:tgtEl>
                                      </p:cBhvr>
                                    </p:animEffect>
                                    <p:anim calcmode="lin" valueType="num">
                                      <p:cBhvr>
                                        <p:cTn id="1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1000"/>
                                        <p:tgtEl>
                                          <p:spTgt spid="3">
                                            <p:txEl>
                                              <p:pRg st="5" end="5"/>
                                            </p:txEl>
                                          </p:spTgt>
                                        </p:tgtEl>
                                      </p:cBhvr>
                                    </p:animEffect>
                                    <p:anim calcmode="lin" valueType="num">
                                      <p:cBhvr>
                                        <p:cTn id="22"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 of Union Status - </a:t>
            </a:r>
            <a:r>
              <a:rPr lang="en-US" dirty="0" err="1"/>
              <a:t>PoUS</a:t>
            </a:r>
            <a:endParaRPr lang="en-US" dirty="0"/>
          </a:p>
        </p:txBody>
      </p:sp>
      <p:sp>
        <p:nvSpPr>
          <p:cNvPr id="3" name="Content Placeholder 2"/>
          <p:cNvSpPr>
            <a:spLocks noGrp="1"/>
          </p:cNvSpPr>
          <p:nvPr>
            <p:ph idx="1"/>
          </p:nvPr>
        </p:nvSpPr>
        <p:spPr/>
        <p:txBody>
          <a:bodyPr>
            <a:normAutofit/>
          </a:bodyPr>
          <a:lstStyle/>
          <a:p>
            <a:r>
              <a:rPr lang="fr-CH" dirty="0"/>
              <a:t>Le code des douanes de l'Union (CDU) stipule dans l’article 6 que tout échange d'informations entre les autorités douanières et entre les opérateurs économiques et les autorités douanières sont effectués en utilisant un procédé informatique de traitement des données. </a:t>
            </a:r>
            <a:endParaRPr lang="fr-CH" dirty="0" smtClean="0"/>
          </a:p>
          <a:p>
            <a:endParaRPr lang="fr-CH" dirty="0"/>
          </a:p>
          <a:p>
            <a:pPr marL="1173163" indent="-457200">
              <a:buFont typeface="Wingdings" panose="05000000000000000000" pitchFamily="2" charset="2"/>
              <a:buChar char="à"/>
            </a:pPr>
            <a:r>
              <a:rPr lang="fr-CH" dirty="0" smtClean="0"/>
              <a:t>système </a:t>
            </a:r>
            <a:r>
              <a:rPr lang="fr-CH" dirty="0" err="1"/>
              <a:t>PoUS</a:t>
            </a:r>
            <a:r>
              <a:rPr lang="fr-CH" dirty="0"/>
              <a:t> </a:t>
            </a:r>
            <a:r>
              <a:rPr lang="fr-CH" dirty="0" smtClean="0"/>
              <a:t>électronique développé par la Commission européenne</a:t>
            </a:r>
          </a:p>
          <a:p>
            <a:pPr marL="1173163" indent="-457200">
              <a:buFont typeface="Wingdings" panose="05000000000000000000" pitchFamily="2" charset="2"/>
              <a:buChar char="à"/>
            </a:pPr>
            <a:r>
              <a:rPr lang="fr-CH" dirty="0" smtClean="0"/>
              <a:t>A partir du </a:t>
            </a:r>
            <a:r>
              <a:rPr lang="fr-CH" dirty="0"/>
              <a:t>1er mars </a:t>
            </a:r>
            <a:r>
              <a:rPr lang="fr-CH" dirty="0" smtClean="0"/>
              <a:t>2024, </a:t>
            </a:r>
            <a:r>
              <a:rPr lang="fr-CH" dirty="0"/>
              <a:t>les documents « papier » ne seront plus acceptés et il sera obligatoire de soumettre une demande par voie électronique via le système </a:t>
            </a:r>
            <a:r>
              <a:rPr lang="fr-CH" dirty="0" err="1" smtClean="0"/>
              <a:t>PoUS</a:t>
            </a:r>
            <a:endParaRPr lang="en-US" dirty="0"/>
          </a:p>
        </p:txBody>
      </p:sp>
      <p:sp>
        <p:nvSpPr>
          <p:cNvPr id="4" name="Slide Number Placeholder 3"/>
          <p:cNvSpPr>
            <a:spLocks noGrp="1"/>
          </p:cNvSpPr>
          <p:nvPr>
            <p:ph type="sldNum" sz="quarter" idx="12"/>
          </p:nvPr>
        </p:nvSpPr>
        <p:spPr/>
        <p:txBody>
          <a:bodyPr/>
          <a:lstStyle/>
          <a:p>
            <a:fld id="{C58F520E-0D3C-4C73-96DF-B271C0F692B0}" type="slidenum">
              <a:rPr lang="lb-LU" smtClean="0"/>
              <a:t>30</a:t>
            </a:fld>
            <a:endParaRPr lang="lb-LU"/>
          </a:p>
        </p:txBody>
      </p:sp>
    </p:spTree>
    <p:extLst>
      <p:ext uri="{BB962C8B-B14F-4D97-AF65-F5344CB8AC3E}">
        <p14:creationId xmlns:p14="http://schemas.microsoft.com/office/powerpoint/2010/main" val="44489107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 of Union Status - </a:t>
            </a:r>
            <a:r>
              <a:rPr lang="en-US" dirty="0" err="1"/>
              <a:t>PoUS</a:t>
            </a:r>
            <a:endParaRPr lang="en-US" dirty="0"/>
          </a:p>
        </p:txBody>
      </p:sp>
      <p:sp>
        <p:nvSpPr>
          <p:cNvPr id="3" name="Content Placeholder 2"/>
          <p:cNvSpPr>
            <a:spLocks noGrp="1"/>
          </p:cNvSpPr>
          <p:nvPr>
            <p:ph idx="1"/>
          </p:nvPr>
        </p:nvSpPr>
        <p:spPr/>
        <p:txBody>
          <a:bodyPr>
            <a:normAutofit fontScale="85000" lnSpcReduction="20000"/>
          </a:bodyPr>
          <a:lstStyle/>
          <a:p>
            <a:pPr marL="0" indent="0">
              <a:buNone/>
            </a:pPr>
            <a:r>
              <a:rPr lang="fr-CH" dirty="0" smtClean="0"/>
              <a:t>Fonctionnement</a:t>
            </a:r>
            <a:r>
              <a:rPr lang="fr-CH" dirty="0"/>
              <a:t> :</a:t>
            </a:r>
          </a:p>
          <a:p>
            <a:r>
              <a:rPr lang="fr-CH" dirty="0"/>
              <a:t>Les demandes T2L et T2LF </a:t>
            </a:r>
            <a:r>
              <a:rPr lang="fr-CH" dirty="0" smtClean="0"/>
              <a:t>sont soumises </a:t>
            </a:r>
            <a:r>
              <a:rPr lang="fr-CH" dirty="0"/>
              <a:t>par voie électronique </a:t>
            </a:r>
            <a:r>
              <a:rPr lang="fr-CH" dirty="0" smtClean="0"/>
              <a:t>et validées par le bureau de douane ‎</a:t>
            </a:r>
          </a:p>
          <a:p>
            <a:r>
              <a:rPr lang="fr-CH" dirty="0"/>
              <a:t>La preuve du statut douanier de marchandises de l’Union sous la forme d’un document T2L ou T2LF </a:t>
            </a:r>
            <a:r>
              <a:rPr lang="fr-CH" dirty="0" smtClean="0"/>
              <a:t>est </a:t>
            </a:r>
            <a:r>
              <a:rPr lang="fr-CH" dirty="0"/>
              <a:t>valable 90 jours à compter de la date d’enregistrement</a:t>
            </a:r>
          </a:p>
          <a:p>
            <a:r>
              <a:rPr lang="fr-CH" dirty="0"/>
              <a:t>Lorsque les marchandises sont présentées au bureau de douane de présentation, l'opérateur économique peut ‎communiquer le MRN correspondant par voie électronique dans le système </a:t>
            </a:r>
            <a:r>
              <a:rPr lang="fr-CH" dirty="0" err="1"/>
              <a:t>PoUS</a:t>
            </a:r>
            <a:r>
              <a:rPr lang="fr-CH" dirty="0"/>
              <a:t>. ‎</a:t>
            </a:r>
          </a:p>
          <a:p>
            <a:r>
              <a:rPr lang="fr-CH" dirty="0"/>
              <a:t>Le bureau de douane de présentation peut vérifier la preuve dans le système </a:t>
            </a:r>
            <a:r>
              <a:rPr lang="fr-CH" dirty="0" err="1"/>
              <a:t>PoUS</a:t>
            </a:r>
            <a:r>
              <a:rPr lang="fr-CH" dirty="0"/>
              <a:t> en utilisant cet MRN. ‎</a:t>
            </a:r>
          </a:p>
          <a:p>
            <a:r>
              <a:rPr lang="fr-CH" dirty="0"/>
              <a:t>Si la preuve est valable et se réfère aux marchandises présentées, elle est acceptée en tant que </a:t>
            </a:r>
            <a:r>
              <a:rPr lang="fr-CH" dirty="0" err="1"/>
              <a:t>PoUS</a:t>
            </a:r>
            <a:r>
              <a:rPr lang="fr-CH" dirty="0"/>
              <a:t> et son ‎utilisation est enregistrée dans le système </a:t>
            </a:r>
            <a:r>
              <a:rPr lang="fr-CH" dirty="0" err="1"/>
              <a:t>PoUS</a:t>
            </a:r>
            <a:r>
              <a:rPr lang="fr-CH" dirty="0"/>
              <a:t>. </a:t>
            </a:r>
            <a:r>
              <a:rPr lang="fr-CH" dirty="0" smtClean="0"/>
              <a:t>‎</a:t>
            </a:r>
            <a:endParaRPr lang="fr-CH" dirty="0"/>
          </a:p>
        </p:txBody>
      </p:sp>
      <p:sp>
        <p:nvSpPr>
          <p:cNvPr id="4" name="Slide Number Placeholder 3"/>
          <p:cNvSpPr>
            <a:spLocks noGrp="1"/>
          </p:cNvSpPr>
          <p:nvPr>
            <p:ph type="sldNum" sz="quarter" idx="12"/>
          </p:nvPr>
        </p:nvSpPr>
        <p:spPr/>
        <p:txBody>
          <a:bodyPr/>
          <a:lstStyle/>
          <a:p>
            <a:fld id="{C58F520E-0D3C-4C73-96DF-B271C0F692B0}" type="slidenum">
              <a:rPr lang="lb-LU" smtClean="0"/>
              <a:t>31</a:t>
            </a:fld>
            <a:endParaRPr lang="lb-LU"/>
          </a:p>
        </p:txBody>
      </p:sp>
    </p:spTree>
    <p:extLst>
      <p:ext uri="{BB962C8B-B14F-4D97-AF65-F5344CB8AC3E}">
        <p14:creationId xmlns:p14="http://schemas.microsoft.com/office/powerpoint/2010/main" val="3557890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2"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6"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 of Union Status - </a:t>
            </a:r>
            <a:r>
              <a:rPr lang="en-US" dirty="0" err="1"/>
              <a:t>PoUS</a:t>
            </a:r>
            <a:endParaRPr lang="en-US" dirty="0"/>
          </a:p>
        </p:txBody>
      </p:sp>
      <p:sp>
        <p:nvSpPr>
          <p:cNvPr id="3" name="Content Placeholder 2"/>
          <p:cNvSpPr>
            <a:spLocks noGrp="1"/>
          </p:cNvSpPr>
          <p:nvPr>
            <p:ph idx="1"/>
          </p:nvPr>
        </p:nvSpPr>
        <p:spPr/>
        <p:txBody>
          <a:bodyPr>
            <a:normAutofit lnSpcReduction="10000"/>
          </a:bodyPr>
          <a:lstStyle/>
          <a:p>
            <a:pPr>
              <a:buFont typeface="Wingdings" panose="05000000000000000000" pitchFamily="2" charset="2"/>
              <a:buChar char="à"/>
            </a:pPr>
            <a:endParaRPr lang="fr-CH" dirty="0" smtClean="0"/>
          </a:p>
          <a:p>
            <a:pPr>
              <a:buFont typeface="Wingdings" panose="05000000000000000000" pitchFamily="2" charset="2"/>
              <a:buChar char="à"/>
            </a:pPr>
            <a:r>
              <a:rPr lang="fr-CH" dirty="0" smtClean="0"/>
              <a:t>via </a:t>
            </a:r>
            <a:r>
              <a:rPr lang="fr-CH" dirty="0"/>
              <a:t>le portail </a:t>
            </a:r>
            <a:r>
              <a:rPr lang="fr-CH" dirty="0" smtClean="0"/>
              <a:t>EUCTPA</a:t>
            </a:r>
          </a:p>
          <a:p>
            <a:pPr marL="0" indent="0">
              <a:buNone/>
            </a:pPr>
            <a:endParaRPr lang="fr-CH" dirty="0"/>
          </a:p>
          <a:p>
            <a:pPr marL="0" indent="0">
              <a:buNone/>
            </a:pPr>
            <a:r>
              <a:rPr lang="fr-CH" dirty="0" smtClean="0"/>
              <a:t>Afin </a:t>
            </a:r>
            <a:r>
              <a:rPr lang="fr-CH" dirty="0"/>
              <a:t>de pouvoir déposer une demande T2L ou T2LF via le portail EUCTP, les conditions suivantes devront être remplies :</a:t>
            </a:r>
          </a:p>
          <a:p>
            <a:pPr marL="0" indent="0">
              <a:buNone/>
            </a:pPr>
            <a:r>
              <a:rPr lang="fr-CH" dirty="0" smtClean="0"/>
              <a:t>     </a:t>
            </a:r>
            <a:r>
              <a:rPr lang="fr-CH" dirty="0" smtClean="0">
                <a:sym typeface="Wingdings" panose="05000000000000000000" pitchFamily="2" charset="2"/>
              </a:rPr>
              <a:t> </a:t>
            </a:r>
            <a:r>
              <a:rPr lang="fr-CH" dirty="0" smtClean="0"/>
              <a:t>disposer </a:t>
            </a:r>
            <a:r>
              <a:rPr lang="fr-CH" dirty="0"/>
              <a:t>d’un numéro d'enregistrement et d'identification de l'opérateur économique (EORI)</a:t>
            </a:r>
          </a:p>
          <a:p>
            <a:pPr marL="0" indent="0">
              <a:buNone/>
            </a:pPr>
            <a:r>
              <a:rPr lang="fr-CH" dirty="0" smtClean="0"/>
              <a:t>     </a:t>
            </a:r>
            <a:r>
              <a:rPr lang="fr-CH" dirty="0" smtClean="0">
                <a:sym typeface="Wingdings" panose="05000000000000000000" pitchFamily="2" charset="2"/>
              </a:rPr>
              <a:t> </a:t>
            </a:r>
            <a:r>
              <a:rPr lang="fr-CH" dirty="0" smtClean="0"/>
              <a:t>être </a:t>
            </a:r>
            <a:r>
              <a:rPr lang="fr-CH" dirty="0"/>
              <a:t>enregistré et disposer des bons profils dans le système de gestion uniforme des utilisateurs et de signature numérique (UUM&amp;DS). </a:t>
            </a:r>
          </a:p>
        </p:txBody>
      </p:sp>
      <p:sp>
        <p:nvSpPr>
          <p:cNvPr id="4" name="Slide Number Placeholder 3"/>
          <p:cNvSpPr>
            <a:spLocks noGrp="1"/>
          </p:cNvSpPr>
          <p:nvPr>
            <p:ph type="sldNum" sz="quarter" idx="12"/>
          </p:nvPr>
        </p:nvSpPr>
        <p:spPr/>
        <p:txBody>
          <a:bodyPr/>
          <a:lstStyle/>
          <a:p>
            <a:fld id="{C58F520E-0D3C-4C73-96DF-B271C0F692B0}" type="slidenum">
              <a:rPr lang="lb-LU" smtClean="0"/>
              <a:t>32</a:t>
            </a:fld>
            <a:endParaRPr lang="lb-LU"/>
          </a:p>
        </p:txBody>
      </p:sp>
    </p:spTree>
    <p:extLst>
      <p:ext uri="{BB962C8B-B14F-4D97-AF65-F5344CB8AC3E}">
        <p14:creationId xmlns:p14="http://schemas.microsoft.com/office/powerpoint/2010/main" val="1778067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arn(inVertic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hlinkClick r:id="rId2"/>
              </a:rPr>
              <a:t>Proof of Union Status - </a:t>
            </a:r>
            <a:r>
              <a:rPr lang="en-US" dirty="0" err="1">
                <a:hlinkClick r:id="rId2"/>
              </a:rPr>
              <a:t>PoUS</a:t>
            </a:r>
            <a:r>
              <a:rPr lang="en-US" dirty="0">
                <a:hlinkClick r:id="rId2"/>
              </a:rPr>
              <a:t> - Commerce international - Douanes </a:t>
            </a:r>
            <a:r>
              <a:rPr lang="en-US" dirty="0" smtClean="0">
                <a:hlinkClick r:id="rId2"/>
              </a:rPr>
              <a:t>– Luxembourg </a:t>
            </a:r>
            <a:r>
              <a:rPr lang="en-US" dirty="0">
                <a:hlinkClick r:id="rId2"/>
              </a:rPr>
              <a:t>(public.lu)</a:t>
            </a:r>
            <a:endParaRPr lang="en-US" dirty="0"/>
          </a:p>
        </p:txBody>
      </p:sp>
      <p:sp>
        <p:nvSpPr>
          <p:cNvPr id="4" name="Slide Number Placeholder 3"/>
          <p:cNvSpPr>
            <a:spLocks noGrp="1"/>
          </p:cNvSpPr>
          <p:nvPr>
            <p:ph type="sldNum" sz="quarter" idx="12"/>
          </p:nvPr>
        </p:nvSpPr>
        <p:spPr/>
        <p:txBody>
          <a:bodyPr/>
          <a:lstStyle/>
          <a:p>
            <a:fld id="{C58F520E-0D3C-4C73-96DF-B271C0F692B0}" type="slidenum">
              <a:rPr lang="lb-LU" smtClean="0"/>
              <a:t>33</a:t>
            </a:fld>
            <a:endParaRPr lang="lb-LU"/>
          </a:p>
        </p:txBody>
      </p:sp>
    </p:spTree>
    <p:extLst>
      <p:ext uri="{BB962C8B-B14F-4D97-AF65-F5344CB8AC3E}">
        <p14:creationId xmlns:p14="http://schemas.microsoft.com/office/powerpoint/2010/main" val="39002304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Marchandises</a:t>
            </a:r>
            <a:r>
              <a:rPr lang="en-US" dirty="0" smtClean="0"/>
              <a:t> </a:t>
            </a:r>
            <a:r>
              <a:rPr lang="en-US" dirty="0" err="1" smtClean="0"/>
              <a:t>en</a:t>
            </a:r>
            <a:r>
              <a:rPr lang="en-US" dirty="0" smtClean="0"/>
              <a:t> retour</a:t>
            </a:r>
            <a:endParaRPr lang="en-US" dirty="0"/>
          </a:p>
        </p:txBody>
      </p:sp>
      <p:sp>
        <p:nvSpPr>
          <p:cNvPr id="3" name="Content Placeholder 2"/>
          <p:cNvSpPr>
            <a:spLocks noGrp="1"/>
          </p:cNvSpPr>
          <p:nvPr>
            <p:ph idx="1"/>
          </p:nvPr>
        </p:nvSpPr>
        <p:spPr/>
        <p:txBody>
          <a:bodyPr/>
          <a:lstStyle/>
          <a:p>
            <a:pPr marL="0" indent="0">
              <a:buNone/>
            </a:pPr>
            <a:r>
              <a:rPr lang="fr-CH" dirty="0"/>
              <a:t>Les marchandises non Union qui, après avoir été initialement exportées en tant que marchandises de l'Union hors du territoire douanier de l'Union, y sont réintroduites dans un délai de trois ans et déclarées pour la mise en libre pratique sont, à la demande de la personne concernée, exonérées des droits à l'importation.</a:t>
            </a:r>
            <a:endParaRPr lang="en-US" dirty="0"/>
          </a:p>
        </p:txBody>
      </p:sp>
      <p:sp>
        <p:nvSpPr>
          <p:cNvPr id="4" name="Slide Number Placeholder 3"/>
          <p:cNvSpPr>
            <a:spLocks noGrp="1"/>
          </p:cNvSpPr>
          <p:nvPr>
            <p:ph type="sldNum" sz="quarter" idx="12"/>
          </p:nvPr>
        </p:nvSpPr>
        <p:spPr/>
        <p:txBody>
          <a:bodyPr/>
          <a:lstStyle/>
          <a:p>
            <a:fld id="{C58F520E-0D3C-4C73-96DF-B271C0F692B0}" type="slidenum">
              <a:rPr lang="lb-LU" smtClean="0"/>
              <a:t>34</a:t>
            </a:fld>
            <a:endParaRPr lang="lb-LU"/>
          </a:p>
        </p:txBody>
      </p:sp>
    </p:spTree>
    <p:extLst>
      <p:ext uri="{BB962C8B-B14F-4D97-AF65-F5344CB8AC3E}">
        <p14:creationId xmlns:p14="http://schemas.microsoft.com/office/powerpoint/2010/main" val="2112599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Marchandises</a:t>
            </a:r>
            <a:r>
              <a:rPr lang="en-US" dirty="0" smtClean="0"/>
              <a:t> </a:t>
            </a:r>
            <a:r>
              <a:rPr lang="en-US" dirty="0" err="1" smtClean="0"/>
              <a:t>en</a:t>
            </a:r>
            <a:r>
              <a:rPr lang="en-US" dirty="0" smtClean="0"/>
              <a:t> retour</a:t>
            </a:r>
            <a:endParaRPr lang="en-US" dirty="0"/>
          </a:p>
        </p:txBody>
      </p:sp>
      <p:sp>
        <p:nvSpPr>
          <p:cNvPr id="3" name="Content Placeholder 2"/>
          <p:cNvSpPr>
            <a:spLocks noGrp="1"/>
          </p:cNvSpPr>
          <p:nvPr>
            <p:ph idx="1"/>
          </p:nvPr>
        </p:nvSpPr>
        <p:spPr/>
        <p:txBody>
          <a:bodyPr/>
          <a:lstStyle/>
          <a:p>
            <a:r>
              <a:rPr lang="fr-CH" dirty="0" smtClean="0"/>
              <a:t>le </a:t>
            </a:r>
            <a:r>
              <a:rPr lang="fr-CH" dirty="0"/>
              <a:t>délai de trois ans visé au paragraphe 1 peut être dépassé pour tenir </a:t>
            </a:r>
            <a:r>
              <a:rPr lang="fr-CH" dirty="0" smtClean="0"/>
              <a:t>compte </a:t>
            </a:r>
            <a:r>
              <a:rPr lang="fr-CH" dirty="0"/>
              <a:t>de circonstances </a:t>
            </a:r>
            <a:r>
              <a:rPr lang="fr-CH" dirty="0" smtClean="0"/>
              <a:t>particulières</a:t>
            </a:r>
          </a:p>
          <a:p>
            <a:r>
              <a:rPr lang="fr-CH" dirty="0"/>
              <a:t>même état que celui dans lequel elles ont été exportées</a:t>
            </a:r>
            <a:endParaRPr lang="fr-CH" dirty="0" smtClean="0"/>
          </a:p>
          <a:p>
            <a:r>
              <a:rPr lang="en-US" dirty="0" err="1"/>
              <a:t>préalablement</a:t>
            </a:r>
            <a:r>
              <a:rPr lang="en-US" dirty="0"/>
              <a:t> à </a:t>
            </a:r>
            <a:r>
              <a:rPr lang="en-US" dirty="0" err="1"/>
              <a:t>leur</a:t>
            </a:r>
            <a:r>
              <a:rPr lang="en-US" dirty="0"/>
              <a:t> </a:t>
            </a:r>
            <a:r>
              <a:rPr lang="en-US" dirty="0" smtClean="0"/>
              <a:t>exportation: destination </a:t>
            </a:r>
            <a:r>
              <a:rPr lang="en-US" dirty="0" err="1" smtClean="0"/>
              <a:t>particulière</a:t>
            </a:r>
            <a:endParaRPr lang="en-US" dirty="0" smtClean="0"/>
          </a:p>
          <a:p>
            <a:r>
              <a:rPr lang="en-US" dirty="0" err="1"/>
              <a:t>p</a:t>
            </a:r>
            <a:r>
              <a:rPr lang="en-US" dirty="0" err="1" smtClean="0"/>
              <a:t>reuves</a:t>
            </a:r>
            <a:r>
              <a:rPr lang="en-US" dirty="0" smtClean="0"/>
              <a:t> (</a:t>
            </a:r>
            <a:r>
              <a:rPr lang="en-US" dirty="0" err="1" smtClean="0"/>
              <a:t>éventuellement</a:t>
            </a:r>
            <a:r>
              <a:rPr lang="en-US" dirty="0" smtClean="0"/>
              <a:t> un bulletin </a:t>
            </a:r>
            <a:r>
              <a:rPr lang="en-US" dirty="0" err="1"/>
              <a:t>d’information</a:t>
            </a:r>
            <a:r>
              <a:rPr lang="en-US" dirty="0"/>
              <a:t> INF </a:t>
            </a:r>
            <a:r>
              <a:rPr lang="en-US" dirty="0" smtClean="0"/>
              <a:t>3)</a:t>
            </a:r>
          </a:p>
          <a:p>
            <a:pPr marL="0" indent="0">
              <a:buNone/>
            </a:pPr>
            <a:endParaRPr lang="en-US" dirty="0"/>
          </a:p>
        </p:txBody>
      </p:sp>
      <p:sp>
        <p:nvSpPr>
          <p:cNvPr id="4" name="Slide Number Placeholder 3"/>
          <p:cNvSpPr>
            <a:spLocks noGrp="1"/>
          </p:cNvSpPr>
          <p:nvPr>
            <p:ph type="sldNum" sz="quarter" idx="12"/>
          </p:nvPr>
        </p:nvSpPr>
        <p:spPr/>
        <p:txBody>
          <a:bodyPr/>
          <a:lstStyle/>
          <a:p>
            <a:fld id="{C58F520E-0D3C-4C73-96DF-B271C0F692B0}" type="slidenum">
              <a:rPr lang="lb-LU" smtClean="0"/>
              <a:t>35</a:t>
            </a:fld>
            <a:endParaRPr lang="lb-LU"/>
          </a:p>
        </p:txBody>
      </p:sp>
    </p:spTree>
    <p:extLst>
      <p:ext uri="{BB962C8B-B14F-4D97-AF65-F5344CB8AC3E}">
        <p14:creationId xmlns:p14="http://schemas.microsoft.com/office/powerpoint/2010/main" val="3396745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93370"/>
            <a:ext cx="10515600" cy="1449994"/>
          </a:xfrm>
        </p:spPr>
        <p:txBody>
          <a:bodyPr>
            <a:normAutofit/>
          </a:bodyPr>
          <a:lstStyle/>
          <a:p>
            <a:r>
              <a:rPr lang="fr-FR" dirty="0" smtClean="0"/>
              <a:t/>
            </a:r>
            <a:br>
              <a:rPr lang="fr-FR" dirty="0" smtClean="0"/>
            </a:br>
            <a:r>
              <a:rPr lang="fr-FR" dirty="0" smtClean="0"/>
              <a:t>Merci pour votre attention</a:t>
            </a:r>
            <a:endParaRPr lang="en-US" dirty="0"/>
          </a:p>
        </p:txBody>
      </p:sp>
      <p:sp>
        <p:nvSpPr>
          <p:cNvPr id="3" name="Content Placeholder 2"/>
          <p:cNvSpPr>
            <a:spLocks noGrp="1"/>
          </p:cNvSpPr>
          <p:nvPr>
            <p:ph idx="1"/>
          </p:nvPr>
        </p:nvSpPr>
        <p:spPr>
          <a:xfrm>
            <a:off x="838200" y="1487978"/>
            <a:ext cx="10515600" cy="4688985"/>
          </a:xfrm>
        </p:spPr>
        <p:txBody>
          <a:bodyPr/>
          <a:lstStyle/>
          <a:p>
            <a:pPr marL="0" indent="0">
              <a:buNone/>
            </a:pPr>
            <a:endParaRPr lang="fr-FR" dirty="0" smtClean="0"/>
          </a:p>
          <a:p>
            <a:pPr marL="0" indent="0">
              <a:buNone/>
            </a:pPr>
            <a:endParaRPr lang="fr-FR" dirty="0"/>
          </a:p>
          <a:p>
            <a:pPr marL="0" indent="0">
              <a:buNone/>
            </a:pPr>
            <a:endParaRPr lang="fr-FR" dirty="0" smtClean="0"/>
          </a:p>
          <a:p>
            <a:pPr marL="0" indent="0">
              <a:buNone/>
            </a:pPr>
            <a:r>
              <a:rPr lang="fr-FR" sz="3200" dirty="0" smtClean="0"/>
              <a:t>Questions ?</a:t>
            </a:r>
            <a:endParaRPr lang="en-US" sz="3200" dirty="0"/>
          </a:p>
        </p:txBody>
      </p:sp>
      <p:sp>
        <p:nvSpPr>
          <p:cNvPr id="4" name="Slide Number Placeholder 3"/>
          <p:cNvSpPr>
            <a:spLocks noGrp="1"/>
          </p:cNvSpPr>
          <p:nvPr>
            <p:ph type="sldNum" sz="quarter" idx="12"/>
          </p:nvPr>
        </p:nvSpPr>
        <p:spPr/>
        <p:txBody>
          <a:bodyPr/>
          <a:lstStyle/>
          <a:p>
            <a:fld id="{C58F520E-0D3C-4C73-96DF-B271C0F692B0}" type="slidenum">
              <a:rPr lang="lb-LU" smtClean="0"/>
              <a:t>36</a:t>
            </a:fld>
            <a:endParaRPr lang="lb-LU"/>
          </a:p>
        </p:txBody>
      </p:sp>
    </p:spTree>
    <p:extLst>
      <p:ext uri="{BB962C8B-B14F-4D97-AF65-F5344CB8AC3E}">
        <p14:creationId xmlns:p14="http://schemas.microsoft.com/office/powerpoint/2010/main" val="1913422702"/>
      </p:ext>
    </p:extLst>
  </p:cSld>
  <p:clrMapOvr>
    <a:masterClrMapping/>
  </p:clrMapOvr>
  <p:timing>
    <p:tnLst>
      <p:par>
        <p:cTn id="1" dur="indefinite" restart="never" nodeType="tmRoot"/>
      </p:par>
    </p:tnLst>
  </p:timing>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2536</Words>
  <Application>Microsoft Office PowerPoint</Application>
  <PresentationFormat>Widescreen</PresentationFormat>
  <Paragraphs>257</Paragraphs>
  <Slides>36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36</vt:i4>
      </vt:variant>
    </vt:vector>
  </HeadingPairs>
  <TitlesOfParts>
    <vt:vector size="41" baseType="lpstr">
      <vt:lpstr>Arial</vt:lpstr>
      <vt:lpstr>Calibri</vt:lpstr>
      <vt:lpstr>Calibri Light</vt:lpstr>
      <vt:lpstr>Wingdings</vt:lpstr>
      <vt:lpstr>Thème Office</vt:lpstr>
      <vt:lpstr>PowerPoint Presentation</vt:lpstr>
      <vt:lpstr> Définir le statut douanier:</vt:lpstr>
      <vt:lpstr>Pourquoi connaître le statut douanier?</vt:lpstr>
      <vt:lpstr>  Quelles marchandises sont considérées comme des marchandises de l’Union? ‎</vt:lpstr>
      <vt:lpstr>  1) les marchandises intégralement obtenues sur le territoire douanier de l’Union (y compris sa mer territoriale)</vt:lpstr>
      <vt:lpstr>   2) les marchandises acheminées sur le territoire douanier de l’Union et mises en libre pratique:‎ </vt:lpstr>
      <vt:lpstr>   2) les marchandises acheminées sur le territoire douanier de l’Union et mises en libre pratique:‎ </vt:lpstr>
      <vt:lpstr>    3) les marchandises obtenues ou produites sur le territoire douanier de l’Union, exclusivement à ‎partir des marchandises des 2 catégories mentionnées ci-avant: </vt:lpstr>
      <vt:lpstr>Détermination « marchandise originaire de l’Union ».‎</vt:lpstr>
      <vt:lpstr>Détermination « marchandise originaire de l’Union ».‎</vt:lpstr>
      <vt:lpstr>Détermination « marchandise originaire de l’Union ».‎</vt:lpstr>
      <vt:lpstr>Présomption du statut douanier de marchandises de l’Union </vt:lpstr>
      <vt:lpstr>Présomption du statut douanier de marchandises de l’Union </vt:lpstr>
      <vt:lpstr>Perte du statut douanier de «marchandises de l'Union» </vt:lpstr>
      <vt:lpstr>Perte du statut douanier de «marchandises de l'Union» </vt:lpstr>
      <vt:lpstr>Perte du statut douanier de «marchandises de l'Union» </vt:lpstr>
      <vt:lpstr>Perte du statut douanier de «marchandises de l'Union» </vt:lpstr>
      <vt:lpstr>Circulation des marchandises de l’Union:</vt:lpstr>
      <vt:lpstr>Circulation des marchandises de l’Union:</vt:lpstr>
      <vt:lpstr>Circulation des marchandises de l’Union:</vt:lpstr>
      <vt:lpstr>Circulation des marchandises de l’Union:</vt:lpstr>
      <vt:lpstr>Circulation des marchandises de l’Union:</vt:lpstr>
      <vt:lpstr>Sortie temporaire du ‎territoire de l’Union </vt:lpstr>
      <vt:lpstr>Sortie temporaire du ‎territoire de l’Union </vt:lpstr>
      <vt:lpstr>Sortie temporaire du ‎territoire de l’Union </vt:lpstr>
      <vt:lpstr>Sortie temporaire du ‎territoire de l’Union </vt:lpstr>
      <vt:lpstr>Sortie temporaire du ‎territoire de l’Union </vt:lpstr>
      <vt:lpstr>Sortie temporaire du ‎territoire de l’Union </vt:lpstr>
      <vt:lpstr> T2L et T2LF </vt:lpstr>
      <vt:lpstr>Proof of Union Status - PoUS</vt:lpstr>
      <vt:lpstr>Proof of Union Status - PoUS</vt:lpstr>
      <vt:lpstr>Proof of Union Status - PoUS</vt:lpstr>
      <vt:lpstr>PowerPoint Presentation</vt:lpstr>
      <vt:lpstr>Marchandises en retour</vt:lpstr>
      <vt:lpstr>Marchandises en retour</vt:lpstr>
      <vt:lpstr> Merci pour votre attention</vt:lpstr>
    </vt:vector>
  </TitlesOfParts>
  <Company>DOUANES ET ACCISES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ferring</dc:creator>
  <cp:lastModifiedBy>bofferdingd</cp:lastModifiedBy>
  <cp:revision>115</cp:revision>
  <cp:lastPrinted>2024-10-07T11:28:10Z</cp:lastPrinted>
  <dcterms:created xsi:type="dcterms:W3CDTF">2018-09-26T09:04:10Z</dcterms:created>
  <dcterms:modified xsi:type="dcterms:W3CDTF">2024-10-07T16:50:29Z</dcterms:modified>
</cp:coreProperties>
</file>