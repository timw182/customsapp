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handoutMasterIdLst>
    <p:handoutMasterId r:id="rId28"/>
  </p:handoutMasterIdLst>
  <p:sldIdLst>
    <p:sldId id="256" r:id="rId5"/>
    <p:sldId id="258" r:id="rId6"/>
    <p:sldId id="259" r:id="rId7"/>
    <p:sldId id="260" r:id="rId8"/>
    <p:sldId id="261" r:id="rId9"/>
    <p:sldId id="274" r:id="rId10"/>
    <p:sldId id="275" r:id="rId11"/>
    <p:sldId id="276" r:id="rId12"/>
    <p:sldId id="286" r:id="rId13"/>
    <p:sldId id="277" r:id="rId14"/>
    <p:sldId id="278" r:id="rId15"/>
    <p:sldId id="279" r:id="rId16"/>
    <p:sldId id="262" r:id="rId17"/>
    <p:sldId id="280" r:id="rId18"/>
    <p:sldId id="281" r:id="rId19"/>
    <p:sldId id="282" r:id="rId20"/>
    <p:sldId id="283" r:id="rId21"/>
    <p:sldId id="284" r:id="rId22"/>
    <p:sldId id="263" r:id="rId23"/>
    <p:sldId id="264" r:id="rId24"/>
    <p:sldId id="265" r:id="rId25"/>
    <p:sldId id="269" r:id="rId26"/>
    <p:sldId id="285" r:id="rId27"/>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chlink" initials="m" lastIdx="2" clrIdx="0">
    <p:extLst>
      <p:ext uri="{19B8F6BF-5375-455C-9EA6-DF929625EA0E}">
        <p15:presenceInfo xmlns:p15="http://schemas.microsoft.com/office/powerpoint/2012/main" userId="mschlin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700" autoAdjust="0"/>
    <p:restoredTop sz="94660"/>
  </p:normalViewPr>
  <p:slideViewPr>
    <p:cSldViewPr snapToGrid="0">
      <p:cViewPr varScale="1">
        <p:scale>
          <a:sx n="111" d="100"/>
          <a:sy n="111"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AB039E8-4792-4DE3-AA83-F7516F3B65D7}" type="datetimeFigureOut">
              <a:rPr lang="fr-CH" smtClean="0"/>
              <a:t>04.11.2024</a:t>
            </a:fld>
            <a:endParaRPr lang="fr-CH"/>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CH"/>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3207A034-ED28-44E1-8859-77E415D3450D}" type="slidenum">
              <a:rPr lang="fr-CH" smtClean="0"/>
              <a:t>‹#›</a:t>
            </a:fld>
            <a:endParaRPr lang="fr-CH"/>
          </a:p>
        </p:txBody>
      </p:sp>
    </p:spTree>
    <p:extLst>
      <p:ext uri="{BB962C8B-B14F-4D97-AF65-F5344CB8AC3E}">
        <p14:creationId xmlns:p14="http://schemas.microsoft.com/office/powerpoint/2010/main" val="201691176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fr-CH"/>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04.11.2024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990715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04.11.2024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0607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fr-CH"/>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5AFC1B58-A5CB-4888-98D1-673EE0D4D308}" type="datetimeFigureOut">
              <a:rPr lang="fr-CH" smtClean="0"/>
              <a:t>04.11.2024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993807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Datumsplatzhalter 4"/>
          <p:cNvSpPr>
            <a:spLocks noGrp="1"/>
          </p:cNvSpPr>
          <p:nvPr>
            <p:ph type="dt" sz="half" idx="10"/>
          </p:nvPr>
        </p:nvSpPr>
        <p:spPr/>
        <p:txBody>
          <a:bodyPr/>
          <a:lstStyle/>
          <a:p>
            <a:fld id="{5AFC1B58-A5CB-4888-98D1-673EE0D4D308}" type="datetimeFigureOut">
              <a:rPr lang="fr-CH" smtClean="0"/>
              <a:t>04.11.2024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38195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fr-CH"/>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7" name="Datumsplatzhalter 6"/>
          <p:cNvSpPr>
            <a:spLocks noGrp="1"/>
          </p:cNvSpPr>
          <p:nvPr>
            <p:ph type="dt" sz="half" idx="10"/>
          </p:nvPr>
        </p:nvSpPr>
        <p:spPr/>
        <p:txBody>
          <a:bodyPr/>
          <a:lstStyle/>
          <a:p>
            <a:fld id="{5AFC1B58-A5CB-4888-98D1-673EE0D4D308}" type="datetimeFigureOut">
              <a:rPr lang="fr-CH" smtClean="0"/>
              <a:t>04.11.2024</a:t>
            </a:fld>
            <a:endParaRPr lang="fr-CH"/>
          </a:p>
        </p:txBody>
      </p:sp>
      <p:sp>
        <p:nvSpPr>
          <p:cNvPr id="8" name="Fußzeilenplatzhalter 7"/>
          <p:cNvSpPr>
            <a:spLocks noGrp="1"/>
          </p:cNvSpPr>
          <p:nvPr>
            <p:ph type="ftr" sz="quarter" idx="11"/>
          </p:nvPr>
        </p:nvSpPr>
        <p:spPr/>
        <p:txBody>
          <a:bodyPr/>
          <a:lstStyle/>
          <a:p>
            <a:endParaRPr lang="fr-CH"/>
          </a:p>
        </p:txBody>
      </p:sp>
      <p:sp>
        <p:nvSpPr>
          <p:cNvPr id="9" name="Foliennummernplatzhalter 8"/>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172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Datumsplatzhalter 2"/>
          <p:cNvSpPr>
            <a:spLocks noGrp="1"/>
          </p:cNvSpPr>
          <p:nvPr>
            <p:ph type="dt" sz="half" idx="10"/>
          </p:nvPr>
        </p:nvSpPr>
        <p:spPr/>
        <p:txBody>
          <a:bodyPr/>
          <a:lstStyle/>
          <a:p>
            <a:fld id="{5AFC1B58-A5CB-4888-98D1-673EE0D4D308}" type="datetimeFigureOut">
              <a:rPr lang="fr-CH" smtClean="0"/>
              <a:t>04.11.2024</a:t>
            </a:fld>
            <a:endParaRPr lang="fr-CH"/>
          </a:p>
        </p:txBody>
      </p:sp>
      <p:sp>
        <p:nvSpPr>
          <p:cNvPr id="4" name="Fußzeilenplatzhalter 3"/>
          <p:cNvSpPr>
            <a:spLocks noGrp="1"/>
          </p:cNvSpPr>
          <p:nvPr>
            <p:ph type="ftr" sz="quarter" idx="11"/>
          </p:nvPr>
        </p:nvSpPr>
        <p:spPr/>
        <p:txBody>
          <a:bodyPr/>
          <a:lstStyle/>
          <a:p>
            <a:endParaRPr lang="fr-CH"/>
          </a:p>
        </p:txBody>
      </p:sp>
      <p:sp>
        <p:nvSpPr>
          <p:cNvPr id="5" name="Foliennummernplatzhalter 4"/>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68235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FC1B58-A5CB-4888-98D1-673EE0D4D308}" type="datetimeFigureOut">
              <a:rPr lang="fr-CH" smtClean="0"/>
              <a:t>04.11.2024</a:t>
            </a:fld>
            <a:endParaRPr lang="fr-CH"/>
          </a:p>
        </p:txBody>
      </p:sp>
      <p:sp>
        <p:nvSpPr>
          <p:cNvPr id="3" name="Fußzeilenplatzhalter 2"/>
          <p:cNvSpPr>
            <a:spLocks noGrp="1"/>
          </p:cNvSpPr>
          <p:nvPr>
            <p:ph type="ftr" sz="quarter" idx="11"/>
          </p:nvPr>
        </p:nvSpPr>
        <p:spPr/>
        <p:txBody>
          <a:bodyPr/>
          <a:lstStyle/>
          <a:p>
            <a:endParaRPr lang="fr-CH"/>
          </a:p>
        </p:txBody>
      </p:sp>
      <p:sp>
        <p:nvSpPr>
          <p:cNvPr id="4" name="Foliennummernplatzhalter 3"/>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82519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04.11.2024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92002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04.11.2024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2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04.11.2024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7018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fr-CH"/>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04.11.2024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952568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2000" b="-12000"/>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fr-CH"/>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C1B58-A5CB-4888-98D1-673EE0D4D308}" type="datetimeFigureOut">
              <a:rPr lang="fr-CH" smtClean="0"/>
              <a:t>04.11.2024</a:t>
            </a:fld>
            <a:endParaRPr lang="fr-CH"/>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1F01A-B187-4E96-A42F-7B20626A13B5}" type="slidenum">
              <a:rPr lang="fr-CH" smtClean="0"/>
              <a:t>‹#›</a:t>
            </a:fld>
            <a:endParaRPr lang="fr-CH"/>
          </a:p>
        </p:txBody>
      </p:sp>
    </p:spTree>
    <p:extLst>
      <p:ext uri="{BB962C8B-B14F-4D97-AF65-F5344CB8AC3E}">
        <p14:creationId xmlns:p14="http://schemas.microsoft.com/office/powerpoint/2010/main" val="2775136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ur-lex.europa.eu/LexUriServ/LexUriServ.do?uri=OJ:L:2010:112:0004:0005:FR: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fr-LU" sz="5400" b="1" dirty="0" smtClean="0">
                <a:ln w="9525">
                  <a:solidFill>
                    <a:schemeClr val="accent1"/>
                  </a:solidFill>
                  <a:prstDash val="solid"/>
                </a:ln>
                <a:effectLst>
                  <a:outerShdw blurRad="12700" dist="38100" dir="2700000" algn="tl" rotWithShape="0">
                    <a:schemeClr val="bg1">
                      <a:lumMod val="50000"/>
                    </a:schemeClr>
                  </a:outerShdw>
                </a:effectLst>
              </a:rPr>
              <a:t/>
            </a:r>
            <a:br>
              <a:rPr lang="fr-LU" sz="5400" b="1" dirty="0" smtClean="0">
                <a:ln w="9525">
                  <a:solidFill>
                    <a:schemeClr val="accent1"/>
                  </a:solidFill>
                  <a:prstDash val="solid"/>
                </a:ln>
                <a:effectLst>
                  <a:outerShdw blurRad="12700" dist="38100" dir="2700000" algn="tl" rotWithShape="0">
                    <a:schemeClr val="bg1">
                      <a:lumMod val="50000"/>
                    </a:schemeClr>
                  </a:outerShdw>
                </a:effectLst>
              </a:rPr>
            </a:br>
            <a:endParaRPr lang="fr-CH" sz="5400" b="1" dirty="0">
              <a:ln w="9525">
                <a:solidFill>
                  <a:schemeClr val="accent1"/>
                </a:solidFill>
                <a:prstDash val="solid"/>
              </a:ln>
              <a:effectLst>
                <a:outerShdw blurRad="12700" dist="38100" dir="2700000" algn="tl" rotWithShape="0">
                  <a:schemeClr val="bg1">
                    <a:lumMod val="50000"/>
                  </a:schemeClr>
                </a:outerShdw>
              </a:effectLst>
            </a:endParaRPr>
          </a:p>
        </p:txBody>
      </p:sp>
      <p:sp>
        <p:nvSpPr>
          <p:cNvPr id="3" name="Subtitle 2"/>
          <p:cNvSpPr>
            <a:spLocks noGrp="1"/>
          </p:cNvSpPr>
          <p:nvPr>
            <p:ph type="subTitle" idx="1"/>
          </p:nvPr>
        </p:nvSpPr>
        <p:spPr>
          <a:xfrm>
            <a:off x="1524000" y="2443481"/>
            <a:ext cx="9144000" cy="1655762"/>
          </a:xfrm>
        </p:spPr>
        <p:txBody>
          <a:bodyPr>
            <a:normAutofit/>
          </a:bodyPr>
          <a:lstStyle/>
          <a:p>
            <a:r>
              <a:rPr lang="fr-FR" sz="5400" b="1" dirty="0">
                <a:ln w="9525">
                  <a:solidFill>
                    <a:schemeClr val="accent1"/>
                  </a:solidFill>
                  <a:prstDash val="solid"/>
                </a:ln>
                <a:effectLst>
                  <a:outerShdw blurRad="12700" dist="38100" dir="2700000" algn="tl" rotWithShape="0">
                    <a:schemeClr val="bg1">
                      <a:lumMod val="50000"/>
                    </a:schemeClr>
                  </a:outerShdw>
                </a:effectLst>
                <a:latin typeface="+mj-lt"/>
                <a:ea typeface="+mj-ea"/>
                <a:cs typeface="+mj-cs"/>
              </a:rPr>
              <a:t>Tarification</a:t>
            </a:r>
          </a:p>
        </p:txBody>
      </p:sp>
      <p:pic>
        <p:nvPicPr>
          <p:cNvPr id="5" name="Grafik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064" y="219138"/>
            <a:ext cx="3031402" cy="818232"/>
          </a:xfrm>
          <a:prstGeom prst="rect">
            <a:avLst/>
          </a:prstGeom>
        </p:spPr>
      </p:pic>
      <p:sp>
        <p:nvSpPr>
          <p:cNvPr id="7" name="Titel 3"/>
          <p:cNvSpPr txBox="1">
            <a:spLocks/>
          </p:cNvSpPr>
          <p:nvPr/>
        </p:nvSpPr>
        <p:spPr>
          <a:xfrm>
            <a:off x="644770" y="5003800"/>
            <a:ext cx="11547230" cy="1295400"/>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r-CH" sz="2800" b="1" dirty="0"/>
          </a:p>
        </p:txBody>
      </p:sp>
    </p:spTree>
    <p:extLst>
      <p:ext uri="{BB962C8B-B14F-4D97-AF65-F5344CB8AC3E}">
        <p14:creationId xmlns:p14="http://schemas.microsoft.com/office/powerpoint/2010/main" val="4120300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Pourquoi un classement tarifaire?</a:t>
            </a:r>
          </a:p>
        </p:txBody>
      </p:sp>
      <p:sp>
        <p:nvSpPr>
          <p:cNvPr id="3" name="Inhaltsplatzhalter 2"/>
          <p:cNvSpPr>
            <a:spLocks noGrp="1"/>
          </p:cNvSpPr>
          <p:nvPr>
            <p:ph idx="1"/>
          </p:nvPr>
        </p:nvSpPr>
        <p:spPr/>
        <p:txBody>
          <a:bodyPr/>
          <a:lstStyle/>
          <a:p>
            <a:r>
              <a:rPr lang="fr-FR" dirty="0"/>
              <a:t>Une des 3 notions essentielles d’une déclaration en douane:</a:t>
            </a:r>
          </a:p>
          <a:p>
            <a:pPr lvl="1"/>
            <a:r>
              <a:rPr lang="fr-FR" dirty="0"/>
              <a:t>Tarification</a:t>
            </a:r>
          </a:p>
          <a:p>
            <a:pPr lvl="1"/>
            <a:r>
              <a:rPr lang="fr-FR" dirty="0"/>
              <a:t>Origine</a:t>
            </a:r>
          </a:p>
          <a:p>
            <a:pPr lvl="1"/>
            <a:r>
              <a:rPr lang="fr-FR" dirty="0"/>
              <a:t>Valeur en douane</a:t>
            </a:r>
          </a:p>
          <a:p>
            <a:r>
              <a:rPr lang="fr-FR" dirty="0"/>
              <a:t>Permet une identification de la marchandise afin de déterminer:</a:t>
            </a:r>
          </a:p>
          <a:p>
            <a:pPr lvl="1"/>
            <a:r>
              <a:rPr lang="fr-FR" dirty="0"/>
              <a:t>Des mesures fiscales telles que les droits d’entrée</a:t>
            </a:r>
          </a:p>
          <a:p>
            <a:pPr lvl="1"/>
            <a:r>
              <a:rPr lang="fr-FR" dirty="0"/>
              <a:t>Des mesures non-fiscales telles que des contingents ou des prohibitions et restrictions</a:t>
            </a:r>
          </a:p>
          <a:p>
            <a:endParaRPr lang="fr-CH" dirty="0"/>
          </a:p>
        </p:txBody>
      </p:sp>
    </p:spTree>
    <p:extLst>
      <p:ext uri="{BB962C8B-B14F-4D97-AF65-F5344CB8AC3E}">
        <p14:creationId xmlns:p14="http://schemas.microsoft.com/office/powerpoint/2010/main" val="1676613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Historique</a:t>
            </a:r>
          </a:p>
        </p:txBody>
      </p:sp>
      <p:sp>
        <p:nvSpPr>
          <p:cNvPr id="3" name="Inhaltsplatzhalter 2"/>
          <p:cNvSpPr>
            <a:spLocks noGrp="1"/>
          </p:cNvSpPr>
          <p:nvPr>
            <p:ph idx="1"/>
          </p:nvPr>
        </p:nvSpPr>
        <p:spPr/>
        <p:txBody>
          <a:bodyPr/>
          <a:lstStyle/>
          <a:p>
            <a:r>
              <a:rPr lang="fr-FR" dirty="0"/>
              <a:t>Convention internationale sur le système harmonisé de désignation et de codification des ‎marchandises ‎:</a:t>
            </a:r>
          </a:p>
          <a:p>
            <a:pPr lvl="1"/>
            <a:r>
              <a:rPr lang="fr-FR" dirty="0"/>
              <a:t>Approuvée le 14 juin 1983</a:t>
            </a:r>
          </a:p>
          <a:p>
            <a:pPr lvl="1"/>
            <a:r>
              <a:rPr lang="fr-FR" dirty="0"/>
              <a:t>Entrée en vigueur le 1</a:t>
            </a:r>
            <a:r>
              <a:rPr lang="fr-FR" baseline="30000" dirty="0"/>
              <a:t>er</a:t>
            </a:r>
            <a:r>
              <a:rPr lang="fr-FR" dirty="0"/>
              <a:t> janvier 1988</a:t>
            </a:r>
          </a:p>
          <a:p>
            <a:r>
              <a:rPr lang="fr-FR" dirty="0"/>
              <a:t>‎209 pays, territoires et unions économiques ou douanières utilisent le Système harmonisé‎</a:t>
            </a:r>
          </a:p>
          <a:p>
            <a:pPr marL="0" indent="0">
              <a:buNone/>
            </a:pPr>
            <a:endParaRPr lang="fr-CH" dirty="0"/>
          </a:p>
        </p:txBody>
      </p:sp>
    </p:spTree>
    <p:extLst>
      <p:ext uri="{BB962C8B-B14F-4D97-AF65-F5344CB8AC3E}">
        <p14:creationId xmlns:p14="http://schemas.microsoft.com/office/powerpoint/2010/main" val="252391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Utilisation du SH</a:t>
            </a:r>
          </a:p>
        </p:txBody>
      </p:sp>
      <p:sp>
        <p:nvSpPr>
          <p:cNvPr id="3" name="Inhaltsplatzhalter 2"/>
          <p:cNvSpPr>
            <a:spLocks noGrp="1"/>
          </p:cNvSpPr>
          <p:nvPr>
            <p:ph idx="1"/>
          </p:nvPr>
        </p:nvSpPr>
        <p:spPr/>
        <p:txBody>
          <a:bodyPr/>
          <a:lstStyle/>
          <a:p>
            <a:r>
              <a:rPr lang="fr-FR" dirty="0"/>
              <a:t>Détermination des droits et taxes</a:t>
            </a:r>
          </a:p>
          <a:p>
            <a:r>
              <a:rPr lang="fr-FR" dirty="0"/>
              <a:t>Règles d’origine</a:t>
            </a:r>
          </a:p>
          <a:p>
            <a:r>
              <a:rPr lang="fr-FR" dirty="0"/>
              <a:t>Statistiques sur le commerce international‎</a:t>
            </a:r>
          </a:p>
          <a:p>
            <a:r>
              <a:rPr lang="fr-FR" dirty="0"/>
              <a:t>Élaboration des politiques de commerce international‎</a:t>
            </a:r>
          </a:p>
          <a:p>
            <a:r>
              <a:rPr lang="fr-FR" dirty="0"/>
              <a:t>Surveillance du commerce de certaines marchandises réglementées telles que les marchandises ‎appauvrissant la couche d’ozone‎</a:t>
            </a:r>
          </a:p>
          <a:p>
            <a:r>
              <a:rPr lang="fr-FR" dirty="0"/>
              <a:t>…</a:t>
            </a:r>
          </a:p>
          <a:p>
            <a:endParaRPr lang="fr-CH" dirty="0"/>
          </a:p>
        </p:txBody>
      </p:sp>
    </p:spTree>
    <p:extLst>
      <p:ext uri="{BB962C8B-B14F-4D97-AF65-F5344CB8AC3E}">
        <p14:creationId xmlns:p14="http://schemas.microsoft.com/office/powerpoint/2010/main" val="2728679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Structure du SH</a:t>
            </a:r>
          </a:p>
        </p:txBody>
      </p:sp>
      <p:sp>
        <p:nvSpPr>
          <p:cNvPr id="3" name="Inhaltsplatzhalter 2"/>
          <p:cNvSpPr>
            <a:spLocks noGrp="1"/>
          </p:cNvSpPr>
          <p:nvPr>
            <p:ph idx="1"/>
          </p:nvPr>
        </p:nvSpPr>
        <p:spPr/>
        <p:txBody>
          <a:bodyPr/>
          <a:lstStyle/>
          <a:p>
            <a:r>
              <a:rPr lang="fr-FR" dirty="0"/>
              <a:t>21 sections</a:t>
            </a:r>
          </a:p>
          <a:p>
            <a:r>
              <a:rPr lang="fr-FR" dirty="0"/>
              <a:t>97 chapitres</a:t>
            </a:r>
          </a:p>
          <a:p>
            <a:r>
              <a:rPr lang="fr-FR" dirty="0"/>
              <a:t>1224 positions (à 4 chiffres)</a:t>
            </a:r>
          </a:p>
          <a:p>
            <a:r>
              <a:rPr lang="fr-FR" dirty="0"/>
              <a:t>5205 sous-positions (à 6 chiffres)</a:t>
            </a:r>
          </a:p>
          <a:p>
            <a:r>
              <a:rPr lang="fr-FR" dirty="0"/>
              <a:t>Révision tous les 5 ans </a:t>
            </a:r>
            <a:r>
              <a:rPr lang="fr-FR" dirty="0">
                <a:sym typeface="Wingdings" panose="05000000000000000000" pitchFamily="2" charset="2"/>
              </a:rPr>
              <a:t> prochaine révision pour </a:t>
            </a:r>
            <a:r>
              <a:rPr lang="fr-FR" dirty="0" smtClean="0">
                <a:sym typeface="Wingdings" panose="05000000000000000000" pitchFamily="2" charset="2"/>
              </a:rPr>
              <a:t>2027</a:t>
            </a:r>
            <a:endParaRPr lang="en-US" dirty="0"/>
          </a:p>
          <a:p>
            <a:endParaRPr lang="fr-CH" dirty="0"/>
          </a:p>
        </p:txBody>
      </p:sp>
    </p:spTree>
    <p:extLst>
      <p:ext uri="{BB962C8B-B14F-4D97-AF65-F5344CB8AC3E}">
        <p14:creationId xmlns:p14="http://schemas.microsoft.com/office/powerpoint/2010/main" val="2571688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lstStyle/>
          <a:p>
            <a:r>
              <a:rPr lang="lb-LU" dirty="0" smtClean="0"/>
              <a:t>Exemple:</a:t>
            </a:r>
            <a:endParaRPr lang="fr-LU" dirty="0"/>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LU" dirty="0" smtClean="0"/>
              <a:t>Section I : ANIMAUX VIVANTS ET PRODUITS DU REGNE ANIMAL</a:t>
            </a:r>
          </a:p>
          <a:p>
            <a:pPr>
              <a:buFont typeface="Wingdings" panose="05000000000000000000" pitchFamily="2" charset="2"/>
              <a:buChar char="Ø"/>
            </a:pPr>
            <a:r>
              <a:rPr lang="fr-LU" dirty="0" smtClean="0"/>
              <a:t>Chapitre 01 : Animaux vivants</a:t>
            </a:r>
          </a:p>
          <a:p>
            <a:pPr lvl="1">
              <a:buFont typeface="Wingdings" panose="05000000000000000000" pitchFamily="2" charset="2"/>
              <a:buChar char="Ø"/>
            </a:pPr>
            <a:r>
              <a:rPr lang="fr-LU" dirty="0"/>
              <a:t>Position 0101 : Chevaux, ânes, mulets et </a:t>
            </a:r>
            <a:r>
              <a:rPr lang="fr-LU" dirty="0" err="1" smtClean="0"/>
              <a:t>bardots,vivants</a:t>
            </a:r>
            <a:r>
              <a:rPr lang="fr-LU" dirty="0"/>
              <a:t>.</a:t>
            </a:r>
          </a:p>
          <a:p>
            <a:pPr lvl="1">
              <a:buFont typeface="Wingdings" panose="05000000000000000000" pitchFamily="2" charset="2"/>
              <a:buChar char="Ø"/>
            </a:pPr>
            <a:r>
              <a:rPr lang="fr-LU" dirty="0" smtClean="0"/>
              <a:t>Position </a:t>
            </a:r>
            <a:r>
              <a:rPr lang="fr-LU" dirty="0"/>
              <a:t>0102 : Animaux vivants de l’espèce bovine.</a:t>
            </a:r>
          </a:p>
          <a:p>
            <a:pPr lvl="1">
              <a:buFont typeface="Wingdings" panose="05000000000000000000" pitchFamily="2" charset="2"/>
              <a:buChar char="Ø"/>
            </a:pPr>
            <a:r>
              <a:rPr lang="fr-LU" dirty="0"/>
              <a:t>Position 0103 : Animaux vivants de l’espèce porcine.</a:t>
            </a:r>
          </a:p>
          <a:p>
            <a:pPr lvl="1">
              <a:buFont typeface="Wingdings" panose="05000000000000000000" pitchFamily="2" charset="2"/>
              <a:buChar char="Ø"/>
            </a:pPr>
            <a:r>
              <a:rPr lang="fr-LU" dirty="0"/>
              <a:t>Position 0104 : Animaux vivants des espèces ovine ou caprine.</a:t>
            </a:r>
          </a:p>
          <a:p>
            <a:pPr lvl="1">
              <a:buFont typeface="Wingdings" panose="05000000000000000000" pitchFamily="2" charset="2"/>
              <a:buChar char="Ø"/>
            </a:pPr>
            <a:r>
              <a:rPr lang="fr-LU" dirty="0"/>
              <a:t>Position 0105 : Coqs, poules, canards, oies, dindons, dindes et pintades,...</a:t>
            </a:r>
          </a:p>
          <a:p>
            <a:pPr lvl="1">
              <a:buFont typeface="Wingdings" panose="05000000000000000000" pitchFamily="2" charset="2"/>
              <a:buChar char="Ø"/>
            </a:pPr>
            <a:r>
              <a:rPr lang="fr-LU" dirty="0"/>
              <a:t>Position 0106 : Autres animaux vivants</a:t>
            </a:r>
            <a:r>
              <a:rPr lang="fr-LU" dirty="0" smtClean="0"/>
              <a:t>.</a:t>
            </a:r>
          </a:p>
          <a:p>
            <a:pPr lvl="3">
              <a:buFont typeface="Wingdings" panose="05000000000000000000" pitchFamily="2" charset="2"/>
              <a:buChar char="Ø"/>
            </a:pPr>
            <a:r>
              <a:rPr lang="lb-LU" dirty="0"/>
              <a:t> </a:t>
            </a:r>
            <a:r>
              <a:rPr lang="lb-LU" sz="2800" dirty="0"/>
              <a:t>Sous-Position 010641 : Abeilles</a:t>
            </a:r>
            <a:endParaRPr lang="fr-LU" sz="2800" dirty="0"/>
          </a:p>
          <a:p>
            <a:pPr>
              <a:buFont typeface="Wingdings" panose="05000000000000000000" pitchFamily="2" charset="2"/>
              <a:buChar char="Ø"/>
            </a:pPr>
            <a:endParaRPr lang="fr-LU" dirty="0" smtClean="0"/>
          </a:p>
          <a:p>
            <a:pPr>
              <a:buFont typeface="Wingdings" panose="05000000000000000000" pitchFamily="2" charset="2"/>
              <a:buChar char="Ø"/>
            </a:pPr>
            <a:endParaRPr lang="fr-LU" dirty="0" smtClean="0"/>
          </a:p>
        </p:txBody>
      </p:sp>
    </p:spTree>
    <p:extLst>
      <p:ext uri="{BB962C8B-B14F-4D97-AF65-F5344CB8AC3E}">
        <p14:creationId xmlns:p14="http://schemas.microsoft.com/office/powerpoint/2010/main" val="275468627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Outils du SH:</a:t>
            </a:r>
            <a:endParaRPr lang="fr-LU" dirty="0"/>
          </a:p>
        </p:txBody>
      </p:sp>
      <p:sp>
        <p:nvSpPr>
          <p:cNvPr id="3" name="Espace réservé du contenu 2"/>
          <p:cNvSpPr>
            <a:spLocks noGrp="1"/>
          </p:cNvSpPr>
          <p:nvPr>
            <p:ph idx="1"/>
          </p:nvPr>
        </p:nvSpPr>
        <p:spPr/>
        <p:txBody>
          <a:bodyPr>
            <a:normAutofit/>
          </a:bodyPr>
          <a:lstStyle/>
          <a:p>
            <a:endParaRPr lang="fr-LU" sz="3600" b="1" dirty="0"/>
          </a:p>
          <a:p>
            <a:r>
              <a:rPr lang="fr-LU" sz="3600" b="1" dirty="0"/>
              <a:t>6 Règles générales interprétatives (RGI</a:t>
            </a:r>
            <a:r>
              <a:rPr lang="fr-LU" sz="3600" b="1" dirty="0" smtClean="0"/>
              <a:t>) </a:t>
            </a:r>
            <a:endParaRPr lang="fr-LU" sz="3600" b="1" dirty="0"/>
          </a:p>
          <a:p>
            <a:pPr marL="0" indent="0">
              <a:buNone/>
            </a:pPr>
            <a:endParaRPr lang="fr-LU" dirty="0" smtClean="0"/>
          </a:p>
          <a:p>
            <a:pPr marL="0" indent="0">
              <a:buNone/>
            </a:pPr>
            <a:endParaRPr lang="fr-LU" dirty="0"/>
          </a:p>
        </p:txBody>
      </p:sp>
    </p:spTree>
    <p:extLst>
      <p:ext uri="{BB962C8B-B14F-4D97-AF65-F5344CB8AC3E}">
        <p14:creationId xmlns:p14="http://schemas.microsoft.com/office/powerpoint/2010/main" val="212339028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Autres outils du SH:</a:t>
            </a:r>
            <a:endParaRPr lang="fr-LU" dirty="0"/>
          </a:p>
        </p:txBody>
      </p:sp>
      <p:sp>
        <p:nvSpPr>
          <p:cNvPr id="3" name="Espace réservé du contenu 2"/>
          <p:cNvSpPr>
            <a:spLocks noGrp="1"/>
          </p:cNvSpPr>
          <p:nvPr>
            <p:ph idx="1"/>
          </p:nvPr>
        </p:nvSpPr>
        <p:spPr/>
        <p:txBody>
          <a:bodyPr>
            <a:normAutofit/>
          </a:bodyPr>
          <a:lstStyle/>
          <a:p>
            <a:r>
              <a:rPr lang="fr-LU" b="1" dirty="0" smtClean="0"/>
              <a:t>Notes </a:t>
            </a:r>
            <a:r>
              <a:rPr lang="fr-LU" b="1" dirty="0"/>
              <a:t>de sections, chapitres et </a:t>
            </a:r>
            <a:r>
              <a:rPr lang="fr-LU" b="1" dirty="0" smtClean="0"/>
              <a:t>sous-positions</a:t>
            </a:r>
          </a:p>
          <a:p>
            <a:pPr marL="0" indent="0">
              <a:buNone/>
            </a:pPr>
            <a:r>
              <a:rPr lang="fr-LU" dirty="0" smtClean="0"/>
              <a:t>     </a:t>
            </a:r>
          </a:p>
        </p:txBody>
      </p:sp>
      <p:pic>
        <p:nvPicPr>
          <p:cNvPr id="4" name="Picture 3"/>
          <p:cNvPicPr>
            <a:picLocks noChangeAspect="1"/>
          </p:cNvPicPr>
          <p:nvPr/>
        </p:nvPicPr>
        <p:blipFill>
          <a:blip r:embed="rId2"/>
          <a:stretch>
            <a:fillRect/>
          </a:stretch>
        </p:blipFill>
        <p:spPr>
          <a:xfrm>
            <a:off x="1916396" y="2709898"/>
            <a:ext cx="8751605" cy="4158564"/>
          </a:xfrm>
          <a:prstGeom prst="rect">
            <a:avLst/>
          </a:prstGeom>
        </p:spPr>
      </p:pic>
    </p:spTree>
    <p:extLst>
      <p:ext uri="{BB962C8B-B14F-4D97-AF65-F5344CB8AC3E}">
        <p14:creationId xmlns:p14="http://schemas.microsoft.com/office/powerpoint/2010/main" val="8257610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Autres outils du SH:</a:t>
            </a:r>
            <a:endParaRPr lang="fr-LU" dirty="0"/>
          </a:p>
        </p:txBody>
      </p:sp>
      <p:sp>
        <p:nvSpPr>
          <p:cNvPr id="3" name="Espace réservé du contenu 2"/>
          <p:cNvSpPr>
            <a:spLocks noGrp="1"/>
          </p:cNvSpPr>
          <p:nvPr>
            <p:ph idx="1"/>
          </p:nvPr>
        </p:nvSpPr>
        <p:spPr/>
        <p:txBody>
          <a:bodyPr>
            <a:normAutofit/>
          </a:bodyPr>
          <a:lstStyle/>
          <a:p>
            <a:r>
              <a:rPr lang="fr-LU" sz="3800" b="1" dirty="0"/>
              <a:t>Notes explicatives </a:t>
            </a:r>
          </a:p>
          <a:p>
            <a:pPr marL="0" indent="0">
              <a:buNone/>
            </a:pPr>
            <a:r>
              <a:rPr lang="fr-LU" sz="3800" b="1" dirty="0"/>
              <a:t>	</a:t>
            </a:r>
            <a:endParaRPr lang="fr-LU" dirty="0"/>
          </a:p>
          <a:p>
            <a:r>
              <a:rPr lang="fr-FR" dirty="0"/>
              <a:t>Notes explicatives utilisées par tous les membres de l’OMD</a:t>
            </a:r>
          </a:p>
          <a:p>
            <a:r>
              <a:rPr lang="fr-FR" dirty="0"/>
              <a:t>Contribuent à une interprétation harmonisée et uniforme du SH</a:t>
            </a:r>
          </a:p>
          <a:p>
            <a:r>
              <a:rPr lang="fr-FR" dirty="0"/>
              <a:t>Servent à illustrer, à expliquer en détail le contenu d’une position</a:t>
            </a:r>
          </a:p>
          <a:p>
            <a:r>
              <a:rPr lang="fr-FR" dirty="0"/>
              <a:t>Indiquent des exclusions</a:t>
            </a:r>
          </a:p>
          <a:p>
            <a:pPr marL="0" indent="0">
              <a:buNone/>
            </a:pPr>
            <a:endParaRPr lang="fr-LU" dirty="0"/>
          </a:p>
        </p:txBody>
      </p:sp>
    </p:spTree>
    <p:extLst>
      <p:ext uri="{BB962C8B-B14F-4D97-AF65-F5344CB8AC3E}">
        <p14:creationId xmlns:p14="http://schemas.microsoft.com/office/powerpoint/2010/main" val="352639269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Autres outils du SH:</a:t>
            </a:r>
            <a:endParaRPr lang="fr-LU" dirty="0"/>
          </a:p>
        </p:txBody>
      </p:sp>
      <p:sp>
        <p:nvSpPr>
          <p:cNvPr id="3" name="Espace réservé du contenu 2"/>
          <p:cNvSpPr>
            <a:spLocks noGrp="1"/>
          </p:cNvSpPr>
          <p:nvPr>
            <p:ph idx="1"/>
          </p:nvPr>
        </p:nvSpPr>
        <p:spPr/>
        <p:txBody>
          <a:bodyPr>
            <a:normAutofit fontScale="77500" lnSpcReduction="20000"/>
          </a:bodyPr>
          <a:lstStyle/>
          <a:p>
            <a:r>
              <a:rPr lang="fr-LU" sz="3800" b="1" dirty="0"/>
              <a:t>Notes explicatives </a:t>
            </a:r>
          </a:p>
          <a:p>
            <a:pPr marL="0" indent="0">
              <a:buNone/>
            </a:pPr>
            <a:r>
              <a:rPr lang="fr-LU" sz="3800" b="1" dirty="0"/>
              <a:t>	</a:t>
            </a:r>
            <a:endParaRPr lang="fr-LU" dirty="0"/>
          </a:p>
          <a:p>
            <a:r>
              <a:rPr lang="fr-FR" dirty="0"/>
              <a:t>04.09 ‑ Miel naturel.</a:t>
            </a:r>
          </a:p>
          <a:p>
            <a:endParaRPr lang="fr-FR" dirty="0"/>
          </a:p>
          <a:p>
            <a:r>
              <a:rPr lang="fr-FR" dirty="0"/>
              <a:t>La présente position comprend le miel d'abeilles (</a:t>
            </a:r>
            <a:r>
              <a:rPr lang="fr-FR" i="1" dirty="0"/>
              <a:t>Apis </a:t>
            </a:r>
            <a:r>
              <a:rPr lang="fr-FR" i="1" dirty="0" err="1"/>
              <a:t>mellifera</a:t>
            </a:r>
            <a:r>
              <a:rPr lang="fr-FR" dirty="0"/>
              <a:t>) ou d'autres insectes, centrifugé, en rayons ou contenant des morceaux de rayons, sans adjonction de sucre ou d'autres matières. Les miels de l'espèce peuvent être désignés par le nom de la fleur dont ils sont issus, ou compte tenu de leur origine ou encore de leur couleur.</a:t>
            </a:r>
          </a:p>
          <a:p>
            <a:endParaRPr lang="fr-FR" dirty="0"/>
          </a:p>
          <a:p>
            <a:r>
              <a:rPr lang="en-US" dirty="0"/>
              <a:t>Les </a:t>
            </a:r>
            <a:r>
              <a:rPr lang="en-US" dirty="0" err="1"/>
              <a:t>succédanés</a:t>
            </a:r>
            <a:r>
              <a:rPr lang="en-US" dirty="0"/>
              <a:t> du </a:t>
            </a:r>
            <a:r>
              <a:rPr lang="en-US" dirty="0" err="1"/>
              <a:t>miel</a:t>
            </a:r>
            <a:r>
              <a:rPr lang="en-US" dirty="0"/>
              <a:t> et les mélanges de </a:t>
            </a:r>
            <a:r>
              <a:rPr lang="en-US" dirty="0" err="1"/>
              <a:t>miel</a:t>
            </a:r>
            <a:r>
              <a:rPr lang="en-US" dirty="0"/>
              <a:t> naturel avec des </a:t>
            </a:r>
            <a:r>
              <a:rPr lang="en-US" dirty="0" err="1"/>
              <a:t>succédanés</a:t>
            </a:r>
            <a:r>
              <a:rPr lang="en-US" dirty="0"/>
              <a:t> du </a:t>
            </a:r>
            <a:r>
              <a:rPr lang="en-US" dirty="0" err="1"/>
              <a:t>miel</a:t>
            </a:r>
            <a:r>
              <a:rPr lang="en-US" dirty="0"/>
              <a:t> </a:t>
            </a:r>
            <a:r>
              <a:rPr lang="en-US" dirty="0" err="1"/>
              <a:t>relèvent</a:t>
            </a:r>
            <a:r>
              <a:rPr lang="en-US" dirty="0"/>
              <a:t> du n° 17.02.</a:t>
            </a:r>
            <a:endParaRPr lang="fr-FR" dirty="0"/>
          </a:p>
          <a:p>
            <a:pPr marL="0" indent="0">
              <a:buNone/>
            </a:pPr>
            <a:r>
              <a:rPr lang="fr-FR" dirty="0"/>
              <a:t> </a:t>
            </a:r>
          </a:p>
          <a:p>
            <a:pPr marL="0" indent="0">
              <a:buNone/>
            </a:pPr>
            <a:endParaRPr lang="fr-LU" dirty="0"/>
          </a:p>
        </p:txBody>
      </p:sp>
    </p:spTree>
    <p:extLst>
      <p:ext uri="{BB962C8B-B14F-4D97-AF65-F5344CB8AC3E}">
        <p14:creationId xmlns:p14="http://schemas.microsoft.com/office/powerpoint/2010/main" val="100875203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Autres outils du SH:</a:t>
            </a:r>
            <a:endParaRPr lang="fr-LU" dirty="0"/>
          </a:p>
        </p:txBody>
      </p:sp>
      <p:sp>
        <p:nvSpPr>
          <p:cNvPr id="3" name="Espace réservé du contenu 2"/>
          <p:cNvSpPr>
            <a:spLocks noGrp="1"/>
          </p:cNvSpPr>
          <p:nvPr>
            <p:ph idx="1"/>
          </p:nvPr>
        </p:nvSpPr>
        <p:spPr/>
        <p:txBody>
          <a:bodyPr>
            <a:normAutofit/>
          </a:bodyPr>
          <a:lstStyle/>
          <a:p>
            <a:r>
              <a:rPr lang="fr-LU" b="1" dirty="0" smtClean="0"/>
              <a:t>Avis </a:t>
            </a:r>
            <a:r>
              <a:rPr lang="fr-LU" b="1" dirty="0"/>
              <a:t>de classement </a:t>
            </a:r>
            <a:r>
              <a:rPr lang="fr-LU" i="1" dirty="0" smtClean="0"/>
              <a:t>	</a:t>
            </a:r>
            <a:r>
              <a:rPr lang="fr-FR" sz="2000" i="1" dirty="0" smtClean="0"/>
              <a:t>Tente-jouet </a:t>
            </a:r>
            <a:r>
              <a:rPr lang="fr-FR" sz="2000" i="1" dirty="0"/>
              <a:t>de dimensions réduites (hauteur 0,95 m x largeur à la base, 1,15 m x longueur 1,25 m) destinée à être utilisée par des enfants, à l'intérieur ou en plein air, consistant en une pièce de tissu de nylon couvrante, un cadre tubulaire en plastique et des petits piquets métalliques destinés à accrocher la tente lorsqu'elle est utilisée à l'extérieur.</a:t>
            </a:r>
          </a:p>
          <a:p>
            <a:pPr marL="0" indent="0">
              <a:buNone/>
            </a:pPr>
            <a:r>
              <a:rPr lang="fr-FR" sz="2000" i="1" dirty="0"/>
              <a:t>Application de la RGI 1 (libellé du n° 95.03 et Note 1 t) de la Section XI). </a:t>
            </a:r>
          </a:p>
          <a:p>
            <a:pPr marL="0" indent="0">
              <a:buNone/>
            </a:pPr>
            <a:r>
              <a:rPr lang="fr-FR" sz="2000" i="1" dirty="0"/>
              <a:t>Adoption : 2001</a:t>
            </a:r>
          </a:p>
          <a:p>
            <a:pPr marL="0" indent="0">
              <a:buNone/>
            </a:pPr>
            <a:endParaRPr lang="fr-FR" sz="2300" i="1" dirty="0"/>
          </a:p>
          <a:p>
            <a:pPr marL="0" indent="0">
              <a:buNone/>
            </a:pPr>
            <a:r>
              <a:rPr lang="fr-FR" i="1" dirty="0"/>
              <a:t> </a:t>
            </a:r>
            <a:endParaRPr lang="fr-LU" i="1" dirty="0" smtClean="0"/>
          </a:p>
          <a:p>
            <a:pPr marL="0" indent="0">
              <a:buNone/>
            </a:pPr>
            <a:endParaRPr lang="fr-LU" dirty="0"/>
          </a:p>
        </p:txBody>
      </p:sp>
      <p:pic>
        <p:nvPicPr>
          <p:cNvPr id="13" name="Picture 12"/>
          <p:cNvPicPr>
            <a:picLocks noChangeAspect="1"/>
          </p:cNvPicPr>
          <p:nvPr/>
        </p:nvPicPr>
        <p:blipFill>
          <a:blip r:embed="rId2"/>
          <a:stretch>
            <a:fillRect/>
          </a:stretch>
        </p:blipFill>
        <p:spPr>
          <a:xfrm>
            <a:off x="6960096" y="4293097"/>
            <a:ext cx="2905530" cy="2343477"/>
          </a:xfrm>
          <a:prstGeom prst="rect">
            <a:avLst/>
          </a:prstGeom>
        </p:spPr>
      </p:pic>
    </p:spTree>
    <p:extLst>
      <p:ext uri="{BB962C8B-B14F-4D97-AF65-F5344CB8AC3E}">
        <p14:creationId xmlns:p14="http://schemas.microsoft.com/office/powerpoint/2010/main" val="7530332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Autres outils du SH:</a:t>
            </a:r>
            <a:endParaRPr lang="fr-LU" dirty="0"/>
          </a:p>
        </p:txBody>
      </p:sp>
      <p:sp>
        <p:nvSpPr>
          <p:cNvPr id="3" name="Espace réservé du contenu 2"/>
          <p:cNvSpPr>
            <a:spLocks noGrp="1"/>
          </p:cNvSpPr>
          <p:nvPr>
            <p:ph idx="1"/>
          </p:nvPr>
        </p:nvSpPr>
        <p:spPr/>
        <p:txBody>
          <a:bodyPr>
            <a:normAutofit/>
          </a:bodyPr>
          <a:lstStyle/>
          <a:p>
            <a:r>
              <a:rPr lang="fr-LU" dirty="0" smtClean="0"/>
              <a:t>Règles générales interprétatives (RGI) </a:t>
            </a:r>
          </a:p>
          <a:p>
            <a:r>
              <a:rPr lang="fr-LU" dirty="0" smtClean="0"/>
              <a:t>Notes de sections, chapitres et sous-positions     </a:t>
            </a:r>
          </a:p>
          <a:p>
            <a:pPr lvl="1">
              <a:buFont typeface="Wingdings" panose="05000000000000000000" pitchFamily="2" charset="2"/>
              <a:buChar char="Ø"/>
            </a:pPr>
            <a:r>
              <a:rPr lang="fr-LU" dirty="0" smtClean="0"/>
              <a:t>  	</a:t>
            </a:r>
            <a:r>
              <a:rPr lang="fr-LU" i="1" dirty="0" smtClean="0"/>
              <a:t>valeur légale </a:t>
            </a:r>
          </a:p>
          <a:p>
            <a:pPr marL="457200" lvl="1" indent="0">
              <a:buNone/>
            </a:pPr>
            <a:endParaRPr lang="fr-LU" i="1" dirty="0" smtClean="0"/>
          </a:p>
          <a:p>
            <a:r>
              <a:rPr lang="fr-LU" dirty="0" smtClean="0"/>
              <a:t>Notes explicatives </a:t>
            </a:r>
          </a:p>
          <a:p>
            <a:r>
              <a:rPr lang="fr-LU" dirty="0" smtClean="0"/>
              <a:t>Avis </a:t>
            </a:r>
            <a:r>
              <a:rPr lang="fr-LU" dirty="0"/>
              <a:t>de classement </a:t>
            </a:r>
            <a:endParaRPr lang="fr-LU" dirty="0" smtClean="0"/>
          </a:p>
          <a:p>
            <a:pPr lvl="1">
              <a:buFont typeface="Wingdings" panose="05000000000000000000" pitchFamily="2" charset="2"/>
              <a:buChar char="Ø"/>
            </a:pPr>
            <a:r>
              <a:rPr lang="fr-LU" i="1" dirty="0" smtClean="0"/>
              <a:t>assurer </a:t>
            </a:r>
            <a:r>
              <a:rPr lang="fr-LU" i="1" dirty="0"/>
              <a:t>au maximum </a:t>
            </a:r>
            <a:r>
              <a:rPr lang="fr-LU" i="1" dirty="0" smtClean="0"/>
              <a:t>l’uniformité dans </a:t>
            </a:r>
            <a:r>
              <a:rPr lang="fr-LU" i="1" dirty="0"/>
              <a:t>‎l’application, sans avoir force légale</a:t>
            </a:r>
            <a:r>
              <a:rPr lang="fr-LU" dirty="0" smtClean="0"/>
              <a:t>.</a:t>
            </a:r>
            <a:endParaRPr lang="fr-LU" dirty="0"/>
          </a:p>
        </p:txBody>
      </p:sp>
    </p:spTree>
    <p:extLst>
      <p:ext uri="{BB962C8B-B14F-4D97-AF65-F5344CB8AC3E}">
        <p14:creationId xmlns:p14="http://schemas.microsoft.com/office/powerpoint/2010/main" val="41859931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Nomenclature combinée</a:t>
            </a:r>
          </a:p>
        </p:txBody>
      </p:sp>
      <p:sp>
        <p:nvSpPr>
          <p:cNvPr id="3" name="Content Placeholder 2"/>
          <p:cNvSpPr>
            <a:spLocks noGrp="1"/>
          </p:cNvSpPr>
          <p:nvPr>
            <p:ph idx="1"/>
          </p:nvPr>
        </p:nvSpPr>
        <p:spPr/>
        <p:txBody>
          <a:bodyPr/>
          <a:lstStyle/>
          <a:p>
            <a:r>
              <a:rPr lang="fr-FR" dirty="0"/>
              <a:t>Créée en 1987 </a:t>
            </a:r>
            <a:r>
              <a:rPr lang="fr-FR" dirty="0">
                <a:sym typeface="Wingdings" panose="05000000000000000000" pitchFamily="2" charset="2"/>
              </a:rPr>
              <a:t> règlement (CEE) n°2658/87 du Conseil relatif à la nomenclature tarifaire et statistique et au ‎tarif douanier commun ‎</a:t>
            </a:r>
          </a:p>
          <a:p>
            <a:r>
              <a:rPr lang="fr-FR" dirty="0">
                <a:sym typeface="Wingdings" panose="05000000000000000000" pitchFamily="2" charset="2"/>
              </a:rPr>
              <a:t>Reprend la structure du SH en ajoutant 2 chiffres</a:t>
            </a:r>
          </a:p>
          <a:p>
            <a:r>
              <a:rPr lang="fr-FR" dirty="0">
                <a:sym typeface="Wingdings" panose="05000000000000000000" pitchFamily="2" charset="2"/>
              </a:rPr>
              <a:t>Révisée chaque année</a:t>
            </a:r>
          </a:p>
          <a:p>
            <a:r>
              <a:rPr lang="fr-FR" dirty="0">
                <a:sym typeface="Wingdings" panose="05000000000000000000" pitchFamily="2" charset="2"/>
              </a:rPr>
              <a:t>NC </a:t>
            </a:r>
            <a:r>
              <a:rPr lang="fr-FR" dirty="0" smtClean="0">
                <a:sym typeface="Wingdings" panose="05000000000000000000" pitchFamily="2" charset="2"/>
              </a:rPr>
              <a:t>2024 </a:t>
            </a:r>
            <a:r>
              <a:rPr lang="fr-FR" dirty="0">
                <a:sym typeface="Wingdings" panose="05000000000000000000" pitchFamily="2" charset="2"/>
              </a:rPr>
              <a:t> </a:t>
            </a:r>
            <a:r>
              <a:rPr lang="fr-FR" dirty="0"/>
              <a:t>règlement d’exécution (UE) </a:t>
            </a:r>
            <a:r>
              <a:rPr lang="fr-FR" dirty="0" smtClean="0"/>
              <a:t>2023/2364 </a:t>
            </a:r>
            <a:r>
              <a:rPr lang="fr-FR" dirty="0"/>
              <a:t>de la Commission du </a:t>
            </a:r>
            <a:r>
              <a:rPr lang="fr-FR" dirty="0" smtClean="0"/>
              <a:t>26 </a:t>
            </a:r>
            <a:r>
              <a:rPr lang="fr-FR" dirty="0" smtClean="0"/>
              <a:t>septembre </a:t>
            </a:r>
            <a:r>
              <a:rPr lang="fr-FR" dirty="0" smtClean="0"/>
              <a:t>2023 </a:t>
            </a:r>
            <a:r>
              <a:rPr lang="fr-FR" dirty="0"/>
              <a:t>modifiant ‎l’annexe I du règlement (CEE) n°2658/87 du Conseil relatif à la nomenclature tarifaire et ‎statistique et au tarif douanier commun ‎</a:t>
            </a:r>
            <a:endParaRPr lang="en-US" dirty="0"/>
          </a:p>
          <a:p>
            <a:endParaRPr lang="fr-FR" dirty="0"/>
          </a:p>
        </p:txBody>
      </p:sp>
    </p:spTree>
    <p:extLst>
      <p:ext uri="{BB962C8B-B14F-4D97-AF65-F5344CB8AC3E}">
        <p14:creationId xmlns:p14="http://schemas.microsoft.com/office/powerpoint/2010/main" val="92336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Outils de la NC:</a:t>
            </a:r>
            <a:endParaRPr lang="fr-LU" dirty="0"/>
          </a:p>
        </p:txBody>
      </p:sp>
      <p:sp>
        <p:nvSpPr>
          <p:cNvPr id="3" name="Espace réservé du contenu 2"/>
          <p:cNvSpPr>
            <a:spLocks noGrp="1"/>
          </p:cNvSpPr>
          <p:nvPr>
            <p:ph idx="1"/>
          </p:nvPr>
        </p:nvSpPr>
        <p:spPr/>
        <p:txBody>
          <a:bodyPr>
            <a:normAutofit/>
          </a:bodyPr>
          <a:lstStyle/>
          <a:p>
            <a:r>
              <a:rPr lang="fr-LU" dirty="0" smtClean="0"/>
              <a:t>Notes </a:t>
            </a:r>
            <a:r>
              <a:rPr lang="fr-LU" dirty="0"/>
              <a:t>complémentaires de section ou de chapitre et des notes de </a:t>
            </a:r>
            <a:r>
              <a:rPr lang="fr-LU" dirty="0" smtClean="0"/>
              <a:t>sous-positions</a:t>
            </a:r>
          </a:p>
          <a:p>
            <a:pPr marL="0" indent="0">
              <a:buNone/>
            </a:pPr>
            <a:r>
              <a:rPr lang="fr-LU" dirty="0" smtClean="0"/>
              <a:t>	</a:t>
            </a:r>
          </a:p>
          <a:p>
            <a:pPr marL="0" indent="0">
              <a:buNone/>
            </a:pPr>
            <a:endParaRPr lang="fr-LU" dirty="0"/>
          </a:p>
        </p:txBody>
      </p:sp>
      <p:pic>
        <p:nvPicPr>
          <p:cNvPr id="5" name="Picture 4"/>
          <p:cNvPicPr>
            <a:picLocks noChangeAspect="1"/>
          </p:cNvPicPr>
          <p:nvPr/>
        </p:nvPicPr>
        <p:blipFill>
          <a:blip r:embed="rId2"/>
          <a:stretch>
            <a:fillRect/>
          </a:stretch>
        </p:blipFill>
        <p:spPr>
          <a:xfrm>
            <a:off x="1587559" y="3140969"/>
            <a:ext cx="9109486" cy="3429277"/>
          </a:xfrm>
          <a:prstGeom prst="rect">
            <a:avLst/>
          </a:prstGeom>
        </p:spPr>
      </p:pic>
    </p:spTree>
    <p:extLst>
      <p:ext uri="{BB962C8B-B14F-4D97-AF65-F5344CB8AC3E}">
        <p14:creationId xmlns:p14="http://schemas.microsoft.com/office/powerpoint/2010/main" val="17687024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Outils de la NC:</a:t>
            </a:r>
            <a:endParaRPr lang="fr-LU" dirty="0"/>
          </a:p>
        </p:txBody>
      </p:sp>
      <p:sp>
        <p:nvSpPr>
          <p:cNvPr id="3" name="Espace réservé du contenu 2"/>
          <p:cNvSpPr>
            <a:spLocks noGrp="1"/>
          </p:cNvSpPr>
          <p:nvPr>
            <p:ph idx="1"/>
          </p:nvPr>
        </p:nvSpPr>
        <p:spPr>
          <a:xfrm>
            <a:off x="838200" y="1384419"/>
            <a:ext cx="10515600" cy="5298392"/>
          </a:xfrm>
        </p:spPr>
        <p:txBody>
          <a:bodyPr>
            <a:normAutofit lnSpcReduction="10000"/>
          </a:bodyPr>
          <a:lstStyle/>
          <a:p>
            <a:pPr marL="0" indent="0">
              <a:buNone/>
            </a:pPr>
            <a:r>
              <a:rPr lang="fr-LU" dirty="0" smtClean="0"/>
              <a:t>Règlements de classement     </a:t>
            </a:r>
          </a:p>
          <a:p>
            <a:endParaRPr lang="fr-FR" dirty="0" smtClean="0"/>
          </a:p>
          <a:p>
            <a:r>
              <a:rPr lang="fr-FR" dirty="0"/>
              <a:t>Sont émis par la </a:t>
            </a:r>
            <a:r>
              <a:rPr lang="fr-FR" dirty="0" smtClean="0"/>
              <a:t>Commission suite </a:t>
            </a:r>
            <a:r>
              <a:rPr lang="fr-FR" dirty="0"/>
              <a:t>à une décision du Comité du Code des Douanes – Section Nomenclature tarifaire et statistique ‎</a:t>
            </a:r>
            <a:endParaRPr lang="fr-LU" dirty="0"/>
          </a:p>
          <a:p>
            <a:r>
              <a:rPr lang="fr-FR" dirty="0" smtClean="0"/>
              <a:t>Concernent </a:t>
            </a:r>
            <a:r>
              <a:rPr lang="fr-FR" dirty="0"/>
              <a:t>un produit spécifique</a:t>
            </a:r>
          </a:p>
          <a:p>
            <a:r>
              <a:rPr lang="fr-FR" dirty="0"/>
              <a:t>Contiennent:</a:t>
            </a:r>
          </a:p>
          <a:p>
            <a:pPr lvl="1"/>
            <a:r>
              <a:rPr lang="fr-FR" dirty="0"/>
              <a:t>Description de la marchandise</a:t>
            </a:r>
          </a:p>
          <a:p>
            <a:pPr lvl="1"/>
            <a:r>
              <a:rPr lang="fr-FR" dirty="0"/>
              <a:t>Classement</a:t>
            </a:r>
          </a:p>
          <a:p>
            <a:pPr lvl="1"/>
            <a:r>
              <a:rPr lang="fr-FR" dirty="0"/>
              <a:t>Raisonnement</a:t>
            </a:r>
          </a:p>
          <a:p>
            <a:pPr marL="0" indent="0">
              <a:buNone/>
            </a:pPr>
            <a:r>
              <a:rPr lang="fr-LU" dirty="0" smtClean="0">
                <a:hlinkClick r:id="rId2"/>
              </a:rPr>
              <a:t>https</a:t>
            </a:r>
            <a:r>
              <a:rPr lang="fr-LU" dirty="0">
                <a:hlinkClick r:id="rId2"/>
              </a:rPr>
              <a:t>://</a:t>
            </a:r>
            <a:r>
              <a:rPr lang="fr-LU" dirty="0" smtClean="0">
                <a:hlinkClick r:id="rId2"/>
              </a:rPr>
              <a:t>eur-lex.europa.eu/LexUriServ/LexUriServ.do?uri=OJ:L:2010:112:0004:0005:FR:PDF</a:t>
            </a:r>
            <a:endParaRPr lang="fr-LU" dirty="0" smtClean="0"/>
          </a:p>
          <a:p>
            <a:pPr marL="0" indent="0">
              <a:buNone/>
            </a:pPr>
            <a:endParaRPr lang="fr-LU" dirty="0"/>
          </a:p>
        </p:txBody>
      </p:sp>
    </p:spTree>
    <p:extLst>
      <p:ext uri="{BB962C8B-B14F-4D97-AF65-F5344CB8AC3E}">
        <p14:creationId xmlns:p14="http://schemas.microsoft.com/office/powerpoint/2010/main" val="6337451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Outils de la NC:</a:t>
            </a:r>
            <a:endParaRPr lang="fr-LU" dirty="0"/>
          </a:p>
        </p:txBody>
      </p:sp>
      <p:sp>
        <p:nvSpPr>
          <p:cNvPr id="3" name="Espace réservé du contenu 2"/>
          <p:cNvSpPr>
            <a:spLocks noGrp="1"/>
          </p:cNvSpPr>
          <p:nvPr>
            <p:ph idx="1"/>
          </p:nvPr>
        </p:nvSpPr>
        <p:spPr/>
        <p:txBody>
          <a:bodyPr>
            <a:normAutofit/>
          </a:bodyPr>
          <a:lstStyle/>
          <a:p>
            <a:r>
              <a:rPr lang="fr-LU" dirty="0" smtClean="0"/>
              <a:t>Notes explicatives</a:t>
            </a:r>
          </a:p>
          <a:p>
            <a:endParaRPr lang="fr-LU" dirty="0"/>
          </a:p>
        </p:txBody>
      </p:sp>
    </p:spTree>
    <p:extLst>
      <p:ext uri="{BB962C8B-B14F-4D97-AF65-F5344CB8AC3E}">
        <p14:creationId xmlns:p14="http://schemas.microsoft.com/office/powerpoint/2010/main" val="36942916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Outils de la NC:</a:t>
            </a:r>
            <a:endParaRPr lang="fr-LU" dirty="0"/>
          </a:p>
        </p:txBody>
      </p:sp>
      <p:sp>
        <p:nvSpPr>
          <p:cNvPr id="3" name="Espace réservé du contenu 2"/>
          <p:cNvSpPr>
            <a:spLocks noGrp="1"/>
          </p:cNvSpPr>
          <p:nvPr>
            <p:ph idx="1"/>
          </p:nvPr>
        </p:nvSpPr>
        <p:spPr/>
        <p:txBody>
          <a:bodyPr>
            <a:normAutofit fontScale="55000" lnSpcReduction="20000"/>
          </a:bodyPr>
          <a:lstStyle/>
          <a:p>
            <a:r>
              <a:rPr lang="fr-LU" sz="5100" dirty="0"/>
              <a:t>Avis de classement / Prise de position du comité:</a:t>
            </a:r>
          </a:p>
          <a:p>
            <a:pPr marL="0" indent="0">
              <a:buNone/>
            </a:pPr>
            <a:endParaRPr lang="fr-LU" dirty="0" smtClean="0"/>
          </a:p>
          <a:p>
            <a:pPr marL="0" indent="0">
              <a:buNone/>
            </a:pPr>
            <a:endParaRPr lang="fr-LU" dirty="0"/>
          </a:p>
          <a:p>
            <a:pPr marL="0" indent="0">
              <a:buNone/>
            </a:pPr>
            <a:r>
              <a:rPr lang="en-US" dirty="0"/>
              <a:t>Conclusions:</a:t>
            </a:r>
          </a:p>
          <a:p>
            <a:pPr marL="0" indent="0">
              <a:buNone/>
            </a:pPr>
            <a:r>
              <a:rPr lang="en-US" dirty="0"/>
              <a:t>An indicative “tour de table” showed that 24 MS supported classification of the product under heading 8543 by virtue of GIR 1 and 6 and Note 2 (a) to Chapter 90. The Committee agreed that even if the product in question is exclusively used for a specific machine, Note 2 (a) to Chapter 90 applies.</a:t>
            </a:r>
          </a:p>
          <a:p>
            <a:pPr marL="0" indent="0">
              <a:buNone/>
            </a:pPr>
            <a:r>
              <a:rPr lang="en-US" dirty="0"/>
              <a:t>Three MS [BE, DE, PT] supported classification under heading 9031.</a:t>
            </a:r>
          </a:p>
          <a:p>
            <a:pPr marL="0" indent="0">
              <a:buNone/>
            </a:pPr>
            <a:r>
              <a:rPr lang="en-US" dirty="0"/>
              <a:t>[The Committee thus endorsed the above mentioned REO (see full text of the REO in Annex II).]</a:t>
            </a:r>
          </a:p>
          <a:p>
            <a:pPr marL="0" indent="0">
              <a:buNone/>
            </a:pPr>
            <a:r>
              <a:rPr lang="en-US" dirty="0"/>
              <a:t>Considering the above, the case regarding the classification of “Galvanic separation unit” is closed by concluding that the three functions displayed by the apparatus at issue considered together are not specifically mentioned in Section XVI and could be considered as an individual function. Before taking into account Note 2 (b) to Chapter 90, the scope of Note 2 (a) to this Chapter should be examined first. In particular, heading 8543 is not one of the headings of Chapter 85 which are excluded from the scope of Note 2 (a) to Chapter 90 (only heading 8548 is excluded). Even if the product in question is exclusively used for a specific machine, Note 2 (a) to Chapter 90 applies. Therefore, the described product is to be classified under CN code 8543 70 90 as electrical </a:t>
            </a:r>
            <a:r>
              <a:rPr lang="en-US" dirty="0" smtClean="0"/>
              <a:t>machines and </a:t>
            </a:r>
            <a:r>
              <a:rPr lang="en-US" dirty="0"/>
              <a:t>apparatus, having individual functions, by virtue of GIR 1 and 6 and Note 2 (a) to Chapter 90</a:t>
            </a:r>
            <a:r>
              <a:rPr lang="en-US" dirty="0" smtClean="0"/>
              <a:t>.</a:t>
            </a:r>
          </a:p>
          <a:p>
            <a:pPr marL="0" indent="0">
              <a:buNone/>
            </a:pPr>
            <a:endParaRPr lang="fr-LU" dirty="0"/>
          </a:p>
        </p:txBody>
      </p:sp>
    </p:spTree>
    <p:extLst>
      <p:ext uri="{BB962C8B-B14F-4D97-AF65-F5344CB8AC3E}">
        <p14:creationId xmlns:p14="http://schemas.microsoft.com/office/powerpoint/2010/main" val="42235812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Outils de la NC:</a:t>
            </a:r>
            <a:endParaRPr lang="fr-LU" dirty="0"/>
          </a:p>
        </p:txBody>
      </p:sp>
      <p:sp>
        <p:nvSpPr>
          <p:cNvPr id="3" name="Espace réservé du contenu 2"/>
          <p:cNvSpPr>
            <a:spLocks noGrp="1"/>
          </p:cNvSpPr>
          <p:nvPr>
            <p:ph idx="1"/>
          </p:nvPr>
        </p:nvSpPr>
        <p:spPr/>
        <p:txBody>
          <a:bodyPr>
            <a:normAutofit/>
          </a:bodyPr>
          <a:lstStyle/>
          <a:p>
            <a:r>
              <a:rPr lang="fr-LU" dirty="0" smtClean="0"/>
              <a:t>Notes complémentaires de section ou de chapitre et des notes de sous-positions </a:t>
            </a:r>
          </a:p>
          <a:p>
            <a:r>
              <a:rPr lang="fr-LU" dirty="0" smtClean="0"/>
              <a:t>Règlements de classement     </a:t>
            </a:r>
          </a:p>
          <a:p>
            <a:pPr lvl="1">
              <a:buFont typeface="Wingdings" panose="05000000000000000000" pitchFamily="2" charset="2"/>
              <a:buChar char="Ø"/>
            </a:pPr>
            <a:r>
              <a:rPr lang="fr-LU" dirty="0" smtClean="0"/>
              <a:t>  	</a:t>
            </a:r>
            <a:r>
              <a:rPr lang="fr-LU" i="1" dirty="0" smtClean="0"/>
              <a:t>valeur légale </a:t>
            </a:r>
          </a:p>
          <a:p>
            <a:pPr marL="457200" lvl="1" indent="0">
              <a:buNone/>
            </a:pPr>
            <a:endParaRPr lang="fr-LU" i="1" dirty="0" smtClean="0"/>
          </a:p>
          <a:p>
            <a:r>
              <a:rPr lang="fr-LU" dirty="0" smtClean="0"/>
              <a:t>Notes explicatives </a:t>
            </a:r>
          </a:p>
          <a:p>
            <a:r>
              <a:rPr lang="fr-LU" dirty="0" smtClean="0"/>
              <a:t>Avis </a:t>
            </a:r>
            <a:r>
              <a:rPr lang="fr-LU" dirty="0"/>
              <a:t>de </a:t>
            </a:r>
            <a:r>
              <a:rPr lang="fr-LU" dirty="0" smtClean="0"/>
              <a:t>classement / Prise de position du comité</a:t>
            </a:r>
          </a:p>
          <a:p>
            <a:pPr lvl="1">
              <a:buFont typeface="Wingdings" panose="05000000000000000000" pitchFamily="2" charset="2"/>
              <a:buChar char="Ø"/>
            </a:pPr>
            <a:r>
              <a:rPr lang="fr-LU" i="1" dirty="0" smtClean="0"/>
              <a:t>assurer au maximum l’uniformité dans ‎l’application, sans avoir force légale</a:t>
            </a:r>
            <a:r>
              <a:rPr lang="fr-LU" dirty="0" smtClean="0"/>
              <a:t>.</a:t>
            </a:r>
            <a:endParaRPr lang="fr-LU" dirty="0"/>
          </a:p>
        </p:txBody>
      </p:sp>
    </p:spTree>
    <p:extLst>
      <p:ext uri="{BB962C8B-B14F-4D97-AF65-F5344CB8AC3E}">
        <p14:creationId xmlns:p14="http://schemas.microsoft.com/office/powerpoint/2010/main" val="31956894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TARIC</a:t>
            </a:r>
          </a:p>
        </p:txBody>
      </p:sp>
      <p:sp>
        <p:nvSpPr>
          <p:cNvPr id="3" name="Content Placeholder 2"/>
          <p:cNvSpPr>
            <a:spLocks noGrp="1"/>
          </p:cNvSpPr>
          <p:nvPr>
            <p:ph idx="1"/>
          </p:nvPr>
        </p:nvSpPr>
        <p:spPr/>
        <p:txBody>
          <a:bodyPr>
            <a:normAutofit/>
          </a:bodyPr>
          <a:lstStyle/>
          <a:p>
            <a:r>
              <a:rPr lang="fr-FR" dirty="0"/>
              <a:t>10 </a:t>
            </a:r>
            <a:r>
              <a:rPr lang="fr-FR" dirty="0" smtClean="0"/>
              <a:t>chiffres</a:t>
            </a:r>
          </a:p>
          <a:p>
            <a:endParaRPr lang="fr-CH" dirty="0"/>
          </a:p>
          <a:p>
            <a:r>
              <a:rPr lang="fr-CH" dirty="0"/>
              <a:t>Ce </a:t>
            </a:r>
            <a:r>
              <a:rPr lang="fr-CH" dirty="0" smtClean="0"/>
              <a:t>code </a:t>
            </a:r>
            <a:r>
              <a:rPr lang="fr-CH" dirty="0"/>
              <a:t>repose sur la </a:t>
            </a:r>
            <a:r>
              <a:rPr lang="fr-CH" dirty="0" smtClean="0"/>
              <a:t>NC </a:t>
            </a:r>
            <a:r>
              <a:rPr lang="fr-CH" dirty="0"/>
              <a:t>et reprend </a:t>
            </a:r>
            <a:r>
              <a:rPr lang="fr-CH" dirty="0" smtClean="0"/>
              <a:t>principalement les </a:t>
            </a:r>
            <a:r>
              <a:rPr lang="fr-CH" dirty="0"/>
              <a:t>mesures prévues </a:t>
            </a:r>
            <a:r>
              <a:rPr lang="fr-CH" dirty="0" smtClean="0"/>
              <a:t>dans des règlements ;</a:t>
            </a:r>
            <a:endParaRPr lang="fr-CH" dirty="0"/>
          </a:p>
          <a:p>
            <a:r>
              <a:rPr lang="fr-FR" dirty="0" smtClean="0"/>
              <a:t>p.ex..:</a:t>
            </a:r>
            <a:endParaRPr lang="fr-FR" dirty="0"/>
          </a:p>
          <a:p>
            <a:pPr lvl="1"/>
            <a:r>
              <a:rPr lang="fr-FR" dirty="0"/>
              <a:t>Licences</a:t>
            </a:r>
          </a:p>
          <a:p>
            <a:pPr lvl="1"/>
            <a:r>
              <a:rPr lang="fr-FR" dirty="0" smtClean="0"/>
              <a:t>Anti-dumping</a:t>
            </a:r>
          </a:p>
          <a:p>
            <a:pPr lvl="1"/>
            <a:r>
              <a:rPr lang="fr-FR" dirty="0" err="1" smtClean="0"/>
              <a:t>Cerificats</a:t>
            </a:r>
            <a:endParaRPr lang="fr-FR" dirty="0"/>
          </a:p>
          <a:p>
            <a:pPr lvl="1"/>
            <a:r>
              <a:rPr lang="fr-FR" dirty="0"/>
              <a:t>…</a:t>
            </a:r>
            <a:endParaRPr lang="en-US" dirty="0"/>
          </a:p>
          <a:p>
            <a:endParaRPr lang="fr-FR" dirty="0"/>
          </a:p>
        </p:txBody>
      </p:sp>
    </p:spTree>
    <p:extLst>
      <p:ext uri="{BB962C8B-B14F-4D97-AF65-F5344CB8AC3E}">
        <p14:creationId xmlns:p14="http://schemas.microsoft.com/office/powerpoint/2010/main" val="152165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Structure d’un code tarifaire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6012" y="2588240"/>
            <a:ext cx="5830114" cy="339137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012" y="1328705"/>
            <a:ext cx="1981200" cy="1114425"/>
          </a:xfrm>
          <a:prstGeom prst="rect">
            <a:avLst/>
          </a:prstGeom>
        </p:spPr>
      </p:pic>
      <p:sp>
        <p:nvSpPr>
          <p:cNvPr id="6" name="TextBox 5"/>
          <p:cNvSpPr txBox="1"/>
          <p:nvPr/>
        </p:nvSpPr>
        <p:spPr>
          <a:xfrm>
            <a:off x="3284882" y="1697577"/>
            <a:ext cx="2633749" cy="369332"/>
          </a:xfrm>
          <a:prstGeom prst="rect">
            <a:avLst/>
          </a:prstGeom>
          <a:noFill/>
        </p:spPr>
        <p:txBody>
          <a:bodyPr wrap="square" rtlCol="0">
            <a:spAutoFit/>
          </a:bodyPr>
          <a:lstStyle/>
          <a:p>
            <a:r>
              <a:rPr lang="fr-FR" b="1" dirty="0" smtClean="0"/>
              <a:t>0106 41 00 00 </a:t>
            </a:r>
            <a:r>
              <a:rPr lang="fr-FR" b="1" dirty="0" smtClean="0">
                <a:sym typeface="Wingdings" panose="05000000000000000000" pitchFamily="2" charset="2"/>
              </a:rPr>
              <a:t> Abeilles</a:t>
            </a:r>
            <a:endParaRPr lang="en-US" b="1" dirty="0"/>
          </a:p>
        </p:txBody>
      </p:sp>
    </p:spTree>
    <p:extLst>
      <p:ext uri="{BB962C8B-B14F-4D97-AF65-F5344CB8AC3E}">
        <p14:creationId xmlns:p14="http://schemas.microsoft.com/office/powerpoint/2010/main" val="313240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Structure de la Nomenclature</a:t>
            </a:r>
          </a:p>
        </p:txBody>
      </p:sp>
      <p:sp>
        <p:nvSpPr>
          <p:cNvPr id="3" name="Content Placeholder 2"/>
          <p:cNvSpPr>
            <a:spLocks noGrp="1"/>
          </p:cNvSpPr>
          <p:nvPr>
            <p:ph idx="1"/>
          </p:nvPr>
        </p:nvSpPr>
        <p:spPr/>
        <p:txBody>
          <a:bodyPr/>
          <a:lstStyle/>
          <a:p>
            <a:r>
              <a:rPr lang="fr-FR" b="1" dirty="0"/>
              <a:t>Principe du degré de transformation</a:t>
            </a:r>
            <a:endParaRPr lang="en-US" b="1" dirty="0"/>
          </a:p>
          <a:p>
            <a:endParaRPr lang="fr-FR" dirty="0"/>
          </a:p>
        </p:txBody>
      </p:sp>
      <p:pic>
        <p:nvPicPr>
          <p:cNvPr id="4" name="Picture 3"/>
          <p:cNvPicPr>
            <a:picLocks noChangeAspect="1"/>
          </p:cNvPicPr>
          <p:nvPr/>
        </p:nvPicPr>
        <p:blipFill>
          <a:blip r:embed="rId2"/>
          <a:stretch>
            <a:fillRect/>
          </a:stretch>
        </p:blipFill>
        <p:spPr>
          <a:xfrm>
            <a:off x="2505145" y="2546052"/>
            <a:ext cx="7181710" cy="3145809"/>
          </a:xfrm>
          <a:prstGeom prst="rect">
            <a:avLst/>
          </a:prstGeom>
        </p:spPr>
      </p:pic>
    </p:spTree>
    <p:extLst>
      <p:ext uri="{BB962C8B-B14F-4D97-AF65-F5344CB8AC3E}">
        <p14:creationId xmlns:p14="http://schemas.microsoft.com/office/powerpoint/2010/main" val="297165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Arrêts de la Cour de justice de l’Union européenne</a:t>
            </a:r>
            <a:endParaRPr lang="fr-FR" dirty="0"/>
          </a:p>
        </p:txBody>
      </p:sp>
      <p:sp>
        <p:nvSpPr>
          <p:cNvPr id="3" name="Content Placeholder 2"/>
          <p:cNvSpPr>
            <a:spLocks noGrp="1"/>
          </p:cNvSpPr>
          <p:nvPr>
            <p:ph idx="1"/>
          </p:nvPr>
        </p:nvSpPr>
        <p:spPr/>
        <p:txBody>
          <a:bodyPr/>
          <a:lstStyle/>
          <a:p>
            <a:r>
              <a:rPr lang="fr-FR" dirty="0" smtClean="0"/>
              <a:t>Objectif primordial de la CJUE </a:t>
            </a:r>
            <a:r>
              <a:rPr lang="fr-FR" dirty="0">
                <a:sym typeface="Wingdings" panose="05000000000000000000" pitchFamily="2" charset="2"/>
              </a:rPr>
              <a:t>veiller à ce que le droit communautaire soit appliqué dans toute l’UE de façon harmonisée et ‎uniforme, afin d’éviter un traitement défavorable de certains opérateurs vis-à-vis de leurs ‎</a:t>
            </a:r>
            <a:r>
              <a:rPr lang="fr-FR" dirty="0" smtClean="0">
                <a:sym typeface="Wingdings" panose="05000000000000000000" pitchFamily="2" charset="2"/>
              </a:rPr>
              <a:t>concurrents</a:t>
            </a:r>
            <a:endParaRPr lang="fr-FR" dirty="0">
              <a:sym typeface="Wingdings" panose="05000000000000000000" pitchFamily="2" charset="2"/>
            </a:endParaRPr>
          </a:p>
          <a:p>
            <a:r>
              <a:rPr lang="fr-FR" dirty="0" smtClean="0">
                <a:sym typeface="Wingdings" panose="05000000000000000000" pitchFamily="2" charset="2"/>
              </a:rPr>
              <a:t>Saisi par un tribunal national</a:t>
            </a:r>
          </a:p>
          <a:p>
            <a:r>
              <a:rPr lang="fr-FR" dirty="0" smtClean="0">
                <a:sym typeface="Wingdings" panose="05000000000000000000" pitchFamily="2" charset="2"/>
              </a:rPr>
              <a:t>Peut statuer sur la validité d’un règlement de classement </a:t>
            </a:r>
            <a:endParaRPr lang="fr-FR" dirty="0"/>
          </a:p>
        </p:txBody>
      </p:sp>
    </p:spTree>
    <p:extLst>
      <p:ext uri="{BB962C8B-B14F-4D97-AF65-F5344CB8AC3E}">
        <p14:creationId xmlns:p14="http://schemas.microsoft.com/office/powerpoint/2010/main" val="187919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effectLst>
            <a:glow rad="63500">
              <a:schemeClr val="accent1">
                <a:satMod val="175000"/>
                <a:alpha val="40000"/>
              </a:schemeClr>
            </a:glow>
          </a:effectLst>
        </p:spPr>
        <p:txBody>
          <a:bodyPr>
            <a:normAutofit/>
          </a:bodyPr>
          <a:lstStyle/>
          <a:p>
            <a:r>
              <a:rPr lang="lb-LU" dirty="0" smtClean="0"/>
              <a:t>Cas particuliers</a:t>
            </a:r>
            <a:endParaRPr lang="fr-LU" dirty="0"/>
          </a:p>
        </p:txBody>
      </p:sp>
      <p:sp>
        <p:nvSpPr>
          <p:cNvPr id="3" name="Espace réservé du contenu 2"/>
          <p:cNvSpPr>
            <a:spLocks noGrp="1"/>
          </p:cNvSpPr>
          <p:nvPr>
            <p:ph idx="1"/>
          </p:nvPr>
        </p:nvSpPr>
        <p:spPr/>
        <p:txBody>
          <a:bodyPr>
            <a:normAutofit/>
          </a:bodyPr>
          <a:lstStyle/>
          <a:p>
            <a:r>
              <a:rPr lang="fr-LU" dirty="0" smtClean="0"/>
              <a:t>Renseignement tarifaire contraignant (RTC)</a:t>
            </a:r>
            <a:endParaRPr lang="fr-LU" dirty="0"/>
          </a:p>
        </p:txBody>
      </p:sp>
    </p:spTree>
    <p:extLst>
      <p:ext uri="{BB962C8B-B14F-4D97-AF65-F5344CB8AC3E}">
        <p14:creationId xmlns:p14="http://schemas.microsoft.com/office/powerpoint/2010/main" val="30586348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594D413724C84DBC52E19F2035DA73" ma:contentTypeVersion="" ma:contentTypeDescription="Crée un document." ma:contentTypeScope="" ma:versionID="6be60aed9bf2246e6faa0417455f3c0c">
  <xsd:schema xmlns:xsd="http://www.w3.org/2001/XMLSchema" xmlns:xs="http://www.w3.org/2001/XMLSchema" xmlns:p="http://schemas.microsoft.com/office/2006/metadata/properties" targetNamespace="http://schemas.microsoft.com/office/2006/metadata/properties" ma:root="true" ma:fieldsID="530ed06cadc9c5daf8dab6f76759a2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B3EBE50-9E8D-40EB-BCCF-B5EC6E13B4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47AD0-B2BA-4A44-BF0C-DDA4624228A5}">
  <ds:schemaRefs>
    <ds:schemaRef ds:uri="http://schemas.microsoft.com/sharepoint/v3/contenttype/forms"/>
  </ds:schemaRefs>
</ds:datastoreItem>
</file>

<file path=customXml/itemProps3.xml><?xml version="1.0" encoding="utf-8"?>
<ds:datastoreItem xmlns:ds="http://schemas.openxmlformats.org/officeDocument/2006/customXml" ds:itemID="{0AC443D6-3024-4CC2-B072-50CF5DBAFE8A}">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1166</Words>
  <Application>Microsoft Office PowerPoint</Application>
  <PresentationFormat>Widescreen</PresentationFormat>
  <Paragraphs>130</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Office</vt:lpstr>
      <vt:lpstr> </vt:lpstr>
      <vt:lpstr>Pourquoi un classement tarifaire?</vt:lpstr>
      <vt:lpstr>Historique</vt:lpstr>
      <vt:lpstr>Utilisation du SH</vt:lpstr>
      <vt:lpstr>Structure du SH</vt:lpstr>
      <vt:lpstr>Exemple:</vt:lpstr>
      <vt:lpstr>Outils du SH:</vt:lpstr>
      <vt:lpstr>Autres outils du SH:</vt:lpstr>
      <vt:lpstr>Autres outils du SH:</vt:lpstr>
      <vt:lpstr>Autres outils du SH:</vt:lpstr>
      <vt:lpstr>Autres outils du SH:</vt:lpstr>
      <vt:lpstr>Autres outils du SH:</vt:lpstr>
      <vt:lpstr>Nomenclature combinée</vt:lpstr>
      <vt:lpstr>Outils de la NC:</vt:lpstr>
      <vt:lpstr>Outils de la NC:</vt:lpstr>
      <vt:lpstr>Outils de la NC:</vt:lpstr>
      <vt:lpstr>Outils de la NC:</vt:lpstr>
      <vt:lpstr>Outils de la NC:</vt:lpstr>
      <vt:lpstr>TARIC</vt:lpstr>
      <vt:lpstr>Structure d’un code tarifaire</vt:lpstr>
      <vt:lpstr>Structure de la Nomenclature</vt:lpstr>
      <vt:lpstr>Arrêts de la Cour de justice de l’Union européenne</vt:lpstr>
      <vt:lpstr>Cas particuliers</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Taxe sur les boissons non alcoolisées sucrées</dc:title>
  <dc:creator>mschlink</dc:creator>
  <cp:lastModifiedBy>bofferdingd</cp:lastModifiedBy>
  <cp:revision>64</cp:revision>
  <cp:lastPrinted>2017-07-12T12:12:41Z</cp:lastPrinted>
  <dcterms:created xsi:type="dcterms:W3CDTF">2017-07-11T09:59:41Z</dcterms:created>
  <dcterms:modified xsi:type="dcterms:W3CDTF">2024-11-04T16:08:44Z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0x010100F8594D413724C84DBC52E19F2035DA73</vt:lpwstr>
  </property>
</Properties>
</file>