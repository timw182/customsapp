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58"/>
  </p:notesMasterIdLst>
  <p:sldIdLst>
    <p:sldId id="258" r:id="rId2"/>
    <p:sldId id="347" r:id="rId3"/>
    <p:sldId id="259" r:id="rId4"/>
    <p:sldId id="288" r:id="rId5"/>
    <p:sldId id="296" r:id="rId6"/>
    <p:sldId id="294" r:id="rId7"/>
    <p:sldId id="358" r:id="rId8"/>
    <p:sldId id="353" r:id="rId9"/>
    <p:sldId id="289" r:id="rId10"/>
    <p:sldId id="290" r:id="rId11"/>
    <p:sldId id="349" r:id="rId12"/>
    <p:sldId id="350" r:id="rId13"/>
    <p:sldId id="291" r:id="rId14"/>
    <p:sldId id="351" r:id="rId15"/>
    <p:sldId id="352" r:id="rId16"/>
    <p:sldId id="293" r:id="rId17"/>
    <p:sldId id="295" r:id="rId18"/>
    <p:sldId id="355" r:id="rId19"/>
    <p:sldId id="346" r:id="rId20"/>
    <p:sldId id="357" r:id="rId21"/>
    <p:sldId id="303" r:id="rId22"/>
    <p:sldId id="305" r:id="rId23"/>
    <p:sldId id="359" r:id="rId24"/>
    <p:sldId id="311" r:id="rId25"/>
    <p:sldId id="307" r:id="rId26"/>
    <p:sldId id="310" r:id="rId27"/>
    <p:sldId id="312" r:id="rId28"/>
    <p:sldId id="313" r:id="rId29"/>
    <p:sldId id="314" r:id="rId30"/>
    <p:sldId id="315" r:id="rId31"/>
    <p:sldId id="316" r:id="rId32"/>
    <p:sldId id="317" r:id="rId33"/>
    <p:sldId id="318" r:id="rId34"/>
    <p:sldId id="321" r:id="rId35"/>
    <p:sldId id="323" r:id="rId36"/>
    <p:sldId id="324" r:id="rId37"/>
    <p:sldId id="327" r:id="rId38"/>
    <p:sldId id="328" r:id="rId39"/>
    <p:sldId id="340" r:id="rId40"/>
    <p:sldId id="322" r:id="rId41"/>
    <p:sldId id="325" r:id="rId42"/>
    <p:sldId id="326" r:id="rId43"/>
    <p:sldId id="320" r:id="rId44"/>
    <p:sldId id="329" r:id="rId45"/>
    <p:sldId id="309" r:id="rId46"/>
    <p:sldId id="343" r:id="rId47"/>
    <p:sldId id="333" r:id="rId48"/>
    <p:sldId id="336" r:id="rId49"/>
    <p:sldId id="335" r:id="rId50"/>
    <p:sldId id="339" r:id="rId51"/>
    <p:sldId id="334" r:id="rId52"/>
    <p:sldId id="337" r:id="rId53"/>
    <p:sldId id="338" r:id="rId54"/>
    <p:sldId id="342" r:id="rId55"/>
    <p:sldId id="344" r:id="rId56"/>
    <p:sldId id="286" r:id="rId57"/>
  </p:sldIdLst>
  <p:sldSz cx="12192000" cy="6858000"/>
  <p:notesSz cx="6858000" cy="9144000"/>
  <p:defaultTextStyle>
    <a:defPPr>
      <a:defRPr lang="lb-L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b-LU"/>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F1B515-D64E-4A6D-86DE-D44065EC59AD}" type="datetimeFigureOut">
              <a:rPr lang="lb-LU" smtClean="0"/>
              <a:t>03.10.24</a:t>
            </a:fld>
            <a:endParaRPr lang="lb-LU"/>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b-LU"/>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lb-LU"/>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b-LU"/>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5962E4-1040-4138-BC49-5558BF59E7C5}" type="slidenum">
              <a:rPr lang="lb-LU" smtClean="0"/>
              <a:t>‹#›</a:t>
            </a:fld>
            <a:endParaRPr lang="lb-LU"/>
          </a:p>
        </p:txBody>
      </p:sp>
    </p:spTree>
    <p:extLst>
      <p:ext uri="{BB962C8B-B14F-4D97-AF65-F5344CB8AC3E}">
        <p14:creationId xmlns:p14="http://schemas.microsoft.com/office/powerpoint/2010/main" val="902354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lb-LU"/>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419553557"/>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lb-LU"/>
          </a:p>
        </p:txBody>
      </p:sp>
      <p:sp>
        <p:nvSpPr>
          <p:cNvPr id="3" name="Espace réservé du contenu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lb-LU"/>
          </a:p>
        </p:txBody>
      </p:sp>
      <p:sp>
        <p:nvSpPr>
          <p:cNvPr id="4" name="Espace réservé de la date 3"/>
          <p:cNvSpPr>
            <a:spLocks noGrp="1"/>
          </p:cNvSpPr>
          <p:nvPr>
            <p:ph type="dt" sz="half" idx="10"/>
          </p:nvPr>
        </p:nvSpPr>
        <p:spPr>
          <a:xfrm>
            <a:off x="838200" y="6356350"/>
            <a:ext cx="2743200" cy="365125"/>
          </a:xfrm>
          <a:prstGeom prst="rect">
            <a:avLst/>
          </a:prstGeom>
        </p:spPr>
        <p:txBody>
          <a:bodyPr/>
          <a:lstStyle/>
          <a:p>
            <a:fld id="{05E49347-3AF1-433D-A682-80E91A771D46}" type="datetime1">
              <a:rPr lang="lb-LU" smtClean="0"/>
              <a:t>03.10.24</a:t>
            </a:fld>
            <a:endParaRPr lang="lb-LU"/>
          </a:p>
        </p:txBody>
      </p:sp>
      <p:sp>
        <p:nvSpPr>
          <p:cNvPr id="5" name="Espace réservé du pied de page 4"/>
          <p:cNvSpPr>
            <a:spLocks noGrp="1"/>
          </p:cNvSpPr>
          <p:nvPr>
            <p:ph type="ftr" sz="quarter" idx="11"/>
          </p:nvPr>
        </p:nvSpPr>
        <p:spPr>
          <a:xfrm>
            <a:off x="4038600" y="6356350"/>
            <a:ext cx="4114800" cy="365125"/>
          </a:xfrm>
          <a:prstGeom prst="rect">
            <a:avLst/>
          </a:prstGeom>
        </p:spPr>
        <p:txBody>
          <a:bodyPr/>
          <a:lstStyle/>
          <a:p>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250758819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lb-LU"/>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Modifier les styles du texte du masque</a:t>
            </a:r>
          </a:p>
        </p:txBody>
      </p:sp>
      <p:sp>
        <p:nvSpPr>
          <p:cNvPr id="4" name="Espace réservé de la date 3"/>
          <p:cNvSpPr>
            <a:spLocks noGrp="1"/>
          </p:cNvSpPr>
          <p:nvPr>
            <p:ph type="dt" sz="half" idx="10"/>
          </p:nvPr>
        </p:nvSpPr>
        <p:spPr>
          <a:xfrm>
            <a:off x="838200" y="6356350"/>
            <a:ext cx="2743200" cy="365125"/>
          </a:xfrm>
          <a:prstGeom prst="rect">
            <a:avLst/>
          </a:prstGeom>
        </p:spPr>
        <p:txBody>
          <a:bodyPr/>
          <a:lstStyle/>
          <a:p>
            <a:fld id="{72073C46-185D-4256-90CD-D943250C7625}" type="datetime1">
              <a:rPr lang="lb-LU" smtClean="0"/>
              <a:t>03.10.24</a:t>
            </a:fld>
            <a:endParaRPr lang="lb-LU"/>
          </a:p>
        </p:txBody>
      </p:sp>
      <p:sp>
        <p:nvSpPr>
          <p:cNvPr id="5" name="Espace réservé du pied de page 4"/>
          <p:cNvSpPr>
            <a:spLocks noGrp="1"/>
          </p:cNvSpPr>
          <p:nvPr>
            <p:ph type="ftr" sz="quarter" idx="11"/>
          </p:nvPr>
        </p:nvSpPr>
        <p:spPr>
          <a:xfrm>
            <a:off x="4038600" y="6356350"/>
            <a:ext cx="4114800" cy="365125"/>
          </a:xfrm>
          <a:prstGeom prst="rect">
            <a:avLst/>
          </a:prstGeom>
        </p:spPr>
        <p:txBody>
          <a:bodyPr/>
          <a:lstStyle/>
          <a:p>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3048763732"/>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lb-LU"/>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lb-LU"/>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lb-LU"/>
          </a:p>
        </p:txBody>
      </p:sp>
      <p:sp>
        <p:nvSpPr>
          <p:cNvPr id="5" name="Espace réservé de la date 4"/>
          <p:cNvSpPr>
            <a:spLocks noGrp="1"/>
          </p:cNvSpPr>
          <p:nvPr>
            <p:ph type="dt" sz="half" idx="10"/>
          </p:nvPr>
        </p:nvSpPr>
        <p:spPr>
          <a:xfrm>
            <a:off x="838200" y="6356350"/>
            <a:ext cx="2743200" cy="365125"/>
          </a:xfrm>
          <a:prstGeom prst="rect">
            <a:avLst/>
          </a:prstGeom>
        </p:spPr>
        <p:txBody>
          <a:bodyPr/>
          <a:lstStyle/>
          <a:p>
            <a:fld id="{3E70FD8A-EB44-4576-A5EB-59CF14C2E478}" type="datetime1">
              <a:rPr lang="lb-LU" smtClean="0"/>
              <a:t>03.10.24</a:t>
            </a:fld>
            <a:endParaRPr lang="lb-LU"/>
          </a:p>
        </p:txBody>
      </p:sp>
      <p:sp>
        <p:nvSpPr>
          <p:cNvPr id="6" name="Espace réservé du pied de page 5"/>
          <p:cNvSpPr>
            <a:spLocks noGrp="1"/>
          </p:cNvSpPr>
          <p:nvPr>
            <p:ph type="ftr" sz="quarter" idx="11"/>
          </p:nvPr>
        </p:nvSpPr>
        <p:spPr>
          <a:xfrm>
            <a:off x="4038600" y="6356350"/>
            <a:ext cx="4114800" cy="365125"/>
          </a:xfrm>
          <a:prstGeom prst="rect">
            <a:avLst/>
          </a:prstGeom>
        </p:spPr>
        <p:txBody>
          <a:bodyPr/>
          <a:lstStyle/>
          <a:p>
            <a:endParaRPr lang="lb-LU"/>
          </a:p>
        </p:txBody>
      </p:sp>
      <p:sp>
        <p:nvSpPr>
          <p:cNvPr id="7" name="Espace réservé du numéro de diapositive 6"/>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3678963005"/>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lb-LU"/>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lb-LU"/>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lb-LU"/>
          </a:p>
        </p:txBody>
      </p:sp>
      <p:sp>
        <p:nvSpPr>
          <p:cNvPr id="7" name="Espace réservé de la date 6"/>
          <p:cNvSpPr>
            <a:spLocks noGrp="1"/>
          </p:cNvSpPr>
          <p:nvPr>
            <p:ph type="dt" sz="half" idx="10"/>
          </p:nvPr>
        </p:nvSpPr>
        <p:spPr>
          <a:xfrm>
            <a:off x="838200" y="6356350"/>
            <a:ext cx="2743200" cy="365125"/>
          </a:xfrm>
          <a:prstGeom prst="rect">
            <a:avLst/>
          </a:prstGeom>
        </p:spPr>
        <p:txBody>
          <a:bodyPr/>
          <a:lstStyle/>
          <a:p>
            <a:fld id="{B9B4AD55-9D76-419E-82AD-D8F8B1803E1E}" type="datetime1">
              <a:rPr lang="lb-LU" smtClean="0"/>
              <a:t>03.10.24</a:t>
            </a:fld>
            <a:endParaRPr lang="lb-LU"/>
          </a:p>
        </p:txBody>
      </p:sp>
      <p:sp>
        <p:nvSpPr>
          <p:cNvPr id="8" name="Espace réservé du pied de page 7"/>
          <p:cNvSpPr>
            <a:spLocks noGrp="1"/>
          </p:cNvSpPr>
          <p:nvPr>
            <p:ph type="ftr" sz="quarter" idx="11"/>
          </p:nvPr>
        </p:nvSpPr>
        <p:spPr>
          <a:xfrm>
            <a:off x="4038600" y="6356350"/>
            <a:ext cx="4114800" cy="365125"/>
          </a:xfrm>
          <a:prstGeom prst="rect">
            <a:avLst/>
          </a:prstGeom>
        </p:spPr>
        <p:txBody>
          <a:bodyPr/>
          <a:lstStyle/>
          <a:p>
            <a:endParaRPr lang="lb-LU"/>
          </a:p>
        </p:txBody>
      </p:sp>
      <p:sp>
        <p:nvSpPr>
          <p:cNvPr id="9" name="Espace réservé du numéro de diapositive 8"/>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1327699419"/>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lb-LU"/>
          </a:p>
        </p:txBody>
      </p:sp>
      <p:sp>
        <p:nvSpPr>
          <p:cNvPr id="3" name="Espace réservé de la date 2"/>
          <p:cNvSpPr>
            <a:spLocks noGrp="1"/>
          </p:cNvSpPr>
          <p:nvPr>
            <p:ph type="dt" sz="half" idx="10"/>
          </p:nvPr>
        </p:nvSpPr>
        <p:spPr>
          <a:xfrm>
            <a:off x="838200" y="6356350"/>
            <a:ext cx="2743200" cy="365125"/>
          </a:xfrm>
          <a:prstGeom prst="rect">
            <a:avLst/>
          </a:prstGeom>
        </p:spPr>
        <p:txBody>
          <a:bodyPr/>
          <a:lstStyle/>
          <a:p>
            <a:fld id="{353E7AE7-6380-4DBB-8393-DA4B838F9DF2}" type="datetime1">
              <a:rPr lang="lb-LU" smtClean="0"/>
              <a:t>03.10.24</a:t>
            </a:fld>
            <a:endParaRPr lang="lb-LU"/>
          </a:p>
        </p:txBody>
      </p:sp>
      <p:sp>
        <p:nvSpPr>
          <p:cNvPr id="4" name="Espace réservé du pied de page 3"/>
          <p:cNvSpPr>
            <a:spLocks noGrp="1"/>
          </p:cNvSpPr>
          <p:nvPr>
            <p:ph type="ftr" sz="quarter" idx="11"/>
          </p:nvPr>
        </p:nvSpPr>
        <p:spPr>
          <a:xfrm>
            <a:off x="4038600" y="6356350"/>
            <a:ext cx="4114800" cy="365125"/>
          </a:xfrm>
          <a:prstGeom prst="rect">
            <a:avLst/>
          </a:prstGeom>
        </p:spPr>
        <p:txBody>
          <a:bodyPr/>
          <a:lstStyle/>
          <a:p>
            <a:endParaRPr lang="lb-LU"/>
          </a:p>
        </p:txBody>
      </p:sp>
      <p:sp>
        <p:nvSpPr>
          <p:cNvPr id="5" name="Espace réservé du numéro de diapositive 4"/>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3999345377"/>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a:xfrm>
            <a:off x="838200" y="6356350"/>
            <a:ext cx="2743200" cy="365125"/>
          </a:xfrm>
          <a:prstGeom prst="rect">
            <a:avLst/>
          </a:prstGeom>
        </p:spPr>
        <p:txBody>
          <a:bodyPr/>
          <a:lstStyle/>
          <a:p>
            <a:fld id="{8C3A6886-80EF-4C3D-B97B-EB4BA09BA0D9}" type="datetime1">
              <a:rPr lang="lb-LU" smtClean="0"/>
              <a:t>03.10.24</a:t>
            </a:fld>
            <a:endParaRPr lang="lb-LU"/>
          </a:p>
        </p:txBody>
      </p:sp>
      <p:sp>
        <p:nvSpPr>
          <p:cNvPr id="3" name="Espace réservé du pied de page 2"/>
          <p:cNvSpPr>
            <a:spLocks noGrp="1"/>
          </p:cNvSpPr>
          <p:nvPr>
            <p:ph type="ftr" sz="quarter" idx="11"/>
          </p:nvPr>
        </p:nvSpPr>
        <p:spPr>
          <a:xfrm>
            <a:off x="4038600" y="6356350"/>
            <a:ext cx="4114800" cy="365125"/>
          </a:xfrm>
          <a:prstGeom prst="rect">
            <a:avLst/>
          </a:prstGeom>
        </p:spPr>
        <p:txBody>
          <a:bodyPr/>
          <a:lstStyle/>
          <a:p>
            <a:endParaRPr lang="lb-LU"/>
          </a:p>
        </p:txBody>
      </p:sp>
      <p:sp>
        <p:nvSpPr>
          <p:cNvPr id="4" name="Espace réservé du numéro de diapositive 3"/>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436144287"/>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lb-LU"/>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lb-LU"/>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a:xfrm>
            <a:off x="838200" y="6356350"/>
            <a:ext cx="2743200" cy="365125"/>
          </a:xfrm>
          <a:prstGeom prst="rect">
            <a:avLst/>
          </a:prstGeom>
        </p:spPr>
        <p:txBody>
          <a:bodyPr/>
          <a:lstStyle/>
          <a:p>
            <a:fld id="{6B07343E-EECC-477D-ADB1-BE348E75B209}" type="datetime1">
              <a:rPr lang="lb-LU" smtClean="0"/>
              <a:t>03.10.24</a:t>
            </a:fld>
            <a:endParaRPr lang="lb-LU"/>
          </a:p>
        </p:txBody>
      </p:sp>
      <p:sp>
        <p:nvSpPr>
          <p:cNvPr id="6" name="Espace réservé du pied de page 5"/>
          <p:cNvSpPr>
            <a:spLocks noGrp="1"/>
          </p:cNvSpPr>
          <p:nvPr>
            <p:ph type="ftr" sz="quarter" idx="11"/>
          </p:nvPr>
        </p:nvSpPr>
        <p:spPr>
          <a:xfrm>
            <a:off x="4038600" y="6356350"/>
            <a:ext cx="4114800" cy="365125"/>
          </a:xfrm>
          <a:prstGeom prst="rect">
            <a:avLst/>
          </a:prstGeom>
        </p:spPr>
        <p:txBody>
          <a:bodyPr/>
          <a:lstStyle/>
          <a:p>
            <a:endParaRPr lang="lb-LU"/>
          </a:p>
        </p:txBody>
      </p:sp>
      <p:sp>
        <p:nvSpPr>
          <p:cNvPr id="7" name="Espace réservé du numéro de diapositive 6"/>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1564585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lb-LU"/>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b-LU"/>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a:xfrm>
            <a:off x="838200" y="6356350"/>
            <a:ext cx="2743200" cy="365125"/>
          </a:xfrm>
          <a:prstGeom prst="rect">
            <a:avLst/>
          </a:prstGeom>
        </p:spPr>
        <p:txBody>
          <a:bodyPr/>
          <a:lstStyle/>
          <a:p>
            <a:fld id="{FF41995F-23F3-4ACB-B0E6-81B3B11AF4D1}" type="datetime1">
              <a:rPr lang="lb-LU" smtClean="0"/>
              <a:t>03.10.24</a:t>
            </a:fld>
            <a:endParaRPr lang="lb-LU"/>
          </a:p>
        </p:txBody>
      </p:sp>
      <p:sp>
        <p:nvSpPr>
          <p:cNvPr id="6" name="Espace réservé du pied de page 5"/>
          <p:cNvSpPr>
            <a:spLocks noGrp="1"/>
          </p:cNvSpPr>
          <p:nvPr>
            <p:ph type="ftr" sz="quarter" idx="11"/>
          </p:nvPr>
        </p:nvSpPr>
        <p:spPr>
          <a:xfrm>
            <a:off x="4038600" y="6356350"/>
            <a:ext cx="4114800" cy="365125"/>
          </a:xfrm>
          <a:prstGeom prst="rect">
            <a:avLst/>
          </a:prstGeom>
        </p:spPr>
        <p:txBody>
          <a:bodyPr/>
          <a:lstStyle/>
          <a:p>
            <a:endParaRPr lang="lb-LU"/>
          </a:p>
        </p:txBody>
      </p:sp>
      <p:sp>
        <p:nvSpPr>
          <p:cNvPr id="7" name="Espace réservé du numéro de diapositive 6"/>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19659347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lb-LU"/>
          </a:p>
        </p:txBody>
      </p:sp>
      <p:sp>
        <p:nvSpPr>
          <p:cNvPr id="3" name="Espace réservé du texte vertical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lb-LU"/>
          </a:p>
        </p:txBody>
      </p:sp>
      <p:sp>
        <p:nvSpPr>
          <p:cNvPr id="4" name="Espace réservé de la date 3"/>
          <p:cNvSpPr>
            <a:spLocks noGrp="1"/>
          </p:cNvSpPr>
          <p:nvPr>
            <p:ph type="dt" sz="half" idx="10"/>
          </p:nvPr>
        </p:nvSpPr>
        <p:spPr>
          <a:xfrm>
            <a:off x="838200" y="6356350"/>
            <a:ext cx="2743200" cy="365125"/>
          </a:xfrm>
          <a:prstGeom prst="rect">
            <a:avLst/>
          </a:prstGeom>
        </p:spPr>
        <p:txBody>
          <a:bodyPr/>
          <a:lstStyle/>
          <a:p>
            <a:fld id="{D9AF1255-0305-47BF-B8FF-F11D3278E29F}" type="datetime1">
              <a:rPr lang="lb-LU" smtClean="0"/>
              <a:t>03.10.24</a:t>
            </a:fld>
            <a:endParaRPr lang="lb-LU"/>
          </a:p>
        </p:txBody>
      </p:sp>
      <p:sp>
        <p:nvSpPr>
          <p:cNvPr id="5" name="Espace réservé du pied de page 4"/>
          <p:cNvSpPr>
            <a:spLocks noGrp="1"/>
          </p:cNvSpPr>
          <p:nvPr>
            <p:ph type="ftr" sz="quarter" idx="11"/>
          </p:nvPr>
        </p:nvSpPr>
        <p:spPr>
          <a:xfrm>
            <a:off x="4038600" y="6356350"/>
            <a:ext cx="4114800" cy="365125"/>
          </a:xfrm>
          <a:prstGeom prst="rect">
            <a:avLst/>
          </a:prstGeom>
        </p:spPr>
        <p:txBody>
          <a:bodyPr/>
          <a:lstStyle/>
          <a:p>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1665576923"/>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lb-LU"/>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lb-LU"/>
          </a:p>
        </p:txBody>
      </p:sp>
      <p:sp>
        <p:nvSpPr>
          <p:cNvPr id="4" name="Espace réservé de la date 3"/>
          <p:cNvSpPr>
            <a:spLocks noGrp="1"/>
          </p:cNvSpPr>
          <p:nvPr>
            <p:ph type="dt" sz="half" idx="10"/>
          </p:nvPr>
        </p:nvSpPr>
        <p:spPr>
          <a:xfrm>
            <a:off x="838200" y="6356350"/>
            <a:ext cx="2743200" cy="365125"/>
          </a:xfrm>
          <a:prstGeom prst="rect">
            <a:avLst/>
          </a:prstGeom>
        </p:spPr>
        <p:txBody>
          <a:bodyPr/>
          <a:lstStyle/>
          <a:p>
            <a:fld id="{BAA19295-06D0-4606-8969-0296AE3C0540}" type="datetime1">
              <a:rPr lang="lb-LU" smtClean="0"/>
              <a:t>03.10.24</a:t>
            </a:fld>
            <a:endParaRPr lang="lb-LU"/>
          </a:p>
        </p:txBody>
      </p:sp>
      <p:sp>
        <p:nvSpPr>
          <p:cNvPr id="5" name="Espace réservé du pied de page 4"/>
          <p:cNvSpPr>
            <a:spLocks noGrp="1"/>
          </p:cNvSpPr>
          <p:nvPr>
            <p:ph type="ftr" sz="quarter" idx="11"/>
          </p:nvPr>
        </p:nvSpPr>
        <p:spPr>
          <a:xfrm>
            <a:off x="4038600" y="6356350"/>
            <a:ext cx="4114800" cy="365125"/>
          </a:xfrm>
          <a:prstGeom prst="rect">
            <a:avLst/>
          </a:prstGeom>
        </p:spPr>
        <p:txBody>
          <a:bodyPr/>
          <a:lstStyle/>
          <a:p>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295661645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Image 10"/>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429625" y="1294065"/>
            <a:ext cx="3744806" cy="5563935"/>
          </a:xfrm>
          <a:prstGeom prst="rect">
            <a:avLst/>
          </a:prstGeom>
        </p:spPr>
      </p:pic>
      <p:sp>
        <p:nvSpPr>
          <p:cNvPr id="2" name="Espace réservé du titre 1"/>
          <p:cNvSpPr>
            <a:spLocks noGrp="1"/>
          </p:cNvSpPr>
          <p:nvPr>
            <p:ph type="title"/>
          </p:nvPr>
        </p:nvSpPr>
        <p:spPr>
          <a:xfrm>
            <a:off x="838200" y="1060450"/>
            <a:ext cx="10515600" cy="662187"/>
          </a:xfrm>
          <a:prstGeom prst="rect">
            <a:avLst/>
          </a:prstGeom>
        </p:spPr>
        <p:txBody>
          <a:bodyPr vert="horz" lIns="91440" tIns="45720" rIns="91440" bIns="45720" rtlCol="0" anchor="ctr">
            <a:normAutofit/>
          </a:bodyPr>
          <a:lstStyle/>
          <a:p>
            <a:r>
              <a:rPr lang="fr-FR" smtClean="0"/>
              <a:t>Modifiez le style du titre</a:t>
            </a:r>
            <a:endParaRPr lang="lb-LU"/>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smtClean="0"/>
              <a:t>Modifier les styles du texte du masque</a:t>
            </a:r>
          </a:p>
          <a:p>
            <a:pPr lvl="1"/>
            <a:r>
              <a:rPr lang="fr-FR" dirty="0" smtClean="0"/>
              <a:t>Deuxième niveau</a:t>
            </a:r>
          </a:p>
          <a:p>
            <a:pPr lvl="2"/>
            <a:r>
              <a:rPr lang="fr-FR" dirty="0" smtClean="0"/>
              <a:t>Troisième niveau</a:t>
            </a:r>
          </a:p>
          <a:p>
            <a:pPr lvl="3"/>
            <a:r>
              <a:rPr lang="fr-FR" dirty="0" smtClean="0"/>
              <a:t>Quatrième niveau</a:t>
            </a:r>
          </a:p>
          <a:p>
            <a:pPr lvl="4"/>
            <a:r>
              <a:rPr lang="fr-FR" dirty="0" smtClean="0"/>
              <a:t>Cinquième niveau</a:t>
            </a:r>
            <a:endParaRPr lang="lb-LU" dirty="0"/>
          </a:p>
        </p:txBody>
      </p:sp>
      <p:pic>
        <p:nvPicPr>
          <p:cNvPr id="7" name="Picture 2" descr="https://douanes.public.lu/etc/designs/douanes/clientlibs/default/img/bg-header.jp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5976851" y="0"/>
            <a:ext cx="6215149" cy="102161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https://douanes.public.lu/etc/designs/douanes/clientlibs/default/img/bg-header.jp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0" y="0"/>
            <a:ext cx="6215149" cy="1021616"/>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 8"/>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5331229" y="102988"/>
            <a:ext cx="3347258" cy="815640"/>
          </a:xfrm>
          <a:prstGeom prst="rect">
            <a:avLst/>
          </a:prstGeom>
        </p:spPr>
      </p:pic>
      <p:sp>
        <p:nvSpPr>
          <p:cNvPr id="6" name="Espace réservé du numéro de diapositive 5"/>
          <p:cNvSpPr>
            <a:spLocks noGrp="1"/>
          </p:cNvSpPr>
          <p:nvPr>
            <p:ph type="sldNum" sz="quarter" idx="4"/>
          </p:nvPr>
        </p:nvSpPr>
        <p:spPr>
          <a:xfrm>
            <a:off x="9324108" y="328245"/>
            <a:ext cx="2743200" cy="365125"/>
          </a:xfrm>
          <a:prstGeom prst="rect">
            <a:avLst/>
          </a:prstGeom>
        </p:spPr>
        <p:txBody>
          <a:bodyPr vert="horz" lIns="91440" tIns="45720" rIns="91440" bIns="45720" rtlCol="0" anchor="ctr"/>
          <a:lstStyle>
            <a:lvl1pPr algn="r">
              <a:defRPr sz="1400">
                <a:solidFill>
                  <a:schemeClr val="bg1"/>
                </a:solidFill>
              </a:defRPr>
            </a:lvl1pPr>
          </a:lstStyle>
          <a:p>
            <a:fld id="{C58F520E-0D3C-4C73-96DF-B271C0F692B0}" type="slidenum">
              <a:rPr lang="lb-LU" smtClean="0"/>
              <a:pPr/>
              <a:t>‹#›</a:t>
            </a:fld>
            <a:endParaRPr lang="lb-LU" dirty="0"/>
          </a:p>
        </p:txBody>
      </p:sp>
      <p:pic>
        <p:nvPicPr>
          <p:cNvPr id="10" name="Image 9"/>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0" y="2442"/>
            <a:ext cx="1389210" cy="1019174"/>
          </a:xfrm>
          <a:prstGeom prst="rect">
            <a:avLst/>
          </a:prstGeom>
        </p:spPr>
      </p:pic>
    </p:spTree>
    <p:extLst>
      <p:ext uri="{BB962C8B-B14F-4D97-AF65-F5344CB8AC3E}">
        <p14:creationId xmlns:p14="http://schemas.microsoft.com/office/powerpoint/2010/main" val="39622725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b-L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lb-LU" dirty="0"/>
          </a:p>
        </p:txBody>
      </p:sp>
      <p:sp>
        <p:nvSpPr>
          <p:cNvPr id="3" name="Espace réservé du contenu 2"/>
          <p:cNvSpPr>
            <a:spLocks noGrp="1"/>
          </p:cNvSpPr>
          <p:nvPr>
            <p:ph idx="1"/>
          </p:nvPr>
        </p:nvSpPr>
        <p:spPr/>
        <p:txBody>
          <a:bodyPr/>
          <a:lstStyle/>
          <a:p>
            <a:pPr marL="0" indent="0">
              <a:buNone/>
            </a:pPr>
            <a:endParaRPr lang="lb-LU" dirty="0" smtClean="0"/>
          </a:p>
          <a:p>
            <a:pPr marL="0" indent="0">
              <a:buNone/>
            </a:pPr>
            <a:endParaRPr lang="lb-LU" dirty="0"/>
          </a:p>
        </p:txBody>
      </p:sp>
      <p:sp>
        <p:nvSpPr>
          <p:cNvPr id="4" name="Espace réservé du numéro de diapositive 3"/>
          <p:cNvSpPr>
            <a:spLocks noGrp="1"/>
          </p:cNvSpPr>
          <p:nvPr>
            <p:ph type="sldNum" sz="quarter" idx="12"/>
          </p:nvPr>
        </p:nvSpPr>
        <p:spPr/>
        <p:txBody>
          <a:bodyPr/>
          <a:lstStyle/>
          <a:p>
            <a:fld id="{C58F520E-0D3C-4C73-96DF-B271C0F692B0}" type="slidenum">
              <a:rPr lang="lb-LU" smtClean="0"/>
              <a:t>1</a:t>
            </a:fld>
            <a:endParaRPr lang="lb-LU" dirty="0"/>
          </a:p>
        </p:txBody>
      </p:sp>
      <p:sp>
        <p:nvSpPr>
          <p:cNvPr id="6" name="Titre 1"/>
          <p:cNvSpPr txBox="1">
            <a:spLocks/>
          </p:cNvSpPr>
          <p:nvPr/>
        </p:nvSpPr>
        <p:spPr>
          <a:xfrm>
            <a:off x="918402" y="2867891"/>
            <a:ext cx="10355195" cy="1454728"/>
          </a:xfrm>
          <a:prstGeom prst="rect">
            <a:avLst/>
          </a:prstGeom>
          <a:solidFill>
            <a:schemeClr val="accent5"/>
          </a:solidFill>
          <a:effectLst>
            <a:innerShdw blurRad="63500" dist="50800" dir="13500000">
              <a:prstClr val="black">
                <a:alpha val="50000"/>
              </a:prstClr>
            </a:innerShdw>
            <a:reflection blurRad="6350" stA="50000" endA="300" endPos="55000" dir="5400000" sy="-100000" algn="bl" rotWithShape="0"/>
          </a:effectLst>
          <a:scene3d>
            <a:camera prst="perspectiveContrastingRightFacing"/>
            <a:lightRig rig="threePt" dir="t"/>
          </a:scene3d>
        </p:spPr>
        <p:style>
          <a:lnRef idx="3">
            <a:schemeClr val="lt1"/>
          </a:lnRef>
          <a:fillRef idx="1">
            <a:schemeClr val="accent4"/>
          </a:fillRef>
          <a:effectRef idx="1">
            <a:schemeClr val="accent4"/>
          </a:effectRef>
          <a:fontRef idx="minor">
            <a:schemeClr val="lt1"/>
          </a:fontRef>
        </p:style>
        <p:txBody>
          <a:bodyPr vert="horz" lIns="91440" tIns="45720" rIns="91440" bIns="45720" rtlCol="0" anchor="ctr">
            <a:normAutofit fontScale="97500"/>
          </a:bodyPr>
          <a:lstStyle>
            <a:lvl1pPr algn="l" defTabSz="914400" rtl="0" eaLnBrk="1" latinLnBrk="0" hangingPunct="1">
              <a:lnSpc>
                <a:spcPct val="90000"/>
              </a:lnSpc>
              <a:spcBef>
                <a:spcPct val="0"/>
              </a:spcBef>
              <a:buNone/>
              <a:defRPr sz="3200" b="1"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lb-LU" sz="4100" dirty="0" smtClean="0"/>
              <a:t>Représentant en douane</a:t>
            </a:r>
            <a:endParaRPr lang="fr-LU" sz="4100" dirty="0"/>
          </a:p>
        </p:txBody>
      </p:sp>
    </p:spTree>
    <p:extLst>
      <p:ext uri="{BB962C8B-B14F-4D97-AF65-F5344CB8AC3E}">
        <p14:creationId xmlns:p14="http://schemas.microsoft.com/office/powerpoint/2010/main" val="409786806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fr-FR" dirty="0" smtClean="0"/>
          </a:p>
          <a:p>
            <a:endParaRPr lang="fr-FR" dirty="0"/>
          </a:p>
          <a:p>
            <a:r>
              <a:rPr lang="fr-FR" dirty="0" smtClean="0"/>
              <a:t>I. Généralités</a:t>
            </a: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2</a:t>
            </a:fld>
            <a:endParaRPr lang="lb-LU"/>
          </a:p>
        </p:txBody>
      </p:sp>
    </p:spTree>
    <p:extLst>
      <p:ext uri="{BB962C8B-B14F-4D97-AF65-F5344CB8AC3E}">
        <p14:creationId xmlns:p14="http://schemas.microsoft.com/office/powerpoint/2010/main" val="164026670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1060450"/>
            <a:ext cx="10515600" cy="976168"/>
          </a:xfrm>
        </p:spPr>
        <p:txBody>
          <a:bodyPr>
            <a:normAutofit/>
          </a:bodyPr>
          <a:lstStyle/>
          <a:p>
            <a:r>
              <a:rPr lang="lb-LU" dirty="0" smtClean="0"/>
              <a:t>CDU :Article 5 (Définitions) point 6:</a:t>
            </a:r>
            <a:endParaRPr lang="lb-LU" b="0" dirty="0">
              <a:latin typeface="+mn-lt"/>
            </a:endParaRPr>
          </a:p>
        </p:txBody>
      </p:sp>
      <p:sp>
        <p:nvSpPr>
          <p:cNvPr id="3" name="Espace réservé du contenu 2"/>
          <p:cNvSpPr>
            <a:spLocks noGrp="1"/>
          </p:cNvSpPr>
          <p:nvPr>
            <p:ph idx="1"/>
          </p:nvPr>
        </p:nvSpPr>
        <p:spPr/>
        <p:txBody>
          <a:bodyPr/>
          <a:lstStyle/>
          <a:p>
            <a:pPr marL="0" indent="0">
              <a:buNone/>
            </a:pPr>
            <a:endParaRPr lang="lb-LU" dirty="0" smtClean="0"/>
          </a:p>
          <a:p>
            <a:pPr marL="0" indent="0">
              <a:buNone/>
            </a:pPr>
            <a:r>
              <a:rPr lang="fr-CH" dirty="0" smtClean="0"/>
              <a:t>‎Aux </a:t>
            </a:r>
            <a:r>
              <a:rPr lang="fr-CH" dirty="0"/>
              <a:t>fins du </a:t>
            </a:r>
            <a:r>
              <a:rPr lang="fr-CH" dirty="0" smtClean="0"/>
              <a:t>code des douanes de l’Union, </a:t>
            </a:r>
            <a:r>
              <a:rPr lang="fr-CH" dirty="0"/>
              <a:t>on entend par </a:t>
            </a:r>
            <a:r>
              <a:rPr lang="fr-CH" dirty="0" smtClean="0"/>
              <a:t>"représentant </a:t>
            </a:r>
            <a:r>
              <a:rPr lang="fr-CH" dirty="0"/>
              <a:t>en douane</a:t>
            </a:r>
            <a:r>
              <a:rPr lang="fr-CH" dirty="0" smtClean="0"/>
              <a:t>":</a:t>
            </a:r>
          </a:p>
          <a:p>
            <a:pPr marL="0" indent="0">
              <a:buNone/>
            </a:pPr>
            <a:endParaRPr lang="fr-CH" dirty="0" smtClean="0"/>
          </a:p>
          <a:p>
            <a:pPr marL="0" indent="0">
              <a:buNone/>
            </a:pPr>
            <a:r>
              <a:rPr lang="fr-CH" dirty="0" smtClean="0"/>
              <a:t>Toute </a:t>
            </a:r>
            <a:r>
              <a:rPr lang="fr-CH" dirty="0"/>
              <a:t>personne désignée par une autre personne pour accomplir auprès des autorités douanières des actes ou des formalités </a:t>
            </a:r>
            <a:r>
              <a:rPr lang="fr-CH" dirty="0" smtClean="0"/>
              <a:t>prévus par </a:t>
            </a:r>
            <a:r>
              <a:rPr lang="fr-CH" dirty="0"/>
              <a:t>la législation </a:t>
            </a:r>
            <a:r>
              <a:rPr lang="fr-CH" dirty="0" smtClean="0"/>
              <a:t>douanière</a:t>
            </a:r>
            <a:endParaRPr lang="fr-LU" sz="2400" dirty="0"/>
          </a:p>
        </p:txBody>
      </p:sp>
      <p:sp>
        <p:nvSpPr>
          <p:cNvPr id="4" name="Espace réservé du numéro de diapositive 3"/>
          <p:cNvSpPr>
            <a:spLocks noGrp="1"/>
          </p:cNvSpPr>
          <p:nvPr>
            <p:ph type="sldNum" sz="quarter" idx="12"/>
          </p:nvPr>
        </p:nvSpPr>
        <p:spPr/>
        <p:txBody>
          <a:bodyPr/>
          <a:lstStyle/>
          <a:p>
            <a:fld id="{C58F520E-0D3C-4C73-96DF-B271C0F692B0}" type="slidenum">
              <a:rPr lang="lb-LU" smtClean="0"/>
              <a:t>3</a:t>
            </a:fld>
            <a:endParaRPr lang="lb-LU" dirty="0"/>
          </a:p>
        </p:txBody>
      </p:sp>
    </p:spTree>
    <p:extLst>
      <p:ext uri="{BB962C8B-B14F-4D97-AF65-F5344CB8AC3E}">
        <p14:creationId xmlns:p14="http://schemas.microsoft.com/office/powerpoint/2010/main" val="245314747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1060450"/>
            <a:ext cx="10515600" cy="976168"/>
          </a:xfrm>
        </p:spPr>
        <p:txBody>
          <a:bodyPr>
            <a:normAutofit/>
          </a:bodyPr>
          <a:lstStyle/>
          <a:p>
            <a:r>
              <a:rPr lang="lb-LU" dirty="0" smtClean="0"/>
              <a:t>CDU :Article 18 point 1:</a:t>
            </a:r>
            <a:endParaRPr lang="lb-LU" b="0" dirty="0">
              <a:latin typeface="+mn-lt"/>
            </a:endParaRPr>
          </a:p>
        </p:txBody>
      </p:sp>
      <p:sp>
        <p:nvSpPr>
          <p:cNvPr id="3" name="Espace réservé du contenu 2"/>
          <p:cNvSpPr>
            <a:spLocks noGrp="1"/>
          </p:cNvSpPr>
          <p:nvPr>
            <p:ph idx="1"/>
          </p:nvPr>
        </p:nvSpPr>
        <p:spPr/>
        <p:txBody>
          <a:bodyPr/>
          <a:lstStyle/>
          <a:p>
            <a:pPr marL="0" indent="0">
              <a:buNone/>
            </a:pPr>
            <a:endParaRPr lang="lb-LU" dirty="0" smtClean="0"/>
          </a:p>
          <a:p>
            <a:pPr marL="0" indent="0">
              <a:buNone/>
            </a:pPr>
            <a:r>
              <a:rPr lang="fr-CH" dirty="0" smtClean="0"/>
              <a:t>‎Toute </a:t>
            </a:r>
            <a:r>
              <a:rPr lang="fr-CH" dirty="0"/>
              <a:t>personne peut désigner un représentant en douane</a:t>
            </a:r>
            <a:r>
              <a:rPr lang="fr-CH" dirty="0" smtClean="0"/>
              <a:t>.</a:t>
            </a:r>
          </a:p>
          <a:p>
            <a:pPr marL="0" indent="0">
              <a:buNone/>
            </a:pPr>
            <a:endParaRPr lang="fr-CH" dirty="0"/>
          </a:p>
          <a:p>
            <a:pPr marL="0" indent="0">
              <a:buNone/>
            </a:pPr>
            <a:r>
              <a:rPr lang="fr-CH" dirty="0"/>
              <a:t>Cette représentation peut </a:t>
            </a:r>
            <a:r>
              <a:rPr lang="fr-CH" dirty="0" smtClean="0"/>
              <a:t>être:</a:t>
            </a:r>
          </a:p>
          <a:p>
            <a:r>
              <a:rPr lang="fr-CH" dirty="0" smtClean="0"/>
              <a:t>soit </a:t>
            </a:r>
            <a:r>
              <a:rPr lang="fr-CH" dirty="0"/>
              <a:t>directe, auquel cas le représentant en douane agit au nom et pour le compte d'autrui, </a:t>
            </a:r>
            <a:endParaRPr lang="fr-CH" dirty="0" smtClean="0"/>
          </a:p>
          <a:p>
            <a:r>
              <a:rPr lang="fr-CH" dirty="0" smtClean="0"/>
              <a:t>soit </a:t>
            </a:r>
            <a:r>
              <a:rPr lang="fr-CH" dirty="0"/>
              <a:t>indirecte, auquel cas le représentant en douane agit en son nom propre, mais pour le compte d'autrui.</a:t>
            </a:r>
            <a:endParaRPr lang="fr-LU" sz="2400" dirty="0"/>
          </a:p>
        </p:txBody>
      </p:sp>
      <p:sp>
        <p:nvSpPr>
          <p:cNvPr id="4" name="Espace réservé du numéro de diapositive 3"/>
          <p:cNvSpPr>
            <a:spLocks noGrp="1"/>
          </p:cNvSpPr>
          <p:nvPr>
            <p:ph type="sldNum" sz="quarter" idx="12"/>
          </p:nvPr>
        </p:nvSpPr>
        <p:spPr/>
        <p:txBody>
          <a:bodyPr/>
          <a:lstStyle/>
          <a:p>
            <a:fld id="{C58F520E-0D3C-4C73-96DF-B271C0F692B0}" type="slidenum">
              <a:rPr lang="lb-LU" smtClean="0"/>
              <a:t>4</a:t>
            </a:fld>
            <a:endParaRPr lang="lb-LU" dirty="0"/>
          </a:p>
        </p:txBody>
      </p:sp>
    </p:spTree>
    <p:extLst>
      <p:ext uri="{BB962C8B-B14F-4D97-AF65-F5344CB8AC3E}">
        <p14:creationId xmlns:p14="http://schemas.microsoft.com/office/powerpoint/2010/main" val="157852212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 calcmode="lin" valueType="num">
                                      <p:cBhvr additive="base">
                                        <p:cTn id="12"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 calcmode="lin" valueType="num">
                                      <p:cBhvr additive="base">
                                        <p:cTn id="18"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1060450"/>
            <a:ext cx="10515600" cy="976168"/>
          </a:xfrm>
        </p:spPr>
        <p:txBody>
          <a:bodyPr>
            <a:normAutofit/>
          </a:bodyPr>
          <a:lstStyle/>
          <a:p>
            <a:r>
              <a:rPr lang="fr-FR" dirty="0" smtClean="0"/>
              <a:t>Définitions:</a:t>
            </a:r>
            <a:endParaRPr lang="lb-LU" b="0" dirty="0">
              <a:latin typeface="+mn-lt"/>
            </a:endParaRPr>
          </a:p>
        </p:txBody>
      </p:sp>
      <p:sp>
        <p:nvSpPr>
          <p:cNvPr id="3" name="Espace réservé du contenu 2"/>
          <p:cNvSpPr>
            <a:spLocks noGrp="1"/>
          </p:cNvSpPr>
          <p:nvPr>
            <p:ph idx="1"/>
          </p:nvPr>
        </p:nvSpPr>
        <p:spPr/>
        <p:txBody>
          <a:bodyPr>
            <a:normAutofit fontScale="92500" lnSpcReduction="10000"/>
          </a:bodyPr>
          <a:lstStyle/>
          <a:p>
            <a:pPr marL="0" indent="0">
              <a:buNone/>
            </a:pPr>
            <a:r>
              <a:rPr lang="fr-CH" i="1" dirty="0"/>
              <a:t>CDU :Article 5 (Définitions) point 15:</a:t>
            </a:r>
          </a:p>
          <a:p>
            <a:pPr marL="0" indent="0">
              <a:buNone/>
            </a:pPr>
            <a:endParaRPr lang="lb-LU" dirty="0" smtClean="0"/>
          </a:p>
          <a:p>
            <a:pPr marL="0" indent="0">
              <a:buNone/>
            </a:pPr>
            <a:r>
              <a:rPr lang="fr-CH" i="1" dirty="0" smtClean="0"/>
              <a:t>Personne désignée comme déclarant :‎</a:t>
            </a:r>
            <a:endParaRPr lang="fr-CH" dirty="0" smtClean="0"/>
          </a:p>
          <a:p>
            <a:pPr marL="0" indent="0">
              <a:buNone/>
            </a:pPr>
            <a:r>
              <a:rPr lang="fr-CH" dirty="0" smtClean="0"/>
              <a:t>Le </a:t>
            </a:r>
            <a:r>
              <a:rPr lang="fr-CH" dirty="0"/>
              <a:t>déclarant est la personne qui dépose une déclaration en douane, une déclaration de dépôt ‎temporaire, une déclaration sommaire d'entrée, une déclaration sommaire de sortie, une déclaration ‎ou une notification de réexportation </a:t>
            </a:r>
            <a:r>
              <a:rPr lang="fr-CH" u="sng" dirty="0"/>
              <a:t>en son nom propre </a:t>
            </a:r>
            <a:endParaRPr lang="fr-CH" u="sng" dirty="0" smtClean="0"/>
          </a:p>
          <a:p>
            <a:pPr marL="0" indent="0">
              <a:buNone/>
            </a:pPr>
            <a:r>
              <a:rPr lang="fr-CH" dirty="0" smtClean="0"/>
              <a:t>ou </a:t>
            </a:r>
          </a:p>
          <a:p>
            <a:pPr marL="0" indent="0">
              <a:buNone/>
            </a:pPr>
            <a:r>
              <a:rPr lang="fr-CH" dirty="0" smtClean="0"/>
              <a:t>la </a:t>
            </a:r>
            <a:r>
              <a:rPr lang="fr-CH" dirty="0"/>
              <a:t>personne </a:t>
            </a:r>
            <a:r>
              <a:rPr lang="fr-CH" u="sng" dirty="0"/>
              <a:t>au nom de laquelle </a:t>
            </a:r>
            <a:r>
              <a:rPr lang="fr-CH" dirty="0"/>
              <a:t>une telle ‎déclaration ou une telle notification est déposée.‎</a:t>
            </a:r>
          </a:p>
          <a:p>
            <a:pPr marL="0" indent="0">
              <a:buNone/>
            </a:pPr>
            <a:r>
              <a:rPr lang="fr-CH" dirty="0"/>
              <a:t>	</a:t>
            </a:r>
          </a:p>
        </p:txBody>
      </p:sp>
      <p:sp>
        <p:nvSpPr>
          <p:cNvPr id="4" name="Espace réservé du numéro de diapositive 3"/>
          <p:cNvSpPr>
            <a:spLocks noGrp="1"/>
          </p:cNvSpPr>
          <p:nvPr>
            <p:ph type="sldNum" sz="quarter" idx="12"/>
          </p:nvPr>
        </p:nvSpPr>
        <p:spPr/>
        <p:txBody>
          <a:bodyPr/>
          <a:lstStyle/>
          <a:p>
            <a:fld id="{C58F520E-0D3C-4C73-96DF-B271C0F692B0}" type="slidenum">
              <a:rPr lang="lb-LU" smtClean="0"/>
              <a:t>5</a:t>
            </a:fld>
            <a:endParaRPr lang="lb-LU" dirty="0"/>
          </a:p>
        </p:txBody>
      </p:sp>
    </p:spTree>
    <p:extLst>
      <p:ext uri="{BB962C8B-B14F-4D97-AF65-F5344CB8AC3E}">
        <p14:creationId xmlns:p14="http://schemas.microsoft.com/office/powerpoint/2010/main" val="80685769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1000"/>
                                        <p:tgtEl>
                                          <p:spTgt spid="3">
                                            <p:txEl>
                                              <p:pRg st="4" end="4"/>
                                            </p:txEl>
                                          </p:spTgt>
                                        </p:tgtEl>
                                      </p:cBhvr>
                                    </p:animEffect>
                                    <p:anim calcmode="lin" valueType="num">
                                      <p:cBhvr>
                                        <p:cTn id="1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1000"/>
                                        <p:tgtEl>
                                          <p:spTgt spid="3">
                                            <p:txEl>
                                              <p:pRg st="5" end="5"/>
                                            </p:txEl>
                                          </p:spTgt>
                                        </p:tgtEl>
                                      </p:cBhvr>
                                    </p:animEffect>
                                    <p:anim calcmode="lin" valueType="num">
                                      <p:cBhvr>
                                        <p:cTn id="2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1371599"/>
            <a:ext cx="10515600" cy="1022465"/>
          </a:xfrm>
        </p:spPr>
        <p:txBody>
          <a:bodyPr>
            <a:normAutofit fontScale="90000"/>
          </a:bodyPr>
          <a:lstStyle/>
          <a:p>
            <a:r>
              <a:rPr lang="lb-LU" dirty="0" smtClean="0"/>
              <a:t>Représentation directe / indirecte dans le cas d’une mise en libre pratique:</a:t>
            </a:r>
            <a:br>
              <a:rPr lang="lb-LU" dirty="0" smtClean="0"/>
            </a:br>
            <a:endParaRPr lang="lb-LU" b="0" dirty="0">
              <a:latin typeface="+mn-lt"/>
            </a:endParaRPr>
          </a:p>
        </p:txBody>
      </p:sp>
      <p:sp>
        <p:nvSpPr>
          <p:cNvPr id="3" name="Espace réservé du contenu 2"/>
          <p:cNvSpPr>
            <a:spLocks noGrp="1"/>
          </p:cNvSpPr>
          <p:nvPr>
            <p:ph idx="1"/>
          </p:nvPr>
        </p:nvSpPr>
        <p:spPr>
          <a:xfrm>
            <a:off x="838200" y="2036617"/>
            <a:ext cx="10515600" cy="4140345"/>
          </a:xfrm>
        </p:spPr>
        <p:txBody>
          <a:bodyPr>
            <a:normAutofit fontScale="92500"/>
          </a:bodyPr>
          <a:lstStyle/>
          <a:p>
            <a:pPr marL="0" indent="0">
              <a:buNone/>
            </a:pPr>
            <a:endParaRPr lang="fr-CH" dirty="0" smtClean="0"/>
          </a:p>
          <a:p>
            <a:pPr marL="0" indent="0">
              <a:buNone/>
            </a:pPr>
            <a:r>
              <a:rPr lang="fr-CH" dirty="0" smtClean="0"/>
              <a:t>En cas de représentation directe, le </a:t>
            </a:r>
            <a:r>
              <a:rPr lang="fr-CH" dirty="0"/>
              <a:t>déclarant est le </a:t>
            </a:r>
            <a:r>
              <a:rPr lang="fr-CH" dirty="0" smtClean="0"/>
              <a:t>débiteur (débiteur= </a:t>
            </a:r>
            <a:r>
              <a:rPr lang="fr-CH" dirty="0"/>
              <a:t>toute personne tenue au paiement de la dette </a:t>
            </a:r>
            <a:r>
              <a:rPr lang="fr-CH" dirty="0" smtClean="0"/>
              <a:t>douanière). </a:t>
            </a:r>
          </a:p>
          <a:p>
            <a:pPr marL="0" indent="0">
              <a:buNone/>
            </a:pPr>
            <a:r>
              <a:rPr lang="fr-CH" dirty="0" smtClean="0"/>
              <a:t>En </a:t>
            </a:r>
            <a:r>
              <a:rPr lang="fr-CH" dirty="0"/>
              <a:t>cas de représentation indirecte, la personne pour le compte de laquelle la déclaration en douane est faite est également débiteur.</a:t>
            </a:r>
            <a:endParaRPr lang="fr-CH" dirty="0" smtClean="0"/>
          </a:p>
          <a:p>
            <a:pPr marL="0" indent="0">
              <a:buNone/>
            </a:pPr>
            <a:r>
              <a:rPr lang="fr-CH" dirty="0" smtClean="0"/>
              <a:t>‎Lorsqu'une </a:t>
            </a:r>
            <a:r>
              <a:rPr lang="fr-CH" dirty="0"/>
              <a:t>déclaration en douane </a:t>
            </a:r>
            <a:r>
              <a:rPr lang="fr-CH" dirty="0" smtClean="0"/>
              <a:t>est </a:t>
            </a:r>
            <a:r>
              <a:rPr lang="fr-CH" dirty="0"/>
              <a:t>établie sur la base d'informations qui conduisent à ce que les droits à l'importation ne sont pas perçus en totalité ou en partie, la personne qui a fourni les données nécessaires à l'établissement de la déclaration et qui savait ou devait raisonnablement savoir que ces données étaient fausses est également </a:t>
            </a:r>
            <a:r>
              <a:rPr lang="fr-CH" dirty="0" smtClean="0"/>
              <a:t>débiteur (art. 77 CDU).</a:t>
            </a:r>
          </a:p>
          <a:p>
            <a:pPr marL="0" indent="0">
              <a:buNone/>
            </a:pPr>
            <a:endParaRPr lang="fr-CH" dirty="0" smtClean="0"/>
          </a:p>
          <a:p>
            <a:pPr marL="0" indent="0">
              <a:buNone/>
            </a:pPr>
            <a:endParaRPr lang="fr-CH" dirty="0"/>
          </a:p>
        </p:txBody>
      </p:sp>
      <p:sp>
        <p:nvSpPr>
          <p:cNvPr id="4" name="Espace réservé du numéro de diapositive 3"/>
          <p:cNvSpPr>
            <a:spLocks noGrp="1"/>
          </p:cNvSpPr>
          <p:nvPr>
            <p:ph type="sldNum" sz="quarter" idx="12"/>
          </p:nvPr>
        </p:nvSpPr>
        <p:spPr/>
        <p:txBody>
          <a:bodyPr/>
          <a:lstStyle/>
          <a:p>
            <a:fld id="{C58F520E-0D3C-4C73-96DF-B271C0F692B0}" type="slidenum">
              <a:rPr lang="lb-LU" smtClean="0"/>
              <a:t>6</a:t>
            </a:fld>
            <a:endParaRPr lang="lb-LU" dirty="0"/>
          </a:p>
        </p:txBody>
      </p:sp>
    </p:spTree>
    <p:extLst>
      <p:ext uri="{BB962C8B-B14F-4D97-AF65-F5344CB8AC3E}">
        <p14:creationId xmlns:p14="http://schemas.microsoft.com/office/powerpoint/2010/main" val="54108853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arn(inVertic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p:cTn id="17"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18"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19"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Débiteurs</a:t>
            </a:r>
            <a:r>
              <a:rPr lang="en-US" dirty="0" smtClean="0"/>
              <a:t> multiples (art. 84 CDU)</a:t>
            </a:r>
            <a:endParaRPr lang="en-US" dirty="0"/>
          </a:p>
        </p:txBody>
      </p:sp>
      <p:sp>
        <p:nvSpPr>
          <p:cNvPr id="3" name="Content Placeholder 2"/>
          <p:cNvSpPr>
            <a:spLocks noGrp="1"/>
          </p:cNvSpPr>
          <p:nvPr>
            <p:ph idx="1"/>
          </p:nvPr>
        </p:nvSpPr>
        <p:spPr/>
        <p:txBody>
          <a:bodyPr/>
          <a:lstStyle/>
          <a:p>
            <a:pPr marL="0" indent="0">
              <a:buNone/>
            </a:pPr>
            <a:r>
              <a:rPr lang="fr-CH" dirty="0" smtClean="0"/>
              <a:t>Lorsque </a:t>
            </a:r>
            <a:r>
              <a:rPr lang="fr-CH" dirty="0"/>
              <a:t>plusieurs personnes sont redevables du montant de droits à l'importation ou à l'exportation correspondant à une dette douanière, elles sont tenues conjointement et solidairement au paiement de ce montant.</a:t>
            </a: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7</a:t>
            </a:fld>
            <a:endParaRPr lang="lb-LU"/>
          </a:p>
        </p:txBody>
      </p:sp>
    </p:spTree>
    <p:extLst>
      <p:ext uri="{BB962C8B-B14F-4D97-AF65-F5344CB8AC3E}">
        <p14:creationId xmlns:p14="http://schemas.microsoft.com/office/powerpoint/2010/main" val="192642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Responsabilité</a:t>
            </a:r>
            <a:r>
              <a:rPr lang="en-US" dirty="0" smtClean="0"/>
              <a:t> du </a:t>
            </a:r>
            <a:r>
              <a:rPr lang="en-US" dirty="0" err="1" smtClean="0"/>
              <a:t>représentant</a:t>
            </a:r>
            <a:r>
              <a:rPr lang="en-US" dirty="0" smtClean="0"/>
              <a:t> </a:t>
            </a:r>
            <a:r>
              <a:rPr lang="en-US" dirty="0" err="1" smtClean="0"/>
              <a:t>en</a:t>
            </a:r>
            <a:r>
              <a:rPr lang="en-US" dirty="0" smtClean="0"/>
              <a:t> </a:t>
            </a:r>
            <a:r>
              <a:rPr lang="en-US" dirty="0" err="1" smtClean="0"/>
              <a:t>douane</a:t>
            </a:r>
            <a:endParaRPr lang="en-US" dirty="0"/>
          </a:p>
        </p:txBody>
      </p:sp>
      <p:sp>
        <p:nvSpPr>
          <p:cNvPr id="3" name="Content Placeholder 2"/>
          <p:cNvSpPr>
            <a:spLocks noGrp="1"/>
          </p:cNvSpPr>
          <p:nvPr>
            <p:ph idx="1"/>
          </p:nvPr>
        </p:nvSpPr>
        <p:spPr/>
        <p:txBody>
          <a:bodyPr>
            <a:normAutofit fontScale="70000" lnSpcReduction="20000"/>
          </a:bodyPr>
          <a:lstStyle/>
          <a:p>
            <a:pPr marL="0" indent="0">
              <a:buNone/>
            </a:pPr>
            <a:r>
              <a:rPr lang="fr-CH" dirty="0"/>
              <a:t>La représentation directe ne dispense pas le représentant en douane de son obligation générale de diligence et de conseil envers ses clients, obligation confirmée par une jurisprudence constante.</a:t>
            </a:r>
          </a:p>
          <a:p>
            <a:pPr marL="0" indent="0">
              <a:buNone/>
            </a:pPr>
            <a:r>
              <a:rPr lang="fr-CH" dirty="0"/>
              <a:t>Ainsi, conformément au code des douanes de l’Union (art. 15), toute personne concernée par le dépôt d’une déclaration, dont le représentant en douane, est responsable de :</a:t>
            </a:r>
          </a:p>
          <a:p>
            <a:r>
              <a:rPr lang="fr-CH" dirty="0" smtClean="0"/>
              <a:t>l’exactitude </a:t>
            </a:r>
            <a:r>
              <a:rPr lang="fr-CH" dirty="0"/>
              <a:t>et de l’exhaustivité des renseignements fournis ;</a:t>
            </a:r>
          </a:p>
          <a:p>
            <a:r>
              <a:rPr lang="fr-CH" dirty="0" smtClean="0"/>
              <a:t>l’authenticité</a:t>
            </a:r>
            <a:r>
              <a:rPr lang="fr-CH" dirty="0"/>
              <a:t>, de l’exactitude et de la validité des documents d’accompagnement ;</a:t>
            </a:r>
          </a:p>
          <a:p>
            <a:r>
              <a:rPr lang="fr-CH" dirty="0" smtClean="0"/>
              <a:t>la </a:t>
            </a:r>
            <a:r>
              <a:rPr lang="fr-CH" dirty="0"/>
              <a:t>conformité à l’ensemble des obligations se rapportant au placement des marchandises sous le régime douanier, dont le respect d’éventuelles mesures de prohibition et restriction ;</a:t>
            </a:r>
          </a:p>
          <a:p>
            <a:r>
              <a:rPr lang="fr-CH" dirty="0" smtClean="0"/>
              <a:t>la </a:t>
            </a:r>
            <a:r>
              <a:rPr lang="fr-CH" dirty="0"/>
              <a:t>conformité à l’ensemble des obligations se rapportant à l’exécution des opérations autorisées.</a:t>
            </a:r>
          </a:p>
          <a:p>
            <a:pPr marL="0" indent="0">
              <a:buNone/>
            </a:pPr>
            <a:endParaRPr lang="fr-CH" dirty="0" smtClean="0"/>
          </a:p>
          <a:p>
            <a:pPr marL="0" indent="0">
              <a:buNone/>
            </a:pPr>
            <a:r>
              <a:rPr lang="fr-CH" dirty="0" smtClean="0">
                <a:sym typeface="Wingdings" panose="05000000000000000000" pitchFamily="2" charset="2"/>
              </a:rPr>
              <a:t></a:t>
            </a:r>
            <a:r>
              <a:rPr lang="fr-CH" dirty="0" smtClean="0"/>
              <a:t>Ces </a:t>
            </a:r>
            <a:r>
              <a:rPr lang="fr-CH" dirty="0"/>
              <a:t>obligations s’appliquent lors du dépôt d’une déclaration en douane, d’une notification ou d’une demande d’une autorisation ou d’un agrément auprès de l’Administration des douanes et </a:t>
            </a:r>
            <a:r>
              <a:rPr lang="fr-CH" dirty="0" smtClean="0"/>
              <a:t>accises </a:t>
            </a:r>
            <a:r>
              <a:rPr lang="fr-CH" dirty="0"/>
              <a:t>(ADA).</a:t>
            </a: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8</a:t>
            </a:fld>
            <a:endParaRPr lang="lb-LU"/>
          </a:p>
        </p:txBody>
      </p:sp>
    </p:spTree>
    <p:extLst>
      <p:ext uri="{BB962C8B-B14F-4D97-AF65-F5344CB8AC3E}">
        <p14:creationId xmlns:p14="http://schemas.microsoft.com/office/powerpoint/2010/main" val="881530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6" presetClass="entr" presetSubtype="0" fill="hold"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Effect transition="in" filter="wipe(down)">
                                      <p:cBhvr>
                                        <p:cTn id="41" dur="580">
                                          <p:stCondLst>
                                            <p:cond delay="0"/>
                                          </p:stCondLst>
                                        </p:cTn>
                                        <p:tgtEl>
                                          <p:spTgt spid="3">
                                            <p:txEl>
                                              <p:pRg st="7" end="7"/>
                                            </p:txEl>
                                          </p:spTgt>
                                        </p:tgtEl>
                                      </p:cBhvr>
                                    </p:animEffect>
                                    <p:anim calcmode="lin" valueType="num">
                                      <p:cBhvr>
                                        <p:cTn id="42" dur="1822" tmFilter="0,0; 0.14,0.36; 0.43,0.73; 0.71,0.91; 1.0,1.0">
                                          <p:stCondLst>
                                            <p:cond delay="0"/>
                                          </p:stCondLst>
                                        </p:cTn>
                                        <p:tgtEl>
                                          <p:spTgt spid="3">
                                            <p:txEl>
                                              <p:pRg st="7" end="7"/>
                                            </p:txEl>
                                          </p:spTgt>
                                        </p:tgtEl>
                                        <p:attrNameLst>
                                          <p:attrName>ppt_x</p:attrName>
                                        </p:attrNameLst>
                                      </p:cBhvr>
                                      <p:tavLst>
                                        <p:tav tm="0">
                                          <p:val>
                                            <p:strVal val="#ppt_x-0.25"/>
                                          </p:val>
                                        </p:tav>
                                        <p:tav tm="100000">
                                          <p:val>
                                            <p:strVal val="#ppt_x"/>
                                          </p:val>
                                        </p:tav>
                                      </p:tavLst>
                                    </p:anim>
                                    <p:anim calcmode="lin" valueType="num">
                                      <p:cBhvr>
                                        <p:cTn id="43" dur="664" tmFilter="0.0,0.0; 0.25,0.07; 0.50,0.2; 0.75,0.467; 1.0,1.0">
                                          <p:stCondLst>
                                            <p:cond delay="0"/>
                                          </p:stCondLst>
                                        </p:cTn>
                                        <p:tgtEl>
                                          <p:spTgt spid="3">
                                            <p:txEl>
                                              <p:pRg st="7" end="7"/>
                                            </p:txEl>
                                          </p:spTgt>
                                        </p:tgtEl>
                                        <p:attrNameLst>
                                          <p:attrName>ppt_y</p:attrName>
                                        </p:attrNameLst>
                                      </p:cBhvr>
                                      <p:tavLst>
                                        <p:tav tm="0" fmla="#ppt_y-sin(pi*$)/3">
                                          <p:val>
                                            <p:fltVal val="0.5"/>
                                          </p:val>
                                        </p:tav>
                                        <p:tav tm="100000">
                                          <p:val>
                                            <p:fltVal val="1"/>
                                          </p:val>
                                        </p:tav>
                                      </p:tavLst>
                                    </p:anim>
                                    <p:anim calcmode="lin" valueType="num">
                                      <p:cBhvr>
                                        <p:cTn id="44" dur="664" tmFilter="0, 0; 0.125,0.2665; 0.25,0.4; 0.375,0.465; 0.5,0.5;  0.625,0.535; 0.75,0.6; 0.875,0.7335; 1,1">
                                          <p:stCondLst>
                                            <p:cond delay="664"/>
                                          </p:stCondLst>
                                        </p:cTn>
                                        <p:tgtEl>
                                          <p:spTgt spid="3">
                                            <p:txEl>
                                              <p:pRg st="7" end="7"/>
                                            </p:txEl>
                                          </p:spTgt>
                                        </p:tgtEl>
                                        <p:attrNameLst>
                                          <p:attrName>ppt_y</p:attrName>
                                        </p:attrNameLst>
                                      </p:cBhvr>
                                      <p:tavLst>
                                        <p:tav tm="0" fmla="#ppt_y-sin(pi*$)/9">
                                          <p:val>
                                            <p:fltVal val="0"/>
                                          </p:val>
                                        </p:tav>
                                        <p:tav tm="100000">
                                          <p:val>
                                            <p:fltVal val="1"/>
                                          </p:val>
                                        </p:tav>
                                      </p:tavLst>
                                    </p:anim>
                                    <p:anim calcmode="lin" valueType="num">
                                      <p:cBhvr>
                                        <p:cTn id="45" dur="332" tmFilter="0, 0; 0.125,0.2665; 0.25,0.4; 0.375,0.465; 0.5,0.5;  0.625,0.535; 0.75,0.6; 0.875,0.7335; 1,1">
                                          <p:stCondLst>
                                            <p:cond delay="1324"/>
                                          </p:stCondLst>
                                        </p:cTn>
                                        <p:tgtEl>
                                          <p:spTgt spid="3">
                                            <p:txEl>
                                              <p:pRg st="7" end="7"/>
                                            </p:txEl>
                                          </p:spTgt>
                                        </p:tgtEl>
                                        <p:attrNameLst>
                                          <p:attrName>ppt_y</p:attrName>
                                        </p:attrNameLst>
                                      </p:cBhvr>
                                      <p:tavLst>
                                        <p:tav tm="0" fmla="#ppt_y-sin(pi*$)/27">
                                          <p:val>
                                            <p:fltVal val="0"/>
                                          </p:val>
                                        </p:tav>
                                        <p:tav tm="100000">
                                          <p:val>
                                            <p:fltVal val="1"/>
                                          </p:val>
                                        </p:tav>
                                      </p:tavLst>
                                    </p:anim>
                                    <p:anim calcmode="lin" valueType="num">
                                      <p:cBhvr>
                                        <p:cTn id="46" dur="164" tmFilter="0, 0; 0.125,0.2665; 0.25,0.4; 0.375,0.465; 0.5,0.5;  0.625,0.535; 0.75,0.6; 0.875,0.7335; 1,1">
                                          <p:stCondLst>
                                            <p:cond delay="1656"/>
                                          </p:stCondLst>
                                        </p:cTn>
                                        <p:tgtEl>
                                          <p:spTgt spid="3">
                                            <p:txEl>
                                              <p:pRg st="7" end="7"/>
                                            </p:txEl>
                                          </p:spTgt>
                                        </p:tgtEl>
                                        <p:attrNameLst>
                                          <p:attrName>ppt_y</p:attrName>
                                        </p:attrNameLst>
                                      </p:cBhvr>
                                      <p:tavLst>
                                        <p:tav tm="0" fmla="#ppt_y-sin(pi*$)/81">
                                          <p:val>
                                            <p:fltVal val="0"/>
                                          </p:val>
                                        </p:tav>
                                        <p:tav tm="100000">
                                          <p:val>
                                            <p:fltVal val="1"/>
                                          </p:val>
                                        </p:tav>
                                      </p:tavLst>
                                    </p:anim>
                                    <p:animScale>
                                      <p:cBhvr>
                                        <p:cTn id="47" dur="26">
                                          <p:stCondLst>
                                            <p:cond delay="650"/>
                                          </p:stCondLst>
                                        </p:cTn>
                                        <p:tgtEl>
                                          <p:spTgt spid="3">
                                            <p:txEl>
                                              <p:pRg st="7" end="7"/>
                                            </p:txEl>
                                          </p:spTgt>
                                        </p:tgtEl>
                                      </p:cBhvr>
                                      <p:to x="100000" y="60000"/>
                                    </p:animScale>
                                    <p:animScale>
                                      <p:cBhvr>
                                        <p:cTn id="48" dur="166" decel="50000">
                                          <p:stCondLst>
                                            <p:cond delay="676"/>
                                          </p:stCondLst>
                                        </p:cTn>
                                        <p:tgtEl>
                                          <p:spTgt spid="3">
                                            <p:txEl>
                                              <p:pRg st="7" end="7"/>
                                            </p:txEl>
                                          </p:spTgt>
                                        </p:tgtEl>
                                      </p:cBhvr>
                                      <p:to x="100000" y="100000"/>
                                    </p:animScale>
                                    <p:animScale>
                                      <p:cBhvr>
                                        <p:cTn id="49" dur="26">
                                          <p:stCondLst>
                                            <p:cond delay="1312"/>
                                          </p:stCondLst>
                                        </p:cTn>
                                        <p:tgtEl>
                                          <p:spTgt spid="3">
                                            <p:txEl>
                                              <p:pRg st="7" end="7"/>
                                            </p:txEl>
                                          </p:spTgt>
                                        </p:tgtEl>
                                      </p:cBhvr>
                                      <p:to x="100000" y="80000"/>
                                    </p:animScale>
                                    <p:animScale>
                                      <p:cBhvr>
                                        <p:cTn id="50" dur="166" decel="50000">
                                          <p:stCondLst>
                                            <p:cond delay="1338"/>
                                          </p:stCondLst>
                                        </p:cTn>
                                        <p:tgtEl>
                                          <p:spTgt spid="3">
                                            <p:txEl>
                                              <p:pRg st="7" end="7"/>
                                            </p:txEl>
                                          </p:spTgt>
                                        </p:tgtEl>
                                      </p:cBhvr>
                                      <p:to x="100000" y="100000"/>
                                    </p:animScale>
                                    <p:animScale>
                                      <p:cBhvr>
                                        <p:cTn id="51" dur="26">
                                          <p:stCondLst>
                                            <p:cond delay="1642"/>
                                          </p:stCondLst>
                                        </p:cTn>
                                        <p:tgtEl>
                                          <p:spTgt spid="3">
                                            <p:txEl>
                                              <p:pRg st="7" end="7"/>
                                            </p:txEl>
                                          </p:spTgt>
                                        </p:tgtEl>
                                      </p:cBhvr>
                                      <p:to x="100000" y="90000"/>
                                    </p:animScale>
                                    <p:animScale>
                                      <p:cBhvr>
                                        <p:cTn id="52" dur="166" decel="50000">
                                          <p:stCondLst>
                                            <p:cond delay="1668"/>
                                          </p:stCondLst>
                                        </p:cTn>
                                        <p:tgtEl>
                                          <p:spTgt spid="3">
                                            <p:txEl>
                                              <p:pRg st="7" end="7"/>
                                            </p:txEl>
                                          </p:spTgt>
                                        </p:tgtEl>
                                      </p:cBhvr>
                                      <p:to x="100000" y="100000"/>
                                    </p:animScale>
                                    <p:animScale>
                                      <p:cBhvr>
                                        <p:cTn id="53" dur="26">
                                          <p:stCondLst>
                                            <p:cond delay="1808"/>
                                          </p:stCondLst>
                                        </p:cTn>
                                        <p:tgtEl>
                                          <p:spTgt spid="3">
                                            <p:txEl>
                                              <p:pRg st="7" end="7"/>
                                            </p:txEl>
                                          </p:spTgt>
                                        </p:tgtEl>
                                      </p:cBhvr>
                                      <p:to x="100000" y="95000"/>
                                    </p:animScale>
                                    <p:animScale>
                                      <p:cBhvr>
                                        <p:cTn id="54" dur="166" decel="50000">
                                          <p:stCondLst>
                                            <p:cond delay="1834"/>
                                          </p:stCondLst>
                                        </p:cTn>
                                        <p:tgtEl>
                                          <p:spTgt spid="3">
                                            <p:txEl>
                                              <p:pRg st="7" end="7"/>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1060450"/>
            <a:ext cx="10515600" cy="976168"/>
          </a:xfrm>
        </p:spPr>
        <p:txBody>
          <a:bodyPr>
            <a:normAutofit/>
          </a:bodyPr>
          <a:lstStyle/>
          <a:p>
            <a:r>
              <a:rPr lang="lb-LU" dirty="0" smtClean="0"/>
              <a:t>Loi générale Article 127 point 1:</a:t>
            </a:r>
            <a:endParaRPr lang="lb-LU" b="0" dirty="0">
              <a:latin typeface="+mn-lt"/>
            </a:endParaRPr>
          </a:p>
        </p:txBody>
      </p:sp>
      <p:sp>
        <p:nvSpPr>
          <p:cNvPr id="3" name="Espace réservé du contenu 2"/>
          <p:cNvSpPr>
            <a:spLocks noGrp="1"/>
          </p:cNvSpPr>
          <p:nvPr>
            <p:ph idx="1"/>
          </p:nvPr>
        </p:nvSpPr>
        <p:spPr/>
        <p:txBody>
          <a:bodyPr/>
          <a:lstStyle/>
          <a:p>
            <a:pPr marL="0" indent="0">
              <a:buNone/>
            </a:pPr>
            <a:endParaRPr lang="lb-LU" dirty="0" smtClean="0"/>
          </a:p>
          <a:p>
            <a:pPr marL="0" indent="0">
              <a:buNone/>
            </a:pPr>
            <a:r>
              <a:rPr lang="fr-CH" dirty="0" smtClean="0"/>
              <a:t>‎</a:t>
            </a:r>
            <a:r>
              <a:rPr lang="fr-CH" dirty="0"/>
              <a:t>Seul un représentant en douane </a:t>
            </a:r>
            <a:r>
              <a:rPr lang="fr-CH" u="sng" dirty="0"/>
              <a:t>« immatriculé dans un registre d’immatriculation »</a:t>
            </a:r>
            <a:r>
              <a:rPr lang="fr-CH" dirty="0"/>
              <a:t> peut représenter ‎une tierce personne auprès de l’ADA lors de l’importation, de l’exportation ou du transit.‎</a:t>
            </a:r>
            <a:endParaRPr lang="fr-LU" sz="2400" dirty="0"/>
          </a:p>
        </p:txBody>
      </p:sp>
      <p:sp>
        <p:nvSpPr>
          <p:cNvPr id="4" name="Espace réservé du numéro de diapositive 3"/>
          <p:cNvSpPr>
            <a:spLocks noGrp="1"/>
          </p:cNvSpPr>
          <p:nvPr>
            <p:ph type="sldNum" sz="quarter" idx="12"/>
          </p:nvPr>
        </p:nvSpPr>
        <p:spPr/>
        <p:txBody>
          <a:bodyPr/>
          <a:lstStyle/>
          <a:p>
            <a:fld id="{C58F520E-0D3C-4C73-96DF-B271C0F692B0}" type="slidenum">
              <a:rPr lang="lb-LU" smtClean="0"/>
              <a:t>9</a:t>
            </a:fld>
            <a:endParaRPr lang="lb-LU" dirty="0"/>
          </a:p>
        </p:txBody>
      </p:sp>
    </p:spTree>
    <p:extLst>
      <p:ext uri="{BB962C8B-B14F-4D97-AF65-F5344CB8AC3E}">
        <p14:creationId xmlns:p14="http://schemas.microsoft.com/office/powerpoint/2010/main" val="395001907"/>
      </p:ext>
    </p:extLst>
  </p:cSld>
  <p:clrMapOvr>
    <a:masterClrMapping/>
  </p:clrMapOvr>
  <p:transition spd="slow">
    <p:wip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1060450"/>
            <a:ext cx="10515600" cy="976168"/>
          </a:xfrm>
        </p:spPr>
        <p:txBody>
          <a:bodyPr>
            <a:normAutofit/>
          </a:bodyPr>
          <a:lstStyle/>
          <a:p>
            <a:r>
              <a:rPr lang="lb-LU" b="0" dirty="0" smtClean="0">
                <a:latin typeface="+mn-lt"/>
              </a:rPr>
              <a:t>Conditions / obligations / modalités pratiques</a:t>
            </a:r>
            <a:endParaRPr lang="lb-LU" b="0" dirty="0">
              <a:latin typeface="+mn-lt"/>
            </a:endParaRPr>
          </a:p>
        </p:txBody>
      </p:sp>
      <p:sp>
        <p:nvSpPr>
          <p:cNvPr id="3" name="Espace réservé du contenu 2"/>
          <p:cNvSpPr>
            <a:spLocks noGrp="1"/>
          </p:cNvSpPr>
          <p:nvPr>
            <p:ph idx="1"/>
          </p:nvPr>
        </p:nvSpPr>
        <p:spPr/>
        <p:txBody>
          <a:bodyPr>
            <a:normAutofit/>
          </a:bodyPr>
          <a:lstStyle/>
          <a:p>
            <a:pPr marL="0" indent="0">
              <a:buNone/>
            </a:pPr>
            <a:endParaRPr lang="lb-LU" dirty="0" smtClean="0"/>
          </a:p>
          <a:p>
            <a:r>
              <a:rPr lang="fr-CH" dirty="0" smtClean="0"/>
              <a:t>‎les conditions pour </a:t>
            </a:r>
            <a:r>
              <a:rPr lang="fr-CH" dirty="0"/>
              <a:t>être inscrit au registre d’immatriculation des représentants en douane au Luxembourg</a:t>
            </a:r>
            <a:r>
              <a:rPr lang="fr-CH" dirty="0" smtClean="0"/>
              <a:t>‎ et </a:t>
            </a:r>
          </a:p>
          <a:p>
            <a:r>
              <a:rPr lang="fr-CH" dirty="0"/>
              <a:t>l</a:t>
            </a:r>
            <a:r>
              <a:rPr lang="fr-CH" dirty="0" smtClean="0"/>
              <a:t>es obligations qui en découlent et </a:t>
            </a:r>
          </a:p>
          <a:p>
            <a:r>
              <a:rPr lang="fr-CH" dirty="0" smtClean="0"/>
              <a:t>les modalités pratiques</a:t>
            </a:r>
          </a:p>
          <a:p>
            <a:pPr marL="0" indent="0">
              <a:buNone/>
            </a:pPr>
            <a:endParaRPr lang="fr-CH" dirty="0" smtClean="0"/>
          </a:p>
          <a:p>
            <a:pPr marL="0" indent="0">
              <a:buNone/>
            </a:pPr>
            <a:r>
              <a:rPr lang="fr-CH" dirty="0" smtClean="0">
                <a:sym typeface="Wingdings" panose="05000000000000000000" pitchFamily="2" charset="2"/>
              </a:rPr>
              <a:t> </a:t>
            </a:r>
            <a:r>
              <a:rPr lang="fr-CH" dirty="0" smtClean="0"/>
              <a:t>sont regroupées dans des </a:t>
            </a:r>
            <a:r>
              <a:rPr lang="fr-CH" dirty="0" smtClean="0">
                <a:sym typeface="Wingdings" panose="05000000000000000000" pitchFamily="2" charset="2"/>
              </a:rPr>
              <a:t>r</a:t>
            </a:r>
            <a:r>
              <a:rPr lang="lb-LU" dirty="0" smtClean="0"/>
              <a:t>èglements ministériels                           	(entrée en vigueur: 23 juillet 2024)</a:t>
            </a:r>
          </a:p>
          <a:p>
            <a:pPr marL="0" indent="0">
              <a:buNone/>
            </a:pPr>
            <a:r>
              <a:rPr lang="en-US" dirty="0"/>
              <a:t>	</a:t>
            </a:r>
          </a:p>
          <a:p>
            <a:pPr marL="0" indent="0">
              <a:buNone/>
            </a:pPr>
            <a:endParaRPr lang="lb-LU" dirty="0"/>
          </a:p>
          <a:p>
            <a:pPr marL="0" indent="0">
              <a:buNone/>
            </a:pPr>
            <a:endParaRPr lang="fr-LU" dirty="0"/>
          </a:p>
        </p:txBody>
      </p:sp>
      <p:sp>
        <p:nvSpPr>
          <p:cNvPr id="4" name="Espace réservé du numéro de diapositive 3"/>
          <p:cNvSpPr>
            <a:spLocks noGrp="1"/>
          </p:cNvSpPr>
          <p:nvPr>
            <p:ph type="sldNum" sz="quarter" idx="12"/>
          </p:nvPr>
        </p:nvSpPr>
        <p:spPr/>
        <p:txBody>
          <a:bodyPr/>
          <a:lstStyle/>
          <a:p>
            <a:fld id="{C58F520E-0D3C-4C73-96DF-B271C0F692B0}" type="slidenum">
              <a:rPr lang="lb-LU" smtClean="0"/>
              <a:t>10</a:t>
            </a:fld>
            <a:endParaRPr lang="lb-LU" dirty="0"/>
          </a:p>
        </p:txBody>
      </p:sp>
    </p:spTree>
    <p:extLst>
      <p:ext uri="{BB962C8B-B14F-4D97-AF65-F5344CB8AC3E}">
        <p14:creationId xmlns:p14="http://schemas.microsoft.com/office/powerpoint/2010/main" val="1168842349"/>
      </p:ext>
    </p:extLst>
  </p:cSld>
  <p:clrMapOvr>
    <a:masterClrMapping/>
  </p:clrMapOvr>
  <p:transition spd="slow">
    <p:wip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Législation</a:t>
            </a:r>
            <a:endParaRPr lang="en-US" dirty="0"/>
          </a:p>
        </p:txBody>
      </p:sp>
      <p:sp>
        <p:nvSpPr>
          <p:cNvPr id="3" name="Content Placeholder 2"/>
          <p:cNvSpPr>
            <a:spLocks noGrp="1"/>
          </p:cNvSpPr>
          <p:nvPr>
            <p:ph idx="1"/>
          </p:nvPr>
        </p:nvSpPr>
        <p:spPr/>
        <p:txBody>
          <a:bodyPr>
            <a:normAutofit fontScale="70000" lnSpcReduction="20000"/>
          </a:bodyPr>
          <a:lstStyle/>
          <a:p>
            <a:endParaRPr lang="en-US" dirty="0"/>
          </a:p>
          <a:p>
            <a:r>
              <a:rPr lang="fr-CH" dirty="0" smtClean="0"/>
              <a:t>Règlement </a:t>
            </a:r>
            <a:r>
              <a:rPr lang="fr-CH" dirty="0"/>
              <a:t>ministériel du 18 juillet 2024 portant publication de l’arrêté royal belge modifié du 13 mars 2016 déterminant les régimes douaniers et les modalités d’application de la représentation directe et indirecte ; </a:t>
            </a:r>
          </a:p>
          <a:p>
            <a:r>
              <a:rPr lang="fr-CH" dirty="0" smtClean="0"/>
              <a:t>Règlement </a:t>
            </a:r>
            <a:r>
              <a:rPr lang="fr-CH" dirty="0"/>
              <a:t>ministériel du 18 juillet 2024 portant publication de l’arrêté royal belge du 13 mars 2016 établissant les conditions de tenue du registre d’immatriculation des représentants en douane, de preuve de connaissance suffisante de la réglementation douanière, TVA et accise et de la compétence professionnelle pour l’exercice de la représentation en douane ; </a:t>
            </a:r>
          </a:p>
          <a:p>
            <a:r>
              <a:rPr lang="fr-CH" dirty="0" smtClean="0"/>
              <a:t>Règlement </a:t>
            </a:r>
            <a:r>
              <a:rPr lang="fr-CH" dirty="0"/>
              <a:t>ministériel du 18 juillet 2024 portant publication de l’arrêté ministériel belge du 23 mars 2016 fixant les modalités de la tenue du répertoire des représentants en douane, du décompte et celles relatives au fonctionnement de la représentation en douane ; </a:t>
            </a:r>
          </a:p>
          <a:p>
            <a:r>
              <a:rPr lang="fr-CH" dirty="0" smtClean="0"/>
              <a:t>Règlement </a:t>
            </a:r>
            <a:r>
              <a:rPr lang="fr-CH" dirty="0"/>
              <a:t>ministériel modifié du 4 octobre 1977 concernant la coordination des dispositions générales relatives aux douanes et accises (version consolidée : Recueil Douanes &amp; Accises sous dispositions fiscales) </a:t>
            </a:r>
          </a:p>
          <a:p>
            <a:r>
              <a:rPr lang="fr-CH" dirty="0" smtClean="0"/>
              <a:t>Règlement </a:t>
            </a:r>
            <a:r>
              <a:rPr lang="fr-CH" dirty="0"/>
              <a:t>(UE) n°952/2013 du Parlement européen et du Conseil du 9 octobre 2013 établissant le code des douanes de l’Union (code des douanes de l’Union) </a:t>
            </a:r>
            <a:r>
              <a:rPr lang="en-US" dirty="0"/>
              <a:t>	</a:t>
            </a:r>
          </a:p>
          <a:p>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11</a:t>
            </a:fld>
            <a:endParaRPr lang="lb-LU"/>
          </a:p>
        </p:txBody>
      </p:sp>
    </p:spTree>
    <p:extLst>
      <p:ext uri="{BB962C8B-B14F-4D97-AF65-F5344CB8AC3E}">
        <p14:creationId xmlns:p14="http://schemas.microsoft.com/office/powerpoint/2010/main" val="328626025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1060449"/>
            <a:ext cx="10515600" cy="926293"/>
          </a:xfrm>
        </p:spPr>
        <p:txBody>
          <a:bodyPr>
            <a:normAutofit fontScale="90000"/>
          </a:bodyPr>
          <a:lstStyle/>
          <a:p>
            <a:r>
              <a:rPr lang="lb-LU" dirty="0" smtClean="0"/>
              <a:t>‎</a:t>
            </a:r>
            <a:r>
              <a:rPr lang="fr-CH" dirty="0" smtClean="0"/>
              <a:t>‎</a:t>
            </a:r>
            <a:r>
              <a:rPr lang="fr-CH" dirty="0"/>
              <a:t>L</a:t>
            </a:r>
            <a:r>
              <a:rPr lang="fr-CH" dirty="0" smtClean="0"/>
              <a:t>a </a:t>
            </a:r>
            <a:r>
              <a:rPr lang="fr-CH" dirty="0"/>
              <a:t>représentation indirecte et la représentation directe peuvent être </a:t>
            </a:r>
            <a:r>
              <a:rPr lang="fr-CH" dirty="0" smtClean="0"/>
              <a:t>appliquées : ‎</a:t>
            </a:r>
            <a:endParaRPr lang="lb-LU" b="0" dirty="0">
              <a:latin typeface="+mn-lt"/>
            </a:endParaRPr>
          </a:p>
        </p:txBody>
      </p:sp>
      <p:sp>
        <p:nvSpPr>
          <p:cNvPr id="3" name="Espace réservé du contenu 2"/>
          <p:cNvSpPr>
            <a:spLocks noGrp="1"/>
          </p:cNvSpPr>
          <p:nvPr>
            <p:ph idx="1"/>
          </p:nvPr>
        </p:nvSpPr>
        <p:spPr>
          <a:xfrm>
            <a:off x="838200" y="1986743"/>
            <a:ext cx="10515600" cy="4190220"/>
          </a:xfrm>
        </p:spPr>
        <p:txBody>
          <a:bodyPr>
            <a:normAutofit fontScale="85000" lnSpcReduction="20000"/>
          </a:bodyPr>
          <a:lstStyle/>
          <a:p>
            <a:pPr>
              <a:buFontTx/>
              <a:buChar char="-"/>
            </a:pPr>
            <a:endParaRPr lang="fr-CH" dirty="0" smtClean="0"/>
          </a:p>
          <a:p>
            <a:pPr>
              <a:buFontTx/>
              <a:buChar char="-"/>
            </a:pPr>
            <a:r>
              <a:rPr lang="fr-CH" dirty="0"/>
              <a:t>p</a:t>
            </a:r>
            <a:r>
              <a:rPr lang="fr-CH" dirty="0" smtClean="0"/>
              <a:t>our la déclaration de placement sous un des régimes douaniers suivants:</a:t>
            </a:r>
          </a:p>
          <a:p>
            <a:pPr>
              <a:buFontTx/>
              <a:buChar char="-"/>
            </a:pPr>
            <a:endParaRPr lang="fr-CH" dirty="0" smtClean="0"/>
          </a:p>
          <a:p>
            <a:pPr marL="0" indent="0">
              <a:buNone/>
            </a:pPr>
            <a:r>
              <a:rPr lang="fr-CH" dirty="0" smtClean="0"/>
              <a:t>•</a:t>
            </a:r>
            <a:r>
              <a:rPr lang="fr-CH" dirty="0"/>
              <a:t>	</a:t>
            </a:r>
            <a:r>
              <a:rPr lang="fr-CH" dirty="0" smtClean="0"/>
              <a:t>Mise </a:t>
            </a:r>
            <a:r>
              <a:rPr lang="fr-CH" dirty="0"/>
              <a:t>en libre </a:t>
            </a:r>
            <a:r>
              <a:rPr lang="fr-CH" dirty="0" smtClean="0"/>
              <a:t>pratique;</a:t>
            </a:r>
            <a:endParaRPr lang="fr-CH" dirty="0"/>
          </a:p>
          <a:p>
            <a:pPr marL="0" indent="0">
              <a:buNone/>
            </a:pPr>
            <a:r>
              <a:rPr lang="fr-CH" dirty="0"/>
              <a:t>•	</a:t>
            </a:r>
            <a:r>
              <a:rPr lang="fr-CH" dirty="0" smtClean="0"/>
              <a:t>Régimes particuliers:</a:t>
            </a:r>
          </a:p>
          <a:p>
            <a:pPr marL="0" indent="0">
              <a:buNone/>
            </a:pPr>
            <a:r>
              <a:rPr lang="fr-CH" dirty="0"/>
              <a:t>	</a:t>
            </a:r>
            <a:r>
              <a:rPr lang="fr-CH" dirty="0" smtClean="0"/>
              <a:t>	Entrepôt </a:t>
            </a:r>
            <a:r>
              <a:rPr lang="fr-CH" dirty="0"/>
              <a:t>douanier ‎</a:t>
            </a:r>
          </a:p>
          <a:p>
            <a:pPr marL="0" indent="0">
              <a:buNone/>
            </a:pPr>
            <a:r>
              <a:rPr lang="fr-CH" dirty="0"/>
              <a:t>	</a:t>
            </a:r>
            <a:r>
              <a:rPr lang="fr-CH" dirty="0" smtClean="0"/>
              <a:t>	Admission </a:t>
            </a:r>
            <a:r>
              <a:rPr lang="fr-CH" dirty="0"/>
              <a:t>temporaire ‎</a:t>
            </a:r>
          </a:p>
          <a:p>
            <a:pPr marL="0" indent="0">
              <a:buNone/>
            </a:pPr>
            <a:r>
              <a:rPr lang="fr-CH" dirty="0"/>
              <a:t>	</a:t>
            </a:r>
            <a:r>
              <a:rPr lang="fr-CH" dirty="0" smtClean="0"/>
              <a:t>	Destination </a:t>
            </a:r>
            <a:r>
              <a:rPr lang="fr-CH" dirty="0"/>
              <a:t>particulière</a:t>
            </a:r>
          </a:p>
          <a:p>
            <a:pPr marL="0" indent="0">
              <a:buNone/>
            </a:pPr>
            <a:r>
              <a:rPr lang="fr-CH" dirty="0"/>
              <a:t>	</a:t>
            </a:r>
            <a:r>
              <a:rPr lang="fr-CH" dirty="0" smtClean="0"/>
              <a:t>	Perfectionnement </a:t>
            </a:r>
            <a:r>
              <a:rPr lang="fr-CH" dirty="0"/>
              <a:t>actif ‎</a:t>
            </a:r>
          </a:p>
          <a:p>
            <a:pPr marL="0" indent="0">
              <a:buNone/>
            </a:pPr>
            <a:r>
              <a:rPr lang="fr-CH" dirty="0"/>
              <a:t>	</a:t>
            </a:r>
            <a:r>
              <a:rPr lang="fr-CH" dirty="0" smtClean="0"/>
              <a:t>	Perfectionnement passif;</a:t>
            </a:r>
            <a:endParaRPr lang="fr-CH" dirty="0"/>
          </a:p>
          <a:p>
            <a:pPr marL="0" indent="0">
              <a:buNone/>
            </a:pPr>
            <a:r>
              <a:rPr lang="fr-CH" dirty="0"/>
              <a:t>•	</a:t>
            </a:r>
            <a:r>
              <a:rPr lang="fr-CH" dirty="0" smtClean="0"/>
              <a:t>Exportation.</a:t>
            </a:r>
          </a:p>
          <a:p>
            <a:pPr marL="0" indent="0">
              <a:buNone/>
            </a:pPr>
            <a:endParaRPr lang="fr-CH" dirty="0"/>
          </a:p>
          <a:p>
            <a:pPr marL="0" indent="0">
              <a:buNone/>
            </a:pPr>
            <a:endParaRPr lang="fr-CH" dirty="0"/>
          </a:p>
        </p:txBody>
      </p:sp>
      <p:sp>
        <p:nvSpPr>
          <p:cNvPr id="4" name="Espace réservé du numéro de diapositive 3"/>
          <p:cNvSpPr>
            <a:spLocks noGrp="1"/>
          </p:cNvSpPr>
          <p:nvPr>
            <p:ph type="sldNum" sz="quarter" idx="12"/>
          </p:nvPr>
        </p:nvSpPr>
        <p:spPr/>
        <p:txBody>
          <a:bodyPr/>
          <a:lstStyle/>
          <a:p>
            <a:fld id="{C58F520E-0D3C-4C73-96DF-B271C0F692B0}" type="slidenum">
              <a:rPr lang="lb-LU" smtClean="0"/>
              <a:t>12</a:t>
            </a:fld>
            <a:endParaRPr lang="lb-LU" dirty="0"/>
          </a:p>
        </p:txBody>
      </p:sp>
    </p:spTree>
    <p:extLst>
      <p:ext uri="{BB962C8B-B14F-4D97-AF65-F5344CB8AC3E}">
        <p14:creationId xmlns:p14="http://schemas.microsoft.com/office/powerpoint/2010/main" val="2294301623"/>
      </p:ext>
    </p:extLst>
  </p:cSld>
  <p:clrMapOvr>
    <a:masterClrMapping/>
  </p:clrMapOvr>
  <p:transition spd="slow">
    <p:wip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1060449"/>
            <a:ext cx="10515600" cy="926293"/>
          </a:xfrm>
        </p:spPr>
        <p:txBody>
          <a:bodyPr>
            <a:normAutofit fontScale="90000"/>
          </a:bodyPr>
          <a:lstStyle/>
          <a:p>
            <a:r>
              <a:rPr lang="lb-LU" dirty="0" smtClean="0"/>
              <a:t>‎</a:t>
            </a:r>
            <a:r>
              <a:rPr lang="fr-CH" dirty="0" smtClean="0"/>
              <a:t>‎</a:t>
            </a:r>
            <a:r>
              <a:rPr lang="fr-CH" dirty="0"/>
              <a:t>L</a:t>
            </a:r>
            <a:r>
              <a:rPr lang="fr-CH" dirty="0" smtClean="0"/>
              <a:t>a </a:t>
            </a:r>
            <a:r>
              <a:rPr lang="fr-CH" dirty="0"/>
              <a:t>représentation indirecte et la représentation directe peuvent être </a:t>
            </a:r>
            <a:r>
              <a:rPr lang="fr-CH" dirty="0" smtClean="0"/>
              <a:t>appliquées : ‎</a:t>
            </a:r>
            <a:endParaRPr lang="lb-LU" b="0" dirty="0">
              <a:latin typeface="+mn-lt"/>
            </a:endParaRPr>
          </a:p>
        </p:txBody>
      </p:sp>
      <p:sp>
        <p:nvSpPr>
          <p:cNvPr id="3" name="Espace réservé du contenu 2"/>
          <p:cNvSpPr>
            <a:spLocks noGrp="1"/>
          </p:cNvSpPr>
          <p:nvPr>
            <p:ph idx="1"/>
          </p:nvPr>
        </p:nvSpPr>
        <p:spPr>
          <a:xfrm>
            <a:off x="838200" y="1986743"/>
            <a:ext cx="10515600" cy="4190220"/>
          </a:xfrm>
        </p:spPr>
        <p:txBody>
          <a:bodyPr>
            <a:normAutofit/>
          </a:bodyPr>
          <a:lstStyle/>
          <a:p>
            <a:pPr marL="0" indent="0">
              <a:buNone/>
            </a:pPr>
            <a:endParaRPr lang="fr-CH" dirty="0"/>
          </a:p>
          <a:p>
            <a:pPr>
              <a:buFontTx/>
              <a:buChar char="-"/>
            </a:pPr>
            <a:r>
              <a:rPr lang="fr-CH" sz="2400" dirty="0" smtClean="0"/>
              <a:t>pour </a:t>
            </a:r>
            <a:r>
              <a:rPr lang="fr-CH" sz="2400" dirty="0"/>
              <a:t>les formalités douanières suivantes, relatives à l'importation: </a:t>
            </a:r>
            <a:endParaRPr lang="fr-CH" sz="2400" dirty="0" smtClean="0"/>
          </a:p>
          <a:p>
            <a:pPr marL="0" indent="0">
              <a:buNone/>
            </a:pPr>
            <a:endParaRPr lang="fr-CH" sz="2400" dirty="0" smtClean="0"/>
          </a:p>
          <a:p>
            <a:r>
              <a:rPr lang="fr-CH" sz="2400" dirty="0" smtClean="0"/>
              <a:t> déclarations </a:t>
            </a:r>
            <a:r>
              <a:rPr lang="fr-CH" sz="2400" dirty="0"/>
              <a:t>sommaires d’entrée ;</a:t>
            </a:r>
          </a:p>
          <a:p>
            <a:r>
              <a:rPr lang="fr-CH" sz="2400" dirty="0" smtClean="0"/>
              <a:t> </a:t>
            </a:r>
            <a:r>
              <a:rPr lang="fr-CH" sz="2400" dirty="0"/>
              <a:t>notifications de </a:t>
            </a:r>
            <a:r>
              <a:rPr lang="fr-CH" sz="2400" dirty="0" smtClean="0"/>
              <a:t>présentation</a:t>
            </a:r>
            <a:r>
              <a:rPr lang="fr-CH" sz="2400" dirty="0"/>
              <a:t> </a:t>
            </a:r>
            <a:r>
              <a:rPr lang="fr-CH" sz="2400" dirty="0" smtClean="0"/>
              <a:t>;</a:t>
            </a:r>
            <a:endParaRPr lang="fr-CH" sz="2400" dirty="0"/>
          </a:p>
          <a:p>
            <a:r>
              <a:rPr lang="fr-CH" sz="2400" dirty="0" smtClean="0"/>
              <a:t> </a:t>
            </a:r>
            <a:r>
              <a:rPr lang="fr-CH" sz="2400" dirty="0"/>
              <a:t>déclarations de dépôt temporaire.</a:t>
            </a:r>
          </a:p>
          <a:p>
            <a:pPr marL="0" indent="0">
              <a:buNone/>
            </a:pPr>
            <a:endParaRPr lang="fr-CH" dirty="0"/>
          </a:p>
        </p:txBody>
      </p:sp>
      <p:sp>
        <p:nvSpPr>
          <p:cNvPr id="4" name="Espace réservé du numéro de diapositive 3"/>
          <p:cNvSpPr>
            <a:spLocks noGrp="1"/>
          </p:cNvSpPr>
          <p:nvPr>
            <p:ph type="sldNum" sz="quarter" idx="12"/>
          </p:nvPr>
        </p:nvSpPr>
        <p:spPr/>
        <p:txBody>
          <a:bodyPr/>
          <a:lstStyle/>
          <a:p>
            <a:fld id="{C58F520E-0D3C-4C73-96DF-B271C0F692B0}" type="slidenum">
              <a:rPr lang="lb-LU" smtClean="0"/>
              <a:t>13</a:t>
            </a:fld>
            <a:endParaRPr lang="lb-LU" dirty="0"/>
          </a:p>
        </p:txBody>
      </p:sp>
    </p:spTree>
    <p:extLst>
      <p:ext uri="{BB962C8B-B14F-4D97-AF65-F5344CB8AC3E}">
        <p14:creationId xmlns:p14="http://schemas.microsoft.com/office/powerpoint/2010/main" val="2954076141"/>
      </p:ext>
    </p:extLst>
  </p:cSld>
  <p:clrMapOvr>
    <a:masterClrMapping/>
  </p:clrMapOvr>
  <p:transition spd="slow">
    <p:wip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1060449"/>
            <a:ext cx="10515600" cy="926293"/>
          </a:xfrm>
        </p:spPr>
        <p:txBody>
          <a:bodyPr>
            <a:normAutofit fontScale="90000"/>
          </a:bodyPr>
          <a:lstStyle/>
          <a:p>
            <a:r>
              <a:rPr lang="lb-LU" dirty="0" smtClean="0"/>
              <a:t>‎</a:t>
            </a:r>
            <a:r>
              <a:rPr lang="fr-CH" dirty="0" smtClean="0"/>
              <a:t>‎</a:t>
            </a:r>
            <a:r>
              <a:rPr lang="fr-CH" dirty="0"/>
              <a:t>L</a:t>
            </a:r>
            <a:r>
              <a:rPr lang="fr-CH" dirty="0" smtClean="0"/>
              <a:t>a </a:t>
            </a:r>
            <a:r>
              <a:rPr lang="fr-CH" dirty="0"/>
              <a:t>représentation indirecte et la représentation directe peuvent être </a:t>
            </a:r>
            <a:r>
              <a:rPr lang="fr-CH" dirty="0" smtClean="0"/>
              <a:t>appliquées : ‎</a:t>
            </a:r>
            <a:endParaRPr lang="lb-LU" b="0" dirty="0">
              <a:latin typeface="+mn-lt"/>
            </a:endParaRPr>
          </a:p>
        </p:txBody>
      </p:sp>
      <p:sp>
        <p:nvSpPr>
          <p:cNvPr id="3" name="Espace réservé du contenu 2"/>
          <p:cNvSpPr>
            <a:spLocks noGrp="1"/>
          </p:cNvSpPr>
          <p:nvPr>
            <p:ph idx="1"/>
          </p:nvPr>
        </p:nvSpPr>
        <p:spPr>
          <a:xfrm>
            <a:off x="838200" y="1986743"/>
            <a:ext cx="10515600" cy="4190220"/>
          </a:xfrm>
        </p:spPr>
        <p:txBody>
          <a:bodyPr>
            <a:normAutofit/>
          </a:bodyPr>
          <a:lstStyle/>
          <a:p>
            <a:pPr marL="0" indent="0">
              <a:buNone/>
            </a:pPr>
            <a:endParaRPr lang="fr-CH" dirty="0"/>
          </a:p>
          <a:p>
            <a:pPr>
              <a:buFontTx/>
              <a:buChar char="-"/>
            </a:pPr>
            <a:r>
              <a:rPr lang="fr-CH" sz="2400" dirty="0" smtClean="0"/>
              <a:t>pour </a:t>
            </a:r>
            <a:r>
              <a:rPr lang="fr-CH" sz="2400" dirty="0"/>
              <a:t>les formalités douanières suivantes, relatives à </a:t>
            </a:r>
            <a:r>
              <a:rPr lang="fr-CH" sz="2400" dirty="0" smtClean="0"/>
              <a:t>la sortie: </a:t>
            </a:r>
          </a:p>
          <a:p>
            <a:pPr marL="0" indent="0">
              <a:buNone/>
            </a:pPr>
            <a:endParaRPr lang="fr-CH" sz="2400" dirty="0" smtClean="0"/>
          </a:p>
          <a:p>
            <a:r>
              <a:rPr lang="fr-CH" sz="2400" dirty="0" smtClean="0"/>
              <a:t> déclarations </a:t>
            </a:r>
            <a:r>
              <a:rPr lang="fr-CH" sz="2400" dirty="0"/>
              <a:t>sommaires </a:t>
            </a:r>
            <a:r>
              <a:rPr lang="fr-CH" sz="2400" dirty="0" smtClean="0"/>
              <a:t>de sortie </a:t>
            </a:r>
            <a:r>
              <a:rPr lang="fr-CH" sz="2400" dirty="0"/>
              <a:t>;</a:t>
            </a:r>
          </a:p>
          <a:p>
            <a:r>
              <a:rPr lang="fr-CH" sz="2400" dirty="0" smtClean="0"/>
              <a:t> </a:t>
            </a:r>
            <a:r>
              <a:rPr lang="fr-CH" sz="2400" dirty="0"/>
              <a:t>notifications de </a:t>
            </a:r>
            <a:r>
              <a:rPr lang="fr-CH" sz="2400" dirty="0" smtClean="0"/>
              <a:t>présentation</a:t>
            </a:r>
            <a:r>
              <a:rPr lang="fr-CH" sz="2400" dirty="0"/>
              <a:t> </a:t>
            </a:r>
            <a:r>
              <a:rPr lang="fr-CH" sz="2400" dirty="0" smtClean="0"/>
              <a:t>;</a:t>
            </a:r>
            <a:endParaRPr lang="fr-CH" sz="2400" dirty="0"/>
          </a:p>
          <a:p>
            <a:r>
              <a:rPr lang="fr-CH" sz="2400" dirty="0" smtClean="0"/>
              <a:t> </a:t>
            </a:r>
            <a:r>
              <a:rPr lang="fr-CH" sz="2400" dirty="0"/>
              <a:t>déclarations de </a:t>
            </a:r>
            <a:r>
              <a:rPr lang="fr-CH" sz="2400" dirty="0" smtClean="0"/>
              <a:t>réexportation ;</a:t>
            </a:r>
          </a:p>
          <a:p>
            <a:r>
              <a:rPr lang="fr-CH" sz="2400" dirty="0" smtClean="0"/>
              <a:t> notifications de réexportation.</a:t>
            </a:r>
            <a:endParaRPr lang="fr-CH" sz="2400" dirty="0"/>
          </a:p>
          <a:p>
            <a:pPr marL="0" indent="0">
              <a:buNone/>
            </a:pPr>
            <a:endParaRPr lang="fr-CH" dirty="0"/>
          </a:p>
        </p:txBody>
      </p:sp>
      <p:sp>
        <p:nvSpPr>
          <p:cNvPr id="4" name="Espace réservé du numéro de diapositive 3"/>
          <p:cNvSpPr>
            <a:spLocks noGrp="1"/>
          </p:cNvSpPr>
          <p:nvPr>
            <p:ph type="sldNum" sz="quarter" idx="12"/>
          </p:nvPr>
        </p:nvSpPr>
        <p:spPr/>
        <p:txBody>
          <a:bodyPr/>
          <a:lstStyle/>
          <a:p>
            <a:fld id="{C58F520E-0D3C-4C73-96DF-B271C0F692B0}" type="slidenum">
              <a:rPr lang="lb-LU" smtClean="0"/>
              <a:t>14</a:t>
            </a:fld>
            <a:endParaRPr lang="lb-LU" dirty="0"/>
          </a:p>
        </p:txBody>
      </p:sp>
    </p:spTree>
    <p:extLst>
      <p:ext uri="{BB962C8B-B14F-4D97-AF65-F5344CB8AC3E}">
        <p14:creationId xmlns:p14="http://schemas.microsoft.com/office/powerpoint/2010/main" val="493804202"/>
      </p:ext>
    </p:extLst>
  </p:cSld>
  <p:clrMapOvr>
    <a:masterClrMapping/>
  </p:clrMapOvr>
  <p:transition spd="slow">
    <p:wip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1060449"/>
            <a:ext cx="10515600" cy="926293"/>
          </a:xfrm>
        </p:spPr>
        <p:txBody>
          <a:bodyPr>
            <a:normAutofit fontScale="90000"/>
          </a:bodyPr>
          <a:lstStyle/>
          <a:p>
            <a:r>
              <a:rPr lang="lb-LU" dirty="0" smtClean="0"/>
              <a:t>‎</a:t>
            </a:r>
            <a:r>
              <a:rPr lang="fr-CH" dirty="0" smtClean="0"/>
              <a:t>‎</a:t>
            </a:r>
            <a:r>
              <a:rPr lang="fr-CH" dirty="0"/>
              <a:t>L</a:t>
            </a:r>
            <a:r>
              <a:rPr lang="fr-CH" dirty="0" smtClean="0"/>
              <a:t>a </a:t>
            </a:r>
            <a:r>
              <a:rPr lang="fr-CH" dirty="0"/>
              <a:t>représentation indirecte et la représentation directe peuvent être </a:t>
            </a:r>
            <a:r>
              <a:rPr lang="fr-CH" dirty="0" smtClean="0"/>
              <a:t>appliquées : ‎</a:t>
            </a:r>
            <a:endParaRPr lang="lb-LU" b="0" dirty="0">
              <a:latin typeface="+mn-lt"/>
            </a:endParaRPr>
          </a:p>
        </p:txBody>
      </p:sp>
      <p:sp>
        <p:nvSpPr>
          <p:cNvPr id="3" name="Espace réservé du contenu 2"/>
          <p:cNvSpPr>
            <a:spLocks noGrp="1"/>
          </p:cNvSpPr>
          <p:nvPr>
            <p:ph idx="1"/>
          </p:nvPr>
        </p:nvSpPr>
        <p:spPr>
          <a:xfrm>
            <a:off x="838200" y="1986743"/>
            <a:ext cx="10515600" cy="4190220"/>
          </a:xfrm>
        </p:spPr>
        <p:txBody>
          <a:bodyPr>
            <a:normAutofit/>
          </a:bodyPr>
          <a:lstStyle/>
          <a:p>
            <a:pPr marL="0" indent="0">
              <a:buNone/>
            </a:pPr>
            <a:endParaRPr lang="fr-CH" dirty="0" smtClean="0"/>
          </a:p>
          <a:p>
            <a:pPr>
              <a:buFontTx/>
              <a:buChar char="-"/>
            </a:pPr>
            <a:r>
              <a:rPr lang="fr-CH" sz="2400" dirty="0"/>
              <a:t>é</a:t>
            </a:r>
            <a:r>
              <a:rPr lang="fr-CH" sz="2400" dirty="0" smtClean="0"/>
              <a:t>galement en ce qui concerne:</a:t>
            </a:r>
          </a:p>
          <a:p>
            <a:pPr marL="0" indent="0">
              <a:buNone/>
            </a:pPr>
            <a:endParaRPr lang="fr-CH" dirty="0"/>
          </a:p>
          <a:p>
            <a:r>
              <a:rPr lang="fr-CH" sz="2400" dirty="0" smtClean="0"/>
              <a:t> </a:t>
            </a:r>
            <a:r>
              <a:rPr lang="fr-CH" sz="2400" dirty="0"/>
              <a:t>la déclaration en douane « normale » (art. 162 du code des douanes de l’Union) ;</a:t>
            </a:r>
          </a:p>
          <a:p>
            <a:r>
              <a:rPr lang="fr-CH" sz="2400" dirty="0" smtClean="0"/>
              <a:t> </a:t>
            </a:r>
            <a:r>
              <a:rPr lang="fr-CH" sz="2400" dirty="0"/>
              <a:t>la déclaration simplifiée (art. 166 du code des douanes de l’Union) ;</a:t>
            </a:r>
          </a:p>
          <a:p>
            <a:r>
              <a:rPr lang="fr-CH" sz="2400" dirty="0" smtClean="0"/>
              <a:t> </a:t>
            </a:r>
            <a:r>
              <a:rPr lang="fr-CH" sz="2400" dirty="0"/>
              <a:t>le dédouanement </a:t>
            </a:r>
            <a:r>
              <a:rPr lang="fr-CH" sz="2400" dirty="0" smtClean="0"/>
              <a:t>centralisé </a:t>
            </a:r>
            <a:r>
              <a:rPr lang="fr-CH" sz="2400" dirty="0"/>
              <a:t>– CCI (art. 179 du code des douanes de l’Union) ; et</a:t>
            </a:r>
          </a:p>
          <a:p>
            <a:r>
              <a:rPr lang="fr-CH" sz="2400" dirty="0" smtClean="0"/>
              <a:t> </a:t>
            </a:r>
            <a:r>
              <a:rPr lang="fr-CH" sz="2400" dirty="0"/>
              <a:t>l’inscription dans les écritures du déclarant – </a:t>
            </a:r>
            <a:r>
              <a:rPr lang="fr-CH" sz="2400" dirty="0" err="1"/>
              <a:t>EiDR</a:t>
            </a:r>
            <a:r>
              <a:rPr lang="fr-CH" sz="2400" dirty="0"/>
              <a:t> (art. 182 du code des douanes de l’Union) :</a:t>
            </a:r>
            <a:endParaRPr lang="fr-CH" sz="2400" dirty="0" smtClean="0"/>
          </a:p>
          <a:p>
            <a:pPr marL="0" indent="0">
              <a:buNone/>
            </a:pPr>
            <a:endParaRPr lang="fr-CH" dirty="0"/>
          </a:p>
        </p:txBody>
      </p:sp>
      <p:sp>
        <p:nvSpPr>
          <p:cNvPr id="4" name="Espace réservé du numéro de diapositive 3"/>
          <p:cNvSpPr>
            <a:spLocks noGrp="1"/>
          </p:cNvSpPr>
          <p:nvPr>
            <p:ph type="sldNum" sz="quarter" idx="12"/>
          </p:nvPr>
        </p:nvSpPr>
        <p:spPr/>
        <p:txBody>
          <a:bodyPr/>
          <a:lstStyle/>
          <a:p>
            <a:fld id="{C58F520E-0D3C-4C73-96DF-B271C0F692B0}" type="slidenum">
              <a:rPr lang="lb-LU" smtClean="0"/>
              <a:t>15</a:t>
            </a:fld>
            <a:endParaRPr lang="lb-LU" dirty="0"/>
          </a:p>
        </p:txBody>
      </p:sp>
    </p:spTree>
    <p:extLst>
      <p:ext uri="{BB962C8B-B14F-4D97-AF65-F5344CB8AC3E}">
        <p14:creationId xmlns:p14="http://schemas.microsoft.com/office/powerpoint/2010/main" val="83639332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1060450"/>
            <a:ext cx="10515600" cy="976168"/>
          </a:xfrm>
        </p:spPr>
        <p:txBody>
          <a:bodyPr>
            <a:normAutofit/>
          </a:bodyPr>
          <a:lstStyle/>
          <a:p>
            <a:r>
              <a:rPr lang="lb-LU" dirty="0" smtClean="0"/>
              <a:t>‎</a:t>
            </a:r>
            <a:r>
              <a:rPr lang="fr-CH" dirty="0" smtClean="0"/>
              <a:t>‎Régime particulier du </a:t>
            </a:r>
            <a:r>
              <a:rPr lang="fr-CH" dirty="0"/>
              <a:t>t</a:t>
            </a:r>
            <a:r>
              <a:rPr lang="fr-CH" dirty="0" smtClean="0"/>
              <a:t>ransit?</a:t>
            </a:r>
            <a:endParaRPr lang="lb-LU" b="0" dirty="0">
              <a:latin typeface="+mn-lt"/>
            </a:endParaRPr>
          </a:p>
        </p:txBody>
      </p:sp>
      <p:sp>
        <p:nvSpPr>
          <p:cNvPr id="3" name="Espace réservé du contenu 2"/>
          <p:cNvSpPr>
            <a:spLocks noGrp="1"/>
          </p:cNvSpPr>
          <p:nvPr>
            <p:ph idx="1"/>
          </p:nvPr>
        </p:nvSpPr>
        <p:spPr/>
        <p:txBody>
          <a:bodyPr>
            <a:normAutofit fontScale="92500"/>
          </a:bodyPr>
          <a:lstStyle/>
          <a:p>
            <a:pPr marL="0" indent="0">
              <a:buNone/>
            </a:pPr>
            <a:endParaRPr lang="lb-LU" dirty="0" smtClean="0"/>
          </a:p>
          <a:p>
            <a:pPr marL="0" indent="0">
              <a:buNone/>
            </a:pPr>
            <a:r>
              <a:rPr lang="fr-CH" dirty="0" smtClean="0"/>
              <a:t>Au cas d’une déclaration </a:t>
            </a:r>
            <a:r>
              <a:rPr lang="fr-CH" dirty="0"/>
              <a:t>de placement sous le régime particulier du </a:t>
            </a:r>
            <a:r>
              <a:rPr lang="fr-CH" dirty="0" smtClean="0"/>
              <a:t>transit: </a:t>
            </a:r>
          </a:p>
          <a:p>
            <a:r>
              <a:rPr lang="fr-CH" dirty="0" smtClean="0"/>
              <a:t>si </a:t>
            </a:r>
            <a:r>
              <a:rPr lang="fr-CH" dirty="0"/>
              <a:t>le représentant en douane est également titulaire du régime particulier du transit </a:t>
            </a:r>
            <a:r>
              <a:rPr lang="fr-CH" dirty="0" smtClean="0">
                <a:sym typeface="Wingdings" panose="05000000000000000000" pitchFamily="2" charset="2"/>
              </a:rPr>
              <a:t> </a:t>
            </a:r>
            <a:r>
              <a:rPr lang="fr-CH" dirty="0" smtClean="0"/>
              <a:t>il </a:t>
            </a:r>
            <a:r>
              <a:rPr lang="fr-CH" dirty="0"/>
              <a:t>ne s’agit pas d’une représentation.</a:t>
            </a:r>
          </a:p>
          <a:p>
            <a:r>
              <a:rPr lang="fr-CH" dirty="0" smtClean="0"/>
              <a:t>si </a:t>
            </a:r>
            <a:r>
              <a:rPr lang="fr-CH" dirty="0"/>
              <a:t>le représentant en douane accomplit les formalités du transit pour le titulaire du régime du </a:t>
            </a:r>
            <a:r>
              <a:rPr lang="fr-CH" dirty="0" smtClean="0"/>
              <a:t>transit</a:t>
            </a:r>
            <a:r>
              <a:rPr lang="fr-CH" dirty="0"/>
              <a:t> </a:t>
            </a:r>
            <a:r>
              <a:rPr lang="fr-CH" dirty="0" smtClean="0">
                <a:sym typeface="Wingdings" panose="05000000000000000000" pitchFamily="2" charset="2"/>
              </a:rPr>
              <a:t></a:t>
            </a:r>
            <a:r>
              <a:rPr lang="fr-CH" dirty="0" smtClean="0"/>
              <a:t> </a:t>
            </a:r>
            <a:r>
              <a:rPr lang="fr-CH" dirty="0"/>
              <a:t>la représentation en douane est limitée à la représentation directe.</a:t>
            </a:r>
          </a:p>
          <a:p>
            <a:pPr marL="0" indent="0">
              <a:buNone/>
            </a:pPr>
            <a:r>
              <a:rPr lang="fr-CH" dirty="0" smtClean="0"/>
              <a:t>Le </a:t>
            </a:r>
            <a:r>
              <a:rPr lang="fr-CH" dirty="0"/>
              <a:t>titulaire du régime susvisé est toujours responsable pour le paiement de toute dette susceptible de naître à l’égard de marchandises transportées sous ce régime.</a:t>
            </a:r>
            <a:r>
              <a:rPr lang="lb-LU" dirty="0" smtClean="0"/>
              <a:t>  </a:t>
            </a:r>
          </a:p>
        </p:txBody>
      </p:sp>
      <p:sp>
        <p:nvSpPr>
          <p:cNvPr id="4" name="Espace réservé du numéro de diapositive 3"/>
          <p:cNvSpPr>
            <a:spLocks noGrp="1"/>
          </p:cNvSpPr>
          <p:nvPr>
            <p:ph type="sldNum" sz="quarter" idx="12"/>
          </p:nvPr>
        </p:nvSpPr>
        <p:spPr/>
        <p:txBody>
          <a:bodyPr/>
          <a:lstStyle/>
          <a:p>
            <a:fld id="{C58F520E-0D3C-4C73-96DF-B271C0F692B0}" type="slidenum">
              <a:rPr lang="lb-LU" smtClean="0"/>
              <a:t>16</a:t>
            </a:fld>
            <a:endParaRPr lang="lb-LU" dirty="0"/>
          </a:p>
        </p:txBody>
      </p:sp>
    </p:spTree>
    <p:extLst>
      <p:ext uri="{BB962C8B-B14F-4D97-AF65-F5344CB8AC3E}">
        <p14:creationId xmlns:p14="http://schemas.microsoft.com/office/powerpoint/2010/main" val="182243170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 calcmode="lin" valueType="num">
                                      <p:cBhvr additive="base">
                                        <p:cTn id="1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Zone franche</a:t>
            </a:r>
            <a:endParaRPr lang="en-US" dirty="0"/>
          </a:p>
        </p:txBody>
      </p:sp>
      <p:sp>
        <p:nvSpPr>
          <p:cNvPr id="3" name="Content Placeholder 2"/>
          <p:cNvSpPr>
            <a:spLocks noGrp="1"/>
          </p:cNvSpPr>
          <p:nvPr>
            <p:ph idx="1"/>
          </p:nvPr>
        </p:nvSpPr>
        <p:spPr/>
        <p:txBody>
          <a:bodyPr/>
          <a:lstStyle/>
          <a:p>
            <a:pPr marL="0" indent="0">
              <a:buNone/>
            </a:pPr>
            <a:endParaRPr lang="fr-FR" dirty="0" smtClean="0"/>
          </a:p>
          <a:p>
            <a:pPr marL="0" indent="0">
              <a:buNone/>
            </a:pPr>
            <a:r>
              <a:rPr lang="fr-FR" dirty="0" smtClean="0"/>
              <a:t>Notifications exclusivement par l’opérateur agrée en zone franche, qui est seul responsable.</a:t>
            </a: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17</a:t>
            </a:fld>
            <a:endParaRPr lang="lb-LU"/>
          </a:p>
        </p:txBody>
      </p:sp>
    </p:spTree>
    <p:extLst>
      <p:ext uri="{BB962C8B-B14F-4D97-AF65-F5344CB8AC3E}">
        <p14:creationId xmlns:p14="http://schemas.microsoft.com/office/powerpoint/2010/main" val="3933060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Quelle</a:t>
            </a:r>
            <a:r>
              <a:rPr lang="en-US" dirty="0" smtClean="0"/>
              <a:t> type de </a:t>
            </a:r>
            <a:r>
              <a:rPr lang="en-US" dirty="0" err="1" smtClean="0"/>
              <a:t>représentation</a:t>
            </a:r>
            <a:r>
              <a:rPr lang="en-US" dirty="0" smtClean="0"/>
              <a:t> </a:t>
            </a:r>
            <a:r>
              <a:rPr lang="en-US" dirty="0" err="1" smtClean="0"/>
              <a:t>dans</a:t>
            </a:r>
            <a:r>
              <a:rPr lang="en-US" dirty="0" smtClean="0"/>
              <a:t> le </a:t>
            </a:r>
            <a:r>
              <a:rPr lang="en-US" dirty="0" err="1" smtClean="0"/>
              <a:t>cas</a:t>
            </a:r>
            <a:r>
              <a:rPr lang="en-US" dirty="0" smtClean="0"/>
              <a:t> </a:t>
            </a:r>
            <a:r>
              <a:rPr lang="en-US" dirty="0" err="1" smtClean="0"/>
              <a:t>d’une</a:t>
            </a:r>
            <a:r>
              <a:rPr lang="en-US" dirty="0" smtClean="0"/>
              <a:t> </a:t>
            </a:r>
            <a:r>
              <a:rPr lang="en-US" dirty="0" err="1" smtClean="0"/>
              <a:t>autorisation</a:t>
            </a:r>
            <a:r>
              <a:rPr lang="en-US" dirty="0" smtClean="0"/>
              <a:t>?</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fr-CH" dirty="0" smtClean="0"/>
              <a:t>Concerne:</a:t>
            </a:r>
            <a:endParaRPr lang="fr-CH" dirty="0"/>
          </a:p>
          <a:p>
            <a:pPr marL="0" indent="0">
              <a:buNone/>
            </a:pPr>
            <a:r>
              <a:rPr lang="fr-CH" dirty="0" smtClean="0"/>
              <a:t>Autorisation </a:t>
            </a:r>
            <a:r>
              <a:rPr lang="fr-CH" dirty="0"/>
              <a:t>de perfectionnement actif, de perfectionnement passif, de la destination particulière, de l’admission temporaire ou de l’entrepôt douanier ; </a:t>
            </a:r>
            <a:endParaRPr lang="fr-CH" dirty="0" smtClean="0"/>
          </a:p>
          <a:p>
            <a:pPr marL="0" indent="0">
              <a:buNone/>
            </a:pPr>
            <a:r>
              <a:rPr lang="fr-CH" dirty="0" smtClean="0"/>
              <a:t>ou</a:t>
            </a:r>
            <a:endParaRPr lang="fr-CH" dirty="0"/>
          </a:p>
          <a:p>
            <a:pPr marL="0" indent="0">
              <a:buNone/>
            </a:pPr>
            <a:r>
              <a:rPr lang="fr-CH" dirty="0" smtClean="0"/>
              <a:t>Autorisation </a:t>
            </a:r>
            <a:r>
              <a:rPr lang="fr-CH" dirty="0"/>
              <a:t>relative à la déclaration simplifiée, au </a:t>
            </a:r>
            <a:r>
              <a:rPr lang="fr-CH" dirty="0" smtClean="0"/>
              <a:t>CCI </a:t>
            </a:r>
            <a:r>
              <a:rPr lang="fr-CH" dirty="0"/>
              <a:t>et à </a:t>
            </a:r>
            <a:r>
              <a:rPr lang="fr-CH" dirty="0" smtClean="0"/>
              <a:t>l’</a:t>
            </a:r>
            <a:r>
              <a:rPr lang="fr-CH" dirty="0" err="1" smtClean="0"/>
              <a:t>EiDR</a:t>
            </a:r>
            <a:r>
              <a:rPr lang="fr-CH" dirty="0" smtClean="0"/>
              <a:t>:</a:t>
            </a:r>
          </a:p>
          <a:p>
            <a:pPr marL="0" indent="0">
              <a:buNone/>
            </a:pPr>
            <a:endParaRPr lang="fr-CH" dirty="0" smtClean="0"/>
          </a:p>
          <a:p>
            <a:pPr>
              <a:buFont typeface="Wingdings" panose="05000000000000000000" pitchFamily="2" charset="2"/>
              <a:buChar char="à"/>
            </a:pPr>
            <a:r>
              <a:rPr lang="fr-CH" dirty="0" smtClean="0"/>
              <a:t> L’ article </a:t>
            </a:r>
            <a:r>
              <a:rPr lang="fr-CH" dirty="0"/>
              <a:t>170 du </a:t>
            </a:r>
            <a:r>
              <a:rPr lang="fr-CH" dirty="0" smtClean="0"/>
              <a:t>CDU précise que lorsque </a:t>
            </a:r>
            <a:r>
              <a:rPr lang="fr-CH" dirty="0"/>
              <a:t>l’acceptation d’une déclaration </a:t>
            </a:r>
            <a:r>
              <a:rPr lang="fr-CH" dirty="0" smtClean="0"/>
              <a:t>en douane </a:t>
            </a:r>
            <a:r>
              <a:rPr lang="fr-CH" dirty="0"/>
              <a:t>entraîne des </a:t>
            </a:r>
            <a:r>
              <a:rPr lang="fr-CH" dirty="0" smtClean="0"/>
              <a:t>obligations particulières </a:t>
            </a:r>
            <a:r>
              <a:rPr lang="fr-CH" dirty="0"/>
              <a:t>pour une personne </a:t>
            </a:r>
            <a:r>
              <a:rPr lang="fr-CH" dirty="0" smtClean="0"/>
              <a:t>déterminée, </a:t>
            </a:r>
            <a:r>
              <a:rPr lang="fr-CH" dirty="0"/>
              <a:t>cette déclaration doit </a:t>
            </a:r>
            <a:r>
              <a:rPr lang="fr-CH" dirty="0" smtClean="0"/>
              <a:t>être déposée </a:t>
            </a:r>
            <a:r>
              <a:rPr lang="fr-CH" dirty="0"/>
              <a:t>par cette personne ou son représentant</a:t>
            </a:r>
            <a:r>
              <a:rPr lang="fr-CH" dirty="0" smtClean="0"/>
              <a:t>. </a:t>
            </a:r>
          </a:p>
        </p:txBody>
      </p:sp>
      <p:sp>
        <p:nvSpPr>
          <p:cNvPr id="4" name="Slide Number Placeholder 3"/>
          <p:cNvSpPr>
            <a:spLocks noGrp="1"/>
          </p:cNvSpPr>
          <p:nvPr>
            <p:ph type="sldNum" sz="quarter" idx="12"/>
          </p:nvPr>
        </p:nvSpPr>
        <p:spPr/>
        <p:txBody>
          <a:bodyPr/>
          <a:lstStyle/>
          <a:p>
            <a:fld id="{C58F520E-0D3C-4C73-96DF-B271C0F692B0}" type="slidenum">
              <a:rPr lang="lb-LU" smtClean="0"/>
              <a:t>18</a:t>
            </a:fld>
            <a:endParaRPr lang="lb-LU"/>
          </a:p>
        </p:txBody>
      </p:sp>
    </p:spTree>
    <p:extLst>
      <p:ext uri="{BB962C8B-B14F-4D97-AF65-F5344CB8AC3E}">
        <p14:creationId xmlns:p14="http://schemas.microsoft.com/office/powerpoint/2010/main" val="718379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circle(in)">
                                      <p:cBhvr>
                                        <p:cTn id="19"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Exemples:</a:t>
            </a:r>
            <a:endParaRPr lang="en-US" dirty="0"/>
          </a:p>
        </p:txBody>
      </p:sp>
      <p:sp>
        <p:nvSpPr>
          <p:cNvPr id="3" name="Content Placeholder 2"/>
          <p:cNvSpPr>
            <a:spLocks noGrp="1"/>
          </p:cNvSpPr>
          <p:nvPr>
            <p:ph idx="1"/>
          </p:nvPr>
        </p:nvSpPr>
        <p:spPr/>
        <p:txBody>
          <a:bodyPr>
            <a:normAutofit/>
          </a:bodyPr>
          <a:lstStyle/>
          <a:p>
            <a:endParaRPr lang="fr-CH" dirty="0" smtClean="0"/>
          </a:p>
          <a:p>
            <a:r>
              <a:rPr lang="fr-CH" dirty="0" smtClean="0"/>
              <a:t>L’opérateur A </a:t>
            </a:r>
            <a:r>
              <a:rPr lang="fr-CH" dirty="0"/>
              <a:t>est détenteur d’une autorisation </a:t>
            </a:r>
            <a:r>
              <a:rPr lang="fr-CH" dirty="0" smtClean="0"/>
              <a:t>«entrepôt douanier».</a:t>
            </a:r>
            <a:r>
              <a:rPr lang="fr-CH" dirty="0"/>
              <a:t>‎</a:t>
            </a:r>
          </a:p>
          <a:p>
            <a:r>
              <a:rPr lang="fr-CH" dirty="0"/>
              <a:t>Il se fait représenter par l’agence en douane </a:t>
            </a:r>
            <a:r>
              <a:rPr lang="fr-CH" dirty="0" smtClean="0"/>
              <a:t>B </a:t>
            </a:r>
            <a:r>
              <a:rPr lang="fr-CH" dirty="0"/>
              <a:t>pour l’établissement et le dépôt de la déclaration ‎de ‎placement d’une marchandise dans </a:t>
            </a:r>
            <a:r>
              <a:rPr lang="fr-CH" dirty="0" smtClean="0"/>
              <a:t>son entrepôt ‎</a:t>
            </a:r>
            <a:endParaRPr lang="fr-CH" dirty="0"/>
          </a:p>
          <a:p>
            <a:pPr marL="0" indent="0">
              <a:buNone/>
            </a:pPr>
            <a:r>
              <a:rPr lang="fr-CH" dirty="0" smtClean="0">
                <a:sym typeface="Wingdings" panose="05000000000000000000" pitchFamily="2" charset="2"/>
              </a:rPr>
              <a:t> </a:t>
            </a:r>
            <a:r>
              <a:rPr lang="fr-CH" dirty="0" smtClean="0"/>
              <a:t>Dans </a:t>
            </a:r>
            <a:r>
              <a:rPr lang="fr-CH" dirty="0"/>
              <a:t>ce cas, la représentation doit être </a:t>
            </a:r>
            <a:r>
              <a:rPr lang="fr-CH" u="sng" dirty="0" smtClean="0"/>
              <a:t>directe</a:t>
            </a:r>
            <a:r>
              <a:rPr lang="fr-CH" dirty="0" smtClean="0"/>
              <a:t>.</a:t>
            </a:r>
            <a:endParaRPr lang="fr-CH" dirty="0"/>
          </a:p>
          <a:p>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19</a:t>
            </a:fld>
            <a:endParaRPr lang="lb-LU"/>
          </a:p>
        </p:txBody>
      </p:sp>
    </p:spTree>
    <p:extLst>
      <p:ext uri="{BB962C8B-B14F-4D97-AF65-F5344CB8AC3E}">
        <p14:creationId xmlns:p14="http://schemas.microsoft.com/office/powerpoint/2010/main" val="2652900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6"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wipe(down)">
                                      <p:cBhvr>
                                        <p:cTn id="15" dur="580">
                                          <p:stCondLst>
                                            <p:cond delay="0"/>
                                          </p:stCondLst>
                                        </p:cTn>
                                        <p:tgtEl>
                                          <p:spTgt spid="3">
                                            <p:txEl>
                                              <p:pRg st="3" end="3"/>
                                            </p:txEl>
                                          </p:spTgt>
                                        </p:tgtEl>
                                      </p:cBhvr>
                                    </p:animEffect>
                                    <p:anim calcmode="lin" valueType="num">
                                      <p:cBhvr>
                                        <p:cTn id="16"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17"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18"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19"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20"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21" dur="26">
                                          <p:stCondLst>
                                            <p:cond delay="650"/>
                                          </p:stCondLst>
                                        </p:cTn>
                                        <p:tgtEl>
                                          <p:spTgt spid="3">
                                            <p:txEl>
                                              <p:pRg st="3" end="3"/>
                                            </p:txEl>
                                          </p:spTgt>
                                        </p:tgtEl>
                                      </p:cBhvr>
                                      <p:to x="100000" y="60000"/>
                                    </p:animScale>
                                    <p:animScale>
                                      <p:cBhvr>
                                        <p:cTn id="22" dur="166" decel="50000">
                                          <p:stCondLst>
                                            <p:cond delay="676"/>
                                          </p:stCondLst>
                                        </p:cTn>
                                        <p:tgtEl>
                                          <p:spTgt spid="3">
                                            <p:txEl>
                                              <p:pRg st="3" end="3"/>
                                            </p:txEl>
                                          </p:spTgt>
                                        </p:tgtEl>
                                      </p:cBhvr>
                                      <p:to x="100000" y="100000"/>
                                    </p:animScale>
                                    <p:animScale>
                                      <p:cBhvr>
                                        <p:cTn id="23" dur="26">
                                          <p:stCondLst>
                                            <p:cond delay="1312"/>
                                          </p:stCondLst>
                                        </p:cTn>
                                        <p:tgtEl>
                                          <p:spTgt spid="3">
                                            <p:txEl>
                                              <p:pRg st="3" end="3"/>
                                            </p:txEl>
                                          </p:spTgt>
                                        </p:tgtEl>
                                      </p:cBhvr>
                                      <p:to x="100000" y="80000"/>
                                    </p:animScale>
                                    <p:animScale>
                                      <p:cBhvr>
                                        <p:cTn id="24" dur="166" decel="50000">
                                          <p:stCondLst>
                                            <p:cond delay="1338"/>
                                          </p:stCondLst>
                                        </p:cTn>
                                        <p:tgtEl>
                                          <p:spTgt spid="3">
                                            <p:txEl>
                                              <p:pRg st="3" end="3"/>
                                            </p:txEl>
                                          </p:spTgt>
                                        </p:tgtEl>
                                      </p:cBhvr>
                                      <p:to x="100000" y="100000"/>
                                    </p:animScale>
                                    <p:animScale>
                                      <p:cBhvr>
                                        <p:cTn id="25" dur="26">
                                          <p:stCondLst>
                                            <p:cond delay="1642"/>
                                          </p:stCondLst>
                                        </p:cTn>
                                        <p:tgtEl>
                                          <p:spTgt spid="3">
                                            <p:txEl>
                                              <p:pRg st="3" end="3"/>
                                            </p:txEl>
                                          </p:spTgt>
                                        </p:tgtEl>
                                      </p:cBhvr>
                                      <p:to x="100000" y="90000"/>
                                    </p:animScale>
                                    <p:animScale>
                                      <p:cBhvr>
                                        <p:cTn id="26" dur="166" decel="50000">
                                          <p:stCondLst>
                                            <p:cond delay="1668"/>
                                          </p:stCondLst>
                                        </p:cTn>
                                        <p:tgtEl>
                                          <p:spTgt spid="3">
                                            <p:txEl>
                                              <p:pRg st="3" end="3"/>
                                            </p:txEl>
                                          </p:spTgt>
                                        </p:tgtEl>
                                      </p:cBhvr>
                                      <p:to x="100000" y="100000"/>
                                    </p:animScale>
                                    <p:animScale>
                                      <p:cBhvr>
                                        <p:cTn id="27" dur="26">
                                          <p:stCondLst>
                                            <p:cond delay="1808"/>
                                          </p:stCondLst>
                                        </p:cTn>
                                        <p:tgtEl>
                                          <p:spTgt spid="3">
                                            <p:txEl>
                                              <p:pRg st="3" end="3"/>
                                            </p:txEl>
                                          </p:spTgt>
                                        </p:tgtEl>
                                      </p:cBhvr>
                                      <p:to x="100000" y="95000"/>
                                    </p:animScale>
                                    <p:animScale>
                                      <p:cBhvr>
                                        <p:cTn id="28" dur="166" decel="50000">
                                          <p:stCondLst>
                                            <p:cond delay="1834"/>
                                          </p:stCondLst>
                                        </p:cTn>
                                        <p:tgtEl>
                                          <p:spTgt spid="3">
                                            <p:txEl>
                                              <p:pRg st="3" end="3"/>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Exemples:</a:t>
            </a:r>
            <a:endParaRPr lang="en-US" dirty="0"/>
          </a:p>
        </p:txBody>
      </p:sp>
      <p:sp>
        <p:nvSpPr>
          <p:cNvPr id="3" name="Content Placeholder 2"/>
          <p:cNvSpPr>
            <a:spLocks noGrp="1"/>
          </p:cNvSpPr>
          <p:nvPr>
            <p:ph idx="1"/>
          </p:nvPr>
        </p:nvSpPr>
        <p:spPr/>
        <p:txBody>
          <a:bodyPr>
            <a:normAutofit/>
          </a:bodyPr>
          <a:lstStyle/>
          <a:p>
            <a:endParaRPr lang="fr-CH" dirty="0"/>
          </a:p>
          <a:p>
            <a:r>
              <a:rPr lang="fr-CH" dirty="0"/>
              <a:t>L’agence en douane </a:t>
            </a:r>
            <a:r>
              <a:rPr lang="fr-CH" dirty="0" smtClean="0"/>
              <a:t>C </a:t>
            </a:r>
            <a:r>
              <a:rPr lang="fr-CH" dirty="0"/>
              <a:t>est détenteur d’une autorisation </a:t>
            </a:r>
            <a:r>
              <a:rPr lang="fr-CH" dirty="0" smtClean="0"/>
              <a:t>«entrepôt douanier».</a:t>
            </a:r>
            <a:r>
              <a:rPr lang="fr-CH" dirty="0"/>
              <a:t>‎</a:t>
            </a:r>
          </a:p>
          <a:p>
            <a:r>
              <a:rPr lang="fr-CH" dirty="0"/>
              <a:t>Elle représente l’opérateur </a:t>
            </a:r>
            <a:r>
              <a:rPr lang="fr-CH" dirty="0" smtClean="0"/>
              <a:t>D </a:t>
            </a:r>
            <a:r>
              <a:rPr lang="fr-CH" dirty="0"/>
              <a:t>pour l’établissement et le dépôt d’une déclaration de placement ‎d’une ‎marchandise sous le régime </a:t>
            </a:r>
            <a:r>
              <a:rPr lang="fr-CH" dirty="0" smtClean="0"/>
              <a:t>entrepôt‎. </a:t>
            </a:r>
            <a:r>
              <a:rPr lang="fr-CH" dirty="0"/>
              <a:t>L’opérateur </a:t>
            </a:r>
            <a:r>
              <a:rPr lang="fr-CH" dirty="0" smtClean="0"/>
              <a:t>D </a:t>
            </a:r>
            <a:r>
              <a:rPr lang="fr-CH" dirty="0"/>
              <a:t>n’est pas détenteur ‎d’une ‎autorisation </a:t>
            </a:r>
            <a:r>
              <a:rPr lang="fr-CH" dirty="0" smtClean="0"/>
              <a:t>«entrepôt douanier».</a:t>
            </a:r>
            <a:r>
              <a:rPr lang="fr-CH" dirty="0"/>
              <a:t>‎</a:t>
            </a:r>
          </a:p>
          <a:p>
            <a:r>
              <a:rPr lang="fr-CH" dirty="0" smtClean="0"/>
              <a:t>Dans </a:t>
            </a:r>
            <a:r>
              <a:rPr lang="fr-CH" dirty="0"/>
              <a:t>ce cas, la représentation doit être </a:t>
            </a:r>
            <a:r>
              <a:rPr lang="fr-CH" u="sng" dirty="0" smtClean="0"/>
              <a:t>indirecte</a:t>
            </a:r>
            <a:r>
              <a:rPr lang="fr-CH" dirty="0" smtClean="0"/>
              <a:t>.</a:t>
            </a:r>
            <a:endParaRPr lang="fr-CH" dirty="0"/>
          </a:p>
          <a:p>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20</a:t>
            </a:fld>
            <a:endParaRPr lang="lb-LU"/>
          </a:p>
        </p:txBody>
      </p:sp>
    </p:spTree>
    <p:extLst>
      <p:ext uri="{BB962C8B-B14F-4D97-AF65-F5344CB8AC3E}">
        <p14:creationId xmlns:p14="http://schemas.microsoft.com/office/powerpoint/2010/main" val="2978170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6"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wipe(down)">
                                      <p:cBhvr>
                                        <p:cTn id="15" dur="580">
                                          <p:stCondLst>
                                            <p:cond delay="0"/>
                                          </p:stCondLst>
                                        </p:cTn>
                                        <p:tgtEl>
                                          <p:spTgt spid="3">
                                            <p:txEl>
                                              <p:pRg st="3" end="3"/>
                                            </p:txEl>
                                          </p:spTgt>
                                        </p:tgtEl>
                                      </p:cBhvr>
                                    </p:animEffect>
                                    <p:anim calcmode="lin" valueType="num">
                                      <p:cBhvr>
                                        <p:cTn id="16"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17"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18"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19"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20"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21" dur="26">
                                          <p:stCondLst>
                                            <p:cond delay="650"/>
                                          </p:stCondLst>
                                        </p:cTn>
                                        <p:tgtEl>
                                          <p:spTgt spid="3">
                                            <p:txEl>
                                              <p:pRg st="3" end="3"/>
                                            </p:txEl>
                                          </p:spTgt>
                                        </p:tgtEl>
                                      </p:cBhvr>
                                      <p:to x="100000" y="60000"/>
                                    </p:animScale>
                                    <p:animScale>
                                      <p:cBhvr>
                                        <p:cTn id="22" dur="166" decel="50000">
                                          <p:stCondLst>
                                            <p:cond delay="676"/>
                                          </p:stCondLst>
                                        </p:cTn>
                                        <p:tgtEl>
                                          <p:spTgt spid="3">
                                            <p:txEl>
                                              <p:pRg st="3" end="3"/>
                                            </p:txEl>
                                          </p:spTgt>
                                        </p:tgtEl>
                                      </p:cBhvr>
                                      <p:to x="100000" y="100000"/>
                                    </p:animScale>
                                    <p:animScale>
                                      <p:cBhvr>
                                        <p:cTn id="23" dur="26">
                                          <p:stCondLst>
                                            <p:cond delay="1312"/>
                                          </p:stCondLst>
                                        </p:cTn>
                                        <p:tgtEl>
                                          <p:spTgt spid="3">
                                            <p:txEl>
                                              <p:pRg st="3" end="3"/>
                                            </p:txEl>
                                          </p:spTgt>
                                        </p:tgtEl>
                                      </p:cBhvr>
                                      <p:to x="100000" y="80000"/>
                                    </p:animScale>
                                    <p:animScale>
                                      <p:cBhvr>
                                        <p:cTn id="24" dur="166" decel="50000">
                                          <p:stCondLst>
                                            <p:cond delay="1338"/>
                                          </p:stCondLst>
                                        </p:cTn>
                                        <p:tgtEl>
                                          <p:spTgt spid="3">
                                            <p:txEl>
                                              <p:pRg st="3" end="3"/>
                                            </p:txEl>
                                          </p:spTgt>
                                        </p:tgtEl>
                                      </p:cBhvr>
                                      <p:to x="100000" y="100000"/>
                                    </p:animScale>
                                    <p:animScale>
                                      <p:cBhvr>
                                        <p:cTn id="25" dur="26">
                                          <p:stCondLst>
                                            <p:cond delay="1642"/>
                                          </p:stCondLst>
                                        </p:cTn>
                                        <p:tgtEl>
                                          <p:spTgt spid="3">
                                            <p:txEl>
                                              <p:pRg st="3" end="3"/>
                                            </p:txEl>
                                          </p:spTgt>
                                        </p:tgtEl>
                                      </p:cBhvr>
                                      <p:to x="100000" y="90000"/>
                                    </p:animScale>
                                    <p:animScale>
                                      <p:cBhvr>
                                        <p:cTn id="26" dur="166" decel="50000">
                                          <p:stCondLst>
                                            <p:cond delay="1668"/>
                                          </p:stCondLst>
                                        </p:cTn>
                                        <p:tgtEl>
                                          <p:spTgt spid="3">
                                            <p:txEl>
                                              <p:pRg st="3" end="3"/>
                                            </p:txEl>
                                          </p:spTgt>
                                        </p:tgtEl>
                                      </p:cBhvr>
                                      <p:to x="100000" y="100000"/>
                                    </p:animScale>
                                    <p:animScale>
                                      <p:cBhvr>
                                        <p:cTn id="27" dur="26">
                                          <p:stCondLst>
                                            <p:cond delay="1808"/>
                                          </p:stCondLst>
                                        </p:cTn>
                                        <p:tgtEl>
                                          <p:spTgt spid="3">
                                            <p:txEl>
                                              <p:pRg st="3" end="3"/>
                                            </p:txEl>
                                          </p:spTgt>
                                        </p:tgtEl>
                                      </p:cBhvr>
                                      <p:to x="100000" y="95000"/>
                                    </p:animScale>
                                    <p:animScale>
                                      <p:cBhvr>
                                        <p:cTn id="28" dur="166" decel="50000">
                                          <p:stCondLst>
                                            <p:cond delay="1834"/>
                                          </p:stCondLst>
                                        </p:cTn>
                                        <p:tgtEl>
                                          <p:spTgt spid="3">
                                            <p:txEl>
                                              <p:pRg st="3" end="3"/>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1060450"/>
            <a:ext cx="10515600" cy="976168"/>
          </a:xfrm>
        </p:spPr>
        <p:txBody>
          <a:bodyPr>
            <a:normAutofit/>
          </a:bodyPr>
          <a:lstStyle/>
          <a:p>
            <a:r>
              <a:rPr lang="fr-CH" b="0" dirty="0">
                <a:latin typeface="+mn-lt"/>
              </a:rPr>
              <a:t>Lieu, où le représentant douanier doit être établi </a:t>
            </a:r>
            <a:r>
              <a:rPr lang="fr-CH" b="0" dirty="0" smtClean="0">
                <a:latin typeface="+mn-lt"/>
              </a:rPr>
              <a:t>:</a:t>
            </a:r>
            <a:endParaRPr lang="lb-LU" b="0" dirty="0">
              <a:latin typeface="+mn-lt"/>
            </a:endParaRPr>
          </a:p>
        </p:txBody>
      </p:sp>
      <p:sp>
        <p:nvSpPr>
          <p:cNvPr id="3" name="Espace réservé du contenu 2"/>
          <p:cNvSpPr>
            <a:spLocks noGrp="1"/>
          </p:cNvSpPr>
          <p:nvPr>
            <p:ph idx="1"/>
          </p:nvPr>
        </p:nvSpPr>
        <p:spPr/>
        <p:txBody>
          <a:bodyPr>
            <a:normAutofit/>
          </a:bodyPr>
          <a:lstStyle/>
          <a:p>
            <a:pPr marL="0" indent="0">
              <a:buNone/>
            </a:pPr>
            <a:endParaRPr lang="lb-LU" dirty="0" smtClean="0"/>
          </a:p>
          <a:p>
            <a:pPr marL="0" indent="0">
              <a:buNone/>
            </a:pPr>
            <a:r>
              <a:rPr lang="fr-CH" dirty="0"/>
              <a:t>Le représentant en douane </a:t>
            </a:r>
            <a:r>
              <a:rPr lang="fr-CH" dirty="0" smtClean="0"/>
              <a:t>doit être </a:t>
            </a:r>
            <a:r>
              <a:rPr lang="fr-CH" dirty="0"/>
              <a:t>établi sur le territoire douanier de l'Union. </a:t>
            </a:r>
            <a:r>
              <a:rPr lang="fr-CH" dirty="0" smtClean="0"/>
              <a:t>‎</a:t>
            </a:r>
          </a:p>
          <a:p>
            <a:pPr marL="0" indent="0">
              <a:buNone/>
            </a:pPr>
            <a:r>
              <a:rPr lang="fr-CH" dirty="0" smtClean="0"/>
              <a:t>Sauf </a:t>
            </a:r>
            <a:r>
              <a:rPr lang="fr-CH" dirty="0"/>
              <a:t>dispositions contraires, il est dérogé à cette exigence lorsque le représentant en douane agit pour le compte de ‎personnes qui ne sont pas tenues d'être établies sur le territoire douanier de l'Union. ‎‎‎</a:t>
            </a:r>
          </a:p>
          <a:p>
            <a:pPr marL="0" indent="0">
              <a:buNone/>
            </a:pPr>
            <a:endParaRPr lang="fr-CH" dirty="0"/>
          </a:p>
          <a:p>
            <a:pPr marL="0" indent="0">
              <a:buNone/>
            </a:pPr>
            <a:r>
              <a:rPr lang="fr-CH" dirty="0" smtClean="0"/>
              <a:t>Attention: Chaque </a:t>
            </a:r>
            <a:r>
              <a:rPr lang="fr-CH" dirty="0"/>
              <a:t>État membre fixe les conditions dans lesquelles un représentant en douane fournit des ‎services sur son territoire‎</a:t>
            </a:r>
          </a:p>
          <a:p>
            <a:pPr marL="0" indent="0">
              <a:buNone/>
            </a:pPr>
            <a:endParaRPr lang="fr-CH" dirty="0"/>
          </a:p>
        </p:txBody>
      </p:sp>
      <p:sp>
        <p:nvSpPr>
          <p:cNvPr id="4" name="Espace réservé du numéro de diapositive 3"/>
          <p:cNvSpPr>
            <a:spLocks noGrp="1"/>
          </p:cNvSpPr>
          <p:nvPr>
            <p:ph type="sldNum" sz="quarter" idx="12"/>
          </p:nvPr>
        </p:nvSpPr>
        <p:spPr/>
        <p:txBody>
          <a:bodyPr/>
          <a:lstStyle/>
          <a:p>
            <a:fld id="{C58F520E-0D3C-4C73-96DF-B271C0F692B0}" type="slidenum">
              <a:rPr lang="lb-LU" smtClean="0"/>
              <a:t>21</a:t>
            </a:fld>
            <a:endParaRPr lang="lb-LU" dirty="0"/>
          </a:p>
        </p:txBody>
      </p:sp>
    </p:spTree>
    <p:extLst>
      <p:ext uri="{BB962C8B-B14F-4D97-AF65-F5344CB8AC3E}">
        <p14:creationId xmlns:p14="http://schemas.microsoft.com/office/powerpoint/2010/main" val="266479630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1000"/>
                                        <p:tgtEl>
                                          <p:spTgt spid="3">
                                            <p:txEl>
                                              <p:pRg st="4" end="4"/>
                                            </p:txEl>
                                          </p:spTgt>
                                        </p:tgtEl>
                                      </p:cBhvr>
                                    </p:animEffect>
                                    <p:anim calcmode="lin" valueType="num">
                                      <p:cBhvr>
                                        <p:cTn id="1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smtClean="0"/>
              <a:t>Mandat</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endParaRPr lang="fr-CH" dirty="0"/>
          </a:p>
          <a:p>
            <a:r>
              <a:rPr lang="fr-CH" dirty="0" smtClean="0"/>
              <a:t>‎Sur la déclaration de mise en libre pratique, le </a:t>
            </a:r>
            <a:r>
              <a:rPr lang="fr-CH" dirty="0"/>
              <a:t>représentant en douane déclare agir pour le compte ‎de la personne ‎représentée et précise s'il s'agit d'une représentation directe ou indirecte‎.‎</a:t>
            </a:r>
          </a:p>
          <a:p>
            <a:r>
              <a:rPr lang="fr-CH" dirty="0"/>
              <a:t>Les personnes qui ne déclarent pas qu'elles agissent en tant que représentant en douane ou qui ‎déclarent agir en tant ‎que représentant en douane sans y être </a:t>
            </a:r>
            <a:r>
              <a:rPr lang="fr-CH" dirty="0" smtClean="0"/>
              <a:t>mandatées </a:t>
            </a:r>
            <a:r>
              <a:rPr lang="fr-CH" dirty="0"/>
              <a:t>sont réputées agir en leur ‎nom propre et pour leur propre compte. ‎</a:t>
            </a:r>
          </a:p>
          <a:p>
            <a:r>
              <a:rPr lang="fr-CH" dirty="0"/>
              <a:t>‎Les autorités douanières peuvent exiger des personnes déclarant agir en tant que représentant en ‎douane la ‎preuve de leur </a:t>
            </a:r>
            <a:r>
              <a:rPr lang="fr-CH" dirty="0" smtClean="0"/>
              <a:t>mandat </a:t>
            </a:r>
            <a:r>
              <a:rPr lang="fr-CH" dirty="0"/>
              <a:t>par la personne représentée. ‎</a:t>
            </a:r>
          </a:p>
          <a:p>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22</a:t>
            </a:fld>
            <a:endParaRPr lang="lb-LU"/>
          </a:p>
        </p:txBody>
      </p:sp>
    </p:spTree>
    <p:extLst>
      <p:ext uri="{BB962C8B-B14F-4D97-AF65-F5344CB8AC3E}">
        <p14:creationId xmlns:p14="http://schemas.microsoft.com/office/powerpoint/2010/main" val="3645574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smtClean="0"/>
              <a:t>Mandat</a:t>
            </a:r>
            <a:endParaRPr lang="en-US" dirty="0"/>
          </a:p>
        </p:txBody>
      </p:sp>
      <p:sp>
        <p:nvSpPr>
          <p:cNvPr id="3" name="Content Placeholder 2"/>
          <p:cNvSpPr>
            <a:spLocks noGrp="1"/>
          </p:cNvSpPr>
          <p:nvPr>
            <p:ph idx="1"/>
          </p:nvPr>
        </p:nvSpPr>
        <p:spPr/>
        <p:txBody>
          <a:bodyPr>
            <a:normAutofit/>
          </a:bodyPr>
          <a:lstStyle/>
          <a:p>
            <a:pPr marL="0" indent="0">
              <a:buNone/>
            </a:pPr>
            <a:endParaRPr lang="fr-CH" dirty="0"/>
          </a:p>
          <a:p>
            <a:r>
              <a:rPr lang="fr-CH" dirty="0" smtClean="0"/>
              <a:t>‎Aussi pour </a:t>
            </a:r>
            <a:r>
              <a:rPr lang="fr-CH" dirty="0"/>
              <a:t>l’application des autres régimes douaniers et l’introduction de la déclaration sommaire d’entrée et de sortie, des notifications de présentation et de </a:t>
            </a:r>
            <a:r>
              <a:rPr lang="fr-CH" dirty="0" smtClean="0"/>
              <a:t>réexportation, </a:t>
            </a:r>
            <a:r>
              <a:rPr lang="fr-CH" dirty="0"/>
              <a:t>la déclaration pour le dépôt temporaire et la réexportation, le représentant en douane doit être mandaté par son client tant pour la représentation directe qu’indirecte</a:t>
            </a: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23</a:t>
            </a:fld>
            <a:endParaRPr lang="lb-LU"/>
          </a:p>
        </p:txBody>
      </p:sp>
    </p:spTree>
    <p:extLst>
      <p:ext uri="{BB962C8B-B14F-4D97-AF65-F5344CB8AC3E}">
        <p14:creationId xmlns:p14="http://schemas.microsoft.com/office/powerpoint/2010/main" val="1473598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CH" dirty="0" smtClean="0"/>
              <a:t/>
            </a:r>
            <a:br>
              <a:rPr lang="fr-CH" dirty="0" smtClean="0"/>
            </a:br>
            <a:r>
              <a:rPr lang="fr-CH" dirty="0" smtClean="0"/>
              <a:t>Compte </a:t>
            </a:r>
            <a:r>
              <a:rPr lang="fr-CH" dirty="0"/>
              <a:t>de crédit :‎</a:t>
            </a:r>
            <a:br>
              <a:rPr lang="fr-CH" dirty="0"/>
            </a:br>
            <a:endParaRPr lang="en-US" dirty="0"/>
          </a:p>
        </p:txBody>
      </p:sp>
      <p:sp>
        <p:nvSpPr>
          <p:cNvPr id="3" name="Content Placeholder 2"/>
          <p:cNvSpPr>
            <a:spLocks noGrp="1"/>
          </p:cNvSpPr>
          <p:nvPr>
            <p:ph idx="1"/>
          </p:nvPr>
        </p:nvSpPr>
        <p:spPr/>
        <p:txBody>
          <a:bodyPr>
            <a:normAutofit/>
          </a:bodyPr>
          <a:lstStyle/>
          <a:p>
            <a:pPr marL="0" indent="0">
              <a:buNone/>
            </a:pPr>
            <a:r>
              <a:rPr lang="fr-CH" dirty="0" smtClean="0"/>
              <a:t>Pour </a:t>
            </a:r>
            <a:r>
              <a:rPr lang="fr-CH" dirty="0"/>
              <a:t>l’application du régime douanier de la mise en libre </a:t>
            </a:r>
            <a:r>
              <a:rPr lang="fr-CH" dirty="0" smtClean="0"/>
              <a:t>pratique il </a:t>
            </a:r>
            <a:r>
              <a:rPr lang="fr-CH" dirty="0"/>
              <a:t>est précisé que </a:t>
            </a:r>
            <a:r>
              <a:rPr lang="fr-CH" dirty="0" smtClean="0"/>
              <a:t>:</a:t>
            </a:r>
          </a:p>
          <a:p>
            <a:pPr marL="0" indent="0">
              <a:buNone/>
            </a:pPr>
            <a:endParaRPr lang="fr-CH" dirty="0"/>
          </a:p>
          <a:p>
            <a:r>
              <a:rPr lang="fr-CH" dirty="0" smtClean="0"/>
              <a:t>la </a:t>
            </a:r>
            <a:r>
              <a:rPr lang="fr-CH" dirty="0"/>
              <a:t>représentation directe peut uniquement être appliquée </a:t>
            </a:r>
            <a:r>
              <a:rPr lang="fr-CH" dirty="0" smtClean="0"/>
              <a:t>à </a:t>
            </a:r>
            <a:r>
              <a:rPr lang="fr-CH" dirty="0"/>
              <a:t>condition </a:t>
            </a:r>
            <a:r>
              <a:rPr lang="fr-CH" dirty="0" smtClean="0"/>
              <a:t>que </a:t>
            </a:r>
            <a:r>
              <a:rPr lang="fr-CH" dirty="0"/>
              <a:t>le </a:t>
            </a:r>
            <a:r>
              <a:rPr lang="fr-CH" dirty="0" smtClean="0"/>
              <a:t>débiteur ou </a:t>
            </a:r>
            <a:r>
              <a:rPr lang="fr-CH" dirty="0"/>
              <a:t>la personne autorisée par l’ADA à porter la responsabilité financière (prévu pour LUCCS Import V9 Q2/2025</a:t>
            </a:r>
            <a:r>
              <a:rPr lang="fr-CH" dirty="0" smtClean="0"/>
              <a:t>), ait </a:t>
            </a:r>
            <a:r>
              <a:rPr lang="fr-CH" dirty="0"/>
              <a:t>constitué une garantie auprès de </a:t>
            </a:r>
            <a:r>
              <a:rPr lang="fr-CH" dirty="0" smtClean="0"/>
              <a:t>l’ADA ( CDU art</a:t>
            </a:r>
            <a:r>
              <a:rPr lang="fr-CH" dirty="0"/>
              <a:t>. </a:t>
            </a:r>
            <a:r>
              <a:rPr lang="fr-CH" dirty="0" smtClean="0"/>
              <a:t>89 §3).</a:t>
            </a: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24</a:t>
            </a:fld>
            <a:endParaRPr lang="lb-LU"/>
          </a:p>
        </p:txBody>
      </p:sp>
    </p:spTree>
    <p:extLst>
      <p:ext uri="{BB962C8B-B14F-4D97-AF65-F5344CB8AC3E}">
        <p14:creationId xmlns:p14="http://schemas.microsoft.com/office/powerpoint/2010/main" val="4073343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CH" dirty="0" smtClean="0"/>
              <a:t/>
            </a:r>
            <a:br>
              <a:rPr lang="fr-CH" dirty="0" smtClean="0"/>
            </a:br>
            <a:r>
              <a:rPr lang="fr-CH" dirty="0" smtClean="0"/>
              <a:t>Compte </a:t>
            </a:r>
            <a:r>
              <a:rPr lang="fr-CH" dirty="0"/>
              <a:t>de crédit :‎</a:t>
            </a:r>
            <a:br>
              <a:rPr lang="fr-CH" dirty="0"/>
            </a:br>
            <a:endParaRPr lang="en-US" dirty="0"/>
          </a:p>
        </p:txBody>
      </p:sp>
      <p:sp>
        <p:nvSpPr>
          <p:cNvPr id="3" name="Content Placeholder 2"/>
          <p:cNvSpPr>
            <a:spLocks noGrp="1"/>
          </p:cNvSpPr>
          <p:nvPr>
            <p:ph idx="1"/>
          </p:nvPr>
        </p:nvSpPr>
        <p:spPr/>
        <p:txBody>
          <a:bodyPr>
            <a:normAutofit/>
          </a:bodyPr>
          <a:lstStyle/>
          <a:p>
            <a:pPr marL="0" indent="0">
              <a:buNone/>
            </a:pPr>
            <a:r>
              <a:rPr lang="fr-CH" dirty="0" smtClean="0"/>
              <a:t>Pour </a:t>
            </a:r>
            <a:r>
              <a:rPr lang="fr-CH" dirty="0"/>
              <a:t>l’application du régime douanier de la mise en libre </a:t>
            </a:r>
            <a:r>
              <a:rPr lang="fr-CH" dirty="0" smtClean="0"/>
              <a:t>pratique </a:t>
            </a:r>
            <a:r>
              <a:rPr lang="fr-CH" dirty="0"/>
              <a:t>il est précisé que :</a:t>
            </a:r>
            <a:r>
              <a:rPr lang="fr-CH" dirty="0" smtClean="0"/>
              <a:t>‎</a:t>
            </a:r>
          </a:p>
          <a:p>
            <a:pPr marL="0" indent="0">
              <a:buNone/>
            </a:pPr>
            <a:endParaRPr lang="fr-CH" dirty="0" smtClean="0"/>
          </a:p>
          <a:p>
            <a:r>
              <a:rPr lang="fr-CH" dirty="0"/>
              <a:t>la représentation indirecte peut uniquement être appliquée </a:t>
            </a:r>
            <a:r>
              <a:rPr lang="fr-CH" dirty="0" smtClean="0"/>
              <a:t>à condition que le représentant en douane dispose </a:t>
            </a:r>
            <a:r>
              <a:rPr lang="fr-CH" dirty="0"/>
              <a:t>d’un compte de crédit auprès de l’ADA. Dans ce cas, ou bien le compte de crédit du représentant en douane peut être utilisé ou bien le compte de crédit du </a:t>
            </a:r>
            <a:r>
              <a:rPr lang="fr-CH" dirty="0" smtClean="0"/>
              <a:t>client (s’il en dispose) </a:t>
            </a:r>
            <a:r>
              <a:rPr lang="fr-CH" dirty="0"/>
              <a:t>– </a:t>
            </a:r>
            <a:r>
              <a:rPr lang="fr-CH" dirty="0" smtClean="0"/>
              <a:t>sous condition d’avoir l’accord </a:t>
            </a:r>
            <a:r>
              <a:rPr lang="fr-CH" dirty="0"/>
              <a:t>du client.</a:t>
            </a:r>
          </a:p>
          <a:p>
            <a:pPr marL="0" indent="0">
              <a:buNone/>
            </a:pPr>
            <a:endParaRPr lang="fr-CH" dirty="0"/>
          </a:p>
          <a:p>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25</a:t>
            </a:fld>
            <a:endParaRPr lang="lb-LU"/>
          </a:p>
        </p:txBody>
      </p:sp>
    </p:spTree>
    <p:extLst>
      <p:ext uri="{BB962C8B-B14F-4D97-AF65-F5344CB8AC3E}">
        <p14:creationId xmlns:p14="http://schemas.microsoft.com/office/powerpoint/2010/main" val="298670691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60450"/>
            <a:ext cx="10515600" cy="1009419"/>
          </a:xfrm>
        </p:spPr>
        <p:txBody>
          <a:bodyPr>
            <a:normAutofit/>
          </a:bodyPr>
          <a:lstStyle/>
          <a:p>
            <a:endParaRPr lang="en-US" sz="2800" dirty="0"/>
          </a:p>
        </p:txBody>
      </p:sp>
      <p:sp>
        <p:nvSpPr>
          <p:cNvPr id="3" name="Content Placeholder 2"/>
          <p:cNvSpPr>
            <a:spLocks noGrp="1"/>
          </p:cNvSpPr>
          <p:nvPr>
            <p:ph idx="1"/>
          </p:nvPr>
        </p:nvSpPr>
        <p:spPr>
          <a:xfrm>
            <a:off x="838200" y="2136371"/>
            <a:ext cx="10515600" cy="4040592"/>
          </a:xfrm>
        </p:spPr>
        <p:txBody>
          <a:bodyPr/>
          <a:lstStyle/>
          <a:p>
            <a:pPr marL="0" indent="0">
              <a:buNone/>
            </a:pPr>
            <a:r>
              <a:rPr lang="fr-CH" dirty="0" smtClean="0"/>
              <a:t>II. Demande </a:t>
            </a:r>
            <a:r>
              <a:rPr lang="fr-CH" dirty="0"/>
              <a:t>d’inscription au registre d’immatriculation des </a:t>
            </a:r>
            <a:r>
              <a:rPr lang="fr-CH" dirty="0" smtClean="0"/>
              <a:t>	représentants </a:t>
            </a:r>
            <a:r>
              <a:rPr lang="fr-CH" dirty="0"/>
              <a:t>en douane:</a:t>
            </a:r>
            <a:endParaRPr lang="en-US" dirty="0"/>
          </a:p>
          <a:p>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26</a:t>
            </a:fld>
            <a:endParaRPr lang="lb-LU"/>
          </a:p>
        </p:txBody>
      </p:sp>
    </p:spTree>
    <p:extLst>
      <p:ext uri="{BB962C8B-B14F-4D97-AF65-F5344CB8AC3E}">
        <p14:creationId xmlns:p14="http://schemas.microsoft.com/office/powerpoint/2010/main" val="390442602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Généralités </a:t>
            </a:r>
            <a:endParaRPr lang="en-US" dirty="0"/>
          </a:p>
        </p:txBody>
      </p:sp>
      <p:sp>
        <p:nvSpPr>
          <p:cNvPr id="3" name="Content Placeholder 2"/>
          <p:cNvSpPr>
            <a:spLocks noGrp="1"/>
          </p:cNvSpPr>
          <p:nvPr>
            <p:ph idx="1"/>
          </p:nvPr>
        </p:nvSpPr>
        <p:spPr/>
        <p:txBody>
          <a:bodyPr>
            <a:normAutofit/>
          </a:bodyPr>
          <a:lstStyle/>
          <a:p>
            <a:pPr marL="0" indent="0">
              <a:buNone/>
            </a:pPr>
            <a:r>
              <a:rPr lang="fr-CH" dirty="0" smtClean="0"/>
              <a:t>Rappel: 	Seul </a:t>
            </a:r>
            <a:r>
              <a:rPr lang="fr-CH" dirty="0"/>
              <a:t>un représentant en douane « inscrit dans le registre </a:t>
            </a:r>
            <a:r>
              <a:rPr lang="fr-CH" dirty="0" smtClean="0"/>
              <a:t>			d’immatriculation </a:t>
            </a:r>
            <a:r>
              <a:rPr lang="fr-CH" dirty="0"/>
              <a:t>» peut représenter ‎une ‎‎tierce personne </a:t>
            </a:r>
            <a:r>
              <a:rPr lang="fr-CH" dirty="0" smtClean="0"/>
              <a:t>		auprès </a:t>
            </a:r>
            <a:r>
              <a:rPr lang="fr-CH" dirty="0"/>
              <a:t>de </a:t>
            </a:r>
            <a:r>
              <a:rPr lang="fr-CH" dirty="0" smtClean="0"/>
              <a:t>l’ADA </a:t>
            </a:r>
            <a:r>
              <a:rPr lang="fr-CH" dirty="0"/>
              <a:t>lors de l’importation, de </a:t>
            </a:r>
            <a:r>
              <a:rPr lang="fr-CH" dirty="0" smtClean="0"/>
              <a:t>l’exportation et 			d’autres formalités prévues par la loi. </a:t>
            </a:r>
            <a:r>
              <a:rPr lang="fr-CH" dirty="0"/>
              <a:t>‎</a:t>
            </a:r>
          </a:p>
          <a:p>
            <a:r>
              <a:rPr lang="fr-CH" dirty="0"/>
              <a:t>Pour être inscrit au registre d’immatriculation des représentants en douane au Luxembourg, toute ‎‎personne (physique ou morale) établie sur le territoire douanier de l’Union peut adresser une ‎‎demande écrite à l’Inspection </a:t>
            </a:r>
            <a:r>
              <a:rPr lang="fr-CH" dirty="0" smtClean="0"/>
              <a:t>générale des douanes </a:t>
            </a:r>
            <a:r>
              <a:rPr lang="fr-CH" dirty="0"/>
              <a:t>et accises (ci-après </a:t>
            </a:r>
            <a:r>
              <a:rPr lang="fr-CH" dirty="0" smtClean="0"/>
              <a:t>IGDA). </a:t>
            </a:r>
            <a:endParaRPr lang="fr-CH" dirty="0"/>
          </a:p>
          <a:p>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27</a:t>
            </a:fld>
            <a:endParaRPr lang="lb-LU"/>
          </a:p>
        </p:txBody>
      </p:sp>
    </p:spTree>
    <p:extLst>
      <p:ext uri="{BB962C8B-B14F-4D97-AF65-F5344CB8AC3E}">
        <p14:creationId xmlns:p14="http://schemas.microsoft.com/office/powerpoint/2010/main" val="1993044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 </a:t>
            </a:r>
            <a:r>
              <a:rPr lang="en-US" dirty="0" err="1"/>
              <a:t>demande</a:t>
            </a:r>
            <a:r>
              <a:rPr lang="en-US" dirty="0"/>
              <a:t> </a:t>
            </a:r>
            <a:r>
              <a:rPr lang="en-US" dirty="0" err="1"/>
              <a:t>doit</a:t>
            </a:r>
            <a:r>
              <a:rPr lang="en-US" dirty="0"/>
              <a:t> </a:t>
            </a:r>
            <a:r>
              <a:rPr lang="en-US" dirty="0" err="1"/>
              <a:t>mentionner</a:t>
            </a:r>
            <a:r>
              <a:rPr lang="en-US" dirty="0"/>
              <a:t> :‎</a:t>
            </a:r>
          </a:p>
        </p:txBody>
      </p:sp>
      <p:sp>
        <p:nvSpPr>
          <p:cNvPr id="3" name="Content Placeholder 2"/>
          <p:cNvSpPr>
            <a:spLocks noGrp="1"/>
          </p:cNvSpPr>
          <p:nvPr>
            <p:ph idx="1"/>
          </p:nvPr>
        </p:nvSpPr>
        <p:spPr/>
        <p:txBody>
          <a:bodyPr>
            <a:normAutofit fontScale="92500" lnSpcReduction="10000"/>
          </a:bodyPr>
          <a:lstStyle/>
          <a:p>
            <a:r>
              <a:rPr lang="fr-CH" dirty="0"/>
              <a:t>si la demande a trait à une personne physique : ses nom, prénoms, date et lieu de ‎naissance, ‎‎nationalité(s), domicile, numéro « EORI » et matricule ;‎</a:t>
            </a:r>
          </a:p>
          <a:p>
            <a:r>
              <a:rPr lang="fr-CH" dirty="0" smtClean="0"/>
              <a:t>‎</a:t>
            </a:r>
            <a:r>
              <a:rPr lang="fr-CH" dirty="0"/>
              <a:t>si la demande a trait à une société avec personnalité juridique : sa dénomination sociale ou ‎‎‎commerciale, son siège social, son numéro « EORI » et son numéro TVA, ainsi que les </a:t>
            </a:r>
            <a:r>
              <a:rPr lang="fr-CH" dirty="0" smtClean="0"/>
              <a:t>nom, </a:t>
            </a:r>
            <a:r>
              <a:rPr lang="fr-CH" dirty="0"/>
              <a:t>‎‎prénoms, lieu ‎et date de naissance, nationalité(s), domicile et matricule de ses gérants ou ‎‎administrateurs ;‎</a:t>
            </a:r>
          </a:p>
          <a:p>
            <a:r>
              <a:rPr lang="fr-CH" dirty="0" smtClean="0"/>
              <a:t>les </a:t>
            </a:r>
            <a:r>
              <a:rPr lang="fr-CH" dirty="0"/>
              <a:t>adresses des sièges d'exploitation que le demandeur possède au Grand-Duché de ‎‎Luxembourg ou dans un État membre de l’Union européenne ;‎</a:t>
            </a:r>
          </a:p>
          <a:p>
            <a:r>
              <a:rPr lang="fr-CH" dirty="0" smtClean="0"/>
              <a:t>‎</a:t>
            </a:r>
            <a:r>
              <a:rPr lang="fr-CH" dirty="0"/>
              <a:t>le nombre de personnes au service de la société qui effectuent le travail administratif pour ‎‎‎l'établissement des déclarations en douane. ‎</a:t>
            </a:r>
          </a:p>
          <a:p>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28</a:t>
            </a:fld>
            <a:endParaRPr lang="lb-LU"/>
          </a:p>
        </p:txBody>
      </p:sp>
    </p:spTree>
    <p:extLst>
      <p:ext uri="{BB962C8B-B14F-4D97-AF65-F5344CB8AC3E}">
        <p14:creationId xmlns:p14="http://schemas.microsoft.com/office/powerpoint/2010/main" val="886308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Pièces à joindre à la demande :‎</a:t>
            </a:r>
            <a:endParaRPr lang="en-US" dirty="0"/>
          </a:p>
        </p:txBody>
      </p:sp>
      <p:sp>
        <p:nvSpPr>
          <p:cNvPr id="3" name="Content Placeholder 2"/>
          <p:cNvSpPr>
            <a:spLocks noGrp="1"/>
          </p:cNvSpPr>
          <p:nvPr>
            <p:ph idx="1"/>
          </p:nvPr>
        </p:nvSpPr>
        <p:spPr/>
        <p:txBody>
          <a:bodyPr>
            <a:normAutofit fontScale="85000" lnSpcReduction="20000"/>
          </a:bodyPr>
          <a:lstStyle/>
          <a:p>
            <a:pPr marL="0" indent="0">
              <a:buNone/>
            </a:pPr>
            <a:r>
              <a:rPr lang="fr-CH" dirty="0" smtClean="0"/>
              <a:t>1) La </a:t>
            </a:r>
            <a:r>
              <a:rPr lang="fr-CH" dirty="0"/>
              <a:t>preuve de compétence professionnelle, qui consiste en la production d’au moins deux ‎des ‎preuves suivantes :‎</a:t>
            </a:r>
          </a:p>
          <a:p>
            <a:r>
              <a:rPr lang="fr-CH" dirty="0" smtClean="0"/>
              <a:t>une </a:t>
            </a:r>
            <a:r>
              <a:rPr lang="fr-CH" dirty="0"/>
              <a:t>copie du site web du demandeur relatif à son activité de représentant en ‎douane ;‎</a:t>
            </a:r>
          </a:p>
          <a:p>
            <a:r>
              <a:rPr lang="fr-CH" dirty="0" smtClean="0"/>
              <a:t>l'affiliation </a:t>
            </a:r>
            <a:r>
              <a:rPr lang="fr-CH" dirty="0"/>
              <a:t>auprès d'une association représentative, établie dans l'Union ‎européenne, ‎d'agents ou ‎de représentants en douane ;‎</a:t>
            </a:r>
          </a:p>
          <a:p>
            <a:r>
              <a:rPr lang="fr-CH" dirty="0" smtClean="0"/>
              <a:t>des </a:t>
            </a:r>
            <a:r>
              <a:rPr lang="fr-CH" dirty="0"/>
              <a:t>contrats conclus avec des mandants pour la représentation en douane au ‎Grand-‎Duché de ‎Luxembourg ou dans un autre État membre de l’Union ‎européenne ;‎</a:t>
            </a:r>
          </a:p>
          <a:p>
            <a:r>
              <a:rPr lang="fr-CH" dirty="0" smtClean="0"/>
              <a:t>des </a:t>
            </a:r>
            <a:r>
              <a:rPr lang="fr-CH" dirty="0"/>
              <a:t>contrats d'emploi conclus au Grand-Duché de Luxembourg qui mentionnent ‎‎comme nature des activités la représentation en douane ;‎</a:t>
            </a:r>
          </a:p>
          <a:p>
            <a:r>
              <a:rPr lang="fr-CH" dirty="0" smtClean="0"/>
              <a:t>un </a:t>
            </a:r>
            <a:r>
              <a:rPr lang="fr-CH" dirty="0"/>
              <a:t>contrat de location ou un acte de propriété pour des bâtiments au Grand-Duché ‎de ‎Luxembourg qui seront utilisés pour les activités de représentation en douane ‎et</a:t>
            </a:r>
          </a:p>
          <a:p>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29</a:t>
            </a:fld>
            <a:endParaRPr lang="lb-LU"/>
          </a:p>
        </p:txBody>
      </p:sp>
    </p:spTree>
    <p:extLst>
      <p:ext uri="{BB962C8B-B14F-4D97-AF65-F5344CB8AC3E}">
        <p14:creationId xmlns:p14="http://schemas.microsoft.com/office/powerpoint/2010/main" val="3567766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Pièces à joindre à la demande :‎</a:t>
            </a:r>
            <a:endParaRPr lang="en-US" dirty="0"/>
          </a:p>
        </p:txBody>
      </p:sp>
      <p:sp>
        <p:nvSpPr>
          <p:cNvPr id="3" name="Content Placeholder 2"/>
          <p:cNvSpPr>
            <a:spLocks noGrp="1"/>
          </p:cNvSpPr>
          <p:nvPr>
            <p:ph idx="1"/>
          </p:nvPr>
        </p:nvSpPr>
        <p:spPr/>
        <p:txBody>
          <a:bodyPr>
            <a:normAutofit/>
          </a:bodyPr>
          <a:lstStyle/>
          <a:p>
            <a:pPr marL="0" indent="0">
              <a:buNone/>
            </a:pPr>
            <a:r>
              <a:rPr lang="fr-CH" dirty="0"/>
              <a:t>2) Un bulletin n°3 du casier judiciaire du demandeur afin d’exclure qu’il </a:t>
            </a:r>
            <a:r>
              <a:rPr lang="fr-CH" dirty="0" smtClean="0"/>
              <a:t>se </a:t>
            </a:r>
            <a:r>
              <a:rPr lang="fr-CH" dirty="0"/>
              <a:t>trouve dans un des ‎cas ‎d'exclusion, définis à l'article 129 de ‎la loi générale modifiée du 18 juillet 1977 sur les ‎douanes ‎et accises (fraude en matière d’impôts directs et indirects ou de taxes y ‎assimilées, pour vol, ‎recel, escroquerie, abus de confiance ou banqueroute simple ou ‎frauduleuse, pour concussion ‎ou corruption de fonctionnaires) </a:t>
            </a: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30</a:t>
            </a:fld>
            <a:endParaRPr lang="lb-LU"/>
          </a:p>
        </p:txBody>
      </p:sp>
    </p:spTree>
    <p:extLst>
      <p:ext uri="{BB962C8B-B14F-4D97-AF65-F5344CB8AC3E}">
        <p14:creationId xmlns:p14="http://schemas.microsoft.com/office/powerpoint/2010/main" val="1352928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Pièces à joindre à la demande :‎</a:t>
            </a:r>
            <a:endParaRPr lang="en-US" dirty="0"/>
          </a:p>
        </p:txBody>
      </p:sp>
      <p:sp>
        <p:nvSpPr>
          <p:cNvPr id="3" name="Content Placeholder 2"/>
          <p:cNvSpPr>
            <a:spLocks noGrp="1"/>
          </p:cNvSpPr>
          <p:nvPr>
            <p:ph idx="1"/>
          </p:nvPr>
        </p:nvSpPr>
        <p:spPr/>
        <p:txBody>
          <a:bodyPr>
            <a:normAutofit/>
          </a:bodyPr>
          <a:lstStyle/>
          <a:p>
            <a:pPr marL="0" indent="0">
              <a:buNone/>
            </a:pPr>
            <a:r>
              <a:rPr lang="fr-CH" dirty="0" smtClean="0"/>
              <a:t>3</a:t>
            </a:r>
            <a:r>
              <a:rPr lang="fr-CH" dirty="0"/>
              <a:t>) Une des deux preuves suivantes :‎</a:t>
            </a:r>
          </a:p>
          <a:p>
            <a:pPr marL="0" indent="0">
              <a:buNone/>
            </a:pPr>
            <a:r>
              <a:rPr lang="fr-CH" dirty="0" smtClean="0"/>
              <a:t>	• la </a:t>
            </a:r>
            <a:r>
              <a:rPr lang="fr-CH" dirty="0"/>
              <a:t>preuve de reconnaissance comme opérateur économique </a:t>
            </a:r>
            <a:r>
              <a:rPr lang="fr-CH" dirty="0" smtClean="0"/>
              <a:t>	agrée </a:t>
            </a:r>
            <a:r>
              <a:rPr lang="fr-CH" dirty="0"/>
              <a:t>(Autorisation ‎OEA-‎C : Simplifications douanières) </a:t>
            </a:r>
            <a:endParaRPr lang="fr-CH" dirty="0" smtClean="0"/>
          </a:p>
          <a:p>
            <a:pPr marL="0" indent="0">
              <a:buNone/>
            </a:pPr>
            <a:r>
              <a:rPr lang="fr-CH" dirty="0" smtClean="0"/>
              <a:t>	ou</a:t>
            </a:r>
            <a:endParaRPr lang="fr-CH" dirty="0"/>
          </a:p>
          <a:p>
            <a:pPr marL="0" indent="0">
              <a:buNone/>
            </a:pPr>
            <a:r>
              <a:rPr lang="fr-CH" dirty="0" smtClean="0"/>
              <a:t>	• la </a:t>
            </a:r>
            <a:r>
              <a:rPr lang="fr-CH" dirty="0"/>
              <a:t>preuve de connaissance suffisante de la réglementation en </a:t>
            </a:r>
            <a:r>
              <a:rPr lang="fr-CH" dirty="0" smtClean="0"/>
              <a:t>	matière </a:t>
            </a:r>
            <a:r>
              <a:rPr lang="fr-CH" dirty="0"/>
              <a:t>de douane ‎et ‎‎d'accise</a:t>
            </a:r>
          </a:p>
        </p:txBody>
      </p:sp>
      <p:sp>
        <p:nvSpPr>
          <p:cNvPr id="4" name="Slide Number Placeholder 3"/>
          <p:cNvSpPr>
            <a:spLocks noGrp="1"/>
          </p:cNvSpPr>
          <p:nvPr>
            <p:ph type="sldNum" sz="quarter" idx="12"/>
          </p:nvPr>
        </p:nvSpPr>
        <p:spPr/>
        <p:txBody>
          <a:bodyPr/>
          <a:lstStyle/>
          <a:p>
            <a:fld id="{C58F520E-0D3C-4C73-96DF-B271C0F692B0}" type="slidenum">
              <a:rPr lang="lb-LU" smtClean="0"/>
              <a:t>31</a:t>
            </a:fld>
            <a:endParaRPr lang="lb-LU"/>
          </a:p>
        </p:txBody>
      </p:sp>
    </p:spTree>
    <p:extLst>
      <p:ext uri="{BB962C8B-B14F-4D97-AF65-F5344CB8AC3E}">
        <p14:creationId xmlns:p14="http://schemas.microsoft.com/office/powerpoint/2010/main" val="2644283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Pièces à joindre à la demande :‎</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fr-CH" dirty="0" smtClean="0"/>
              <a:t>Preuve </a:t>
            </a:r>
            <a:r>
              <a:rPr lang="fr-CH" dirty="0"/>
              <a:t>de connaissance suffisante de la </a:t>
            </a:r>
            <a:r>
              <a:rPr lang="fr-CH" dirty="0" smtClean="0"/>
              <a:t>réglementation </a:t>
            </a:r>
            <a:r>
              <a:rPr lang="fr-CH" dirty="0"/>
              <a:t>en </a:t>
            </a:r>
            <a:r>
              <a:rPr lang="fr-CH" dirty="0" smtClean="0"/>
              <a:t>matière </a:t>
            </a:r>
            <a:r>
              <a:rPr lang="fr-CH" dirty="0"/>
              <a:t>de douane ‎et ‎‎</a:t>
            </a:r>
            <a:r>
              <a:rPr lang="fr-CH" dirty="0" smtClean="0"/>
              <a:t>d'accise?</a:t>
            </a:r>
          </a:p>
          <a:p>
            <a:r>
              <a:rPr lang="fr-CH" dirty="0"/>
              <a:t>un certificat attestant de la réussite d'une formation spécialisée relative ‎à la ‎réglementation en ‎‎matière de douane et d'accise, ayant trait en ‎particulier à ‎l'introduction des déclarations en ‎‎douane, qui est </a:t>
            </a:r>
            <a:r>
              <a:rPr lang="fr-CH" dirty="0" smtClean="0"/>
              <a:t>reconnue </a:t>
            </a:r>
            <a:r>
              <a:rPr lang="fr-CH" dirty="0"/>
              <a:t>‎par </a:t>
            </a:r>
            <a:r>
              <a:rPr lang="fr-CH" dirty="0" smtClean="0"/>
              <a:t>l’ADA </a:t>
            </a:r>
            <a:r>
              <a:rPr lang="fr-CH" dirty="0"/>
              <a:t>;‎</a:t>
            </a:r>
          </a:p>
          <a:p>
            <a:pPr marL="0" indent="0">
              <a:buNone/>
            </a:pPr>
            <a:r>
              <a:rPr lang="fr-CH" dirty="0" smtClean="0"/>
              <a:t>   ou</a:t>
            </a:r>
            <a:endParaRPr lang="fr-CH" dirty="0"/>
          </a:p>
          <a:p>
            <a:r>
              <a:rPr lang="fr-CH" dirty="0" smtClean="0"/>
              <a:t>une </a:t>
            </a:r>
            <a:r>
              <a:rPr lang="fr-CH" dirty="0"/>
              <a:t>déclaration établie sur l'honneur </a:t>
            </a:r>
            <a:r>
              <a:rPr lang="fr-CH" dirty="0" smtClean="0"/>
              <a:t>‎attestant de </a:t>
            </a:r>
            <a:r>
              <a:rPr lang="fr-CH" dirty="0"/>
              <a:t>‎l'aptitude </a:t>
            </a:r>
            <a:r>
              <a:rPr lang="fr-CH" dirty="0" smtClean="0"/>
              <a:t>‎ professionnelle </a:t>
            </a:r>
            <a:r>
              <a:rPr lang="fr-CH" dirty="0"/>
              <a:t>en matière d'introduction de ‎déclarations ‎en douane auprès de ‎l'ADA d'au ‎moins 3 ans sans ‎interruption, par un employeur ‎de la personne pour qui la ‎demande est ‎faite. ‎‎</a:t>
            </a:r>
          </a:p>
          <a:p>
            <a:pPr marL="0" indent="0">
              <a:buNone/>
            </a:pPr>
            <a:endParaRPr lang="fr-CH" dirty="0"/>
          </a:p>
        </p:txBody>
      </p:sp>
      <p:sp>
        <p:nvSpPr>
          <p:cNvPr id="4" name="Slide Number Placeholder 3"/>
          <p:cNvSpPr>
            <a:spLocks noGrp="1"/>
          </p:cNvSpPr>
          <p:nvPr>
            <p:ph type="sldNum" sz="quarter" idx="12"/>
          </p:nvPr>
        </p:nvSpPr>
        <p:spPr/>
        <p:txBody>
          <a:bodyPr/>
          <a:lstStyle/>
          <a:p>
            <a:fld id="{C58F520E-0D3C-4C73-96DF-B271C0F692B0}" type="slidenum">
              <a:rPr lang="lb-LU" smtClean="0"/>
              <a:t>32</a:t>
            </a:fld>
            <a:endParaRPr lang="lb-LU"/>
          </a:p>
        </p:txBody>
      </p:sp>
    </p:spTree>
    <p:extLst>
      <p:ext uri="{BB962C8B-B14F-4D97-AF65-F5344CB8AC3E}">
        <p14:creationId xmlns:p14="http://schemas.microsoft.com/office/powerpoint/2010/main" val="3910639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Pièces à joindre à la demande :‎</a:t>
            </a:r>
            <a:endParaRPr lang="en-US" dirty="0"/>
          </a:p>
        </p:txBody>
      </p:sp>
      <p:sp>
        <p:nvSpPr>
          <p:cNvPr id="3" name="Content Placeholder 2"/>
          <p:cNvSpPr>
            <a:spLocks noGrp="1"/>
          </p:cNvSpPr>
          <p:nvPr>
            <p:ph idx="1"/>
          </p:nvPr>
        </p:nvSpPr>
        <p:spPr/>
        <p:txBody>
          <a:bodyPr>
            <a:normAutofit/>
          </a:bodyPr>
          <a:lstStyle/>
          <a:p>
            <a:pPr marL="0" indent="0">
              <a:buNone/>
            </a:pPr>
            <a:r>
              <a:rPr lang="fr-CH" dirty="0" smtClean="0"/>
              <a:t>Qu’est-ce que c’est la </a:t>
            </a:r>
            <a:r>
              <a:rPr lang="fr-CH" dirty="0"/>
              <a:t>preuve de connaissance suffisante de la </a:t>
            </a:r>
            <a:r>
              <a:rPr lang="fr-CH" dirty="0" smtClean="0"/>
              <a:t>réglementation </a:t>
            </a:r>
            <a:r>
              <a:rPr lang="fr-CH" dirty="0"/>
              <a:t>en </a:t>
            </a:r>
            <a:r>
              <a:rPr lang="fr-CH" dirty="0" smtClean="0"/>
              <a:t>matière </a:t>
            </a:r>
            <a:r>
              <a:rPr lang="fr-CH" dirty="0"/>
              <a:t>de douane ‎et ‎‎</a:t>
            </a:r>
            <a:r>
              <a:rPr lang="fr-CH" dirty="0" smtClean="0"/>
              <a:t>d'accise?</a:t>
            </a:r>
          </a:p>
          <a:p>
            <a:pPr marL="0" indent="0">
              <a:buNone/>
            </a:pPr>
            <a:endParaRPr lang="fr-CH" dirty="0" smtClean="0"/>
          </a:p>
          <a:p>
            <a:pPr marL="0" indent="0">
              <a:buNone/>
            </a:pPr>
            <a:r>
              <a:rPr lang="fr-CH" dirty="0" smtClean="0">
                <a:sym typeface="Wingdings" panose="05000000000000000000" pitchFamily="2" charset="2"/>
              </a:rPr>
              <a:t> 	</a:t>
            </a:r>
            <a:r>
              <a:rPr lang="fr-CH" dirty="0" smtClean="0"/>
              <a:t>Dans </a:t>
            </a:r>
            <a:r>
              <a:rPr lang="fr-CH" dirty="0"/>
              <a:t>des cas exceptionnels, d'autres preuves peuvent ‎aussi </a:t>
            </a:r>
            <a:r>
              <a:rPr lang="fr-CH" dirty="0" smtClean="0"/>
              <a:t>	être </a:t>
            </a:r>
            <a:r>
              <a:rPr lang="fr-CH" dirty="0"/>
              <a:t>‎acceptées par ‎</a:t>
            </a:r>
            <a:r>
              <a:rPr lang="fr-CH" dirty="0" smtClean="0"/>
              <a:t>l’ADA </a:t>
            </a:r>
            <a:r>
              <a:rPr lang="fr-CH" dirty="0"/>
              <a:t>pour prouver ‎l'aptitude professionnelle. ‎</a:t>
            </a:r>
          </a:p>
          <a:p>
            <a:pPr marL="0" indent="0">
              <a:buNone/>
            </a:pPr>
            <a:r>
              <a:rPr lang="fr-CH" dirty="0" smtClean="0"/>
              <a:t>‎</a:t>
            </a:r>
            <a:endParaRPr lang="fr-CH" dirty="0"/>
          </a:p>
          <a:p>
            <a:pPr marL="0" indent="0">
              <a:buNone/>
            </a:pPr>
            <a:endParaRPr lang="fr-CH" dirty="0"/>
          </a:p>
        </p:txBody>
      </p:sp>
      <p:sp>
        <p:nvSpPr>
          <p:cNvPr id="4" name="Slide Number Placeholder 3"/>
          <p:cNvSpPr>
            <a:spLocks noGrp="1"/>
          </p:cNvSpPr>
          <p:nvPr>
            <p:ph type="sldNum" sz="quarter" idx="12"/>
          </p:nvPr>
        </p:nvSpPr>
        <p:spPr/>
        <p:txBody>
          <a:bodyPr/>
          <a:lstStyle/>
          <a:p>
            <a:fld id="{C58F520E-0D3C-4C73-96DF-B271C0F692B0}" type="slidenum">
              <a:rPr lang="lb-LU" smtClean="0"/>
              <a:t>33</a:t>
            </a:fld>
            <a:endParaRPr lang="lb-LU"/>
          </a:p>
        </p:txBody>
      </p:sp>
    </p:spTree>
    <p:extLst>
      <p:ext uri="{BB962C8B-B14F-4D97-AF65-F5344CB8AC3E}">
        <p14:creationId xmlns:p14="http://schemas.microsoft.com/office/powerpoint/2010/main" val="2385971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p:cTn id="7"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8"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9" dur="500"/>
                                        <p:tgtEl>
                                          <p:spTgt spid="3">
                                            <p:txEl>
                                              <p:pRg st="2" end="2"/>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 calcmode="lin" valueType="num">
                                      <p:cBhvr>
                                        <p:cTn id="12"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13"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14"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Pièces à joindre à la demande :‎</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fr-CH" dirty="0" smtClean="0"/>
              <a:t>Cette </a:t>
            </a:r>
            <a:r>
              <a:rPr lang="fr-CH" dirty="0"/>
              <a:t>condition de preuve de connaissance suffisante de la réglementation en matière de douane ‎et ‎‎‎d'accise‎ ‎est obligatoire :‎</a:t>
            </a:r>
          </a:p>
          <a:p>
            <a:r>
              <a:rPr lang="fr-CH" dirty="0" smtClean="0"/>
              <a:t>dans </a:t>
            </a:r>
            <a:r>
              <a:rPr lang="fr-CH" dirty="0"/>
              <a:t>le chef d'une personne si cette personne est la seule qui introduit des déclarations en </a:t>
            </a:r>
            <a:r>
              <a:rPr lang="fr-CH" dirty="0" smtClean="0"/>
              <a:t>‎</a:t>
            </a:r>
            <a:r>
              <a:rPr lang="fr-CH" dirty="0"/>
              <a:t>douane ou des déclarations d'accises ;‎</a:t>
            </a:r>
          </a:p>
          <a:p>
            <a:r>
              <a:rPr lang="fr-CH" dirty="0" smtClean="0"/>
              <a:t>dans </a:t>
            </a:r>
            <a:r>
              <a:rPr lang="fr-CH" dirty="0"/>
              <a:t>le chef d'au moins deux personnes si au plus cinq personnes sont employées par le ‎‎‎demandeur pour introduire des déclarations en douane ou déclarations d'accises ;‎</a:t>
            </a:r>
          </a:p>
          <a:p>
            <a:r>
              <a:rPr lang="fr-CH" dirty="0" smtClean="0"/>
              <a:t>dans </a:t>
            </a:r>
            <a:r>
              <a:rPr lang="fr-CH" dirty="0"/>
              <a:t>le chef d'au moins deux sur cinq personnes si plus de cinq personnes sont employées ‎au ‎‎Grand-Duché de Luxembourg par le demandeur pour introduire des déclarations en ‎douane ‎‎ou des déclarations d'accises.‎</a:t>
            </a:r>
          </a:p>
        </p:txBody>
      </p:sp>
      <p:sp>
        <p:nvSpPr>
          <p:cNvPr id="4" name="Slide Number Placeholder 3"/>
          <p:cNvSpPr>
            <a:spLocks noGrp="1"/>
          </p:cNvSpPr>
          <p:nvPr>
            <p:ph type="sldNum" sz="quarter" idx="12"/>
          </p:nvPr>
        </p:nvSpPr>
        <p:spPr/>
        <p:txBody>
          <a:bodyPr/>
          <a:lstStyle/>
          <a:p>
            <a:fld id="{C58F520E-0D3C-4C73-96DF-B271C0F692B0}" type="slidenum">
              <a:rPr lang="lb-LU" smtClean="0"/>
              <a:t>34</a:t>
            </a:fld>
            <a:endParaRPr lang="lb-LU"/>
          </a:p>
        </p:txBody>
      </p:sp>
    </p:spTree>
    <p:extLst>
      <p:ext uri="{BB962C8B-B14F-4D97-AF65-F5344CB8AC3E}">
        <p14:creationId xmlns:p14="http://schemas.microsoft.com/office/powerpoint/2010/main" val="2102787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Pièces à joindre à la demande :‎</a:t>
            </a:r>
            <a:endParaRPr lang="en-US" dirty="0"/>
          </a:p>
        </p:txBody>
      </p:sp>
      <p:sp>
        <p:nvSpPr>
          <p:cNvPr id="3" name="Content Placeholder 2"/>
          <p:cNvSpPr>
            <a:spLocks noGrp="1"/>
          </p:cNvSpPr>
          <p:nvPr>
            <p:ph idx="1"/>
          </p:nvPr>
        </p:nvSpPr>
        <p:spPr/>
        <p:txBody>
          <a:bodyPr>
            <a:normAutofit/>
          </a:bodyPr>
          <a:lstStyle/>
          <a:p>
            <a:pPr marL="0" indent="0">
              <a:buNone/>
            </a:pPr>
            <a:endParaRPr lang="fr-CH" dirty="0" smtClean="0"/>
          </a:p>
          <a:p>
            <a:pPr marL="0" indent="0">
              <a:buNone/>
            </a:pPr>
            <a:r>
              <a:rPr lang="fr-CH" dirty="0" smtClean="0"/>
              <a:t>Sauf dérogation autorisée, </a:t>
            </a:r>
            <a:r>
              <a:rPr lang="fr-CH" dirty="0"/>
              <a:t>tout représentant en douane doit disposer sur le territoire luxembourgeois d'un siège ‎d'exploitation ‎où il conserve les documents d’accompagnement. </a:t>
            </a:r>
          </a:p>
        </p:txBody>
      </p:sp>
      <p:sp>
        <p:nvSpPr>
          <p:cNvPr id="4" name="Slide Number Placeholder 3"/>
          <p:cNvSpPr>
            <a:spLocks noGrp="1"/>
          </p:cNvSpPr>
          <p:nvPr>
            <p:ph type="sldNum" sz="quarter" idx="12"/>
          </p:nvPr>
        </p:nvSpPr>
        <p:spPr/>
        <p:txBody>
          <a:bodyPr/>
          <a:lstStyle/>
          <a:p>
            <a:fld id="{C58F520E-0D3C-4C73-96DF-B271C0F692B0}" type="slidenum">
              <a:rPr lang="lb-LU" smtClean="0"/>
              <a:t>35</a:t>
            </a:fld>
            <a:endParaRPr lang="lb-LU"/>
          </a:p>
        </p:txBody>
      </p:sp>
    </p:spTree>
    <p:extLst>
      <p:ext uri="{BB962C8B-B14F-4D97-AF65-F5344CB8AC3E}">
        <p14:creationId xmlns:p14="http://schemas.microsoft.com/office/powerpoint/2010/main" val="221795644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Pièces à joindre à la demande :‎</a:t>
            </a:r>
            <a:endParaRPr lang="en-US" dirty="0"/>
          </a:p>
        </p:txBody>
      </p:sp>
      <p:sp>
        <p:nvSpPr>
          <p:cNvPr id="3" name="Content Placeholder 2"/>
          <p:cNvSpPr>
            <a:spLocks noGrp="1"/>
          </p:cNvSpPr>
          <p:nvPr>
            <p:ph idx="1"/>
          </p:nvPr>
        </p:nvSpPr>
        <p:spPr/>
        <p:txBody>
          <a:bodyPr>
            <a:normAutofit/>
          </a:bodyPr>
          <a:lstStyle/>
          <a:p>
            <a:pPr marL="0" indent="0">
              <a:buNone/>
            </a:pPr>
            <a:endParaRPr lang="fr-CH" dirty="0"/>
          </a:p>
          <a:p>
            <a:pPr marL="0" indent="0">
              <a:buNone/>
            </a:pPr>
            <a:r>
              <a:rPr lang="fr-CH" dirty="0" smtClean="0"/>
              <a:t>Signature </a:t>
            </a:r>
            <a:r>
              <a:rPr lang="fr-CH" dirty="0"/>
              <a:t>de la demande :‎</a:t>
            </a:r>
          </a:p>
          <a:p>
            <a:pPr marL="0" indent="0">
              <a:buNone/>
            </a:pPr>
            <a:endParaRPr lang="fr-CH" dirty="0"/>
          </a:p>
          <a:p>
            <a:pPr marL="0" indent="0">
              <a:buNone/>
            </a:pPr>
            <a:r>
              <a:rPr lang="fr-CH" dirty="0"/>
              <a:t>La demande d'inscription est signée, soit par </a:t>
            </a:r>
            <a:r>
              <a:rPr lang="fr-CH" dirty="0" smtClean="0"/>
              <a:t>celui qui </a:t>
            </a:r>
            <a:r>
              <a:rPr lang="fr-CH" dirty="0"/>
              <a:t>souhaite exercer la profession ‎de représentant ‎en douane, soit par les gérants ou administrateurs, qui sont compétents pour ‎engager la société à ‎cette fin.‎</a:t>
            </a:r>
          </a:p>
        </p:txBody>
      </p:sp>
      <p:sp>
        <p:nvSpPr>
          <p:cNvPr id="4" name="Slide Number Placeholder 3"/>
          <p:cNvSpPr>
            <a:spLocks noGrp="1"/>
          </p:cNvSpPr>
          <p:nvPr>
            <p:ph type="sldNum" sz="quarter" idx="12"/>
          </p:nvPr>
        </p:nvSpPr>
        <p:spPr/>
        <p:txBody>
          <a:bodyPr/>
          <a:lstStyle/>
          <a:p>
            <a:fld id="{C58F520E-0D3C-4C73-96DF-B271C0F692B0}" type="slidenum">
              <a:rPr lang="lb-LU" smtClean="0"/>
              <a:t>36</a:t>
            </a:fld>
            <a:endParaRPr lang="lb-LU"/>
          </a:p>
        </p:txBody>
      </p:sp>
    </p:spTree>
    <p:extLst>
      <p:ext uri="{BB962C8B-B14F-4D97-AF65-F5344CB8AC3E}">
        <p14:creationId xmlns:p14="http://schemas.microsoft.com/office/powerpoint/2010/main" val="162260614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CH" dirty="0"/>
              <a:t/>
            </a:r>
            <a:br>
              <a:rPr lang="fr-CH" dirty="0"/>
            </a:br>
            <a:r>
              <a:rPr lang="fr-CH" dirty="0" smtClean="0"/>
              <a:t>Prise de décision </a:t>
            </a:r>
            <a:r>
              <a:rPr lang="fr-CH" dirty="0"/>
              <a:t>par </a:t>
            </a:r>
            <a:r>
              <a:rPr lang="fr-CH" dirty="0" smtClean="0"/>
              <a:t>l’ADA:</a:t>
            </a:r>
            <a:r>
              <a:rPr lang="fr-CH" dirty="0"/>
              <a:t>‎</a:t>
            </a:r>
            <a:br>
              <a:rPr lang="fr-CH" dirty="0"/>
            </a:br>
            <a:endParaRPr lang="en-US" dirty="0"/>
          </a:p>
        </p:txBody>
      </p:sp>
      <p:sp>
        <p:nvSpPr>
          <p:cNvPr id="3" name="Content Placeholder 2"/>
          <p:cNvSpPr>
            <a:spLocks noGrp="1"/>
          </p:cNvSpPr>
          <p:nvPr>
            <p:ph idx="1"/>
          </p:nvPr>
        </p:nvSpPr>
        <p:spPr>
          <a:xfrm>
            <a:off x="838200" y="1895301"/>
            <a:ext cx="10515600" cy="4281661"/>
          </a:xfrm>
        </p:spPr>
        <p:txBody>
          <a:bodyPr>
            <a:normAutofit/>
          </a:bodyPr>
          <a:lstStyle/>
          <a:p>
            <a:r>
              <a:rPr lang="fr-CH" dirty="0" smtClean="0"/>
              <a:t>Le </a:t>
            </a:r>
            <a:r>
              <a:rPr lang="fr-CH" dirty="0"/>
              <a:t>Code des douanes de l’Union dispose qu’une décision doit être prise le plus tôt possible et en tout ‎cas dans les 120 jours qui ‎suivent la date d’acceptation de la demande.‎</a:t>
            </a:r>
          </a:p>
          <a:p>
            <a:r>
              <a:rPr lang="fr-CH" dirty="0" smtClean="0"/>
              <a:t>Dans </a:t>
            </a:r>
            <a:r>
              <a:rPr lang="fr-CH" dirty="0"/>
              <a:t>le cas où l’autorité douanière n’est pas en mesure d’arrêter la décision dans le délai de 120 jours, ‎‎elle en informe le demandeur avant l’expiration dudit délai. La notification doit indiquer les motifs qui ‎‎justifient le retard et informer le demandeur du nouveau délai que l’autorité douanière estime ‎‎nécessaire pour statuer. ‎</a:t>
            </a:r>
          </a:p>
          <a:p>
            <a:endParaRPr lang="fr-CH" dirty="0"/>
          </a:p>
        </p:txBody>
      </p:sp>
      <p:sp>
        <p:nvSpPr>
          <p:cNvPr id="4" name="Slide Number Placeholder 3"/>
          <p:cNvSpPr>
            <a:spLocks noGrp="1"/>
          </p:cNvSpPr>
          <p:nvPr>
            <p:ph type="sldNum" sz="quarter" idx="12"/>
          </p:nvPr>
        </p:nvSpPr>
        <p:spPr/>
        <p:txBody>
          <a:bodyPr/>
          <a:lstStyle/>
          <a:p>
            <a:fld id="{C58F520E-0D3C-4C73-96DF-B271C0F692B0}" type="slidenum">
              <a:rPr lang="lb-LU" smtClean="0"/>
              <a:t>37</a:t>
            </a:fld>
            <a:endParaRPr lang="lb-LU"/>
          </a:p>
        </p:txBody>
      </p:sp>
    </p:spTree>
    <p:extLst>
      <p:ext uri="{BB962C8B-B14F-4D97-AF65-F5344CB8AC3E}">
        <p14:creationId xmlns:p14="http://schemas.microsoft.com/office/powerpoint/2010/main" val="2601902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CH" dirty="0" smtClean="0"/>
              <a:t/>
            </a:r>
            <a:br>
              <a:rPr lang="fr-CH" dirty="0" smtClean="0"/>
            </a:br>
            <a:r>
              <a:rPr lang="fr-CH" dirty="0" smtClean="0"/>
              <a:t>Situations </a:t>
            </a:r>
            <a:r>
              <a:rPr lang="fr-CH" dirty="0"/>
              <a:t>en vertu de laquelle l’inscription dans le registre est refusée :‎</a:t>
            </a:r>
            <a:br>
              <a:rPr lang="fr-CH" dirty="0"/>
            </a:br>
            <a:endParaRPr lang="en-US" dirty="0"/>
          </a:p>
        </p:txBody>
      </p:sp>
      <p:sp>
        <p:nvSpPr>
          <p:cNvPr id="3" name="Content Placeholder 2"/>
          <p:cNvSpPr>
            <a:spLocks noGrp="1"/>
          </p:cNvSpPr>
          <p:nvPr>
            <p:ph idx="1"/>
          </p:nvPr>
        </p:nvSpPr>
        <p:spPr/>
        <p:txBody>
          <a:bodyPr>
            <a:normAutofit fontScale="92500" lnSpcReduction="10000"/>
          </a:bodyPr>
          <a:lstStyle/>
          <a:p>
            <a:endParaRPr lang="fr-CH" dirty="0"/>
          </a:p>
          <a:p>
            <a:pPr marL="0" indent="0">
              <a:buNone/>
            </a:pPr>
            <a:r>
              <a:rPr lang="fr-CH" dirty="0"/>
              <a:t>L’inscription est refusée si :‎</a:t>
            </a:r>
          </a:p>
          <a:p>
            <a:pPr marL="0" indent="0">
              <a:buNone/>
            </a:pPr>
            <a:r>
              <a:rPr lang="fr-CH" dirty="0"/>
              <a:t>	</a:t>
            </a:r>
            <a:endParaRPr lang="fr-CH" dirty="0" smtClean="0"/>
          </a:p>
          <a:p>
            <a:r>
              <a:rPr lang="fr-CH" dirty="0" smtClean="0"/>
              <a:t>Le </a:t>
            </a:r>
            <a:r>
              <a:rPr lang="fr-CH" dirty="0"/>
              <a:t>demandeur est un agent de l’ADA révoqué ou s’il est démissionné / mis à la retraite depuis ‎moins de 3 ans</a:t>
            </a:r>
          </a:p>
          <a:p>
            <a:r>
              <a:rPr lang="fr-CH" dirty="0" smtClean="0"/>
              <a:t>‎Le </a:t>
            </a:r>
            <a:r>
              <a:rPr lang="fr-CH" dirty="0"/>
              <a:t>demandeur (personne physique ou gérant/administrateur) a été condamnée sans sursis ‎pour fraude en matière d’impôts directs et indirects ou de taxes y assimilées, pour vol, recel, ‎escroquerie, abus de confiance ou banqueroute simple ou frauduleuse, pour concussion ou ‎corruption de fonctionnaires.‎</a:t>
            </a:r>
          </a:p>
          <a:p>
            <a:pPr marL="0" indent="0">
              <a:buNone/>
            </a:pPr>
            <a:r>
              <a:rPr lang="fr-CH" dirty="0"/>
              <a:t>	</a:t>
            </a:r>
          </a:p>
          <a:p>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38</a:t>
            </a:fld>
            <a:endParaRPr lang="lb-LU"/>
          </a:p>
        </p:txBody>
      </p:sp>
    </p:spTree>
    <p:extLst>
      <p:ext uri="{BB962C8B-B14F-4D97-AF65-F5344CB8AC3E}">
        <p14:creationId xmlns:p14="http://schemas.microsoft.com/office/powerpoint/2010/main" val="2266332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60450"/>
            <a:ext cx="10515600" cy="1018871"/>
          </a:xfrm>
        </p:spPr>
        <p:txBody>
          <a:bodyPr>
            <a:normAutofit/>
          </a:bodyPr>
          <a:lstStyle/>
          <a:p>
            <a:r>
              <a:rPr lang="fr-CH" dirty="0" smtClean="0"/>
              <a:t>Liste </a:t>
            </a:r>
            <a:r>
              <a:rPr lang="fr-CH" dirty="0"/>
              <a:t>reprenant les personnes inscrites dans le registre d'immatriculation</a:t>
            </a:r>
            <a:endParaRPr lang="en-US" dirty="0"/>
          </a:p>
        </p:txBody>
      </p:sp>
      <p:sp>
        <p:nvSpPr>
          <p:cNvPr id="3" name="Content Placeholder 2"/>
          <p:cNvSpPr>
            <a:spLocks noGrp="1"/>
          </p:cNvSpPr>
          <p:nvPr>
            <p:ph idx="1"/>
          </p:nvPr>
        </p:nvSpPr>
        <p:spPr/>
        <p:txBody>
          <a:bodyPr/>
          <a:lstStyle/>
          <a:p>
            <a:pPr marL="0" indent="0">
              <a:buNone/>
            </a:pPr>
            <a:endParaRPr lang="fr-CH" dirty="0" smtClean="0"/>
          </a:p>
          <a:p>
            <a:pPr marL="0" indent="0">
              <a:buNone/>
            </a:pPr>
            <a:r>
              <a:rPr lang="fr-CH" dirty="0" smtClean="0"/>
              <a:t>L’IGDA </a:t>
            </a:r>
            <a:r>
              <a:rPr lang="fr-CH" dirty="0"/>
              <a:t>maintient une liste reprenant les personnes inscrites dans le registre d'immatriculation des ‎représentants en ‎‎douane ainsi que le numéro d'inscription attribué à chacune d'entre elles. Cette ‎liste </a:t>
            </a:r>
            <a:r>
              <a:rPr lang="fr-CH" dirty="0" smtClean="0"/>
              <a:t>sera publiée </a:t>
            </a:r>
            <a:r>
              <a:rPr lang="fr-CH" dirty="0"/>
              <a:t>sur le site web de ‎</a:t>
            </a:r>
            <a:r>
              <a:rPr lang="fr-CH" dirty="0" smtClean="0"/>
              <a:t>l’ADA.</a:t>
            </a: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39</a:t>
            </a:fld>
            <a:endParaRPr lang="lb-LU"/>
          </a:p>
        </p:txBody>
      </p:sp>
    </p:spTree>
    <p:extLst>
      <p:ext uri="{BB962C8B-B14F-4D97-AF65-F5344CB8AC3E}">
        <p14:creationId xmlns:p14="http://schemas.microsoft.com/office/powerpoint/2010/main" val="4071138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60450"/>
            <a:ext cx="10515600" cy="1109172"/>
          </a:xfrm>
        </p:spPr>
        <p:txBody>
          <a:bodyPr>
            <a:normAutofit/>
          </a:bodyPr>
          <a:lstStyle/>
          <a:p>
            <a:r>
              <a:rPr lang="fr-CH" dirty="0"/>
              <a:t>Phase de transition pour les représentants en douane ‎ inscrits à l’ancien « registre ‎d’immatriculation des agents en ‎douane »‎</a:t>
            </a:r>
            <a:endParaRPr lang="en-US" dirty="0"/>
          </a:p>
        </p:txBody>
      </p:sp>
      <p:sp>
        <p:nvSpPr>
          <p:cNvPr id="3" name="Content Placeholder 2"/>
          <p:cNvSpPr>
            <a:spLocks noGrp="1"/>
          </p:cNvSpPr>
          <p:nvPr>
            <p:ph idx="1"/>
          </p:nvPr>
        </p:nvSpPr>
        <p:spPr>
          <a:xfrm>
            <a:off x="838200" y="2310937"/>
            <a:ext cx="10515600" cy="3866025"/>
          </a:xfrm>
        </p:spPr>
        <p:txBody>
          <a:bodyPr>
            <a:normAutofit/>
          </a:bodyPr>
          <a:lstStyle/>
          <a:p>
            <a:pPr marL="0" indent="0">
              <a:buNone/>
            </a:pPr>
            <a:endParaRPr lang="fr-CH" dirty="0" smtClean="0"/>
          </a:p>
          <a:p>
            <a:pPr marL="0" indent="0">
              <a:buNone/>
            </a:pPr>
            <a:r>
              <a:rPr lang="fr-CH" dirty="0" smtClean="0"/>
              <a:t>Tous </a:t>
            </a:r>
            <a:r>
              <a:rPr lang="fr-CH" dirty="0"/>
              <a:t>les agents en douane inscrits au registre d'immatriculation des agents en douane </a:t>
            </a:r>
            <a:r>
              <a:rPr lang="fr-CH" dirty="0" smtClean="0"/>
              <a:t>le jour ‎‎‎précédant la date d'entrée en vigueur de la nouvelle règlementation (22 juillet 2024) sont </a:t>
            </a:r>
            <a:r>
              <a:rPr lang="fr-CH" dirty="0"/>
              <a:t>inscrits d'office pour une période de trois ans au ‎registre ‎‎d'immatriculation des représentants en douane. </a:t>
            </a:r>
            <a:r>
              <a:rPr lang="fr-CH" dirty="0" smtClean="0"/>
              <a:t>‎</a:t>
            </a:r>
            <a:endParaRPr lang="fr-CH" dirty="0"/>
          </a:p>
        </p:txBody>
      </p:sp>
      <p:sp>
        <p:nvSpPr>
          <p:cNvPr id="4" name="Slide Number Placeholder 3"/>
          <p:cNvSpPr>
            <a:spLocks noGrp="1"/>
          </p:cNvSpPr>
          <p:nvPr>
            <p:ph type="sldNum" sz="quarter" idx="12"/>
          </p:nvPr>
        </p:nvSpPr>
        <p:spPr/>
        <p:txBody>
          <a:bodyPr/>
          <a:lstStyle/>
          <a:p>
            <a:fld id="{C58F520E-0D3C-4C73-96DF-B271C0F692B0}" type="slidenum">
              <a:rPr lang="lb-LU" smtClean="0"/>
              <a:t>40</a:t>
            </a:fld>
            <a:endParaRPr lang="lb-LU"/>
          </a:p>
        </p:txBody>
      </p:sp>
    </p:spTree>
    <p:extLst>
      <p:ext uri="{BB962C8B-B14F-4D97-AF65-F5344CB8AC3E}">
        <p14:creationId xmlns:p14="http://schemas.microsoft.com/office/powerpoint/2010/main" val="2901537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60450"/>
            <a:ext cx="10515600" cy="1109172"/>
          </a:xfrm>
        </p:spPr>
        <p:txBody>
          <a:bodyPr>
            <a:normAutofit/>
          </a:bodyPr>
          <a:lstStyle/>
          <a:p>
            <a:r>
              <a:rPr lang="fr-CH" dirty="0"/>
              <a:t>Phase de transition pour les représentants en douane ‎ inscrits à l’ancien « registre ‎d’immatriculation des agents en ‎douane »‎</a:t>
            </a:r>
            <a:endParaRPr lang="en-US" dirty="0"/>
          </a:p>
        </p:txBody>
      </p:sp>
      <p:sp>
        <p:nvSpPr>
          <p:cNvPr id="3" name="Content Placeholder 2"/>
          <p:cNvSpPr>
            <a:spLocks noGrp="1"/>
          </p:cNvSpPr>
          <p:nvPr>
            <p:ph idx="1"/>
          </p:nvPr>
        </p:nvSpPr>
        <p:spPr>
          <a:xfrm>
            <a:off x="838200" y="2310937"/>
            <a:ext cx="10515600" cy="3866025"/>
          </a:xfrm>
        </p:spPr>
        <p:txBody>
          <a:bodyPr>
            <a:normAutofit lnSpcReduction="10000"/>
          </a:bodyPr>
          <a:lstStyle/>
          <a:p>
            <a:pPr marL="0" indent="0">
              <a:buNone/>
            </a:pPr>
            <a:r>
              <a:rPr lang="fr-CH" dirty="0" smtClean="0"/>
              <a:t>Durant </a:t>
            </a:r>
            <a:r>
              <a:rPr lang="fr-CH" dirty="0"/>
              <a:t>cette période, les représentants en douane doivent fournir à </a:t>
            </a:r>
            <a:r>
              <a:rPr lang="fr-CH" dirty="0" smtClean="0"/>
              <a:t>l’IGDA </a:t>
            </a:r>
            <a:r>
              <a:rPr lang="fr-CH" dirty="0"/>
              <a:t>:‎</a:t>
            </a:r>
          </a:p>
          <a:p>
            <a:r>
              <a:rPr lang="fr-CH" dirty="0" smtClean="0"/>
              <a:t>la </a:t>
            </a:r>
            <a:r>
              <a:rPr lang="fr-CH" dirty="0"/>
              <a:t>preuve de la compétence </a:t>
            </a:r>
            <a:r>
              <a:rPr lang="fr-CH" dirty="0" smtClean="0"/>
              <a:t>professionnelle;</a:t>
            </a:r>
            <a:r>
              <a:rPr lang="fr-CH" dirty="0"/>
              <a:t>‎</a:t>
            </a:r>
          </a:p>
          <a:p>
            <a:pPr marL="0" indent="0">
              <a:buNone/>
            </a:pPr>
            <a:r>
              <a:rPr lang="fr-CH" dirty="0"/>
              <a:t>Ainsi que :</a:t>
            </a:r>
            <a:r>
              <a:rPr lang="fr-CH" dirty="0" smtClean="0"/>
              <a:t>‎</a:t>
            </a:r>
          </a:p>
          <a:p>
            <a:r>
              <a:rPr lang="fr-CH" dirty="0" smtClean="0"/>
              <a:t>la </a:t>
            </a:r>
            <a:r>
              <a:rPr lang="fr-CH" dirty="0"/>
              <a:t>preuve de reconnaissance comme opérateur économique agrée (Autorisation OEA-‎C : ‎Simplifications douanières)‎</a:t>
            </a:r>
          </a:p>
          <a:p>
            <a:pPr marL="0" indent="0">
              <a:buNone/>
            </a:pPr>
            <a:r>
              <a:rPr lang="fr-CH" dirty="0" smtClean="0"/>
              <a:t>   ou</a:t>
            </a:r>
            <a:r>
              <a:rPr lang="fr-CH" dirty="0"/>
              <a:t>‎</a:t>
            </a:r>
          </a:p>
          <a:p>
            <a:r>
              <a:rPr lang="fr-CH" dirty="0" smtClean="0"/>
              <a:t>la </a:t>
            </a:r>
            <a:r>
              <a:rPr lang="fr-CH" dirty="0"/>
              <a:t>preuve de connaissance suffisante de la réglementation en matière de douane et ‎‎‎d'accise</a:t>
            </a:r>
            <a:r>
              <a:rPr lang="fr-CH" dirty="0" smtClean="0"/>
              <a:t>‎‎</a:t>
            </a:r>
            <a:r>
              <a:rPr lang="fr-CH" dirty="0"/>
              <a:t>.‎</a:t>
            </a:r>
          </a:p>
          <a:p>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41</a:t>
            </a:fld>
            <a:endParaRPr lang="lb-LU"/>
          </a:p>
        </p:txBody>
      </p:sp>
    </p:spTree>
    <p:extLst>
      <p:ext uri="{BB962C8B-B14F-4D97-AF65-F5344CB8AC3E}">
        <p14:creationId xmlns:p14="http://schemas.microsoft.com/office/powerpoint/2010/main" val="355171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60450"/>
            <a:ext cx="10515600" cy="1109172"/>
          </a:xfrm>
        </p:spPr>
        <p:txBody>
          <a:bodyPr>
            <a:normAutofit/>
          </a:bodyPr>
          <a:lstStyle/>
          <a:p>
            <a:r>
              <a:rPr lang="fr-CH" dirty="0"/>
              <a:t>Phase de transition pour les représentants en douane ‎ inscrits à l’ancien « registre ‎d’immatriculation des agents en ‎douane »‎</a:t>
            </a:r>
            <a:endParaRPr lang="en-US" dirty="0"/>
          </a:p>
        </p:txBody>
      </p:sp>
      <p:sp>
        <p:nvSpPr>
          <p:cNvPr id="3" name="Content Placeholder 2"/>
          <p:cNvSpPr>
            <a:spLocks noGrp="1"/>
          </p:cNvSpPr>
          <p:nvPr>
            <p:ph idx="1"/>
          </p:nvPr>
        </p:nvSpPr>
        <p:spPr>
          <a:xfrm>
            <a:off x="838200" y="2310937"/>
            <a:ext cx="10515600" cy="3866025"/>
          </a:xfrm>
        </p:spPr>
        <p:txBody>
          <a:bodyPr>
            <a:normAutofit/>
          </a:bodyPr>
          <a:lstStyle/>
          <a:p>
            <a:pPr marL="0" indent="0">
              <a:buNone/>
            </a:pPr>
            <a:endParaRPr lang="fr-CH" dirty="0" smtClean="0"/>
          </a:p>
          <a:p>
            <a:pPr marL="0" indent="0">
              <a:buNone/>
            </a:pPr>
            <a:r>
              <a:rPr lang="fr-CH" dirty="0" smtClean="0"/>
              <a:t>Tout </a:t>
            </a:r>
            <a:r>
              <a:rPr lang="fr-CH" dirty="0"/>
              <a:t>représentant en douane qui n’a pas satisfait à ‎ces obligations dans ‎un délai de trois ans ‎à partir ‎de la ‎date d'entrée en vigueur de la ‎nouvelle règlementation est radié d'office du ‎registre d'immatriculation ‎‎des ‎représentants en douane.‎</a:t>
            </a: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42</a:t>
            </a:fld>
            <a:endParaRPr lang="lb-LU"/>
          </a:p>
        </p:txBody>
      </p:sp>
    </p:spTree>
    <p:extLst>
      <p:ext uri="{BB962C8B-B14F-4D97-AF65-F5344CB8AC3E}">
        <p14:creationId xmlns:p14="http://schemas.microsoft.com/office/powerpoint/2010/main" val="373458169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Contrôle du respect des </a:t>
            </a:r>
            <a:r>
              <a:rPr lang="fr-CH" dirty="0" smtClean="0"/>
              <a:t>conditions:</a:t>
            </a:r>
            <a:endParaRPr lang="en-US" dirty="0"/>
          </a:p>
        </p:txBody>
      </p:sp>
      <p:sp>
        <p:nvSpPr>
          <p:cNvPr id="3" name="Content Placeholder 2"/>
          <p:cNvSpPr>
            <a:spLocks noGrp="1"/>
          </p:cNvSpPr>
          <p:nvPr>
            <p:ph idx="1"/>
          </p:nvPr>
        </p:nvSpPr>
        <p:spPr/>
        <p:txBody>
          <a:bodyPr/>
          <a:lstStyle/>
          <a:p>
            <a:r>
              <a:rPr lang="fr-CH" dirty="0"/>
              <a:t>L’ADA peut à tout moment contrôler le respect‎ des dispositions concernant les obligations énumérées ‎ci-dessus.‎</a:t>
            </a:r>
          </a:p>
          <a:p>
            <a:r>
              <a:rPr lang="fr-CH" dirty="0"/>
              <a:t>Le représentant en douane qui, après inscription dans le registre d’immatriculation, ne satisfait plus ‎aux conditions légales est radié du registre.‎</a:t>
            </a:r>
          </a:p>
          <a:p>
            <a:endParaRPr lang="fr-CH" dirty="0"/>
          </a:p>
          <a:p>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43</a:t>
            </a:fld>
            <a:endParaRPr lang="lb-LU"/>
          </a:p>
        </p:txBody>
      </p:sp>
    </p:spTree>
    <p:extLst>
      <p:ext uri="{BB962C8B-B14F-4D97-AF65-F5344CB8AC3E}">
        <p14:creationId xmlns:p14="http://schemas.microsoft.com/office/powerpoint/2010/main" val="4090777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endParaRPr lang="fr-CH" dirty="0" smtClean="0"/>
          </a:p>
          <a:p>
            <a:pPr marL="0" indent="0">
              <a:buNone/>
            </a:pPr>
            <a:endParaRPr lang="fr-CH" dirty="0"/>
          </a:p>
          <a:p>
            <a:pPr marL="0" indent="0">
              <a:buNone/>
            </a:pPr>
            <a:r>
              <a:rPr lang="fr-CH" dirty="0" smtClean="0"/>
              <a:t>III‎	OBLIGATIONS </a:t>
            </a:r>
            <a:r>
              <a:rPr lang="fr-CH" dirty="0"/>
              <a:t>D’UN REPRÉSENTANT EN DOUANE INSCRIT DANS </a:t>
            </a:r>
            <a:r>
              <a:rPr lang="fr-CH" dirty="0" smtClean="0"/>
              <a:t>	LE REGISTRE </a:t>
            </a:r>
            <a:r>
              <a:rPr lang="fr-CH" dirty="0"/>
              <a:t>‎D’IMMATRICULATION :‎</a:t>
            </a: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44</a:t>
            </a:fld>
            <a:endParaRPr lang="lb-LU"/>
          </a:p>
        </p:txBody>
      </p:sp>
    </p:spTree>
    <p:extLst>
      <p:ext uri="{BB962C8B-B14F-4D97-AF65-F5344CB8AC3E}">
        <p14:creationId xmlns:p14="http://schemas.microsoft.com/office/powerpoint/2010/main" val="339759285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CH" dirty="0" smtClean="0"/>
              <a:t/>
            </a:r>
            <a:br>
              <a:rPr lang="fr-CH" dirty="0" smtClean="0"/>
            </a:br>
            <a:r>
              <a:rPr lang="fr-CH" dirty="0" smtClean="0"/>
              <a:t>1) Communication </a:t>
            </a:r>
            <a:r>
              <a:rPr lang="fr-CH" dirty="0"/>
              <a:t>d'informations aux autorités douanières :‎</a:t>
            </a:r>
            <a:br>
              <a:rPr lang="fr-CH" dirty="0"/>
            </a:br>
            <a:endParaRPr lang="en-US" dirty="0"/>
          </a:p>
        </p:txBody>
      </p:sp>
      <p:sp>
        <p:nvSpPr>
          <p:cNvPr id="3" name="Content Placeholder 2"/>
          <p:cNvSpPr>
            <a:spLocks noGrp="1"/>
          </p:cNvSpPr>
          <p:nvPr>
            <p:ph idx="1"/>
          </p:nvPr>
        </p:nvSpPr>
        <p:spPr/>
        <p:txBody>
          <a:bodyPr>
            <a:normAutofit/>
          </a:bodyPr>
          <a:lstStyle/>
          <a:p>
            <a:pPr marL="0" indent="0">
              <a:buNone/>
            </a:pPr>
            <a:endParaRPr lang="fr-CH" dirty="0"/>
          </a:p>
          <a:p>
            <a:r>
              <a:rPr lang="fr-CH" dirty="0" smtClean="0"/>
              <a:t>Le </a:t>
            </a:r>
            <a:r>
              <a:rPr lang="fr-CH" dirty="0"/>
              <a:t>représentant en douane intervenant directement ou indirectement dans l'accomplissement des ‎formalités douanières ou dans les contrôles douaniers fournit aux autorités douanières, à leur ‎demande et dans les délais éventuellement fixés, la totalité des documents ou informations requis, ‎sous une forme appropriée, ainsi que toute l'assistance nécessaire à l'accomplissement des formalités ‎ou des contrôles précités.</a:t>
            </a:r>
            <a:r>
              <a:rPr lang="fr-CH" dirty="0" smtClean="0"/>
              <a:t>‎</a:t>
            </a:r>
            <a:endParaRPr lang="fr-CH" dirty="0"/>
          </a:p>
        </p:txBody>
      </p:sp>
      <p:sp>
        <p:nvSpPr>
          <p:cNvPr id="4" name="Slide Number Placeholder 3"/>
          <p:cNvSpPr>
            <a:spLocks noGrp="1"/>
          </p:cNvSpPr>
          <p:nvPr>
            <p:ph type="sldNum" sz="quarter" idx="12"/>
          </p:nvPr>
        </p:nvSpPr>
        <p:spPr/>
        <p:txBody>
          <a:bodyPr/>
          <a:lstStyle/>
          <a:p>
            <a:fld id="{C58F520E-0D3C-4C73-96DF-B271C0F692B0}" type="slidenum">
              <a:rPr lang="lb-LU" smtClean="0"/>
              <a:t>45</a:t>
            </a:fld>
            <a:endParaRPr lang="lb-LU"/>
          </a:p>
        </p:txBody>
      </p:sp>
    </p:spTree>
    <p:extLst>
      <p:ext uri="{BB962C8B-B14F-4D97-AF65-F5344CB8AC3E}">
        <p14:creationId xmlns:p14="http://schemas.microsoft.com/office/powerpoint/2010/main" val="685932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CH" dirty="0" smtClean="0"/>
              <a:t/>
            </a:r>
            <a:br>
              <a:rPr lang="fr-CH" dirty="0" smtClean="0"/>
            </a:br>
            <a:r>
              <a:rPr lang="fr-CH" dirty="0" smtClean="0"/>
              <a:t>2) Soin et diligence :</a:t>
            </a:r>
            <a:r>
              <a:rPr lang="fr-CH" dirty="0"/>
              <a:t>‎</a:t>
            </a:r>
            <a:br>
              <a:rPr lang="fr-CH" dirty="0"/>
            </a:b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fr-CH" dirty="0" smtClean="0"/>
              <a:t>Le </a:t>
            </a:r>
            <a:r>
              <a:rPr lang="fr-CH" dirty="0"/>
              <a:t>dépôt d'une déclaration en douane, d'une déclaration de dépôt temporaire, d'une déclaration ‎sommaire d'entrée, d'une déclaration sommaire de sortie, d'une déclaration de réexportation ou ‎d'une notification de réexportation par une personne aux autorités douanières, ou la présentation ‎d'une demande d'autorisation ou de toute autre décision, rend la personne concernée responsable de ‎tout ce qui suit:‎</a:t>
            </a:r>
          </a:p>
          <a:p>
            <a:r>
              <a:rPr lang="fr-CH" dirty="0" smtClean="0"/>
              <a:t>de </a:t>
            </a:r>
            <a:r>
              <a:rPr lang="fr-CH" dirty="0"/>
              <a:t>l'exactitude et du caractère complet des renseignements fournis dans la déclaration, la ‎notification ou la demande;‎</a:t>
            </a:r>
          </a:p>
          <a:p>
            <a:r>
              <a:rPr lang="fr-CH" dirty="0" smtClean="0"/>
              <a:t>de </a:t>
            </a:r>
            <a:r>
              <a:rPr lang="fr-CH" dirty="0"/>
              <a:t>l'authenticité, de l'exactitude et de la validité des documents accompagnant la déclaration, la ‎notification ou la demande;‎</a:t>
            </a:r>
          </a:p>
          <a:p>
            <a:r>
              <a:rPr lang="fr-CH" dirty="0" smtClean="0"/>
              <a:t>le </a:t>
            </a:r>
            <a:r>
              <a:rPr lang="fr-CH" dirty="0"/>
              <a:t>cas échéant, de la conformité à l'ensemble des obligations se rapportant au placement des ‎marchandises en question sous le régime douanier en cause, ou à l'exécution des opérations ‎</a:t>
            </a:r>
            <a:r>
              <a:rPr lang="fr-CH" dirty="0" smtClean="0"/>
              <a:t>autorisées</a:t>
            </a:r>
            <a:endParaRPr lang="fr-CH" dirty="0"/>
          </a:p>
        </p:txBody>
      </p:sp>
      <p:sp>
        <p:nvSpPr>
          <p:cNvPr id="4" name="Slide Number Placeholder 3"/>
          <p:cNvSpPr>
            <a:spLocks noGrp="1"/>
          </p:cNvSpPr>
          <p:nvPr>
            <p:ph type="sldNum" sz="quarter" idx="12"/>
          </p:nvPr>
        </p:nvSpPr>
        <p:spPr/>
        <p:txBody>
          <a:bodyPr/>
          <a:lstStyle/>
          <a:p>
            <a:fld id="{C58F520E-0D3C-4C73-96DF-B271C0F692B0}" type="slidenum">
              <a:rPr lang="lb-LU" smtClean="0"/>
              <a:t>46</a:t>
            </a:fld>
            <a:endParaRPr lang="lb-LU"/>
          </a:p>
        </p:txBody>
      </p:sp>
    </p:spTree>
    <p:extLst>
      <p:ext uri="{BB962C8B-B14F-4D97-AF65-F5344CB8AC3E}">
        <p14:creationId xmlns:p14="http://schemas.microsoft.com/office/powerpoint/2010/main" val="172622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60450"/>
            <a:ext cx="10515600" cy="984481"/>
          </a:xfrm>
        </p:spPr>
        <p:txBody>
          <a:bodyPr>
            <a:normAutofit fontScale="90000"/>
          </a:bodyPr>
          <a:lstStyle/>
          <a:p>
            <a:r>
              <a:rPr lang="fr-CH" dirty="0"/>
              <a:t/>
            </a:r>
            <a:br>
              <a:rPr lang="fr-CH" dirty="0"/>
            </a:br>
            <a:r>
              <a:rPr lang="fr-CH" dirty="0"/>
              <a:t>3</a:t>
            </a:r>
            <a:r>
              <a:rPr lang="fr-CH" dirty="0" smtClean="0"/>
              <a:t>) Notification de toute modification:</a:t>
            </a:r>
            <a:r>
              <a:rPr lang="fr-CH" dirty="0"/>
              <a:t/>
            </a:r>
            <a:br>
              <a:rPr lang="fr-CH" dirty="0"/>
            </a:br>
            <a:endParaRPr lang="en-US" dirty="0"/>
          </a:p>
        </p:txBody>
      </p:sp>
      <p:sp>
        <p:nvSpPr>
          <p:cNvPr id="3" name="Content Placeholder 2"/>
          <p:cNvSpPr>
            <a:spLocks noGrp="1"/>
          </p:cNvSpPr>
          <p:nvPr>
            <p:ph idx="1"/>
          </p:nvPr>
        </p:nvSpPr>
        <p:spPr/>
        <p:txBody>
          <a:bodyPr/>
          <a:lstStyle/>
          <a:p>
            <a:endParaRPr lang="fr-CH" dirty="0"/>
          </a:p>
          <a:p>
            <a:r>
              <a:rPr lang="fr-CH" dirty="0" smtClean="0"/>
              <a:t>‎Le </a:t>
            </a:r>
            <a:r>
              <a:rPr lang="fr-CH" dirty="0"/>
              <a:t>représentant en douane doit notifier dans le délai prescrit à l’ADA toute modification d’une ‎des conditions d’acceptation de sa demande d’inscription dans le registre d’immatriculation ‎des représentants en </a:t>
            </a:r>
            <a:r>
              <a:rPr lang="fr-CH" dirty="0" smtClean="0"/>
              <a:t>douane, et ceci</a:t>
            </a:r>
            <a:r>
              <a:rPr lang="fr-FR" dirty="0"/>
              <a:t> au moins 30 jours à ‎l’avance‎.</a:t>
            </a:r>
            <a:endParaRPr lang="fr-CH" dirty="0"/>
          </a:p>
          <a:p>
            <a:endParaRPr lang="fr-CH" dirty="0"/>
          </a:p>
          <a:p>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47</a:t>
            </a:fld>
            <a:endParaRPr lang="lb-LU"/>
          </a:p>
        </p:txBody>
      </p:sp>
    </p:spTree>
    <p:extLst>
      <p:ext uri="{BB962C8B-B14F-4D97-AF65-F5344CB8AC3E}">
        <p14:creationId xmlns:p14="http://schemas.microsoft.com/office/powerpoint/2010/main" val="4176693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60450"/>
            <a:ext cx="10515600" cy="984481"/>
          </a:xfrm>
        </p:spPr>
        <p:txBody>
          <a:bodyPr>
            <a:normAutofit fontScale="90000"/>
          </a:bodyPr>
          <a:lstStyle/>
          <a:p>
            <a:r>
              <a:rPr lang="fr-CH" dirty="0"/>
              <a:t/>
            </a:r>
            <a:br>
              <a:rPr lang="fr-CH" dirty="0"/>
            </a:br>
            <a:r>
              <a:rPr lang="fr-CH" dirty="0"/>
              <a:t>4</a:t>
            </a:r>
            <a:r>
              <a:rPr lang="fr-CH" dirty="0" smtClean="0"/>
              <a:t>) Répertoire </a:t>
            </a:r>
            <a:r>
              <a:rPr lang="fr-CH" dirty="0"/>
              <a:t>électronique </a:t>
            </a:r>
            <a:r>
              <a:rPr lang="fr-CH" dirty="0" smtClean="0"/>
              <a:t>:</a:t>
            </a:r>
            <a:r>
              <a:rPr lang="fr-CH" dirty="0"/>
              <a:t/>
            </a:r>
            <a:br>
              <a:rPr lang="fr-CH" dirty="0"/>
            </a:br>
            <a:endParaRPr lang="en-US" dirty="0"/>
          </a:p>
        </p:txBody>
      </p:sp>
      <p:sp>
        <p:nvSpPr>
          <p:cNvPr id="3" name="Content Placeholder 2"/>
          <p:cNvSpPr>
            <a:spLocks noGrp="1"/>
          </p:cNvSpPr>
          <p:nvPr>
            <p:ph idx="1"/>
          </p:nvPr>
        </p:nvSpPr>
        <p:spPr/>
        <p:txBody>
          <a:bodyPr>
            <a:normAutofit fontScale="70000" lnSpcReduction="20000"/>
          </a:bodyPr>
          <a:lstStyle/>
          <a:p>
            <a:endParaRPr lang="fr-CH" dirty="0"/>
          </a:p>
          <a:p>
            <a:pPr marL="0" indent="0">
              <a:buNone/>
            </a:pPr>
            <a:r>
              <a:rPr lang="fr-CH" dirty="0" smtClean="0"/>
              <a:t>Le </a:t>
            </a:r>
            <a:r>
              <a:rPr lang="fr-CH" dirty="0"/>
              <a:t>représentant en douane doit tenir un répertoire électronique dans la forme prescrite par ‎l’ADA. :‎</a:t>
            </a:r>
          </a:p>
          <a:p>
            <a:pPr marL="0" indent="0">
              <a:buNone/>
            </a:pPr>
            <a:r>
              <a:rPr lang="fr-CH" dirty="0"/>
              <a:t>Ce répertoire électronique doit contenir au minimum les données suivantes :</a:t>
            </a:r>
            <a:r>
              <a:rPr lang="fr-CH" dirty="0" smtClean="0"/>
              <a:t>‎</a:t>
            </a:r>
          </a:p>
          <a:p>
            <a:pPr marL="0" indent="0">
              <a:buNone/>
            </a:pPr>
            <a:endParaRPr lang="fr-CH" dirty="0"/>
          </a:p>
          <a:p>
            <a:pPr marL="0" indent="0">
              <a:buNone/>
            </a:pPr>
            <a:r>
              <a:rPr lang="fr-CH" dirty="0"/>
              <a:t>‎1°‎	Nom(s) ‎et ‎résidence ‎du fournisseur ‎</a:t>
            </a:r>
          </a:p>
          <a:p>
            <a:pPr marL="0" indent="0">
              <a:buNone/>
            </a:pPr>
            <a:r>
              <a:rPr lang="fr-CH" dirty="0"/>
              <a:t>‎2°‎	Pays ‎de ‎provenance de la marchandise</a:t>
            </a:r>
          </a:p>
          <a:p>
            <a:pPr marL="0" indent="0">
              <a:buNone/>
            </a:pPr>
            <a:r>
              <a:rPr lang="fr-CH" dirty="0"/>
              <a:t>‎3°‎	Nom(s) ‎et ‎résidence ‎du destinataire</a:t>
            </a:r>
          </a:p>
          <a:p>
            <a:pPr marL="0" indent="0">
              <a:buNone/>
            </a:pPr>
            <a:r>
              <a:rPr lang="fr-CH" dirty="0"/>
              <a:t>‎4°‎	Nature et ‎nombre ‎de ‎colis</a:t>
            </a:r>
          </a:p>
          <a:p>
            <a:pPr marL="0" indent="0">
              <a:buNone/>
            </a:pPr>
            <a:r>
              <a:rPr lang="fr-CH" dirty="0"/>
              <a:t>‎5°‎	Marques ‎et ‎numéros</a:t>
            </a:r>
          </a:p>
          <a:p>
            <a:pPr marL="0" indent="0">
              <a:buNone/>
            </a:pPr>
            <a:r>
              <a:rPr lang="fr-CH" dirty="0"/>
              <a:t>‎6°‎	Poids de la marchandise</a:t>
            </a:r>
          </a:p>
          <a:p>
            <a:pPr marL="0" indent="0">
              <a:buNone/>
            </a:pPr>
            <a:r>
              <a:rPr lang="fr-CH" dirty="0"/>
              <a:t>‎7°‎	Nature ‎de ‎la ‎marchandise</a:t>
            </a:r>
          </a:p>
          <a:p>
            <a:pPr marL="0" indent="0">
              <a:buNone/>
            </a:pPr>
            <a:r>
              <a:rPr lang="fr-CH" dirty="0"/>
              <a:t>‎8°‎	Valeur de la marchandise ‎</a:t>
            </a:r>
          </a:p>
          <a:p>
            <a:pPr marL="0" indent="0">
              <a:buNone/>
            </a:pP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48</a:t>
            </a:fld>
            <a:endParaRPr lang="lb-LU"/>
          </a:p>
        </p:txBody>
      </p:sp>
    </p:spTree>
    <p:extLst>
      <p:ext uri="{BB962C8B-B14F-4D97-AF65-F5344CB8AC3E}">
        <p14:creationId xmlns:p14="http://schemas.microsoft.com/office/powerpoint/2010/main" val="3076489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60450"/>
            <a:ext cx="10515600" cy="984481"/>
          </a:xfrm>
        </p:spPr>
        <p:txBody>
          <a:bodyPr>
            <a:normAutofit fontScale="90000"/>
          </a:bodyPr>
          <a:lstStyle/>
          <a:p>
            <a:r>
              <a:rPr lang="fr-CH" dirty="0"/>
              <a:t/>
            </a:r>
            <a:br>
              <a:rPr lang="fr-CH" dirty="0"/>
            </a:br>
            <a:r>
              <a:rPr lang="fr-CH" dirty="0" smtClean="0"/>
              <a:t>4) Répertoire </a:t>
            </a:r>
            <a:r>
              <a:rPr lang="fr-CH" dirty="0"/>
              <a:t>électronique </a:t>
            </a:r>
            <a:r>
              <a:rPr lang="fr-CH" dirty="0" smtClean="0"/>
              <a:t>:</a:t>
            </a:r>
            <a:r>
              <a:rPr lang="fr-CH" dirty="0"/>
              <a:t/>
            </a:r>
            <a:br>
              <a:rPr lang="fr-CH" dirty="0"/>
            </a:br>
            <a:endParaRPr lang="en-US" dirty="0"/>
          </a:p>
        </p:txBody>
      </p:sp>
      <p:sp>
        <p:nvSpPr>
          <p:cNvPr id="3" name="Content Placeholder 2"/>
          <p:cNvSpPr>
            <a:spLocks noGrp="1"/>
          </p:cNvSpPr>
          <p:nvPr>
            <p:ph idx="1"/>
          </p:nvPr>
        </p:nvSpPr>
        <p:spPr/>
        <p:txBody>
          <a:bodyPr>
            <a:normAutofit fontScale="55000" lnSpcReduction="20000"/>
          </a:bodyPr>
          <a:lstStyle/>
          <a:p>
            <a:endParaRPr lang="fr-CH" dirty="0"/>
          </a:p>
          <a:p>
            <a:pPr marL="0" indent="0">
              <a:buNone/>
            </a:pPr>
            <a:r>
              <a:rPr lang="fr-CH" sz="3600" dirty="0" smtClean="0"/>
              <a:t>Le </a:t>
            </a:r>
            <a:r>
              <a:rPr lang="fr-CH" sz="3600" dirty="0"/>
              <a:t>représentant en douane doit tenir un répertoire électronique dans la forme prescrite par ‎l’ADA. :‎</a:t>
            </a:r>
          </a:p>
          <a:p>
            <a:pPr marL="0" indent="0">
              <a:buNone/>
            </a:pPr>
            <a:r>
              <a:rPr lang="fr-CH" sz="3600" dirty="0"/>
              <a:t>Ce répertoire électronique doit contenir au minimum les données suivantes :</a:t>
            </a:r>
            <a:r>
              <a:rPr lang="fr-CH" sz="3600" dirty="0" smtClean="0"/>
              <a:t>‎</a:t>
            </a:r>
          </a:p>
          <a:p>
            <a:pPr marL="0" indent="0">
              <a:buNone/>
            </a:pPr>
            <a:endParaRPr lang="fr-CH" sz="3600" dirty="0"/>
          </a:p>
          <a:p>
            <a:pPr marL="0" indent="0">
              <a:buNone/>
            </a:pPr>
            <a:r>
              <a:rPr lang="fr-CH" sz="3600" dirty="0" smtClean="0"/>
              <a:t>‎</a:t>
            </a:r>
            <a:r>
              <a:rPr lang="fr-CH" sz="3600" dirty="0"/>
              <a:t>9°‎	Bureau ‎de ‎douane ‎</a:t>
            </a:r>
          </a:p>
          <a:p>
            <a:pPr marL="0" indent="0">
              <a:buNone/>
            </a:pPr>
            <a:r>
              <a:rPr lang="fr-CH" sz="3600" dirty="0"/>
              <a:t>‎10°‎	MRN de la déclaration en douane‎ et de la déclaration de réexportation</a:t>
            </a:r>
          </a:p>
          <a:p>
            <a:pPr marL="0" indent="0">
              <a:buNone/>
            </a:pPr>
            <a:r>
              <a:rPr lang="fr-CH" sz="3600" dirty="0"/>
              <a:t>‎11°‎	Sommes payées à titre :‎</a:t>
            </a:r>
          </a:p>
          <a:p>
            <a:pPr marL="0" indent="0">
              <a:buNone/>
            </a:pPr>
            <a:r>
              <a:rPr lang="fr-CH" sz="3600" dirty="0"/>
              <a:t>‎(a)‎	de la dette douanière visée à l’article 5, point 18°, du code des douanes de l’Union, ‎y compris ‎‎les suppléments de ces droits ; ‎</a:t>
            </a:r>
          </a:p>
          <a:p>
            <a:pPr marL="0" indent="0">
              <a:buNone/>
            </a:pPr>
            <a:r>
              <a:rPr lang="fr-CH" sz="3600" dirty="0"/>
              <a:t>‎(b)‎	des accises et des accises spéciales, y compris les suppléments de ces droits ;‎</a:t>
            </a:r>
          </a:p>
          <a:p>
            <a:pPr marL="0" indent="0">
              <a:buNone/>
            </a:pPr>
            <a:r>
              <a:rPr lang="fr-CH" sz="3600" dirty="0"/>
              <a:t>‎(c)‎	de la taxe sur la valeur ajoutée, y compris les suppléments de la TVA ; et‎</a:t>
            </a:r>
          </a:p>
          <a:p>
            <a:pPr marL="0" indent="0">
              <a:buNone/>
            </a:pPr>
            <a:r>
              <a:rPr lang="fr-CH" sz="3600" dirty="0"/>
              <a:t>‎(d)‎	de l’amende</a:t>
            </a:r>
          </a:p>
          <a:p>
            <a:pPr marL="0" indent="0">
              <a:buNone/>
            </a:pPr>
            <a:r>
              <a:rPr lang="fr-CH" sz="3600" dirty="0"/>
              <a:t>‎12°‎	Cautionnement </a:t>
            </a:r>
            <a:r>
              <a:rPr lang="fr-CH" sz="3600" dirty="0" smtClean="0"/>
              <a:t>‎</a:t>
            </a:r>
            <a:endParaRPr lang="fr-CH" sz="3600" dirty="0"/>
          </a:p>
        </p:txBody>
      </p:sp>
      <p:sp>
        <p:nvSpPr>
          <p:cNvPr id="4" name="Slide Number Placeholder 3"/>
          <p:cNvSpPr>
            <a:spLocks noGrp="1"/>
          </p:cNvSpPr>
          <p:nvPr>
            <p:ph type="sldNum" sz="quarter" idx="12"/>
          </p:nvPr>
        </p:nvSpPr>
        <p:spPr/>
        <p:txBody>
          <a:bodyPr/>
          <a:lstStyle/>
          <a:p>
            <a:fld id="{C58F520E-0D3C-4C73-96DF-B271C0F692B0}" type="slidenum">
              <a:rPr lang="lb-LU" smtClean="0"/>
              <a:t>49</a:t>
            </a:fld>
            <a:endParaRPr lang="lb-LU"/>
          </a:p>
        </p:txBody>
      </p:sp>
    </p:spTree>
    <p:extLst>
      <p:ext uri="{BB962C8B-B14F-4D97-AF65-F5344CB8AC3E}">
        <p14:creationId xmlns:p14="http://schemas.microsoft.com/office/powerpoint/2010/main" val="46091343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60450"/>
            <a:ext cx="10515600" cy="984481"/>
          </a:xfrm>
        </p:spPr>
        <p:txBody>
          <a:bodyPr>
            <a:normAutofit fontScale="90000"/>
          </a:bodyPr>
          <a:lstStyle/>
          <a:p>
            <a:r>
              <a:rPr lang="fr-CH" dirty="0"/>
              <a:t/>
            </a:r>
            <a:br>
              <a:rPr lang="fr-CH" dirty="0"/>
            </a:br>
            <a:r>
              <a:rPr lang="fr-CH" dirty="0" smtClean="0"/>
              <a:t>4) Répertoire </a:t>
            </a:r>
            <a:r>
              <a:rPr lang="fr-CH" dirty="0"/>
              <a:t>électronique </a:t>
            </a:r>
            <a:r>
              <a:rPr lang="fr-CH" dirty="0" smtClean="0"/>
              <a:t>:</a:t>
            </a:r>
            <a:r>
              <a:rPr lang="fr-CH" dirty="0"/>
              <a:t/>
            </a:r>
            <a:br>
              <a:rPr lang="fr-CH" dirty="0"/>
            </a:br>
            <a:endParaRPr lang="en-US" dirty="0"/>
          </a:p>
        </p:txBody>
      </p:sp>
      <p:sp>
        <p:nvSpPr>
          <p:cNvPr id="3" name="Content Placeholder 2"/>
          <p:cNvSpPr>
            <a:spLocks noGrp="1"/>
          </p:cNvSpPr>
          <p:nvPr>
            <p:ph idx="1"/>
          </p:nvPr>
        </p:nvSpPr>
        <p:spPr>
          <a:xfrm>
            <a:off x="838200" y="1913307"/>
            <a:ext cx="10515600" cy="4351338"/>
          </a:xfrm>
        </p:spPr>
        <p:txBody>
          <a:bodyPr>
            <a:normAutofit fontScale="92500" lnSpcReduction="20000"/>
          </a:bodyPr>
          <a:lstStyle/>
          <a:p>
            <a:endParaRPr lang="fr-CH" dirty="0"/>
          </a:p>
          <a:p>
            <a:pPr marL="0" indent="0">
              <a:buNone/>
            </a:pPr>
            <a:r>
              <a:rPr lang="fr-CH" dirty="0" smtClean="0"/>
              <a:t>Le </a:t>
            </a:r>
            <a:r>
              <a:rPr lang="fr-CH" dirty="0"/>
              <a:t>représentant en douane </a:t>
            </a:r>
            <a:r>
              <a:rPr lang="fr-CH" dirty="0" smtClean="0"/>
              <a:t>inscrit </a:t>
            </a:r>
            <a:r>
              <a:rPr lang="fr-CH" dirty="0"/>
              <a:t>séparément, le jour même du dépôt de la déclaration, </a:t>
            </a:r>
            <a:r>
              <a:rPr lang="fr-CH" dirty="0" smtClean="0"/>
              <a:t>sous un numéro particulier, </a:t>
            </a:r>
            <a:r>
              <a:rPr lang="fr-CH" dirty="0"/>
              <a:t>chaque déclaration pour laquelle il est intervenu soit ‎comme représentant indirect soit ‎comme représentant </a:t>
            </a:r>
            <a:r>
              <a:rPr lang="fr-CH" dirty="0" smtClean="0"/>
              <a:t>direct</a:t>
            </a:r>
            <a:r>
              <a:rPr lang="fr-CH" dirty="0"/>
              <a:t>.</a:t>
            </a:r>
          </a:p>
          <a:p>
            <a:pPr marL="0" indent="0">
              <a:buNone/>
            </a:pPr>
            <a:r>
              <a:rPr lang="fr-CH" dirty="0"/>
              <a:t>La série ininterrompue peut toutefois recommencer au début de chaque </a:t>
            </a:r>
            <a:r>
              <a:rPr lang="fr-CH" dirty="0" smtClean="0"/>
              <a:t>année.</a:t>
            </a:r>
          </a:p>
          <a:p>
            <a:pPr marL="0" indent="0">
              <a:buNone/>
            </a:pPr>
            <a:r>
              <a:rPr lang="fr-CH" dirty="0" smtClean="0"/>
              <a:t>Le </a:t>
            </a:r>
            <a:r>
              <a:rPr lang="fr-CH" dirty="0"/>
              <a:t>répertoire électronique peut consister en une seule section ou être divisé en ‎différentes sections ‎‎consacrées à l'inscription des déclarations suivant les différents ‎régimes douaniers respectivement la réexportation ‎utilisés.</a:t>
            </a:r>
            <a:r>
              <a:rPr lang="fr-CH" dirty="0" smtClean="0"/>
              <a:t>‎</a:t>
            </a:r>
          </a:p>
          <a:p>
            <a:pPr marL="0" indent="0">
              <a:buNone/>
            </a:pPr>
            <a:r>
              <a:rPr lang="fr-FR" dirty="0"/>
              <a:t>L'inscription des déclarations dans le répertoire électronique doit indiquer pour quel siège ‎‎‎d'exploitation les déclarations sont établies et ces dernières doivent être tenues à la disposition ‎de ‎‎</a:t>
            </a:r>
            <a:r>
              <a:rPr lang="fr-FR" dirty="0" smtClean="0"/>
              <a:t>l’ADA. </a:t>
            </a:r>
            <a:r>
              <a:rPr lang="fr-FR" dirty="0"/>
              <a:t>‎</a:t>
            </a:r>
            <a:endParaRPr lang="fr-CH" dirty="0" smtClean="0"/>
          </a:p>
          <a:p>
            <a:pPr marL="0" indent="0">
              <a:buNone/>
            </a:pPr>
            <a:endParaRPr lang="fr-CH" dirty="0"/>
          </a:p>
          <a:p>
            <a:endParaRPr lang="fr-CH" dirty="0"/>
          </a:p>
          <a:p>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50</a:t>
            </a:fld>
            <a:endParaRPr lang="lb-LU"/>
          </a:p>
        </p:txBody>
      </p:sp>
    </p:spTree>
    <p:extLst>
      <p:ext uri="{BB962C8B-B14F-4D97-AF65-F5344CB8AC3E}">
        <p14:creationId xmlns:p14="http://schemas.microsoft.com/office/powerpoint/2010/main" val="3162517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60450"/>
            <a:ext cx="10515600" cy="984481"/>
          </a:xfrm>
        </p:spPr>
        <p:txBody>
          <a:bodyPr>
            <a:normAutofit fontScale="90000"/>
          </a:bodyPr>
          <a:lstStyle/>
          <a:p>
            <a:r>
              <a:rPr lang="fr-CH" dirty="0"/>
              <a:t/>
            </a:r>
            <a:br>
              <a:rPr lang="fr-CH" dirty="0"/>
            </a:br>
            <a:r>
              <a:rPr lang="fr-CH" dirty="0" smtClean="0"/>
              <a:t>4) Répertoire </a:t>
            </a:r>
            <a:r>
              <a:rPr lang="fr-CH" dirty="0"/>
              <a:t>électronique </a:t>
            </a:r>
            <a:r>
              <a:rPr lang="fr-CH" dirty="0" smtClean="0"/>
              <a:t>:</a:t>
            </a:r>
            <a:r>
              <a:rPr lang="fr-CH" dirty="0"/>
              <a:t/>
            </a:r>
            <a:br>
              <a:rPr lang="fr-CH" dirty="0"/>
            </a:br>
            <a:endParaRPr lang="en-US" dirty="0"/>
          </a:p>
        </p:txBody>
      </p:sp>
      <p:sp>
        <p:nvSpPr>
          <p:cNvPr id="3" name="Content Placeholder 2"/>
          <p:cNvSpPr>
            <a:spLocks noGrp="1"/>
          </p:cNvSpPr>
          <p:nvPr>
            <p:ph idx="1"/>
          </p:nvPr>
        </p:nvSpPr>
        <p:spPr/>
        <p:txBody>
          <a:bodyPr>
            <a:normAutofit/>
          </a:bodyPr>
          <a:lstStyle/>
          <a:p>
            <a:endParaRPr lang="fr-CH" dirty="0"/>
          </a:p>
          <a:p>
            <a:pPr marL="0" indent="0">
              <a:buNone/>
            </a:pPr>
            <a:r>
              <a:rPr lang="fr-CH" dirty="0"/>
              <a:t>Les données du répertoire doivent être identiques avec les données de la déclaration.‎</a:t>
            </a:r>
          </a:p>
          <a:p>
            <a:pPr marL="0" indent="0">
              <a:buNone/>
            </a:pPr>
            <a:r>
              <a:rPr lang="fr-CH" dirty="0" smtClean="0"/>
              <a:t>Les </a:t>
            </a:r>
            <a:r>
              <a:rPr lang="fr-CH" dirty="0"/>
              <a:t>corrections des inscriptions doivent être </a:t>
            </a:r>
            <a:r>
              <a:rPr lang="fr-CH" dirty="0" err="1"/>
              <a:t>retraçables</a:t>
            </a:r>
            <a:r>
              <a:rPr lang="fr-CH" dirty="0"/>
              <a:t>, conservées et être ‎consultables par l’ADA‎.‎</a:t>
            </a:r>
          </a:p>
          <a:p>
            <a:pPr marL="0" indent="0">
              <a:buNone/>
            </a:pPr>
            <a:r>
              <a:rPr lang="fr-CH" dirty="0" smtClean="0"/>
              <a:t>Le </a:t>
            </a:r>
            <a:r>
              <a:rPr lang="fr-CH" dirty="0"/>
              <a:t>numéro de l’inscription est mentionné en même temps que </a:t>
            </a:r>
            <a:r>
              <a:rPr lang="fr-CH" dirty="0" smtClean="0"/>
              <a:t>le numéro </a:t>
            </a:r>
            <a:r>
              <a:rPr lang="fr-CH" dirty="0"/>
              <a:t>‎d‘immatriculation de ‎représentant en douane sur les documents correspondants ‎remis à la douane.‎</a:t>
            </a:r>
          </a:p>
          <a:p>
            <a:endParaRPr lang="fr-CH" dirty="0"/>
          </a:p>
          <a:p>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51</a:t>
            </a:fld>
            <a:endParaRPr lang="lb-LU"/>
          </a:p>
        </p:txBody>
      </p:sp>
    </p:spTree>
    <p:extLst>
      <p:ext uri="{BB962C8B-B14F-4D97-AF65-F5344CB8AC3E}">
        <p14:creationId xmlns:p14="http://schemas.microsoft.com/office/powerpoint/2010/main" val="1579529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smtClean="0"/>
              <a:t>5) Décompte des </a:t>
            </a:r>
            <a:r>
              <a:rPr lang="fr-CH" dirty="0"/>
              <a:t>débours et ‎rémunérations </a:t>
            </a:r>
            <a:r>
              <a:rPr lang="fr-CH" dirty="0" smtClean="0"/>
              <a:t>:</a:t>
            </a:r>
            <a:endParaRPr lang="en-US" dirty="0"/>
          </a:p>
        </p:txBody>
      </p:sp>
      <p:sp>
        <p:nvSpPr>
          <p:cNvPr id="3" name="Content Placeholder 2"/>
          <p:cNvSpPr>
            <a:spLocks noGrp="1"/>
          </p:cNvSpPr>
          <p:nvPr>
            <p:ph idx="1"/>
          </p:nvPr>
        </p:nvSpPr>
        <p:spPr/>
        <p:txBody>
          <a:bodyPr>
            <a:normAutofit/>
          </a:bodyPr>
          <a:lstStyle/>
          <a:p>
            <a:pPr marL="0" indent="0">
              <a:buNone/>
            </a:pPr>
            <a:r>
              <a:rPr lang="fr-CH" dirty="0" smtClean="0"/>
              <a:t>‎</a:t>
            </a:r>
          </a:p>
          <a:p>
            <a:r>
              <a:rPr lang="fr-CH" dirty="0" smtClean="0"/>
              <a:t>Le </a:t>
            </a:r>
            <a:r>
              <a:rPr lang="fr-CH" dirty="0"/>
              <a:t>représentant en douane doit remettre à chaque client un </a:t>
            </a:r>
            <a:r>
              <a:rPr lang="fr-CH" dirty="0" smtClean="0"/>
              <a:t>décompte de ses débours et ‎rémunérations‎</a:t>
            </a:r>
            <a:endParaRPr lang="fr-CH" dirty="0"/>
          </a:p>
          <a:p>
            <a:r>
              <a:rPr lang="fr-CH" dirty="0" smtClean="0"/>
              <a:t>La </a:t>
            </a:r>
            <a:r>
              <a:rPr lang="fr-CH" dirty="0"/>
              <a:t>copie du décompte à conserver à l'appui du répertoire électronique doit être ‎identique, quant à la ‎‎forme et au contenu, à l'original remis au client</a:t>
            </a:r>
            <a:r>
              <a:rPr lang="fr-CH" dirty="0" smtClean="0"/>
              <a:t>‎</a:t>
            </a:r>
            <a:endParaRPr lang="fr-CH" dirty="0"/>
          </a:p>
          <a:p>
            <a:r>
              <a:rPr lang="fr-CH" dirty="0" smtClean="0"/>
              <a:t>Le </a:t>
            </a:r>
            <a:r>
              <a:rPr lang="fr-CH" dirty="0"/>
              <a:t>montant des droits, taxes ou autres débours portés au ‎‎décompte </a:t>
            </a:r>
            <a:r>
              <a:rPr lang="fr-CH" dirty="0" smtClean="0"/>
              <a:t>‎doit concorder avec </a:t>
            </a:r>
            <a:r>
              <a:rPr lang="fr-CH" dirty="0"/>
              <a:t>la somme qui aurait dû ‎‎être versée </a:t>
            </a:r>
            <a:r>
              <a:rPr lang="fr-CH" dirty="0" smtClean="0"/>
              <a:t>à l’ADA.</a:t>
            </a: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52</a:t>
            </a:fld>
            <a:endParaRPr lang="lb-LU"/>
          </a:p>
        </p:txBody>
      </p:sp>
    </p:spTree>
    <p:extLst>
      <p:ext uri="{BB962C8B-B14F-4D97-AF65-F5344CB8AC3E}">
        <p14:creationId xmlns:p14="http://schemas.microsoft.com/office/powerpoint/2010/main" val="2395069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down)">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6) Conservation des documents:</a:t>
            </a:r>
            <a:endParaRPr lang="en-US" dirty="0"/>
          </a:p>
        </p:txBody>
      </p:sp>
      <p:sp>
        <p:nvSpPr>
          <p:cNvPr id="3" name="Content Placeholder 2"/>
          <p:cNvSpPr>
            <a:spLocks noGrp="1"/>
          </p:cNvSpPr>
          <p:nvPr>
            <p:ph idx="1"/>
          </p:nvPr>
        </p:nvSpPr>
        <p:spPr>
          <a:xfrm>
            <a:off x="838200" y="1825624"/>
            <a:ext cx="10515600" cy="4738013"/>
          </a:xfrm>
        </p:spPr>
        <p:txBody>
          <a:bodyPr>
            <a:normAutofit/>
          </a:bodyPr>
          <a:lstStyle/>
          <a:p>
            <a:pPr marL="0" indent="0">
              <a:buNone/>
            </a:pPr>
            <a:r>
              <a:rPr lang="fr-CH" dirty="0" smtClean="0"/>
              <a:t>Le </a:t>
            </a:r>
            <a:r>
              <a:rPr lang="fr-CH" dirty="0"/>
              <a:t>représentant en douane doit disposer sur le territoire luxembourgeois d'un siège ‎d'exploitation afin de conserver les documents ‎d’accompagnement :</a:t>
            </a:r>
            <a:r>
              <a:rPr lang="fr-CH" dirty="0" smtClean="0"/>
              <a:t>‎</a:t>
            </a:r>
            <a:endParaRPr lang="fr-CH" dirty="0"/>
          </a:p>
          <a:p>
            <a:r>
              <a:rPr lang="fr-CH" dirty="0" smtClean="0"/>
              <a:t>Le </a:t>
            </a:r>
            <a:r>
              <a:rPr lang="fr-CH" dirty="0"/>
              <a:t>répertoire doit être conservé pendant trois ans après sa clôture avec, à l’appui, ‎toutes les pièces relatives au mandat et aux instructions données par les clients en vue ‎de l’accomplissement des formalités douanières et celles relatives au règlement des ‎comptes entre « le représentant en douane» et ses clients.</a:t>
            </a:r>
            <a:r>
              <a:rPr lang="fr-CH" dirty="0" smtClean="0"/>
              <a:t>‎</a:t>
            </a:r>
            <a:endParaRPr lang="fr-CH" dirty="0"/>
          </a:p>
          <a:p>
            <a:r>
              <a:rPr lang="fr-CH" dirty="0" smtClean="0"/>
              <a:t>Le </a:t>
            </a:r>
            <a:r>
              <a:rPr lang="fr-CH" dirty="0"/>
              <a:t>représentant en douane qui cesse sa profession doit faire connaître à l’ADA ‎l'endroit où est ‎conservé le répertoire électronique et tous les documents ‎d’accompagnement. ‎</a:t>
            </a:r>
          </a:p>
          <a:p>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53</a:t>
            </a:fld>
            <a:endParaRPr lang="lb-LU"/>
          </a:p>
        </p:txBody>
      </p:sp>
    </p:spTree>
    <p:extLst>
      <p:ext uri="{BB962C8B-B14F-4D97-AF65-F5344CB8AC3E}">
        <p14:creationId xmlns:p14="http://schemas.microsoft.com/office/powerpoint/2010/main" val="1895720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ntr" presetSubtype="10"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6"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endParaRPr lang="fr-CH" dirty="0" smtClean="0"/>
          </a:p>
          <a:p>
            <a:pPr marL="0" indent="0">
              <a:buNone/>
            </a:pPr>
            <a:r>
              <a:rPr lang="fr-CH" dirty="0" smtClean="0"/>
              <a:t>IV</a:t>
            </a:r>
            <a:r>
              <a:rPr lang="fr-CH" dirty="0"/>
              <a:t>)‎	AMENDES ET PEINES EN CAS D’INFRACTIONS ‎</a:t>
            </a: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54</a:t>
            </a:fld>
            <a:endParaRPr lang="lb-LU"/>
          </a:p>
        </p:txBody>
      </p:sp>
    </p:spTree>
    <p:extLst>
      <p:ext uri="{BB962C8B-B14F-4D97-AF65-F5344CB8AC3E}">
        <p14:creationId xmlns:p14="http://schemas.microsoft.com/office/powerpoint/2010/main" val="411751158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Amendes et Peines:</a:t>
            </a:r>
            <a:endParaRPr lang="en-US" dirty="0"/>
          </a:p>
        </p:txBody>
      </p:sp>
      <p:sp>
        <p:nvSpPr>
          <p:cNvPr id="3" name="Content Placeholder 2"/>
          <p:cNvSpPr>
            <a:spLocks noGrp="1"/>
          </p:cNvSpPr>
          <p:nvPr>
            <p:ph idx="1"/>
          </p:nvPr>
        </p:nvSpPr>
        <p:spPr>
          <a:xfrm>
            <a:off x="838200" y="1825625"/>
            <a:ext cx="10515600" cy="4825696"/>
          </a:xfrm>
        </p:spPr>
        <p:txBody>
          <a:bodyPr>
            <a:normAutofit fontScale="85000" lnSpcReduction="20000"/>
          </a:bodyPr>
          <a:lstStyle/>
          <a:p>
            <a:pPr marL="0" indent="0">
              <a:buNone/>
            </a:pPr>
            <a:r>
              <a:rPr lang="fr-CH" dirty="0"/>
              <a:t>L’ADA peut interdire, pour la durée d’un ou de six mois, le représentant en douane convaincu :‎</a:t>
            </a:r>
          </a:p>
          <a:p>
            <a:endParaRPr lang="fr-CH" dirty="0"/>
          </a:p>
          <a:p>
            <a:r>
              <a:rPr lang="fr-CH" dirty="0" smtClean="0"/>
              <a:t>d’avoir </a:t>
            </a:r>
            <a:r>
              <a:rPr lang="fr-CH" dirty="0"/>
              <a:t>méconnu, au détriment du Trésor, les instructions données par son client, importateur ‎ou exportateur de la marchandise, en vue de la déclaration des bases de la perception des ‎droits ou pour le calcul des montants à octroyer à l’importation ou à l’exportation ou des droits ‎d’accise.</a:t>
            </a:r>
            <a:r>
              <a:rPr lang="fr-CH" dirty="0" smtClean="0"/>
              <a:t>‎</a:t>
            </a:r>
          </a:p>
          <a:p>
            <a:r>
              <a:rPr lang="fr-CH" dirty="0" smtClean="0"/>
              <a:t>d’avoir </a:t>
            </a:r>
            <a:r>
              <a:rPr lang="fr-CH" dirty="0"/>
              <a:t>trompé son client dans le décompte;‎</a:t>
            </a:r>
          </a:p>
          <a:p>
            <a:r>
              <a:rPr lang="fr-CH" dirty="0" smtClean="0"/>
              <a:t>d’avoir </a:t>
            </a:r>
            <a:r>
              <a:rPr lang="fr-CH" dirty="0"/>
              <a:t>annexé au répertoire une copie incomplète ou inexacte du décompte;‎</a:t>
            </a:r>
          </a:p>
          <a:p>
            <a:r>
              <a:rPr lang="fr-CH" dirty="0" smtClean="0"/>
              <a:t>d’avoir </a:t>
            </a:r>
            <a:r>
              <a:rPr lang="fr-CH" dirty="0"/>
              <a:t>omis d’inscrire au répertoire une ou plusieurs opérations.‎</a:t>
            </a:r>
          </a:p>
          <a:p>
            <a:r>
              <a:rPr lang="fr-CH" dirty="0" smtClean="0"/>
              <a:t>d’avoir </a:t>
            </a:r>
            <a:r>
              <a:rPr lang="fr-CH" dirty="0"/>
              <a:t>refusé de communiquer le répertoire ou les documents y </a:t>
            </a:r>
            <a:r>
              <a:rPr lang="fr-CH" dirty="0" smtClean="0"/>
              <a:t>relatifs</a:t>
            </a:r>
          </a:p>
          <a:p>
            <a:endParaRPr lang="fr-CH" dirty="0"/>
          </a:p>
          <a:p>
            <a:pPr marL="0" indent="0">
              <a:buNone/>
            </a:pPr>
            <a:r>
              <a:rPr lang="fr-CH" dirty="0" smtClean="0">
                <a:sym typeface="Wingdings" panose="05000000000000000000" pitchFamily="2" charset="2"/>
              </a:rPr>
              <a:t> 	</a:t>
            </a:r>
            <a:r>
              <a:rPr lang="fr-CH" dirty="0" smtClean="0"/>
              <a:t>En </a:t>
            </a:r>
            <a:r>
              <a:rPr lang="fr-CH" dirty="0"/>
              <a:t>cas de récidive, le représentant en douane est rayé définitivement du </a:t>
            </a:r>
            <a:r>
              <a:rPr lang="fr-CH" dirty="0" smtClean="0"/>
              <a:t>	registre d’immatriculation</a:t>
            </a:r>
            <a:r>
              <a:rPr lang="fr-CH" dirty="0"/>
              <a:t>.‎</a:t>
            </a:r>
          </a:p>
          <a:p>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55</a:t>
            </a:fld>
            <a:endParaRPr lang="lb-LU"/>
          </a:p>
        </p:txBody>
      </p:sp>
    </p:spTree>
    <p:extLst>
      <p:ext uri="{BB962C8B-B14F-4D97-AF65-F5344CB8AC3E}">
        <p14:creationId xmlns:p14="http://schemas.microsoft.com/office/powerpoint/2010/main" val="1338575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6" presetClass="entr" presetSubtype="0" fill="hold"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wipe(down)">
                                      <p:cBhvr>
                                        <p:cTn id="41" dur="580">
                                          <p:stCondLst>
                                            <p:cond delay="0"/>
                                          </p:stCondLst>
                                        </p:cTn>
                                        <p:tgtEl>
                                          <p:spTgt spid="3">
                                            <p:txEl>
                                              <p:pRg st="8" end="8"/>
                                            </p:txEl>
                                          </p:spTgt>
                                        </p:tgtEl>
                                      </p:cBhvr>
                                    </p:animEffect>
                                    <p:anim calcmode="lin" valueType="num">
                                      <p:cBhvr>
                                        <p:cTn id="42" dur="1822" tmFilter="0,0; 0.14,0.36; 0.43,0.73; 0.71,0.91; 1.0,1.0">
                                          <p:stCondLst>
                                            <p:cond delay="0"/>
                                          </p:stCondLst>
                                        </p:cTn>
                                        <p:tgtEl>
                                          <p:spTgt spid="3">
                                            <p:txEl>
                                              <p:pRg st="8" end="8"/>
                                            </p:txEl>
                                          </p:spTgt>
                                        </p:tgtEl>
                                        <p:attrNameLst>
                                          <p:attrName>ppt_x</p:attrName>
                                        </p:attrNameLst>
                                      </p:cBhvr>
                                      <p:tavLst>
                                        <p:tav tm="0">
                                          <p:val>
                                            <p:strVal val="#ppt_x-0.25"/>
                                          </p:val>
                                        </p:tav>
                                        <p:tav tm="100000">
                                          <p:val>
                                            <p:strVal val="#ppt_x"/>
                                          </p:val>
                                        </p:tav>
                                      </p:tavLst>
                                    </p:anim>
                                    <p:anim calcmode="lin" valueType="num">
                                      <p:cBhvr>
                                        <p:cTn id="43" dur="664" tmFilter="0.0,0.0; 0.25,0.07; 0.50,0.2; 0.75,0.467; 1.0,1.0">
                                          <p:stCondLst>
                                            <p:cond delay="0"/>
                                          </p:stCondLst>
                                        </p:cTn>
                                        <p:tgtEl>
                                          <p:spTgt spid="3">
                                            <p:txEl>
                                              <p:pRg st="8" end="8"/>
                                            </p:txEl>
                                          </p:spTgt>
                                        </p:tgtEl>
                                        <p:attrNameLst>
                                          <p:attrName>ppt_y</p:attrName>
                                        </p:attrNameLst>
                                      </p:cBhvr>
                                      <p:tavLst>
                                        <p:tav tm="0" fmla="#ppt_y-sin(pi*$)/3">
                                          <p:val>
                                            <p:fltVal val="0.5"/>
                                          </p:val>
                                        </p:tav>
                                        <p:tav tm="100000">
                                          <p:val>
                                            <p:fltVal val="1"/>
                                          </p:val>
                                        </p:tav>
                                      </p:tavLst>
                                    </p:anim>
                                    <p:anim calcmode="lin" valueType="num">
                                      <p:cBhvr>
                                        <p:cTn id="44" dur="664" tmFilter="0, 0; 0.125,0.2665; 0.25,0.4; 0.375,0.465; 0.5,0.5;  0.625,0.535; 0.75,0.6; 0.875,0.7335; 1,1">
                                          <p:stCondLst>
                                            <p:cond delay="664"/>
                                          </p:stCondLst>
                                        </p:cTn>
                                        <p:tgtEl>
                                          <p:spTgt spid="3">
                                            <p:txEl>
                                              <p:pRg st="8" end="8"/>
                                            </p:txEl>
                                          </p:spTgt>
                                        </p:tgtEl>
                                        <p:attrNameLst>
                                          <p:attrName>ppt_y</p:attrName>
                                        </p:attrNameLst>
                                      </p:cBhvr>
                                      <p:tavLst>
                                        <p:tav tm="0" fmla="#ppt_y-sin(pi*$)/9">
                                          <p:val>
                                            <p:fltVal val="0"/>
                                          </p:val>
                                        </p:tav>
                                        <p:tav tm="100000">
                                          <p:val>
                                            <p:fltVal val="1"/>
                                          </p:val>
                                        </p:tav>
                                      </p:tavLst>
                                    </p:anim>
                                    <p:anim calcmode="lin" valueType="num">
                                      <p:cBhvr>
                                        <p:cTn id="45" dur="332" tmFilter="0, 0; 0.125,0.2665; 0.25,0.4; 0.375,0.465; 0.5,0.5;  0.625,0.535; 0.75,0.6; 0.875,0.7335; 1,1">
                                          <p:stCondLst>
                                            <p:cond delay="1324"/>
                                          </p:stCondLst>
                                        </p:cTn>
                                        <p:tgtEl>
                                          <p:spTgt spid="3">
                                            <p:txEl>
                                              <p:pRg st="8" end="8"/>
                                            </p:txEl>
                                          </p:spTgt>
                                        </p:tgtEl>
                                        <p:attrNameLst>
                                          <p:attrName>ppt_y</p:attrName>
                                        </p:attrNameLst>
                                      </p:cBhvr>
                                      <p:tavLst>
                                        <p:tav tm="0" fmla="#ppt_y-sin(pi*$)/27">
                                          <p:val>
                                            <p:fltVal val="0"/>
                                          </p:val>
                                        </p:tav>
                                        <p:tav tm="100000">
                                          <p:val>
                                            <p:fltVal val="1"/>
                                          </p:val>
                                        </p:tav>
                                      </p:tavLst>
                                    </p:anim>
                                    <p:anim calcmode="lin" valueType="num">
                                      <p:cBhvr>
                                        <p:cTn id="46" dur="164" tmFilter="0, 0; 0.125,0.2665; 0.25,0.4; 0.375,0.465; 0.5,0.5;  0.625,0.535; 0.75,0.6; 0.875,0.7335; 1,1">
                                          <p:stCondLst>
                                            <p:cond delay="1656"/>
                                          </p:stCondLst>
                                        </p:cTn>
                                        <p:tgtEl>
                                          <p:spTgt spid="3">
                                            <p:txEl>
                                              <p:pRg st="8" end="8"/>
                                            </p:txEl>
                                          </p:spTgt>
                                        </p:tgtEl>
                                        <p:attrNameLst>
                                          <p:attrName>ppt_y</p:attrName>
                                        </p:attrNameLst>
                                      </p:cBhvr>
                                      <p:tavLst>
                                        <p:tav tm="0" fmla="#ppt_y-sin(pi*$)/81">
                                          <p:val>
                                            <p:fltVal val="0"/>
                                          </p:val>
                                        </p:tav>
                                        <p:tav tm="100000">
                                          <p:val>
                                            <p:fltVal val="1"/>
                                          </p:val>
                                        </p:tav>
                                      </p:tavLst>
                                    </p:anim>
                                    <p:animScale>
                                      <p:cBhvr>
                                        <p:cTn id="47" dur="26">
                                          <p:stCondLst>
                                            <p:cond delay="650"/>
                                          </p:stCondLst>
                                        </p:cTn>
                                        <p:tgtEl>
                                          <p:spTgt spid="3">
                                            <p:txEl>
                                              <p:pRg st="8" end="8"/>
                                            </p:txEl>
                                          </p:spTgt>
                                        </p:tgtEl>
                                      </p:cBhvr>
                                      <p:to x="100000" y="60000"/>
                                    </p:animScale>
                                    <p:animScale>
                                      <p:cBhvr>
                                        <p:cTn id="48" dur="166" decel="50000">
                                          <p:stCondLst>
                                            <p:cond delay="676"/>
                                          </p:stCondLst>
                                        </p:cTn>
                                        <p:tgtEl>
                                          <p:spTgt spid="3">
                                            <p:txEl>
                                              <p:pRg st="8" end="8"/>
                                            </p:txEl>
                                          </p:spTgt>
                                        </p:tgtEl>
                                      </p:cBhvr>
                                      <p:to x="100000" y="100000"/>
                                    </p:animScale>
                                    <p:animScale>
                                      <p:cBhvr>
                                        <p:cTn id="49" dur="26">
                                          <p:stCondLst>
                                            <p:cond delay="1312"/>
                                          </p:stCondLst>
                                        </p:cTn>
                                        <p:tgtEl>
                                          <p:spTgt spid="3">
                                            <p:txEl>
                                              <p:pRg st="8" end="8"/>
                                            </p:txEl>
                                          </p:spTgt>
                                        </p:tgtEl>
                                      </p:cBhvr>
                                      <p:to x="100000" y="80000"/>
                                    </p:animScale>
                                    <p:animScale>
                                      <p:cBhvr>
                                        <p:cTn id="50" dur="166" decel="50000">
                                          <p:stCondLst>
                                            <p:cond delay="1338"/>
                                          </p:stCondLst>
                                        </p:cTn>
                                        <p:tgtEl>
                                          <p:spTgt spid="3">
                                            <p:txEl>
                                              <p:pRg st="8" end="8"/>
                                            </p:txEl>
                                          </p:spTgt>
                                        </p:tgtEl>
                                      </p:cBhvr>
                                      <p:to x="100000" y="100000"/>
                                    </p:animScale>
                                    <p:animScale>
                                      <p:cBhvr>
                                        <p:cTn id="51" dur="26">
                                          <p:stCondLst>
                                            <p:cond delay="1642"/>
                                          </p:stCondLst>
                                        </p:cTn>
                                        <p:tgtEl>
                                          <p:spTgt spid="3">
                                            <p:txEl>
                                              <p:pRg st="8" end="8"/>
                                            </p:txEl>
                                          </p:spTgt>
                                        </p:tgtEl>
                                      </p:cBhvr>
                                      <p:to x="100000" y="90000"/>
                                    </p:animScale>
                                    <p:animScale>
                                      <p:cBhvr>
                                        <p:cTn id="52" dur="166" decel="50000">
                                          <p:stCondLst>
                                            <p:cond delay="1668"/>
                                          </p:stCondLst>
                                        </p:cTn>
                                        <p:tgtEl>
                                          <p:spTgt spid="3">
                                            <p:txEl>
                                              <p:pRg st="8" end="8"/>
                                            </p:txEl>
                                          </p:spTgt>
                                        </p:tgtEl>
                                      </p:cBhvr>
                                      <p:to x="100000" y="100000"/>
                                    </p:animScale>
                                    <p:animScale>
                                      <p:cBhvr>
                                        <p:cTn id="53" dur="26">
                                          <p:stCondLst>
                                            <p:cond delay="1808"/>
                                          </p:stCondLst>
                                        </p:cTn>
                                        <p:tgtEl>
                                          <p:spTgt spid="3">
                                            <p:txEl>
                                              <p:pRg st="8" end="8"/>
                                            </p:txEl>
                                          </p:spTgt>
                                        </p:tgtEl>
                                      </p:cBhvr>
                                      <p:to x="100000" y="95000"/>
                                    </p:animScale>
                                    <p:animScale>
                                      <p:cBhvr>
                                        <p:cTn id="54" dur="166" decel="50000">
                                          <p:stCondLst>
                                            <p:cond delay="1834"/>
                                          </p:stCondLst>
                                        </p:cTn>
                                        <p:tgtEl>
                                          <p:spTgt spid="3">
                                            <p:txEl>
                                              <p:pRg st="8" end="8"/>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93370"/>
            <a:ext cx="10515600" cy="1449994"/>
          </a:xfrm>
        </p:spPr>
        <p:txBody>
          <a:bodyPr>
            <a:normAutofit/>
          </a:bodyPr>
          <a:lstStyle/>
          <a:p>
            <a:r>
              <a:rPr lang="fr-FR" dirty="0" smtClean="0"/>
              <a:t/>
            </a:r>
            <a:br>
              <a:rPr lang="fr-FR" dirty="0" smtClean="0"/>
            </a:br>
            <a:r>
              <a:rPr lang="fr-FR" dirty="0" smtClean="0"/>
              <a:t>Merci pour votre attention</a:t>
            </a:r>
            <a:endParaRPr lang="en-US" dirty="0"/>
          </a:p>
        </p:txBody>
      </p:sp>
      <p:sp>
        <p:nvSpPr>
          <p:cNvPr id="3" name="Content Placeholder 2"/>
          <p:cNvSpPr>
            <a:spLocks noGrp="1"/>
          </p:cNvSpPr>
          <p:nvPr>
            <p:ph idx="1"/>
          </p:nvPr>
        </p:nvSpPr>
        <p:spPr>
          <a:xfrm>
            <a:off x="838200" y="1487978"/>
            <a:ext cx="10515600" cy="4688985"/>
          </a:xfrm>
        </p:spPr>
        <p:txBody>
          <a:bodyPr/>
          <a:lstStyle/>
          <a:p>
            <a:pPr marL="0" indent="0">
              <a:buNone/>
            </a:pPr>
            <a:endParaRPr lang="fr-FR" dirty="0" smtClean="0"/>
          </a:p>
          <a:p>
            <a:pPr marL="0" indent="0">
              <a:buNone/>
            </a:pPr>
            <a:endParaRPr lang="fr-FR" dirty="0"/>
          </a:p>
          <a:p>
            <a:pPr marL="0" indent="0">
              <a:buNone/>
            </a:pPr>
            <a:endParaRPr lang="fr-FR" dirty="0" smtClean="0"/>
          </a:p>
          <a:p>
            <a:pPr marL="0" indent="0">
              <a:buNone/>
            </a:pPr>
            <a:r>
              <a:rPr lang="fr-FR" sz="3200" dirty="0" smtClean="0"/>
              <a:t>Questions ?</a:t>
            </a:r>
            <a:endParaRPr lang="en-US" sz="3200" dirty="0"/>
          </a:p>
        </p:txBody>
      </p:sp>
      <p:sp>
        <p:nvSpPr>
          <p:cNvPr id="4" name="Slide Number Placeholder 3"/>
          <p:cNvSpPr>
            <a:spLocks noGrp="1"/>
          </p:cNvSpPr>
          <p:nvPr>
            <p:ph type="sldNum" sz="quarter" idx="12"/>
          </p:nvPr>
        </p:nvSpPr>
        <p:spPr/>
        <p:txBody>
          <a:bodyPr/>
          <a:lstStyle/>
          <a:p>
            <a:fld id="{C58F520E-0D3C-4C73-96DF-B271C0F692B0}" type="slidenum">
              <a:rPr lang="lb-LU" smtClean="0"/>
              <a:t>56</a:t>
            </a:fld>
            <a:endParaRPr lang="lb-LU"/>
          </a:p>
        </p:txBody>
      </p:sp>
    </p:spTree>
    <p:extLst>
      <p:ext uri="{BB962C8B-B14F-4D97-AF65-F5344CB8AC3E}">
        <p14:creationId xmlns:p14="http://schemas.microsoft.com/office/powerpoint/2010/main" val="1913422702"/>
      </p:ext>
    </p:extLst>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4492</Words>
  <Application>Microsoft Office PowerPoint</Application>
  <PresentationFormat>Widescreen</PresentationFormat>
  <Paragraphs>350</Paragraphs>
  <Slides>56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56</vt:i4>
      </vt:variant>
    </vt:vector>
  </HeadingPairs>
  <TitlesOfParts>
    <vt:vector size="61" baseType="lpstr">
      <vt:lpstr>Arial</vt:lpstr>
      <vt:lpstr>Calibri</vt:lpstr>
      <vt:lpstr>Calibri Light</vt:lpstr>
      <vt:lpstr>Wingdings</vt:lpstr>
      <vt:lpstr>Thème Office</vt:lpstr>
      <vt:lpstr>PowerPoint Presentation</vt:lpstr>
      <vt:lpstr>PowerPoint Presentation</vt:lpstr>
      <vt:lpstr>CDU :Article 5 (Définitions) point 6:</vt:lpstr>
      <vt:lpstr>CDU :Article 18 point 1:</vt:lpstr>
      <vt:lpstr>Définitions:</vt:lpstr>
      <vt:lpstr>Représentation directe / indirecte dans le cas d’une mise en libre pratique: </vt:lpstr>
      <vt:lpstr>Débiteurs multiples (art. 84 CDU)</vt:lpstr>
      <vt:lpstr>Responsabilité du représentant en douane</vt:lpstr>
      <vt:lpstr>Loi générale Article 127 point 1:</vt:lpstr>
      <vt:lpstr>Conditions / obligations / modalités pratiques</vt:lpstr>
      <vt:lpstr>Législation</vt:lpstr>
      <vt:lpstr>‎‎La représentation indirecte et la représentation directe peuvent être appliquées : ‎</vt:lpstr>
      <vt:lpstr>‎‎La représentation indirecte et la représentation directe peuvent être appliquées : ‎</vt:lpstr>
      <vt:lpstr>‎‎La représentation indirecte et la représentation directe peuvent être appliquées : ‎</vt:lpstr>
      <vt:lpstr>‎‎La représentation indirecte et la représentation directe peuvent être appliquées : ‎</vt:lpstr>
      <vt:lpstr>‎‎Régime particulier du transit?</vt:lpstr>
      <vt:lpstr>Zone franche</vt:lpstr>
      <vt:lpstr>Quelle type de représentation dans le cas d’une autorisation?</vt:lpstr>
      <vt:lpstr>Exemples:</vt:lpstr>
      <vt:lpstr>Exemples:</vt:lpstr>
      <vt:lpstr>Lieu, où le représentant douanier doit être établi :</vt:lpstr>
      <vt:lpstr>Mandat</vt:lpstr>
      <vt:lpstr>Mandat</vt:lpstr>
      <vt:lpstr> Compte de crédit :‎ </vt:lpstr>
      <vt:lpstr> Compte de crédit :‎ </vt:lpstr>
      <vt:lpstr>PowerPoint Presentation</vt:lpstr>
      <vt:lpstr>Généralités </vt:lpstr>
      <vt:lpstr>La demande doit mentionner :‎</vt:lpstr>
      <vt:lpstr>Pièces à joindre à la demande :‎</vt:lpstr>
      <vt:lpstr>Pièces à joindre à la demande :‎</vt:lpstr>
      <vt:lpstr>Pièces à joindre à la demande :‎</vt:lpstr>
      <vt:lpstr>Pièces à joindre à la demande :‎</vt:lpstr>
      <vt:lpstr>Pièces à joindre à la demande :‎</vt:lpstr>
      <vt:lpstr>Pièces à joindre à la demande :‎</vt:lpstr>
      <vt:lpstr>Pièces à joindre à la demande :‎</vt:lpstr>
      <vt:lpstr>Pièces à joindre à la demande :‎</vt:lpstr>
      <vt:lpstr> Prise de décision par l’ADA:‎ </vt:lpstr>
      <vt:lpstr> Situations en vertu de laquelle l’inscription dans le registre est refusée :‎ </vt:lpstr>
      <vt:lpstr>Liste reprenant les personnes inscrites dans le registre d'immatriculation</vt:lpstr>
      <vt:lpstr>Phase de transition pour les représentants en douane ‎ inscrits à l’ancien « registre ‎d’immatriculation des agents en ‎douane »‎</vt:lpstr>
      <vt:lpstr>Phase de transition pour les représentants en douane ‎ inscrits à l’ancien « registre ‎d’immatriculation des agents en ‎douane »‎</vt:lpstr>
      <vt:lpstr>Phase de transition pour les représentants en douane ‎ inscrits à l’ancien « registre ‎d’immatriculation des agents en ‎douane »‎</vt:lpstr>
      <vt:lpstr>Contrôle du respect des conditions:</vt:lpstr>
      <vt:lpstr>PowerPoint Presentation</vt:lpstr>
      <vt:lpstr> 1) Communication d'informations aux autorités douanières :‎ </vt:lpstr>
      <vt:lpstr> 2) Soin et diligence :‎ </vt:lpstr>
      <vt:lpstr> 3) Notification de toute modification: </vt:lpstr>
      <vt:lpstr> 4) Répertoire électronique : </vt:lpstr>
      <vt:lpstr> 4) Répertoire électronique : </vt:lpstr>
      <vt:lpstr> 4) Répertoire électronique : </vt:lpstr>
      <vt:lpstr> 4) Répertoire électronique : </vt:lpstr>
      <vt:lpstr>5) Décompte des débours et ‎rémunérations :</vt:lpstr>
      <vt:lpstr>6) Conservation des documents:</vt:lpstr>
      <vt:lpstr>PowerPoint Presentation</vt:lpstr>
      <vt:lpstr>Amendes et Peines:</vt:lpstr>
      <vt:lpstr> Merci pour votre attention</vt:lpstr>
    </vt:vector>
  </TitlesOfParts>
  <Company>DOUANES ET ACCISES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ferring</dc:creator>
  <cp:lastModifiedBy>bofferdingd</cp:lastModifiedBy>
  <cp:revision>163</cp:revision>
  <dcterms:created xsi:type="dcterms:W3CDTF">2018-09-26T09:04:10Z</dcterms:created>
  <dcterms:modified xsi:type="dcterms:W3CDTF">2024-10-03T07:33:59Z</dcterms:modified>
</cp:coreProperties>
</file>