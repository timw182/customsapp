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63"/>
  </p:notesMasterIdLst>
  <p:handoutMasterIdLst>
    <p:handoutMasterId r:id="rId64"/>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1" r:id="rId17"/>
    <p:sldId id="273" r:id="rId18"/>
    <p:sldId id="274" r:id="rId19"/>
    <p:sldId id="275" r:id="rId20"/>
    <p:sldId id="276" r:id="rId21"/>
    <p:sldId id="277" r:id="rId22"/>
    <p:sldId id="315" r:id="rId23"/>
    <p:sldId id="278" r:id="rId24"/>
    <p:sldId id="279" r:id="rId25"/>
    <p:sldId id="316" r:id="rId26"/>
    <p:sldId id="317" r:id="rId27"/>
    <p:sldId id="281" r:id="rId28"/>
    <p:sldId id="280"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chlink" initials="m" lastIdx="2" clrIdx="0">
    <p:extLst>
      <p:ext uri="{19B8F6BF-5375-455C-9EA6-DF929625EA0E}">
        <p15:presenceInfo xmlns:p15="http://schemas.microsoft.com/office/powerpoint/2012/main" userId="mschlin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5A5A"/>
    <a:srgbClr val="A5DC69"/>
    <a:srgbClr val="78D2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88" autoAdjust="0"/>
    <p:restoredTop sz="75030" autoAdjust="0"/>
  </p:normalViewPr>
  <p:slideViewPr>
    <p:cSldViewPr snapToGrid="0">
      <p:cViewPr varScale="1">
        <p:scale>
          <a:sx n="100" d="100"/>
          <a:sy n="100" d="100"/>
        </p:scale>
        <p:origin x="96" y="3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AB039E8-4792-4DE3-AA83-F7516F3B65D7}" type="datetimeFigureOut">
              <a:rPr lang="fr-CH" smtClean="0"/>
              <a:t>24.10.2024</a:t>
            </a:fld>
            <a:endParaRPr lang="fr-CH"/>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CH"/>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3207A034-ED28-44E1-8859-77E415D3450D}" type="slidenum">
              <a:rPr lang="fr-CH" smtClean="0"/>
              <a:t>‹#›</a:t>
            </a:fld>
            <a:endParaRPr lang="fr-CH"/>
          </a:p>
        </p:txBody>
      </p:sp>
    </p:spTree>
    <p:extLst>
      <p:ext uri="{BB962C8B-B14F-4D97-AF65-F5344CB8AC3E}">
        <p14:creationId xmlns:p14="http://schemas.microsoft.com/office/powerpoint/2010/main" val="20169117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70131AE-DEF8-44F8-9B6A-3167C94D6B57}" type="datetimeFigureOut">
              <a:rPr lang="en-US" smtClean="0"/>
              <a:t>10/24/2024</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EC2D5BD5-BCCF-4892-A47B-1366A1D542C7}" type="slidenum">
              <a:rPr lang="en-US" smtClean="0"/>
              <a:t>‹#›</a:t>
            </a:fld>
            <a:endParaRPr lang="en-US"/>
          </a:p>
        </p:txBody>
      </p:sp>
    </p:spTree>
    <p:extLst>
      <p:ext uri="{BB962C8B-B14F-4D97-AF65-F5344CB8AC3E}">
        <p14:creationId xmlns:p14="http://schemas.microsoft.com/office/powerpoint/2010/main" val="1975919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fr-FR" b="1" dirty="0" smtClean="0"/>
              <a:t>Den sujet / </a:t>
            </a:r>
            <a:r>
              <a:rPr lang="fr-FR" b="1" dirty="0" err="1" smtClean="0"/>
              <a:t>probléme</a:t>
            </a:r>
            <a:r>
              <a:rPr lang="fr-FR" b="1" dirty="0" smtClean="0"/>
              <a:t> </a:t>
            </a:r>
          </a:p>
          <a:p>
            <a:pPr marL="0" indent="0">
              <a:buFontTx/>
              <a:buNone/>
            </a:pPr>
            <a:r>
              <a:rPr lang="fr-FR" b="0" dirty="0" smtClean="0"/>
              <a:t>Lies den sujet </a:t>
            </a:r>
            <a:r>
              <a:rPr lang="fr-FR" b="0" dirty="0" err="1" smtClean="0"/>
              <a:t>eemol</a:t>
            </a:r>
            <a:r>
              <a:rPr lang="fr-FR" b="0" dirty="0" smtClean="0"/>
              <a:t> fier</a:t>
            </a:r>
          </a:p>
          <a:p>
            <a:pPr marL="0" indent="0">
              <a:buFontTx/>
              <a:buNone/>
            </a:pPr>
            <a:r>
              <a:rPr lang="fr-FR" baseline="0" dirty="0" err="1" smtClean="0"/>
              <a:t>ech</a:t>
            </a:r>
            <a:r>
              <a:rPr lang="fr-FR" baseline="0" dirty="0" smtClean="0"/>
              <a:t> </a:t>
            </a:r>
            <a:r>
              <a:rPr lang="fr-FR" baseline="0" dirty="0" err="1" smtClean="0"/>
              <a:t>hunn</a:t>
            </a:r>
            <a:r>
              <a:rPr lang="fr-FR" baseline="0" dirty="0" smtClean="0"/>
              <a:t> </a:t>
            </a:r>
            <a:r>
              <a:rPr lang="fr-FR" baseline="0" dirty="0" err="1" smtClean="0"/>
              <a:t>am</a:t>
            </a:r>
            <a:r>
              <a:rPr lang="fr-FR" baseline="0" dirty="0" smtClean="0"/>
              <a:t> mémoire op 2 </a:t>
            </a:r>
            <a:r>
              <a:rPr lang="fr-FR" baseline="0" dirty="0" err="1" smtClean="0"/>
              <a:t>froen</a:t>
            </a:r>
            <a:r>
              <a:rPr lang="fr-FR" baseline="0" dirty="0" smtClean="0"/>
              <a:t> </a:t>
            </a:r>
            <a:r>
              <a:rPr lang="fr-FR" baseline="0" dirty="0" err="1" smtClean="0"/>
              <a:t>opgedeelt</a:t>
            </a:r>
            <a:r>
              <a:rPr lang="fr-FR" baseline="0" dirty="0" smtClean="0"/>
              <a:t>, </a:t>
            </a:r>
            <a:r>
              <a:rPr lang="fr-FR" baseline="0" dirty="0" err="1" smtClean="0"/>
              <a:t>wou</a:t>
            </a:r>
            <a:r>
              <a:rPr lang="fr-FR" baseline="0" dirty="0" smtClean="0"/>
              <a:t> </a:t>
            </a:r>
            <a:r>
              <a:rPr lang="fr-FR" baseline="0" dirty="0" err="1" smtClean="0"/>
              <a:t>ech</a:t>
            </a:r>
            <a:r>
              <a:rPr lang="fr-FR" baseline="0" dirty="0" smtClean="0"/>
              <a:t> </a:t>
            </a:r>
            <a:r>
              <a:rPr lang="fr-FR" baseline="0" dirty="0" err="1" smtClean="0"/>
              <a:t>dann</a:t>
            </a:r>
            <a:r>
              <a:rPr lang="fr-FR" baseline="0" dirty="0" smtClean="0"/>
              <a:t> </a:t>
            </a:r>
            <a:r>
              <a:rPr lang="fr-FR" baseline="0" dirty="0" err="1" smtClean="0"/>
              <a:t>probéiert</a:t>
            </a:r>
            <a:r>
              <a:rPr lang="fr-FR" baseline="0" dirty="0" smtClean="0"/>
              <a:t> </a:t>
            </a:r>
            <a:r>
              <a:rPr lang="fr-FR" baseline="0" dirty="0" err="1" smtClean="0"/>
              <a:t>hunn</a:t>
            </a:r>
            <a:r>
              <a:rPr lang="fr-FR" baseline="0" dirty="0" smtClean="0"/>
              <a:t> </a:t>
            </a:r>
            <a:r>
              <a:rPr lang="fr-FR" baseline="0" dirty="0" err="1" smtClean="0"/>
              <a:t>méiglescht</a:t>
            </a:r>
            <a:r>
              <a:rPr lang="fr-FR" baseline="0" dirty="0" smtClean="0"/>
              <a:t> </a:t>
            </a:r>
            <a:r>
              <a:rPr lang="fr-FR" baseline="0" dirty="0" err="1" smtClean="0"/>
              <a:t>gudd</a:t>
            </a:r>
            <a:r>
              <a:rPr lang="fr-FR" baseline="0" dirty="0" smtClean="0"/>
              <a:t> an </a:t>
            </a:r>
            <a:r>
              <a:rPr lang="fr-FR" baseline="0" dirty="0" err="1" smtClean="0"/>
              <a:t>komplet</a:t>
            </a:r>
            <a:r>
              <a:rPr lang="fr-FR" baseline="0" dirty="0" smtClean="0"/>
              <a:t> drop </a:t>
            </a:r>
            <a:r>
              <a:rPr lang="fr-FR" baseline="0" dirty="0" err="1" smtClean="0"/>
              <a:t>zeenferen</a:t>
            </a:r>
            <a:r>
              <a:rPr lang="fr-FR" baseline="0" dirty="0" smtClean="0"/>
              <a:t>.</a:t>
            </a:r>
          </a:p>
          <a:p>
            <a:pPr marL="0" indent="0">
              <a:buFontTx/>
              <a:buNone/>
            </a:pPr>
            <a:r>
              <a:rPr lang="fr-FR" baseline="0" dirty="0" smtClean="0"/>
              <a:t>D’</a:t>
            </a:r>
            <a:r>
              <a:rPr lang="fr-FR" baseline="0" dirty="0" err="1" smtClean="0"/>
              <a:t>fro</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opgeddelt</a:t>
            </a:r>
            <a:r>
              <a:rPr lang="fr-FR" baseline="0" dirty="0" smtClean="0"/>
              <a:t> an </a:t>
            </a:r>
            <a:r>
              <a:rPr lang="fr-FR" baseline="0" dirty="0" err="1" smtClean="0"/>
              <a:t>deems</a:t>
            </a:r>
            <a:r>
              <a:rPr lang="fr-FR" baseline="0" dirty="0" smtClean="0"/>
              <a:t> </a:t>
            </a:r>
            <a:r>
              <a:rPr lang="fr-FR" baseline="0" dirty="0" err="1" smtClean="0"/>
              <a:t>ech</a:t>
            </a:r>
            <a:r>
              <a:rPr lang="fr-FR" baseline="0" dirty="0" smtClean="0"/>
              <a:t> </a:t>
            </a:r>
            <a:r>
              <a:rPr lang="fr-FR" baseline="0" dirty="0" err="1" smtClean="0"/>
              <a:t>eemmol</a:t>
            </a:r>
            <a:r>
              <a:rPr lang="fr-FR" baseline="0" dirty="0" smtClean="0"/>
              <a:t> op d’organisation </a:t>
            </a:r>
            <a:r>
              <a:rPr lang="fr-FR" baseline="0" dirty="0" err="1" smtClean="0"/>
              <a:t>vum</a:t>
            </a:r>
            <a:r>
              <a:rPr lang="fr-FR" baseline="0" dirty="0" smtClean="0"/>
              <a:t> OEA an </a:t>
            </a:r>
            <a:r>
              <a:rPr lang="fr-FR" baseline="0" dirty="0" err="1" smtClean="0"/>
              <a:t>gangen</a:t>
            </a:r>
            <a:r>
              <a:rPr lang="fr-FR" baseline="0" dirty="0" smtClean="0"/>
              <a:t> </a:t>
            </a:r>
            <a:r>
              <a:rPr lang="fr-FR" baseline="0" dirty="0" err="1" smtClean="0"/>
              <a:t>sinn</a:t>
            </a:r>
            <a:r>
              <a:rPr lang="fr-FR" baseline="0" dirty="0" smtClean="0"/>
              <a:t> </a:t>
            </a:r>
            <a:r>
              <a:rPr lang="fr-FR" baseline="0" dirty="0" err="1" smtClean="0"/>
              <a:t>also</a:t>
            </a:r>
            <a:r>
              <a:rPr lang="fr-FR" baseline="0" dirty="0" smtClean="0"/>
              <a:t> «  </a:t>
            </a:r>
            <a:r>
              <a:rPr lang="fr-FR" baseline="0" dirty="0" err="1" smtClean="0"/>
              <a:t>wéi</a:t>
            </a:r>
            <a:r>
              <a:rPr lang="fr-FR" baseline="0" dirty="0" smtClean="0"/>
              <a:t> </a:t>
            </a:r>
            <a:r>
              <a:rPr lang="fr-FR" baseline="0" dirty="0" err="1" smtClean="0"/>
              <a:t>kann</a:t>
            </a:r>
            <a:r>
              <a:rPr lang="fr-FR" baseline="0" dirty="0" smtClean="0"/>
              <a:t> den audit douanier </a:t>
            </a:r>
            <a:r>
              <a:rPr lang="fr-FR" baseline="0" dirty="0" err="1" smtClean="0"/>
              <a:t>organiséiert</a:t>
            </a:r>
            <a:r>
              <a:rPr lang="fr-FR" baseline="0" dirty="0" smtClean="0"/>
              <a:t> </a:t>
            </a:r>
            <a:r>
              <a:rPr lang="fr-FR" baseline="0" dirty="0" err="1" smtClean="0"/>
              <a:t>ginn</a:t>
            </a:r>
            <a:r>
              <a:rPr lang="fr-FR" baseline="0" dirty="0" smtClean="0"/>
              <a:t> </a:t>
            </a:r>
            <a:r>
              <a:rPr lang="fr-FR" baseline="0" dirty="0" err="1" smtClean="0"/>
              <a:t>fir</a:t>
            </a:r>
            <a:r>
              <a:rPr lang="fr-FR" baseline="0" dirty="0" smtClean="0"/>
              <a:t> d’ </a:t>
            </a:r>
            <a:r>
              <a:rPr lang="fr-FR" baseline="0" dirty="0" err="1" smtClean="0"/>
              <a:t>risikoen</a:t>
            </a:r>
            <a:r>
              <a:rPr lang="fr-FR" baseline="0" dirty="0" smtClean="0"/>
              <a:t> </a:t>
            </a:r>
            <a:r>
              <a:rPr lang="fr-FR" baseline="0" dirty="0" err="1" smtClean="0"/>
              <a:t>ze</a:t>
            </a:r>
            <a:r>
              <a:rPr lang="fr-FR" baseline="0" dirty="0" smtClean="0"/>
              <a:t> </a:t>
            </a:r>
            <a:r>
              <a:rPr lang="fr-FR" baseline="0" dirty="0" err="1" smtClean="0"/>
              <a:t>minimiséieren</a:t>
            </a:r>
            <a:r>
              <a:rPr lang="fr-FR" baseline="0" dirty="0" smtClean="0"/>
              <a:t> » an « 2tens d’</a:t>
            </a:r>
            <a:r>
              <a:rPr lang="fr-FR" baseline="0" dirty="0" err="1" smtClean="0"/>
              <a:t>opstellen</a:t>
            </a:r>
            <a:r>
              <a:rPr lang="fr-FR" baseline="0" dirty="0" smtClean="0"/>
              <a:t> </a:t>
            </a:r>
            <a:r>
              <a:rPr lang="fr-FR" baseline="0" dirty="0" err="1" smtClean="0"/>
              <a:t>vun</a:t>
            </a:r>
            <a:r>
              <a:rPr lang="fr-FR" baseline="0" dirty="0" smtClean="0"/>
              <a:t> enger procédure écrite ». </a:t>
            </a:r>
          </a:p>
          <a:p>
            <a:pPr marL="0" indent="0">
              <a:buFontTx/>
              <a:buNone/>
            </a:pPr>
            <a:r>
              <a:rPr lang="fr-FR" baseline="0" dirty="0" err="1" smtClean="0"/>
              <a:t>Wéi</a:t>
            </a:r>
            <a:r>
              <a:rPr lang="fr-FR" baseline="0" dirty="0" smtClean="0"/>
              <a:t> </a:t>
            </a:r>
            <a:r>
              <a:rPr lang="fr-FR" baseline="0" dirty="0" err="1" smtClean="0"/>
              <a:t>dir</a:t>
            </a:r>
            <a:r>
              <a:rPr lang="fr-FR" baseline="0" dirty="0" smtClean="0"/>
              <a:t> </a:t>
            </a:r>
            <a:r>
              <a:rPr lang="fr-FR" baseline="0" dirty="0" err="1" smtClean="0"/>
              <a:t>vielleicht</a:t>
            </a:r>
            <a:r>
              <a:rPr lang="fr-FR" baseline="0" dirty="0" smtClean="0"/>
              <a:t> </a:t>
            </a:r>
            <a:r>
              <a:rPr lang="fr-FR" baseline="0" dirty="0" err="1" smtClean="0"/>
              <a:t>schon</a:t>
            </a:r>
            <a:r>
              <a:rPr lang="fr-FR" baseline="0" dirty="0" smtClean="0"/>
              <a:t> </a:t>
            </a:r>
            <a:r>
              <a:rPr lang="fr-FR" baseline="0" dirty="0" err="1" smtClean="0"/>
              <a:t>gelies</a:t>
            </a:r>
            <a:r>
              <a:rPr lang="fr-FR" baseline="0" dirty="0" smtClean="0"/>
              <a:t> </a:t>
            </a:r>
            <a:r>
              <a:rPr lang="fr-FR" baseline="0" dirty="0" err="1" smtClean="0"/>
              <a:t>hudd</a:t>
            </a:r>
            <a:r>
              <a:rPr lang="fr-FR" baseline="0" dirty="0" smtClean="0"/>
              <a:t>, gouf et </a:t>
            </a:r>
            <a:r>
              <a:rPr lang="fr-FR" baseline="0" dirty="0" err="1" smtClean="0"/>
              <a:t>schon</a:t>
            </a:r>
            <a:r>
              <a:rPr lang="fr-FR" baseline="0" dirty="0" smtClean="0"/>
              <a:t> </a:t>
            </a:r>
            <a:r>
              <a:rPr lang="fr-FR" baseline="0" dirty="0" err="1" smtClean="0"/>
              <a:t>eng</a:t>
            </a:r>
            <a:r>
              <a:rPr lang="fr-FR" baseline="0" dirty="0" smtClean="0"/>
              <a:t> procédure écrite </a:t>
            </a:r>
          </a:p>
          <a:p>
            <a:pPr marL="0" indent="0">
              <a:buFontTx/>
              <a:buNone/>
            </a:pPr>
            <a:endParaRPr lang="fr-FR" baseline="0" dirty="0" smtClean="0"/>
          </a:p>
          <a:p>
            <a:pPr marL="171450" indent="-171450">
              <a:buFontTx/>
              <a:buChar char="-"/>
            </a:pPr>
            <a:r>
              <a:rPr lang="fr-FR" b="1" baseline="0" dirty="0" err="1" smtClean="0"/>
              <a:t>Wéi</a:t>
            </a:r>
            <a:r>
              <a:rPr lang="fr-FR" b="1" baseline="0" dirty="0" smtClean="0"/>
              <a:t> </a:t>
            </a:r>
            <a:r>
              <a:rPr lang="fr-FR" b="1" baseline="0" dirty="0" err="1" smtClean="0"/>
              <a:t>hunn</a:t>
            </a:r>
            <a:r>
              <a:rPr lang="fr-FR" b="1" baseline="0" dirty="0" smtClean="0"/>
              <a:t> </a:t>
            </a:r>
            <a:r>
              <a:rPr lang="fr-FR" b="1" baseline="0" dirty="0" err="1" smtClean="0"/>
              <a:t>ech</a:t>
            </a:r>
            <a:r>
              <a:rPr lang="fr-FR" b="1" baseline="0" dirty="0" smtClean="0"/>
              <a:t> op problématique </a:t>
            </a:r>
            <a:r>
              <a:rPr lang="fr-FR" b="1" baseline="0" dirty="0" err="1" smtClean="0"/>
              <a:t>geenfert</a:t>
            </a:r>
            <a:r>
              <a:rPr lang="fr-FR" b="1" baseline="0" dirty="0" smtClean="0"/>
              <a:t>?</a:t>
            </a:r>
          </a:p>
          <a:p>
            <a:pPr marL="0" indent="0">
              <a:buFontTx/>
              <a:buNone/>
            </a:pPr>
            <a:r>
              <a:rPr lang="fr-FR" baseline="0" dirty="0" err="1" smtClean="0"/>
              <a:t>Ech</a:t>
            </a:r>
            <a:r>
              <a:rPr lang="fr-FR" baseline="0" dirty="0" smtClean="0"/>
              <a:t> </a:t>
            </a:r>
            <a:r>
              <a:rPr lang="fr-FR" baseline="0" dirty="0" err="1" smtClean="0"/>
              <a:t>hunn</a:t>
            </a:r>
            <a:r>
              <a:rPr lang="fr-FR" baseline="0" dirty="0" smtClean="0"/>
              <a:t> </a:t>
            </a:r>
            <a:r>
              <a:rPr lang="fr-FR" baseline="0" dirty="0" err="1" smtClean="0"/>
              <a:t>probéiert</a:t>
            </a:r>
            <a:r>
              <a:rPr lang="fr-FR" baseline="0" dirty="0" smtClean="0"/>
              <a:t> </a:t>
            </a:r>
            <a:r>
              <a:rPr lang="fr-FR" baseline="0" dirty="0" err="1" smtClean="0"/>
              <a:t>esou</a:t>
            </a:r>
            <a:r>
              <a:rPr lang="fr-FR" baseline="0" dirty="0" smtClean="0"/>
              <a:t> </a:t>
            </a:r>
            <a:r>
              <a:rPr lang="fr-FR" baseline="0" dirty="0" err="1" smtClean="0"/>
              <a:t>firzegoen</a:t>
            </a:r>
            <a:r>
              <a:rPr lang="fr-FR" baseline="0" dirty="0" smtClean="0"/>
              <a:t> </a:t>
            </a:r>
            <a:r>
              <a:rPr lang="fr-FR" baseline="0" dirty="0" err="1" smtClean="0"/>
              <a:t>dass</a:t>
            </a:r>
            <a:r>
              <a:rPr lang="fr-FR" baseline="0" dirty="0" smtClean="0"/>
              <a:t> </a:t>
            </a:r>
            <a:r>
              <a:rPr lang="fr-FR" baseline="0" dirty="0" err="1" smtClean="0"/>
              <a:t>och</a:t>
            </a:r>
            <a:r>
              <a:rPr lang="fr-FR" baseline="0" dirty="0" smtClean="0"/>
              <a:t> </a:t>
            </a:r>
            <a:r>
              <a:rPr lang="fr-FR" baseline="0" dirty="0" err="1" smtClean="0"/>
              <a:t>eng</a:t>
            </a:r>
            <a:r>
              <a:rPr lang="fr-FR" baseline="0" dirty="0" smtClean="0"/>
              <a:t> </a:t>
            </a:r>
            <a:r>
              <a:rPr lang="fr-FR" baseline="0" dirty="0" err="1" smtClean="0"/>
              <a:t>Persoun</a:t>
            </a:r>
            <a:r>
              <a:rPr lang="fr-FR" baseline="0" dirty="0" smtClean="0"/>
              <a:t> </a:t>
            </a:r>
            <a:r>
              <a:rPr lang="fr-FR" baseline="0" dirty="0" err="1" smtClean="0"/>
              <a:t>wou</a:t>
            </a:r>
            <a:r>
              <a:rPr lang="fr-FR" baseline="0" dirty="0" smtClean="0"/>
              <a:t> </a:t>
            </a:r>
            <a:r>
              <a:rPr lang="fr-FR" baseline="0" dirty="0" err="1" smtClean="0"/>
              <a:t>naicht</a:t>
            </a:r>
            <a:r>
              <a:rPr lang="fr-FR" baseline="0" dirty="0" smtClean="0"/>
              <a:t> mat der Douanes matière </a:t>
            </a:r>
            <a:r>
              <a:rPr lang="fr-FR" baseline="0" dirty="0" err="1" smtClean="0"/>
              <a:t>zedinn</a:t>
            </a:r>
            <a:r>
              <a:rPr lang="fr-FR" baseline="0" dirty="0" smtClean="0"/>
              <a:t> </a:t>
            </a:r>
            <a:r>
              <a:rPr lang="fr-FR" baseline="0" dirty="0" err="1" smtClean="0"/>
              <a:t>huet</a:t>
            </a:r>
            <a:r>
              <a:rPr lang="fr-FR" baseline="0" dirty="0" smtClean="0"/>
              <a:t>, den sujet </a:t>
            </a:r>
            <a:r>
              <a:rPr lang="fr-FR" baseline="0" dirty="0" err="1" smtClean="0"/>
              <a:t>respektiv</a:t>
            </a:r>
            <a:r>
              <a:rPr lang="fr-FR" baseline="0" dirty="0" smtClean="0"/>
              <a:t> den Dossier </a:t>
            </a:r>
            <a:r>
              <a:rPr lang="fr-FR" baseline="0" dirty="0" err="1" smtClean="0"/>
              <a:t>kann</a:t>
            </a:r>
            <a:r>
              <a:rPr lang="fr-FR" baseline="0" dirty="0" smtClean="0"/>
              <a:t> </a:t>
            </a:r>
            <a:r>
              <a:rPr lang="fr-FR" baseline="0" dirty="0" err="1" smtClean="0"/>
              <a:t>verstoen</a:t>
            </a:r>
            <a:r>
              <a:rPr lang="fr-FR" baseline="0" dirty="0" smtClean="0"/>
              <a:t>. Vue </a:t>
            </a:r>
            <a:r>
              <a:rPr lang="fr-FR" baseline="0" dirty="0" err="1" smtClean="0"/>
              <a:t>dass</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selwer</a:t>
            </a:r>
            <a:r>
              <a:rPr lang="fr-FR" baseline="0" dirty="0" smtClean="0"/>
              <a:t> </a:t>
            </a:r>
            <a:r>
              <a:rPr lang="fr-FR" baseline="0" dirty="0" err="1" smtClean="0"/>
              <a:t>hunn</a:t>
            </a:r>
            <a:r>
              <a:rPr lang="fr-FR" baseline="0" dirty="0" smtClean="0"/>
              <a:t> </a:t>
            </a:r>
            <a:r>
              <a:rPr lang="fr-FR" baseline="0" dirty="0" err="1" smtClean="0"/>
              <a:t>misten</a:t>
            </a:r>
            <a:r>
              <a:rPr lang="fr-FR" baseline="0" dirty="0" smtClean="0"/>
              <a:t> mat </a:t>
            </a:r>
            <a:r>
              <a:rPr lang="fr-FR" baseline="0" dirty="0" err="1" smtClean="0"/>
              <a:t>dem</a:t>
            </a:r>
            <a:r>
              <a:rPr lang="fr-FR" baseline="0" dirty="0" smtClean="0"/>
              <a:t> </a:t>
            </a:r>
            <a:r>
              <a:rPr lang="fr-FR" baseline="0" dirty="0" err="1" smtClean="0"/>
              <a:t>thema</a:t>
            </a:r>
            <a:r>
              <a:rPr lang="fr-FR" baseline="0" dirty="0" smtClean="0"/>
              <a:t> </a:t>
            </a:r>
            <a:r>
              <a:rPr lang="fr-FR" baseline="0" dirty="0" err="1" smtClean="0"/>
              <a:t>auserneen</a:t>
            </a:r>
            <a:r>
              <a:rPr lang="fr-FR" baseline="0" dirty="0" smtClean="0"/>
              <a:t> </a:t>
            </a:r>
            <a:r>
              <a:rPr lang="fr-FR" baseline="0" dirty="0" err="1" smtClean="0"/>
              <a:t>setzen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dovuner</a:t>
            </a:r>
            <a:r>
              <a:rPr lang="fr-FR" baseline="0" dirty="0" smtClean="0"/>
              <a:t> </a:t>
            </a:r>
            <a:r>
              <a:rPr lang="fr-FR" baseline="0" dirty="0" err="1" smtClean="0"/>
              <a:t>profitéiert</a:t>
            </a:r>
            <a:r>
              <a:rPr lang="fr-FR" baseline="0" dirty="0" smtClean="0"/>
              <a:t> </a:t>
            </a:r>
            <a:r>
              <a:rPr lang="fr-FR" baseline="0" dirty="0" err="1" smtClean="0"/>
              <a:t>dass</a:t>
            </a:r>
            <a:r>
              <a:rPr lang="fr-FR" baseline="0" dirty="0" smtClean="0"/>
              <a:t> </a:t>
            </a:r>
            <a:r>
              <a:rPr lang="fr-FR" baseline="0" dirty="0" err="1" smtClean="0"/>
              <a:t>och</a:t>
            </a:r>
            <a:r>
              <a:rPr lang="fr-FR" baseline="0" dirty="0" smtClean="0"/>
              <a:t> </a:t>
            </a:r>
            <a:r>
              <a:rPr lang="fr-FR" baseline="0" dirty="0" err="1" smtClean="0"/>
              <a:t>ech</a:t>
            </a:r>
            <a:r>
              <a:rPr lang="fr-FR" baseline="0" dirty="0" smtClean="0"/>
              <a:t> </a:t>
            </a:r>
            <a:r>
              <a:rPr lang="fr-FR" baseline="0" dirty="0" err="1" smtClean="0"/>
              <a:t>bei</a:t>
            </a:r>
            <a:r>
              <a:rPr lang="fr-FR" baseline="0" dirty="0" smtClean="0"/>
              <a:t> soit disant 0 </a:t>
            </a:r>
            <a:r>
              <a:rPr lang="fr-FR" baseline="0" dirty="0" err="1" smtClean="0"/>
              <a:t>ugefangen</a:t>
            </a:r>
            <a:r>
              <a:rPr lang="fr-FR" baseline="0" dirty="0" smtClean="0"/>
              <a:t> </a:t>
            </a:r>
            <a:r>
              <a:rPr lang="fr-FR" baseline="0" dirty="0" err="1" smtClean="0"/>
              <a:t>hunn</a:t>
            </a:r>
            <a:r>
              <a:rPr lang="fr-FR" baseline="0" dirty="0" smtClean="0"/>
              <a:t>. </a:t>
            </a:r>
          </a:p>
          <a:p>
            <a:pPr marL="0" indent="0">
              <a:buFontTx/>
              <a:buNone/>
            </a:pPr>
            <a:r>
              <a:rPr lang="fr-FR" baseline="0" dirty="0" err="1" smtClean="0"/>
              <a:t>Amufank</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also</a:t>
            </a:r>
            <a:r>
              <a:rPr lang="fr-FR" baseline="0" dirty="0" smtClean="0"/>
              <a:t> mat der autorisation </a:t>
            </a:r>
            <a:r>
              <a:rPr lang="fr-FR" baseline="0" dirty="0" err="1" smtClean="0"/>
              <a:t>auserneen</a:t>
            </a:r>
            <a:r>
              <a:rPr lang="fr-FR" baseline="0" dirty="0" smtClean="0"/>
              <a:t> </a:t>
            </a:r>
            <a:r>
              <a:rPr lang="fr-FR" baseline="0" dirty="0" err="1" smtClean="0"/>
              <a:t>gesat</a:t>
            </a:r>
            <a:r>
              <a:rPr lang="fr-FR" baseline="0" dirty="0" smtClean="0"/>
              <a:t>, </a:t>
            </a:r>
            <a:r>
              <a:rPr lang="fr-FR" baseline="0" dirty="0" err="1" smtClean="0"/>
              <a:t>wat</a:t>
            </a:r>
            <a:r>
              <a:rPr lang="fr-FR" baseline="0" dirty="0" smtClean="0"/>
              <a:t> </a:t>
            </a:r>
            <a:r>
              <a:rPr lang="fr-FR" baseline="0" dirty="0" err="1" smtClean="0"/>
              <a:t>sinn</a:t>
            </a:r>
            <a:r>
              <a:rPr lang="fr-FR" baseline="0" dirty="0" smtClean="0"/>
              <a:t> </a:t>
            </a:r>
            <a:r>
              <a:rPr lang="fr-FR" baseline="0" dirty="0" err="1" smtClean="0"/>
              <a:t>critèren</a:t>
            </a:r>
            <a:r>
              <a:rPr lang="fr-FR" baseline="0" dirty="0" smtClean="0"/>
              <a:t> </a:t>
            </a:r>
            <a:r>
              <a:rPr lang="fr-FR" baseline="0" dirty="0" err="1" smtClean="0"/>
              <a:t>wat</a:t>
            </a:r>
            <a:r>
              <a:rPr lang="fr-FR" baseline="0" dirty="0" smtClean="0"/>
              <a:t> sin </a:t>
            </a:r>
            <a:r>
              <a:rPr lang="fr-FR" baseline="0" dirty="0" err="1" smtClean="0"/>
              <a:t>avantagen</a:t>
            </a:r>
            <a:r>
              <a:rPr lang="fr-FR" baseline="0" dirty="0" smtClean="0"/>
              <a:t> an sou </a:t>
            </a:r>
            <a:r>
              <a:rPr lang="fr-FR" baseline="0" dirty="0" err="1" smtClean="0"/>
              <a:t>weider</a:t>
            </a:r>
            <a:r>
              <a:rPr lang="fr-FR" baseline="0" dirty="0" smtClean="0"/>
              <a:t>, </a:t>
            </a:r>
            <a:r>
              <a:rPr lang="fr-FR" baseline="0" dirty="0" err="1" smtClean="0"/>
              <a:t>nemen</a:t>
            </a:r>
            <a:r>
              <a:rPr lang="fr-FR" baseline="0" dirty="0" smtClean="0"/>
              <a:t> </a:t>
            </a:r>
            <a:r>
              <a:rPr lang="fr-FR" baseline="0" dirty="0" err="1" smtClean="0"/>
              <a:t>andeems</a:t>
            </a:r>
            <a:r>
              <a:rPr lang="fr-FR" baseline="0" dirty="0" smtClean="0"/>
              <a:t> </a:t>
            </a:r>
            <a:r>
              <a:rPr lang="fr-FR" baseline="0" dirty="0" err="1" smtClean="0"/>
              <a:t>wou</a:t>
            </a:r>
            <a:r>
              <a:rPr lang="fr-FR" baseline="0" dirty="0" smtClean="0"/>
              <a:t> </a:t>
            </a:r>
            <a:r>
              <a:rPr lang="fr-FR" baseline="0" dirty="0" err="1" smtClean="0"/>
              <a:t>een</a:t>
            </a:r>
            <a:r>
              <a:rPr lang="fr-FR" baseline="0" dirty="0" smtClean="0"/>
              <a:t> base </a:t>
            </a:r>
            <a:r>
              <a:rPr lang="fr-FR" baseline="0" dirty="0" err="1" smtClean="0"/>
              <a:t>versteht</a:t>
            </a:r>
            <a:r>
              <a:rPr lang="fr-FR" baseline="0" dirty="0" smtClean="0"/>
              <a:t> </a:t>
            </a:r>
            <a:r>
              <a:rPr lang="fr-FR" baseline="0" dirty="0" err="1" smtClean="0"/>
              <a:t>kann</a:t>
            </a:r>
            <a:r>
              <a:rPr lang="fr-FR" baseline="0" dirty="0" smtClean="0"/>
              <a:t> </a:t>
            </a:r>
            <a:r>
              <a:rPr lang="fr-FR" baseline="0" dirty="0" err="1" smtClean="0"/>
              <a:t>een</a:t>
            </a:r>
            <a:r>
              <a:rPr lang="fr-FR" baseline="0" dirty="0" smtClean="0"/>
              <a:t> </a:t>
            </a:r>
            <a:r>
              <a:rPr lang="fr-FR" baseline="0" dirty="0" err="1" smtClean="0"/>
              <a:t>och</a:t>
            </a:r>
            <a:r>
              <a:rPr lang="fr-FR" baseline="0" dirty="0" smtClean="0"/>
              <a:t> </a:t>
            </a:r>
            <a:r>
              <a:rPr lang="fr-FR" baseline="0" dirty="0" err="1" smtClean="0"/>
              <a:t>déi</a:t>
            </a:r>
            <a:r>
              <a:rPr lang="fr-FR" baseline="0" dirty="0" smtClean="0"/>
              <a:t> </a:t>
            </a:r>
            <a:r>
              <a:rPr lang="fr-FR" baseline="0" dirty="0" err="1" smtClean="0"/>
              <a:t>liéiert</a:t>
            </a:r>
            <a:r>
              <a:rPr lang="fr-FR" baseline="0" dirty="0" smtClean="0"/>
              <a:t> </a:t>
            </a:r>
            <a:r>
              <a:rPr lang="fr-FR" baseline="0" dirty="0" err="1" smtClean="0"/>
              <a:t>risiken</a:t>
            </a:r>
            <a:r>
              <a:rPr lang="fr-FR" baseline="0" dirty="0" smtClean="0"/>
              <a:t> </a:t>
            </a:r>
            <a:r>
              <a:rPr lang="fr-FR" baseline="0" dirty="0" err="1" smtClean="0"/>
              <a:t>verstoen</a:t>
            </a:r>
            <a:r>
              <a:rPr lang="fr-FR" baseline="0" dirty="0" smtClean="0"/>
              <a:t>. </a:t>
            </a:r>
            <a:br>
              <a:rPr lang="fr-FR" baseline="0" dirty="0" smtClean="0"/>
            </a:br>
            <a:r>
              <a:rPr lang="fr-FR" baseline="0" dirty="0" smtClean="0"/>
              <a:t>2tens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eemol</a:t>
            </a:r>
            <a:r>
              <a:rPr lang="fr-FR" baseline="0" dirty="0" smtClean="0"/>
              <a:t> den audit </a:t>
            </a:r>
            <a:r>
              <a:rPr lang="fr-FR" baseline="0" dirty="0" err="1" smtClean="0"/>
              <a:t>firgestallt</a:t>
            </a:r>
            <a:r>
              <a:rPr lang="fr-FR" baseline="0" dirty="0" smtClean="0"/>
              <a:t>, </a:t>
            </a:r>
            <a:r>
              <a:rPr lang="fr-FR" baseline="0" dirty="0" err="1" smtClean="0"/>
              <a:t>zumols</a:t>
            </a:r>
            <a:r>
              <a:rPr lang="fr-FR" baseline="0" dirty="0" smtClean="0"/>
              <a:t> den déroulement </a:t>
            </a:r>
            <a:r>
              <a:rPr lang="fr-FR" baseline="0" dirty="0" err="1" smtClean="0"/>
              <a:t>vun</a:t>
            </a:r>
            <a:r>
              <a:rPr lang="fr-FR" baseline="0" dirty="0" smtClean="0"/>
              <a:t> </a:t>
            </a:r>
            <a:r>
              <a:rPr lang="fr-FR" baseline="0" dirty="0" err="1" smtClean="0"/>
              <a:t>engemn</a:t>
            </a:r>
            <a:r>
              <a:rPr lang="fr-FR" baseline="0" dirty="0" smtClean="0"/>
              <a:t> audit </a:t>
            </a:r>
            <a:r>
              <a:rPr lang="fr-FR" baseline="0" dirty="0" err="1" smtClean="0"/>
              <a:t>ass</a:t>
            </a:r>
            <a:r>
              <a:rPr lang="fr-FR" baseline="0" dirty="0" smtClean="0"/>
              <a:t> </a:t>
            </a:r>
            <a:r>
              <a:rPr lang="fr-FR" baseline="0" dirty="0" err="1" smtClean="0"/>
              <a:t>intressant</a:t>
            </a:r>
            <a:r>
              <a:rPr lang="fr-FR" baseline="0" dirty="0" smtClean="0"/>
              <a:t> </a:t>
            </a:r>
            <a:r>
              <a:rPr lang="fr-FR" baseline="0" dirty="0" err="1" smtClean="0"/>
              <a:t>fir</a:t>
            </a:r>
            <a:r>
              <a:rPr lang="fr-FR" baseline="0" dirty="0" smtClean="0"/>
              <a:t> d’</a:t>
            </a:r>
            <a:r>
              <a:rPr lang="fr-FR" baseline="0" dirty="0" err="1" smtClean="0"/>
              <a:t>problèmatique</a:t>
            </a:r>
            <a:r>
              <a:rPr lang="fr-FR" baseline="0" dirty="0" smtClean="0"/>
              <a:t>, an </a:t>
            </a:r>
            <a:r>
              <a:rPr lang="fr-FR" baseline="0" dirty="0" err="1" smtClean="0"/>
              <a:t>och</a:t>
            </a:r>
            <a:r>
              <a:rPr lang="fr-FR" baseline="0" dirty="0" smtClean="0"/>
              <a:t> </a:t>
            </a:r>
            <a:r>
              <a:rPr lang="fr-FR" baseline="0" dirty="0" err="1" smtClean="0"/>
              <a:t>wichteg</a:t>
            </a:r>
            <a:r>
              <a:rPr lang="fr-FR" baseline="0" dirty="0" smtClean="0"/>
              <a:t> </a:t>
            </a:r>
            <a:r>
              <a:rPr lang="fr-FR" baseline="0" dirty="0" err="1" smtClean="0"/>
              <a:t>fir</a:t>
            </a:r>
            <a:r>
              <a:rPr lang="fr-FR" baseline="0" dirty="0" smtClean="0"/>
              <a:t> </a:t>
            </a:r>
            <a:r>
              <a:rPr lang="fr-FR" baseline="0" dirty="0" err="1" smtClean="0"/>
              <a:t>dass</a:t>
            </a:r>
            <a:r>
              <a:rPr lang="fr-FR" baseline="0" dirty="0" smtClean="0"/>
              <a:t> den Lecteur </a:t>
            </a:r>
            <a:r>
              <a:rPr lang="fr-FR" baseline="0" dirty="0" err="1" smtClean="0"/>
              <a:t>eng</a:t>
            </a:r>
            <a:r>
              <a:rPr lang="fr-FR" baseline="0" dirty="0" smtClean="0"/>
              <a:t> </a:t>
            </a:r>
            <a:r>
              <a:rPr lang="fr-FR" baseline="0" dirty="0" err="1" smtClean="0"/>
              <a:t>idee</a:t>
            </a:r>
            <a:r>
              <a:rPr lang="fr-FR" baseline="0" dirty="0" smtClean="0"/>
              <a:t> </a:t>
            </a:r>
            <a:r>
              <a:rPr lang="fr-FR" baseline="0" dirty="0" err="1" smtClean="0"/>
              <a:t>vum</a:t>
            </a:r>
            <a:r>
              <a:rPr lang="fr-FR" baseline="0" dirty="0" smtClean="0"/>
              <a:t> Audit </a:t>
            </a:r>
            <a:r>
              <a:rPr lang="fr-FR" baseline="0" dirty="0" err="1" smtClean="0"/>
              <a:t>krit</a:t>
            </a:r>
            <a:r>
              <a:rPr lang="fr-FR" baseline="0" dirty="0" smtClean="0"/>
              <a:t>. </a:t>
            </a:r>
            <a:br>
              <a:rPr lang="fr-FR" baseline="0" dirty="0" smtClean="0"/>
            </a:br>
            <a:r>
              <a:rPr lang="fr-FR" baseline="0" dirty="0" err="1" smtClean="0"/>
              <a:t>Wou</a:t>
            </a:r>
            <a:r>
              <a:rPr lang="fr-FR" baseline="0" dirty="0" smtClean="0"/>
              <a:t> </a:t>
            </a:r>
            <a:r>
              <a:rPr lang="fr-FR" baseline="0" dirty="0" err="1" smtClean="0"/>
              <a:t>ech</a:t>
            </a:r>
            <a:r>
              <a:rPr lang="fr-FR" baseline="0" dirty="0" smtClean="0"/>
              <a:t> bis </a:t>
            </a:r>
            <a:r>
              <a:rPr lang="fr-FR" baseline="0" dirty="0" err="1" smtClean="0"/>
              <a:t>eng</a:t>
            </a:r>
            <a:r>
              <a:rPr lang="fr-FR" baseline="0" dirty="0" smtClean="0"/>
              <a:t> </a:t>
            </a:r>
            <a:r>
              <a:rPr lang="fr-FR" baseline="0" dirty="0" err="1" smtClean="0"/>
              <a:t>idee</a:t>
            </a:r>
            <a:r>
              <a:rPr lang="fr-FR" baseline="0" dirty="0" smtClean="0"/>
              <a:t> </a:t>
            </a:r>
            <a:r>
              <a:rPr lang="fr-FR" baseline="0" dirty="0" err="1" smtClean="0"/>
              <a:t>iwer</a:t>
            </a:r>
            <a:r>
              <a:rPr lang="fr-FR" baseline="0" dirty="0" smtClean="0"/>
              <a:t> den sujet </a:t>
            </a:r>
            <a:r>
              <a:rPr lang="fr-FR" baseline="0" dirty="0" err="1" smtClean="0"/>
              <a:t>gesammlt</a:t>
            </a:r>
            <a:r>
              <a:rPr lang="fr-FR" baseline="0" dirty="0" smtClean="0"/>
              <a:t> </a:t>
            </a:r>
            <a:r>
              <a:rPr lang="fr-FR" baseline="0" dirty="0" err="1" smtClean="0"/>
              <a:t>hat</a:t>
            </a:r>
            <a:r>
              <a:rPr lang="fr-FR" baseline="0" dirty="0" smtClean="0"/>
              <a:t> an +/- </a:t>
            </a:r>
            <a:r>
              <a:rPr lang="fr-FR" baseline="0" dirty="0" err="1" smtClean="0"/>
              <a:t>verstan</a:t>
            </a:r>
            <a:r>
              <a:rPr lang="fr-FR" baseline="0" dirty="0" smtClean="0"/>
              <a:t> </a:t>
            </a:r>
            <a:r>
              <a:rPr lang="fr-FR" baseline="0" dirty="0" err="1" smtClean="0"/>
              <a:t>hunn</a:t>
            </a:r>
            <a:r>
              <a:rPr lang="fr-FR" baseline="0" dirty="0" smtClean="0"/>
              <a:t> </a:t>
            </a:r>
            <a:r>
              <a:rPr lang="fr-FR" baseline="0" dirty="0" err="1" smtClean="0"/>
              <a:t>wéi</a:t>
            </a:r>
            <a:r>
              <a:rPr lang="fr-FR" baseline="0" dirty="0" smtClean="0"/>
              <a:t> den audit </a:t>
            </a:r>
            <a:r>
              <a:rPr lang="fr-FR" baseline="0" dirty="0" err="1" smtClean="0"/>
              <a:t>vun</a:t>
            </a:r>
            <a:r>
              <a:rPr lang="fr-FR" baseline="0" dirty="0" smtClean="0"/>
              <a:t> </a:t>
            </a:r>
            <a:r>
              <a:rPr lang="fr-FR" baseline="0" dirty="0" err="1" smtClean="0"/>
              <a:t>engem</a:t>
            </a:r>
            <a:r>
              <a:rPr lang="fr-FR" baseline="0" dirty="0" smtClean="0"/>
              <a:t> OEA </a:t>
            </a:r>
            <a:r>
              <a:rPr lang="fr-FR" baseline="0" dirty="0" err="1" smtClean="0"/>
              <a:t>soll</a:t>
            </a:r>
            <a:r>
              <a:rPr lang="fr-FR" baseline="0" dirty="0" smtClean="0"/>
              <a:t> </a:t>
            </a:r>
            <a:r>
              <a:rPr lang="fr-FR" baseline="0" dirty="0" err="1" smtClean="0"/>
              <a:t>vun</a:t>
            </a:r>
            <a:r>
              <a:rPr lang="fr-FR" baseline="0" dirty="0" smtClean="0"/>
              <a:t> </a:t>
            </a:r>
            <a:r>
              <a:rPr lang="fr-FR" baseline="0" dirty="0" err="1" smtClean="0"/>
              <a:t>statten</a:t>
            </a:r>
            <a:r>
              <a:rPr lang="fr-FR" baseline="0" dirty="0" smtClean="0"/>
              <a:t> </a:t>
            </a:r>
            <a:r>
              <a:rPr lang="fr-FR" baseline="0" dirty="0" err="1" smtClean="0"/>
              <a:t>goen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mer </a:t>
            </a:r>
            <a:r>
              <a:rPr lang="fr-FR" baseline="0" dirty="0" err="1" smtClean="0"/>
              <a:t>erklären</a:t>
            </a:r>
            <a:r>
              <a:rPr lang="fr-FR" baseline="0" dirty="0" smtClean="0"/>
              <a:t> </a:t>
            </a:r>
            <a:r>
              <a:rPr lang="fr-FR" baseline="0" dirty="0" err="1" smtClean="0"/>
              <a:t>gelos</a:t>
            </a:r>
            <a:r>
              <a:rPr lang="fr-FR" baseline="0" dirty="0" smtClean="0"/>
              <a:t> </a:t>
            </a:r>
            <a:r>
              <a:rPr lang="fr-FR" baseline="0" dirty="0" err="1" smtClean="0"/>
              <a:t>wéi</a:t>
            </a:r>
            <a:r>
              <a:rPr lang="fr-FR" baseline="0" dirty="0" smtClean="0"/>
              <a:t> den Audit et actuelle </a:t>
            </a:r>
            <a:r>
              <a:rPr lang="fr-FR" baseline="0" dirty="0" err="1" smtClean="0"/>
              <a:t>mescht</a:t>
            </a:r>
            <a:r>
              <a:rPr lang="fr-FR" baseline="0" dirty="0" smtClean="0"/>
              <a:t>. </a:t>
            </a:r>
          </a:p>
          <a:p>
            <a:pPr marL="0" indent="0">
              <a:buFontTx/>
              <a:buNone/>
            </a:pPr>
            <a:r>
              <a:rPr lang="fr-FR" baseline="0" dirty="0" err="1" smtClean="0"/>
              <a:t>Desweideren</a:t>
            </a:r>
            <a:r>
              <a:rPr lang="fr-FR" baseline="0" dirty="0" smtClean="0"/>
              <a:t> </a:t>
            </a:r>
            <a:r>
              <a:rPr lang="fr-FR" baseline="0" dirty="0" err="1" smtClean="0"/>
              <a:t>krut</a:t>
            </a:r>
            <a:r>
              <a:rPr lang="fr-FR" baseline="0" dirty="0" smtClean="0"/>
              <a:t> </a:t>
            </a:r>
            <a:r>
              <a:rPr lang="fr-FR" baseline="0" dirty="0" err="1" smtClean="0"/>
              <a:t>ech</a:t>
            </a:r>
            <a:r>
              <a:rPr lang="fr-FR" baseline="0" dirty="0" smtClean="0"/>
              <a:t> procédure écrite actuelle </a:t>
            </a:r>
            <a:r>
              <a:rPr lang="fr-FR" baseline="0" dirty="0" err="1" smtClean="0"/>
              <a:t>vum</a:t>
            </a:r>
            <a:r>
              <a:rPr lang="fr-FR" baseline="0" dirty="0" smtClean="0"/>
              <a:t> IDA, </a:t>
            </a:r>
            <a:r>
              <a:rPr lang="fr-FR" baseline="0" dirty="0" err="1" smtClean="0"/>
              <a:t>dodrop</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dono</a:t>
            </a:r>
            <a:r>
              <a:rPr lang="fr-FR" baseline="0" dirty="0" smtClean="0"/>
              <a:t> </a:t>
            </a:r>
            <a:r>
              <a:rPr lang="fr-FR" baseline="0" dirty="0" err="1" smtClean="0"/>
              <a:t>baséiert</a:t>
            </a:r>
            <a:r>
              <a:rPr lang="fr-FR" baseline="0" dirty="0" smtClean="0"/>
              <a:t> an net « </a:t>
            </a:r>
            <a:r>
              <a:rPr lang="fr-FR" baseline="0" dirty="0" err="1" smtClean="0"/>
              <a:t>vun</a:t>
            </a:r>
            <a:r>
              <a:rPr lang="fr-FR" baseline="0" dirty="0" smtClean="0"/>
              <a:t> scratch » </a:t>
            </a:r>
            <a:r>
              <a:rPr lang="fr-FR" baseline="0" dirty="0" err="1" smtClean="0"/>
              <a:t>ugefangen</a:t>
            </a:r>
            <a:r>
              <a:rPr lang="fr-FR" baseline="0" dirty="0" smtClean="0"/>
              <a:t>.</a:t>
            </a:r>
          </a:p>
          <a:p>
            <a:pPr marL="0" indent="0">
              <a:buFontTx/>
              <a:buNone/>
            </a:pPr>
            <a:r>
              <a:rPr lang="fr-FR" baseline="0" dirty="0" smtClean="0"/>
              <a:t>An </a:t>
            </a:r>
            <a:r>
              <a:rPr lang="fr-FR" baseline="0" dirty="0" err="1" smtClean="0"/>
              <a:t>deems</a:t>
            </a:r>
            <a:r>
              <a:rPr lang="fr-FR" baseline="0" dirty="0" smtClean="0"/>
              <a:t> </a:t>
            </a:r>
            <a:r>
              <a:rPr lang="fr-FR" baseline="0" dirty="0" err="1" smtClean="0"/>
              <a:t>wou</a:t>
            </a:r>
            <a:r>
              <a:rPr lang="fr-FR" baseline="0" dirty="0" smtClean="0"/>
              <a:t> </a:t>
            </a:r>
            <a:r>
              <a:rPr lang="fr-FR" baseline="0" dirty="0" err="1" smtClean="0"/>
              <a:t>ech</a:t>
            </a:r>
            <a:r>
              <a:rPr lang="fr-FR" baseline="0" dirty="0" smtClean="0"/>
              <a:t> den déroulement actuel </a:t>
            </a:r>
            <a:r>
              <a:rPr lang="fr-FR" baseline="0" dirty="0" err="1" smtClean="0"/>
              <a:t>hai</a:t>
            </a:r>
            <a:r>
              <a:rPr lang="fr-FR" baseline="0" dirty="0" smtClean="0"/>
              <a:t> </a:t>
            </a:r>
            <a:r>
              <a:rPr lang="fr-FR" baseline="0" dirty="0" err="1" smtClean="0"/>
              <a:t>am</a:t>
            </a:r>
            <a:r>
              <a:rPr lang="fr-FR" baseline="0" dirty="0" smtClean="0"/>
              <a:t> Land, mat </a:t>
            </a:r>
            <a:r>
              <a:rPr lang="fr-FR" baseline="0" dirty="0" err="1" smtClean="0"/>
              <a:t>dem</a:t>
            </a:r>
            <a:r>
              <a:rPr lang="fr-FR" baseline="0" dirty="0" smtClean="0"/>
              <a:t> déroulement </a:t>
            </a:r>
            <a:r>
              <a:rPr lang="fr-FR" baseline="0" dirty="0" err="1" smtClean="0"/>
              <a:t>am</a:t>
            </a:r>
            <a:r>
              <a:rPr lang="fr-FR" baseline="0" dirty="0" smtClean="0"/>
              <a:t> </a:t>
            </a:r>
            <a:r>
              <a:rPr lang="fr-FR" baseline="0" dirty="0" err="1" smtClean="0"/>
              <a:t>Ausland</a:t>
            </a:r>
            <a:r>
              <a:rPr lang="fr-FR" baseline="0" dirty="0" smtClean="0"/>
              <a:t> </a:t>
            </a:r>
            <a:r>
              <a:rPr lang="fr-FR" baseline="0" dirty="0" err="1" smtClean="0"/>
              <a:t>respektiv</a:t>
            </a:r>
            <a:r>
              <a:rPr lang="fr-FR" baseline="0" dirty="0" smtClean="0"/>
              <a:t> mat den lignes directrices </a:t>
            </a:r>
            <a:r>
              <a:rPr lang="fr-FR" baseline="0" dirty="0" err="1" smtClean="0"/>
              <a:t>verglach</a:t>
            </a:r>
            <a:r>
              <a:rPr lang="fr-FR" baseline="0" dirty="0" smtClean="0"/>
              <a:t> </a:t>
            </a:r>
            <a:r>
              <a:rPr lang="fr-FR" baseline="0" dirty="0" err="1" smtClean="0"/>
              <a:t>hunn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meng</a:t>
            </a:r>
            <a:r>
              <a:rPr lang="fr-FR" baseline="0" dirty="0" smtClean="0"/>
              <a:t> </a:t>
            </a:r>
            <a:r>
              <a:rPr lang="fr-FR" baseline="0" dirty="0" err="1" smtClean="0"/>
              <a:t>recommandationen</a:t>
            </a:r>
            <a:r>
              <a:rPr lang="fr-FR" baseline="0" dirty="0" smtClean="0"/>
              <a:t> </a:t>
            </a:r>
            <a:r>
              <a:rPr lang="fr-FR" baseline="0" dirty="0" err="1" smtClean="0"/>
              <a:t>opgestallt</a:t>
            </a:r>
            <a:r>
              <a:rPr lang="fr-FR" baseline="0" dirty="0" smtClean="0"/>
              <a:t>. </a:t>
            </a:r>
          </a:p>
          <a:p>
            <a:pPr marL="0" indent="0">
              <a:buFontTx/>
              <a:buNone/>
            </a:pPr>
            <a:endParaRPr lang="fr-FR" baseline="0" dirty="0" smtClean="0"/>
          </a:p>
          <a:p>
            <a:pPr marL="0" indent="0">
              <a:buFontTx/>
              <a:buNone/>
            </a:pPr>
            <a:endParaRPr lang="fr-FR" baseline="0" dirty="0" smtClean="0"/>
          </a:p>
          <a:p>
            <a:pPr marL="171450" indent="-171450">
              <a:buFontTx/>
              <a:buChar char="-"/>
            </a:pPr>
            <a:r>
              <a:rPr lang="fr-FR" b="1" dirty="0" smtClean="0"/>
              <a:t>Présentation </a:t>
            </a:r>
            <a:r>
              <a:rPr lang="fr-FR" b="1" dirty="0" err="1" smtClean="0"/>
              <a:t>vum</a:t>
            </a:r>
            <a:r>
              <a:rPr lang="fr-FR" b="1" dirty="0" smtClean="0"/>
              <a:t> Sommaire </a:t>
            </a:r>
            <a:r>
              <a:rPr lang="fr-FR" b="1" dirty="0" err="1" smtClean="0"/>
              <a:t>vun</a:t>
            </a:r>
            <a:r>
              <a:rPr lang="fr-FR" b="1" dirty="0" smtClean="0"/>
              <a:t> der Présentation:</a:t>
            </a:r>
          </a:p>
          <a:p>
            <a:r>
              <a:rPr lang="fr-FR" dirty="0" smtClean="0"/>
              <a:t>	Le sujet</a:t>
            </a:r>
          </a:p>
          <a:p>
            <a:r>
              <a:rPr lang="fr-FR" dirty="0" smtClean="0"/>
              <a:t>	L’OEA</a:t>
            </a:r>
          </a:p>
          <a:p>
            <a:r>
              <a:rPr lang="fr-FR" dirty="0" smtClean="0"/>
              <a:t>	L’audit en général</a:t>
            </a:r>
          </a:p>
          <a:p>
            <a:r>
              <a:rPr lang="fr-FR" dirty="0" smtClean="0"/>
              <a:t>	Le déroulement d’un audit d’un OEA au Luxembourg</a:t>
            </a:r>
          </a:p>
          <a:p>
            <a:r>
              <a:rPr lang="fr-FR" dirty="0" smtClean="0"/>
              <a:t>	Les recommandations</a:t>
            </a:r>
          </a:p>
          <a:p>
            <a:r>
              <a:rPr lang="fr-FR" dirty="0" smtClean="0"/>
              <a:t>	La conclusion</a:t>
            </a:r>
          </a:p>
          <a:p>
            <a:endParaRPr lang="fr-FR"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err="1" smtClean="0"/>
              <a:t>Also</a:t>
            </a:r>
            <a:r>
              <a:rPr lang="fr-FR" baseline="0" dirty="0" smtClean="0"/>
              <a:t> </a:t>
            </a:r>
            <a:r>
              <a:rPr lang="fr-FR" baseline="0" dirty="0" err="1" smtClean="0"/>
              <a:t>déi</a:t>
            </a:r>
            <a:r>
              <a:rPr lang="fr-FR" baseline="0" dirty="0" smtClean="0"/>
              <a:t> </a:t>
            </a:r>
            <a:r>
              <a:rPr lang="fr-FR" baseline="0" dirty="0" err="1" smtClean="0"/>
              <a:t>grous</a:t>
            </a:r>
            <a:r>
              <a:rPr lang="fr-FR" baseline="0" dirty="0" smtClean="0"/>
              <a:t> </a:t>
            </a:r>
            <a:r>
              <a:rPr lang="fr-FR" baseline="0" dirty="0" err="1" smtClean="0"/>
              <a:t>fro</a:t>
            </a:r>
            <a:r>
              <a:rPr lang="fr-FR" baseline="0" dirty="0" smtClean="0"/>
              <a:t>, </a:t>
            </a:r>
            <a:r>
              <a:rPr lang="fr-FR" baseline="0" dirty="0" err="1" smtClean="0"/>
              <a:t>wat</a:t>
            </a:r>
            <a:r>
              <a:rPr lang="fr-FR" baseline="0" dirty="0" smtClean="0"/>
              <a:t> </a:t>
            </a:r>
            <a:r>
              <a:rPr lang="fr-FR" baseline="0" dirty="0" err="1" smtClean="0"/>
              <a:t>stellen</a:t>
            </a:r>
            <a:r>
              <a:rPr lang="fr-FR" baseline="0" dirty="0" smtClean="0"/>
              <a:t> </a:t>
            </a:r>
            <a:r>
              <a:rPr lang="fr-FR" baseline="0" dirty="0" err="1" smtClean="0"/>
              <a:t>ech</a:t>
            </a:r>
            <a:r>
              <a:rPr lang="fr-FR" baseline="0" dirty="0" smtClean="0"/>
              <a:t> </a:t>
            </a:r>
            <a:r>
              <a:rPr lang="fr-FR" baseline="0" dirty="0" err="1" smtClean="0"/>
              <a:t>eech</a:t>
            </a:r>
            <a:r>
              <a:rPr lang="fr-FR" baseline="0" dirty="0" smtClean="0"/>
              <a:t> haut </a:t>
            </a:r>
            <a:r>
              <a:rPr lang="fr-FR" baseline="0" dirty="0" err="1" smtClean="0"/>
              <a:t>fir</a:t>
            </a:r>
            <a:r>
              <a:rPr lang="fr-FR" baseline="0" dirty="0" smtClean="0"/>
              <a:t>? Den Sommaire </a:t>
            </a:r>
            <a:r>
              <a:rPr lang="fr-FR" baseline="0" dirty="0" err="1" smtClean="0"/>
              <a:t>gesait</a:t>
            </a:r>
            <a:r>
              <a:rPr lang="fr-FR" baseline="0" dirty="0" smtClean="0"/>
              <a:t> fier </a:t>
            </a:r>
            <a:r>
              <a:rPr lang="fr-FR" baseline="0" dirty="0" err="1" smtClean="0"/>
              <a:t>dass</a:t>
            </a:r>
            <a:r>
              <a:rPr lang="fr-FR" baseline="0" dirty="0" smtClean="0"/>
              <a:t> </a:t>
            </a:r>
            <a:r>
              <a:rPr lang="fr-FR" baseline="0" dirty="0" err="1" smtClean="0"/>
              <a:t>ech</a:t>
            </a:r>
            <a:r>
              <a:rPr lang="fr-FR" baseline="0" dirty="0" smtClean="0"/>
              <a:t> </a:t>
            </a:r>
            <a:r>
              <a:rPr lang="fr-FR" baseline="0" dirty="0" err="1" smtClean="0"/>
              <a:t>Eech</a:t>
            </a:r>
            <a:r>
              <a:rPr lang="fr-FR" baseline="0" dirty="0" smtClean="0"/>
              <a:t> </a:t>
            </a:r>
            <a:r>
              <a:rPr lang="fr-FR" baseline="0" dirty="0" err="1" smtClean="0"/>
              <a:t>fir</a:t>
            </a:r>
            <a:r>
              <a:rPr lang="fr-FR" baseline="0" dirty="0" smtClean="0"/>
              <a:t> d’</a:t>
            </a:r>
            <a:r>
              <a:rPr lang="fr-FR" baseline="0" dirty="0" err="1" smtClean="0"/>
              <a:t>éicht</a:t>
            </a:r>
            <a:r>
              <a:rPr lang="fr-FR" baseline="0" dirty="0" smtClean="0"/>
              <a:t> </a:t>
            </a:r>
            <a:r>
              <a:rPr lang="fr-FR" baseline="0" dirty="0" err="1" smtClean="0"/>
              <a:t>eemol</a:t>
            </a:r>
            <a:r>
              <a:rPr lang="fr-FR" baseline="0" dirty="0" smtClean="0"/>
              <a:t> den OEA </a:t>
            </a:r>
            <a:r>
              <a:rPr lang="fr-FR" baseline="0" dirty="0" err="1" smtClean="0"/>
              <a:t>méi</a:t>
            </a:r>
            <a:r>
              <a:rPr lang="fr-FR" baseline="0" dirty="0" smtClean="0"/>
              <a:t> no </a:t>
            </a:r>
            <a:r>
              <a:rPr lang="fr-FR" baseline="0" dirty="0" err="1" smtClean="0"/>
              <a:t>brengen</a:t>
            </a:r>
            <a:r>
              <a:rPr lang="fr-FR" baseline="0" dirty="0" smtClean="0"/>
              <a:t>, </a:t>
            </a:r>
            <a:r>
              <a:rPr lang="fr-FR" baseline="0" dirty="0" err="1" smtClean="0"/>
              <a:t>eemol</a:t>
            </a:r>
            <a:r>
              <a:rPr lang="fr-FR" baseline="0" dirty="0" smtClean="0"/>
              <a:t> </a:t>
            </a:r>
            <a:r>
              <a:rPr lang="fr-FR" baseline="0" dirty="0" err="1" smtClean="0"/>
              <a:t>kuerz</a:t>
            </a:r>
            <a:r>
              <a:rPr lang="fr-FR" baseline="0" dirty="0" smtClean="0"/>
              <a:t> </a:t>
            </a:r>
            <a:r>
              <a:rPr lang="fr-FR" baseline="0" dirty="0" err="1" smtClean="0"/>
              <a:t>iwer</a:t>
            </a:r>
            <a:r>
              <a:rPr lang="fr-FR" baseline="0" dirty="0" smtClean="0"/>
              <a:t> den audit </a:t>
            </a:r>
            <a:r>
              <a:rPr lang="fr-FR" baseline="0" dirty="0" err="1" smtClean="0"/>
              <a:t>schwetzen</a:t>
            </a:r>
            <a:r>
              <a:rPr lang="fr-FR" baseline="0" dirty="0" smtClean="0"/>
              <a:t>, den déroulement  </a:t>
            </a:r>
            <a:r>
              <a:rPr lang="fr-FR" baseline="0" dirty="0" err="1" smtClean="0"/>
              <a:t>vum</a:t>
            </a:r>
            <a:r>
              <a:rPr lang="fr-FR" baseline="0" dirty="0" smtClean="0"/>
              <a:t> audit </a:t>
            </a:r>
            <a:r>
              <a:rPr lang="fr-FR" baseline="0" dirty="0" err="1" smtClean="0"/>
              <a:t>vun</a:t>
            </a:r>
            <a:r>
              <a:rPr lang="fr-FR" baseline="0" dirty="0" smtClean="0"/>
              <a:t> </a:t>
            </a:r>
            <a:r>
              <a:rPr lang="fr-FR" baseline="0" dirty="0" err="1" smtClean="0"/>
              <a:t>engem</a:t>
            </a:r>
            <a:r>
              <a:rPr lang="fr-FR" baseline="0" dirty="0" smtClean="0"/>
              <a:t> OEA an </a:t>
            </a:r>
            <a:r>
              <a:rPr lang="fr-FR" baseline="0" dirty="0" err="1" smtClean="0"/>
              <a:t>Letzebuerg</a:t>
            </a:r>
            <a:r>
              <a:rPr lang="fr-FR" baseline="0" dirty="0" smtClean="0"/>
              <a:t> </a:t>
            </a:r>
            <a:r>
              <a:rPr lang="fr-FR" baseline="0" dirty="0" err="1" smtClean="0"/>
              <a:t>présentéieren</a:t>
            </a:r>
            <a:r>
              <a:rPr lang="fr-FR" baseline="0" dirty="0" smtClean="0"/>
              <a:t>, </a:t>
            </a:r>
            <a:r>
              <a:rPr lang="fr-FR" baseline="0" dirty="0" err="1" smtClean="0"/>
              <a:t>dann</a:t>
            </a:r>
            <a:r>
              <a:rPr lang="fr-FR" baseline="0" dirty="0" smtClean="0"/>
              <a:t> </a:t>
            </a:r>
            <a:r>
              <a:rPr lang="fr-FR" baseline="0" dirty="0" err="1" smtClean="0"/>
              <a:t>kommen</a:t>
            </a:r>
            <a:r>
              <a:rPr lang="fr-FR" baseline="0" dirty="0" smtClean="0"/>
              <a:t> mer </a:t>
            </a:r>
            <a:r>
              <a:rPr lang="fr-FR" baseline="0" dirty="0" err="1" smtClean="0"/>
              <a:t>och</a:t>
            </a:r>
            <a:r>
              <a:rPr lang="fr-FR" baseline="0" dirty="0" smtClean="0"/>
              <a:t> </a:t>
            </a:r>
            <a:r>
              <a:rPr lang="fr-FR" baseline="0" dirty="0" err="1" smtClean="0"/>
              <a:t>schon</a:t>
            </a:r>
            <a:r>
              <a:rPr lang="fr-FR" baseline="0" dirty="0" smtClean="0"/>
              <a:t> </a:t>
            </a:r>
            <a:r>
              <a:rPr lang="fr-FR" baseline="0" dirty="0" err="1" smtClean="0"/>
              <a:t>zu</a:t>
            </a:r>
            <a:r>
              <a:rPr lang="fr-FR" baseline="0" dirty="0" smtClean="0"/>
              <a:t> den </a:t>
            </a:r>
            <a:r>
              <a:rPr lang="fr-FR" baseline="0" dirty="0" err="1" smtClean="0"/>
              <a:t>recommandationen</a:t>
            </a:r>
            <a:r>
              <a:rPr lang="fr-FR" baseline="0" dirty="0" smtClean="0"/>
              <a:t> an </a:t>
            </a:r>
            <a:r>
              <a:rPr lang="fr-FR" baseline="0" dirty="0" err="1" smtClean="0"/>
              <a:t>zum</a:t>
            </a:r>
            <a:r>
              <a:rPr lang="fr-FR" baseline="0" dirty="0" smtClean="0"/>
              <a:t> </a:t>
            </a:r>
            <a:r>
              <a:rPr lang="fr-FR" baseline="0" dirty="0" err="1" smtClean="0"/>
              <a:t>schluss</a:t>
            </a:r>
            <a:r>
              <a:rPr lang="fr-FR" baseline="0" dirty="0" smtClean="0"/>
              <a:t> </a:t>
            </a:r>
            <a:r>
              <a:rPr lang="fr-FR" baseline="0" dirty="0" err="1" smtClean="0"/>
              <a:t>nach</a:t>
            </a:r>
            <a:r>
              <a:rPr lang="fr-FR" baseline="0" dirty="0" smtClean="0"/>
              <a:t> </a:t>
            </a:r>
            <a:r>
              <a:rPr lang="fr-FR" baseline="0" dirty="0" err="1" smtClean="0"/>
              <a:t>eng</a:t>
            </a:r>
            <a:r>
              <a:rPr lang="fr-FR" baseline="0" dirty="0" smtClean="0"/>
              <a:t> </a:t>
            </a:r>
            <a:r>
              <a:rPr lang="fr-FR" baseline="0" dirty="0" err="1" smtClean="0"/>
              <a:t>kleng</a:t>
            </a:r>
            <a:r>
              <a:rPr lang="fr-FR" baseline="0" dirty="0" smtClean="0"/>
              <a:t> conclusion. </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EC2D5BD5-BCCF-4892-A47B-1366A1D542C7}" type="slidenum">
              <a:rPr lang="en-US" smtClean="0"/>
              <a:t>2</a:t>
            </a:fld>
            <a:endParaRPr lang="en-US"/>
          </a:p>
        </p:txBody>
      </p:sp>
    </p:spTree>
    <p:extLst>
      <p:ext uri="{BB962C8B-B14F-4D97-AF65-F5344CB8AC3E}">
        <p14:creationId xmlns:p14="http://schemas.microsoft.com/office/powerpoint/2010/main" val="3416571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fr-CH"/>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24.10.2024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990715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24.10.2024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0607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fr-CH"/>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5AFC1B58-A5CB-4888-98D1-673EE0D4D308}" type="datetimeFigureOut">
              <a:rPr lang="fr-CH" smtClean="0"/>
              <a:t>24.10.2024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993807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Datumsplatzhalter 4"/>
          <p:cNvSpPr>
            <a:spLocks noGrp="1"/>
          </p:cNvSpPr>
          <p:nvPr>
            <p:ph type="dt" sz="half" idx="10"/>
          </p:nvPr>
        </p:nvSpPr>
        <p:spPr/>
        <p:txBody>
          <a:bodyPr/>
          <a:lstStyle/>
          <a:p>
            <a:fld id="{5AFC1B58-A5CB-4888-98D1-673EE0D4D308}" type="datetimeFigureOut">
              <a:rPr lang="fr-CH" smtClean="0"/>
              <a:t>24.10.2024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38195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fr-CH"/>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7" name="Datumsplatzhalter 6"/>
          <p:cNvSpPr>
            <a:spLocks noGrp="1"/>
          </p:cNvSpPr>
          <p:nvPr>
            <p:ph type="dt" sz="half" idx="10"/>
          </p:nvPr>
        </p:nvSpPr>
        <p:spPr/>
        <p:txBody>
          <a:bodyPr/>
          <a:lstStyle/>
          <a:p>
            <a:fld id="{5AFC1B58-A5CB-4888-98D1-673EE0D4D308}" type="datetimeFigureOut">
              <a:rPr lang="fr-CH" smtClean="0"/>
              <a:t>24.10.2024</a:t>
            </a:fld>
            <a:endParaRPr lang="fr-CH"/>
          </a:p>
        </p:txBody>
      </p:sp>
      <p:sp>
        <p:nvSpPr>
          <p:cNvPr id="8" name="Fußzeilenplatzhalter 7"/>
          <p:cNvSpPr>
            <a:spLocks noGrp="1"/>
          </p:cNvSpPr>
          <p:nvPr>
            <p:ph type="ftr" sz="quarter" idx="11"/>
          </p:nvPr>
        </p:nvSpPr>
        <p:spPr/>
        <p:txBody>
          <a:bodyPr/>
          <a:lstStyle/>
          <a:p>
            <a:endParaRPr lang="fr-CH"/>
          </a:p>
        </p:txBody>
      </p:sp>
      <p:sp>
        <p:nvSpPr>
          <p:cNvPr id="9" name="Foliennummernplatzhalter 8"/>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172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Datumsplatzhalter 2"/>
          <p:cNvSpPr>
            <a:spLocks noGrp="1"/>
          </p:cNvSpPr>
          <p:nvPr>
            <p:ph type="dt" sz="half" idx="10"/>
          </p:nvPr>
        </p:nvSpPr>
        <p:spPr/>
        <p:txBody>
          <a:bodyPr/>
          <a:lstStyle/>
          <a:p>
            <a:fld id="{5AFC1B58-A5CB-4888-98D1-673EE0D4D308}" type="datetimeFigureOut">
              <a:rPr lang="fr-CH" smtClean="0"/>
              <a:t>24.10.2024</a:t>
            </a:fld>
            <a:endParaRPr lang="fr-CH"/>
          </a:p>
        </p:txBody>
      </p:sp>
      <p:sp>
        <p:nvSpPr>
          <p:cNvPr id="4" name="Fußzeilenplatzhalter 3"/>
          <p:cNvSpPr>
            <a:spLocks noGrp="1"/>
          </p:cNvSpPr>
          <p:nvPr>
            <p:ph type="ftr" sz="quarter" idx="11"/>
          </p:nvPr>
        </p:nvSpPr>
        <p:spPr/>
        <p:txBody>
          <a:bodyPr/>
          <a:lstStyle/>
          <a:p>
            <a:endParaRPr lang="fr-CH"/>
          </a:p>
        </p:txBody>
      </p:sp>
      <p:sp>
        <p:nvSpPr>
          <p:cNvPr id="5" name="Foliennummernplatzhalter 4"/>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68235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FC1B58-A5CB-4888-98D1-673EE0D4D308}" type="datetimeFigureOut">
              <a:rPr lang="fr-CH" smtClean="0"/>
              <a:t>24.10.2024</a:t>
            </a:fld>
            <a:endParaRPr lang="fr-CH"/>
          </a:p>
        </p:txBody>
      </p:sp>
      <p:sp>
        <p:nvSpPr>
          <p:cNvPr id="3" name="Fußzeilenplatzhalter 2"/>
          <p:cNvSpPr>
            <a:spLocks noGrp="1"/>
          </p:cNvSpPr>
          <p:nvPr>
            <p:ph type="ftr" sz="quarter" idx="11"/>
          </p:nvPr>
        </p:nvSpPr>
        <p:spPr/>
        <p:txBody>
          <a:bodyPr/>
          <a:lstStyle/>
          <a:p>
            <a:endParaRPr lang="fr-CH"/>
          </a:p>
        </p:txBody>
      </p:sp>
      <p:sp>
        <p:nvSpPr>
          <p:cNvPr id="4" name="Foliennummernplatzhalter 3"/>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82519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24.10.2024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92002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24.10.2024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2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24.10.2024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7018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fr-CH"/>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24.10.2024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952568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2000" b="-12000"/>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fr-CH"/>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C1B58-A5CB-4888-98D1-673EE0D4D308}" type="datetimeFigureOut">
              <a:rPr lang="fr-CH" smtClean="0"/>
              <a:t>24.10.2024</a:t>
            </a:fld>
            <a:endParaRPr lang="fr-CH"/>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1F01A-B187-4E96-A42F-7B20626A13B5}" type="slidenum">
              <a:rPr lang="fr-CH" smtClean="0"/>
              <a:t>‹#›</a:t>
            </a:fld>
            <a:endParaRPr lang="fr-CH"/>
          </a:p>
        </p:txBody>
      </p:sp>
    </p:spTree>
    <p:extLst>
      <p:ext uri="{BB962C8B-B14F-4D97-AF65-F5344CB8AC3E}">
        <p14:creationId xmlns:p14="http://schemas.microsoft.com/office/powerpoint/2010/main" val="2775136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644770" y="1626958"/>
            <a:ext cx="10769600" cy="2716442"/>
          </a:xfrm>
        </p:spPr>
        <p:txBody>
          <a:bodyPr>
            <a:normAutofit/>
          </a:bodyPr>
          <a:lstStyle/>
          <a:p>
            <a:r>
              <a:rPr lang="fr-LU" sz="5400" b="1" dirty="0" smtClean="0">
                <a:ln w="9525">
                  <a:solidFill>
                    <a:schemeClr val="accent1"/>
                  </a:solidFill>
                  <a:prstDash val="solid"/>
                </a:ln>
                <a:effectLst>
                  <a:outerShdw blurRad="12700" dist="38100" dir="2700000" algn="tl" rotWithShape="0">
                    <a:schemeClr val="bg1">
                      <a:lumMod val="50000"/>
                    </a:schemeClr>
                  </a:outerShdw>
                </a:effectLst>
              </a:rPr>
              <a:t/>
            </a:r>
            <a:br>
              <a:rPr lang="fr-LU" sz="5400" b="1" dirty="0" smtClean="0">
                <a:ln w="9525">
                  <a:solidFill>
                    <a:schemeClr val="accent1"/>
                  </a:solidFill>
                  <a:prstDash val="solid"/>
                </a:ln>
                <a:effectLst>
                  <a:outerShdw blurRad="12700" dist="38100" dir="2700000" algn="tl" rotWithShape="0">
                    <a:schemeClr val="bg1">
                      <a:lumMod val="50000"/>
                    </a:schemeClr>
                  </a:outerShdw>
                </a:effectLst>
              </a:rPr>
            </a:br>
            <a:endParaRPr lang="fr-CH" sz="5400" b="1" dirty="0">
              <a:ln w="9525">
                <a:solidFill>
                  <a:schemeClr val="accent1"/>
                </a:solidFill>
                <a:prstDash val="solid"/>
              </a:ln>
              <a:effectLst>
                <a:outerShdw blurRad="12700" dist="38100" dir="2700000" algn="tl" rotWithShape="0">
                  <a:schemeClr val="bg1">
                    <a:lumMod val="50000"/>
                  </a:schemeClr>
                </a:outerShdw>
              </a:effectLst>
            </a:endParaRPr>
          </a:p>
        </p:txBody>
      </p:sp>
      <p:pic>
        <p:nvPicPr>
          <p:cNvPr id="5" name="Grafik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064" y="219138"/>
            <a:ext cx="3031402" cy="818232"/>
          </a:xfrm>
          <a:prstGeom prst="rect">
            <a:avLst/>
          </a:prstGeom>
        </p:spPr>
      </p:pic>
      <p:sp>
        <p:nvSpPr>
          <p:cNvPr id="7" name="Titel 3"/>
          <p:cNvSpPr txBox="1">
            <a:spLocks/>
          </p:cNvSpPr>
          <p:nvPr/>
        </p:nvSpPr>
        <p:spPr>
          <a:xfrm>
            <a:off x="644770" y="5003800"/>
            <a:ext cx="11547230" cy="1295400"/>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r-CH" sz="2800" b="1" dirty="0"/>
          </a:p>
        </p:txBody>
      </p:sp>
      <p:sp>
        <p:nvSpPr>
          <p:cNvPr id="6" name="Title 1"/>
          <p:cNvSpPr txBox="1">
            <a:spLocks/>
          </p:cNvSpPr>
          <p:nvPr/>
        </p:nvSpPr>
        <p:spPr>
          <a:xfrm>
            <a:off x="914400" y="1122363"/>
            <a:ext cx="103632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8" name="Subtitle 2"/>
          <p:cNvSpPr>
            <a:spLocks noGrp="1"/>
          </p:cNvSpPr>
          <p:nvPr>
            <p:ph type="subTitle" idx="1"/>
          </p:nvPr>
        </p:nvSpPr>
        <p:spPr>
          <a:xfrm>
            <a:off x="1524000" y="3602038"/>
            <a:ext cx="9144000" cy="1655762"/>
          </a:xfrm>
        </p:spPr>
        <p:txBody>
          <a:bodyPr/>
          <a:lstStyle/>
          <a:p>
            <a:r>
              <a:rPr lang="en-US" dirty="0" err="1" smtClean="0"/>
              <a:t>Partie</a:t>
            </a:r>
            <a:r>
              <a:rPr lang="en-US" dirty="0" smtClean="0"/>
              <a:t> </a:t>
            </a:r>
            <a:r>
              <a:rPr lang="en-US" dirty="0" err="1" smtClean="0"/>
              <a:t>pratique</a:t>
            </a:r>
            <a:r>
              <a:rPr lang="en-US" dirty="0" smtClean="0"/>
              <a:t> : Régime </a:t>
            </a:r>
            <a:r>
              <a:rPr lang="en-US" dirty="0" err="1" smtClean="0"/>
              <a:t>particulier</a:t>
            </a:r>
            <a:endParaRPr lang="en-US" dirty="0"/>
          </a:p>
        </p:txBody>
      </p:sp>
    </p:spTree>
    <p:extLst>
      <p:ext uri="{BB962C8B-B14F-4D97-AF65-F5344CB8AC3E}">
        <p14:creationId xmlns:p14="http://schemas.microsoft.com/office/powerpoint/2010/main" val="4120300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Il existe 4 différents types de régime particuliers</a:t>
            </a:r>
          </a:p>
        </p:txBody>
      </p:sp>
      <p:sp>
        <p:nvSpPr>
          <p:cNvPr id="3" name="Inhaltsplatzhalter 2"/>
          <p:cNvSpPr>
            <a:spLocks noGrp="1"/>
          </p:cNvSpPr>
          <p:nvPr>
            <p:ph idx="1"/>
          </p:nvPr>
        </p:nvSpPr>
        <p:spPr/>
        <p:txBody>
          <a:bodyPr>
            <a:normAutofit/>
          </a:bodyPr>
          <a:lstStyle/>
          <a:p>
            <a:pPr lvl="1" algn="just"/>
            <a:endParaRPr lang="en-US" dirty="0"/>
          </a:p>
          <a:p>
            <a:r>
              <a:rPr lang="fr-CH" dirty="0"/>
              <a:t>le transit </a:t>
            </a:r>
            <a:r>
              <a:rPr lang="fr-CH" dirty="0" smtClean="0"/>
              <a:t>;</a:t>
            </a:r>
          </a:p>
          <a:p>
            <a:r>
              <a:rPr lang="fr-CH" dirty="0" smtClean="0"/>
              <a:t> </a:t>
            </a:r>
            <a:r>
              <a:rPr lang="fr-CH" dirty="0"/>
              <a:t>le stockage ; </a:t>
            </a:r>
            <a:endParaRPr lang="fr-CH" dirty="0" smtClean="0"/>
          </a:p>
          <a:p>
            <a:r>
              <a:rPr lang="fr-CH" dirty="0" smtClean="0"/>
              <a:t>l’utilisation </a:t>
            </a:r>
            <a:r>
              <a:rPr lang="fr-CH" dirty="0"/>
              <a:t>spécifique </a:t>
            </a:r>
            <a:endParaRPr lang="fr-CH" dirty="0" smtClean="0"/>
          </a:p>
          <a:p>
            <a:r>
              <a:rPr lang="fr-CH" dirty="0" smtClean="0"/>
              <a:t>la </a:t>
            </a:r>
            <a:r>
              <a:rPr lang="fr-CH" dirty="0"/>
              <a:t>transformation</a:t>
            </a:r>
          </a:p>
        </p:txBody>
      </p:sp>
    </p:spTree>
    <p:extLst>
      <p:ext uri="{BB962C8B-B14F-4D97-AF65-F5344CB8AC3E}">
        <p14:creationId xmlns:p14="http://schemas.microsoft.com/office/powerpoint/2010/main" val="1676613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L’enquête préliminaire est articulée en 3 parties, à savoir :</a:t>
            </a:r>
            <a:endParaRPr lang="en-US" dirty="0"/>
          </a:p>
        </p:txBody>
      </p:sp>
      <p:sp>
        <p:nvSpPr>
          <p:cNvPr id="3" name="Content Placeholder 2"/>
          <p:cNvSpPr>
            <a:spLocks noGrp="1"/>
          </p:cNvSpPr>
          <p:nvPr>
            <p:ph idx="1"/>
          </p:nvPr>
        </p:nvSpPr>
        <p:spPr/>
        <p:txBody>
          <a:bodyPr/>
          <a:lstStyle/>
          <a:p>
            <a:r>
              <a:rPr lang="fr-CH" dirty="0"/>
              <a:t>les informations générales de </a:t>
            </a:r>
            <a:r>
              <a:rPr lang="fr-CH" dirty="0" smtClean="0"/>
              <a:t>l’opérateur</a:t>
            </a:r>
          </a:p>
          <a:p>
            <a:r>
              <a:rPr lang="fr-CH" dirty="0" smtClean="0"/>
              <a:t>l’examen </a:t>
            </a:r>
            <a:r>
              <a:rPr lang="fr-CH" dirty="0"/>
              <a:t>des </a:t>
            </a:r>
            <a:r>
              <a:rPr lang="fr-CH" dirty="0" smtClean="0"/>
              <a:t>conditions</a:t>
            </a:r>
          </a:p>
          <a:p>
            <a:r>
              <a:rPr lang="fr-CH" dirty="0" smtClean="0"/>
              <a:t>la </a:t>
            </a:r>
            <a:r>
              <a:rPr lang="fr-CH" dirty="0"/>
              <a:t>conclusion.</a:t>
            </a:r>
            <a:endParaRPr lang="en-US" dirty="0"/>
          </a:p>
        </p:txBody>
      </p:sp>
    </p:spTree>
    <p:extLst>
      <p:ext uri="{BB962C8B-B14F-4D97-AF65-F5344CB8AC3E}">
        <p14:creationId xmlns:p14="http://schemas.microsoft.com/office/powerpoint/2010/main" val="33167735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générales de l’opérateur</a:t>
            </a:r>
            <a:endParaRPr lang="en-US" dirty="0"/>
          </a:p>
        </p:txBody>
      </p:sp>
      <p:sp>
        <p:nvSpPr>
          <p:cNvPr id="3" name="Content Placeholder 2"/>
          <p:cNvSpPr>
            <a:spLocks noGrp="1"/>
          </p:cNvSpPr>
          <p:nvPr>
            <p:ph idx="1"/>
          </p:nvPr>
        </p:nvSpPr>
        <p:spPr/>
        <p:txBody>
          <a:bodyPr>
            <a:normAutofit fontScale="70000" lnSpcReduction="20000"/>
          </a:bodyPr>
          <a:lstStyle/>
          <a:p>
            <a:r>
              <a:rPr lang="fr-CH" dirty="0"/>
              <a:t>Il s’agit notamment des informations globales sur l’opérateur demandeur, ainsi que les différentes autorisations, respectivement simplification, douanières dont l’opérateur économique dispose : </a:t>
            </a:r>
            <a:endParaRPr lang="fr-CH" dirty="0" smtClean="0"/>
          </a:p>
          <a:p>
            <a:r>
              <a:rPr lang="fr-CH" dirty="0" smtClean="0"/>
              <a:t>le </a:t>
            </a:r>
            <a:r>
              <a:rPr lang="fr-CH" dirty="0"/>
              <a:t>régime sollicité par le demandeur devra être stipulé dans l’enquête ; le code correspondant au régime utilisé devra être inscrit sur l’autorisation (p.ex. ACE) ; </a:t>
            </a:r>
            <a:endParaRPr lang="fr-CH" dirty="0" smtClean="0"/>
          </a:p>
          <a:p>
            <a:r>
              <a:rPr lang="fr-CH" dirty="0" smtClean="0"/>
              <a:t>la </a:t>
            </a:r>
            <a:r>
              <a:rPr lang="fr-CH" dirty="0"/>
              <a:t>demande devra être référencée avec l’annotation correspondant au régime </a:t>
            </a:r>
            <a:r>
              <a:rPr lang="fr-CH" dirty="0" smtClean="0"/>
              <a:t>demandé</a:t>
            </a:r>
            <a:r>
              <a:rPr lang="fr-CH" dirty="0"/>
              <a:t> (p.ex. LUACELU) </a:t>
            </a:r>
          </a:p>
          <a:p>
            <a:r>
              <a:rPr lang="fr-CH" dirty="0" smtClean="0"/>
              <a:t>le </a:t>
            </a:r>
            <a:r>
              <a:rPr lang="fr-CH" dirty="0"/>
              <a:t>nom et l’adresse de l’opérateur devront y être indiqués </a:t>
            </a:r>
            <a:r>
              <a:rPr lang="fr-CH" dirty="0" smtClean="0"/>
              <a:t>;</a:t>
            </a:r>
          </a:p>
          <a:p>
            <a:r>
              <a:rPr lang="fr-CH" dirty="0"/>
              <a:t>S</a:t>
            </a:r>
            <a:r>
              <a:rPr lang="fr-CH" dirty="0" smtClean="0"/>
              <a:t>i </a:t>
            </a:r>
            <a:r>
              <a:rPr lang="fr-CH" dirty="0"/>
              <a:t>le demandeur dispose d’annexes, elles devront également figurer dans la demande ; </a:t>
            </a:r>
            <a:endParaRPr lang="fr-CH" dirty="0" smtClean="0"/>
          </a:p>
          <a:p>
            <a:r>
              <a:rPr lang="fr-CH" dirty="0" smtClean="0"/>
              <a:t>l’opérateur </a:t>
            </a:r>
            <a:r>
              <a:rPr lang="fr-CH" dirty="0"/>
              <a:t>devra faire mention du nom, de l’adresse et de l’adresse email de la personne de contact pour qu’elle puisse être joignable par les agents du service compétent,</a:t>
            </a:r>
          </a:p>
          <a:p>
            <a:r>
              <a:rPr lang="fr-CH" dirty="0"/>
              <a:t>le numéro EORI du demandeur (</a:t>
            </a:r>
            <a:r>
              <a:rPr lang="fr-CH" dirty="0" err="1"/>
              <a:t>Economic</a:t>
            </a:r>
            <a:r>
              <a:rPr lang="fr-CH" dirty="0"/>
              <a:t> </a:t>
            </a:r>
            <a:r>
              <a:rPr lang="fr-CH" dirty="0" err="1"/>
              <a:t>Operator</a:t>
            </a:r>
            <a:r>
              <a:rPr lang="fr-CH" dirty="0"/>
              <a:t> Registration Identification) est un numéro unique d’enregistrement et d’identification des opérateurs économiques impliqués dans des activités douanières ;</a:t>
            </a:r>
          </a:p>
          <a:p>
            <a:r>
              <a:rPr lang="fr-CH" dirty="0"/>
              <a:t>le numéro de TVA du demandeur ; </a:t>
            </a:r>
            <a:endParaRPr lang="fr-CH" dirty="0" smtClean="0"/>
          </a:p>
          <a:p>
            <a:r>
              <a:rPr lang="fr-CH" dirty="0" smtClean="0"/>
              <a:t>si </a:t>
            </a:r>
            <a:r>
              <a:rPr lang="fr-CH" dirty="0"/>
              <a:t>l’opérateur dispose du statut de l’OEA, il faudra indiquer ce numéro d’autorisation.</a:t>
            </a:r>
          </a:p>
          <a:p>
            <a:endParaRPr lang="en-US" dirty="0"/>
          </a:p>
        </p:txBody>
      </p:sp>
    </p:spTree>
    <p:extLst>
      <p:ext uri="{BB962C8B-B14F-4D97-AF65-F5344CB8AC3E}">
        <p14:creationId xmlns:p14="http://schemas.microsoft.com/office/powerpoint/2010/main" val="39209701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les </a:t>
            </a:r>
            <a:r>
              <a:rPr lang="en-US" dirty="0" err="1" smtClean="0"/>
              <a:t>informations</a:t>
            </a:r>
            <a:r>
              <a:rPr lang="en-US" dirty="0" smtClean="0"/>
              <a:t> </a:t>
            </a:r>
            <a:r>
              <a:rPr lang="en-US" dirty="0" err="1" smtClean="0"/>
              <a:t>générales</a:t>
            </a:r>
            <a:r>
              <a:rPr lang="en-US" dirty="0" smtClean="0"/>
              <a:t> de </a:t>
            </a:r>
            <a:r>
              <a:rPr lang="en-US" dirty="0" err="1" smtClean="0"/>
              <a:t>l’opérateur</a:t>
            </a:r>
            <a:r>
              <a:rPr lang="en-US" dirty="0" smtClean="0"/>
              <a:t> </a:t>
            </a:r>
            <a:endParaRPr lang="en-US" dirty="0"/>
          </a:p>
        </p:txBody>
      </p:sp>
      <p:sp>
        <p:nvSpPr>
          <p:cNvPr id="3" name="Content Placeholder 2"/>
          <p:cNvSpPr>
            <a:spLocks noGrp="1"/>
          </p:cNvSpPr>
          <p:nvPr>
            <p:ph idx="1"/>
          </p:nvPr>
        </p:nvSpPr>
        <p:spPr/>
        <p:txBody>
          <a:bodyPr/>
          <a:lstStyle/>
          <a:p>
            <a:r>
              <a:rPr lang="fr-CH" dirty="0"/>
              <a:t>Article 166 - la déclaration simplifiée </a:t>
            </a:r>
            <a:r>
              <a:rPr lang="fr-CH" dirty="0" smtClean="0"/>
              <a:t>;</a:t>
            </a:r>
            <a:endParaRPr lang="fr-CH" dirty="0"/>
          </a:p>
          <a:p>
            <a:r>
              <a:rPr lang="fr-CH" dirty="0"/>
              <a:t>Article 179 - le dédouanement centralisé ;</a:t>
            </a:r>
          </a:p>
          <a:p>
            <a:r>
              <a:rPr lang="fr-CH" dirty="0"/>
              <a:t>Article 182 - l’Inscription dans les écritures du </a:t>
            </a:r>
            <a:r>
              <a:rPr lang="fr-CH" dirty="0" smtClean="0"/>
              <a:t>déclarant</a:t>
            </a:r>
            <a:endParaRPr lang="fr-CH" dirty="0"/>
          </a:p>
          <a:p>
            <a:r>
              <a:rPr lang="fr-CH" dirty="0"/>
              <a:t>Article 185 - l’autoévaluation.</a:t>
            </a:r>
          </a:p>
          <a:p>
            <a:pPr marL="0" indent="0">
              <a:buNone/>
            </a:pPr>
            <a:r>
              <a:rPr lang="fr-CH" dirty="0"/>
              <a:t>Ces données devront être demandées de manière commune pour chaque opérateur qui sollicite un régime particulier. Une exception existe pour le régime de la destination particulière, qui devra expliquer les grandes lignes de ses activités planifiées.</a:t>
            </a:r>
            <a:endParaRPr lang="en-US" dirty="0"/>
          </a:p>
        </p:txBody>
      </p:sp>
    </p:spTree>
    <p:extLst>
      <p:ext uri="{BB962C8B-B14F-4D97-AF65-F5344CB8AC3E}">
        <p14:creationId xmlns:p14="http://schemas.microsoft.com/office/powerpoint/2010/main" val="34721073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information </a:t>
            </a:r>
            <a:r>
              <a:rPr lang="en-US" dirty="0" err="1" smtClean="0"/>
              <a:t>générale</a:t>
            </a:r>
            <a:r>
              <a:rPr lang="en-US" dirty="0" smtClean="0"/>
              <a:t> de l’ </a:t>
            </a:r>
            <a:r>
              <a:rPr lang="en-US" dirty="0" err="1" smtClean="0"/>
              <a:t>opérateur</a:t>
            </a:r>
            <a:r>
              <a:rPr lang="en-US" dirty="0" smtClean="0"/>
              <a:t> ( destination </a:t>
            </a:r>
            <a:r>
              <a:rPr lang="en-US" dirty="0" err="1" smtClean="0"/>
              <a:t>particulière</a:t>
            </a:r>
            <a:r>
              <a:rPr lang="en-US" dirty="0" smtClean="0"/>
              <a:t> )</a:t>
            </a:r>
            <a:endParaRPr lang="en-US" dirty="0"/>
          </a:p>
        </p:txBody>
      </p:sp>
      <p:sp>
        <p:nvSpPr>
          <p:cNvPr id="3" name="Content Placeholder 2"/>
          <p:cNvSpPr>
            <a:spLocks noGrp="1"/>
          </p:cNvSpPr>
          <p:nvPr>
            <p:ph idx="1"/>
          </p:nvPr>
        </p:nvSpPr>
        <p:spPr/>
        <p:txBody>
          <a:bodyPr>
            <a:normAutofit fontScale="92500" lnSpcReduction="10000"/>
          </a:bodyPr>
          <a:lstStyle/>
          <a:p>
            <a:r>
              <a:rPr lang="fr-CH" dirty="0" smtClean="0"/>
              <a:t>La provenance de l’importation des marchandises ( ex: </a:t>
            </a:r>
            <a:r>
              <a:rPr lang="fr-CH" dirty="0"/>
              <a:t>Chine </a:t>
            </a:r>
            <a:r>
              <a:rPr lang="fr-CH" dirty="0" smtClean="0"/>
              <a:t>);</a:t>
            </a:r>
          </a:p>
          <a:p>
            <a:r>
              <a:rPr lang="fr-CH" dirty="0"/>
              <a:t>P</a:t>
            </a:r>
            <a:r>
              <a:rPr lang="fr-CH" dirty="0" smtClean="0"/>
              <a:t>lacement </a:t>
            </a:r>
            <a:r>
              <a:rPr lang="fr-CH" dirty="0"/>
              <a:t>de ces marchandises sous le régime de la destination particulière </a:t>
            </a:r>
            <a:r>
              <a:rPr lang="fr-CH" dirty="0" smtClean="0"/>
              <a:t>;</a:t>
            </a:r>
          </a:p>
          <a:p>
            <a:r>
              <a:rPr lang="fr-CH" dirty="0"/>
              <a:t>R</a:t>
            </a:r>
            <a:r>
              <a:rPr lang="fr-CH" dirty="0" smtClean="0"/>
              <a:t>evente </a:t>
            </a:r>
            <a:r>
              <a:rPr lang="fr-CH" dirty="0"/>
              <a:t>des marchandises à des clients se trouvant dans l’UE ; </a:t>
            </a:r>
            <a:endParaRPr lang="fr-CH" dirty="0" smtClean="0"/>
          </a:p>
          <a:p>
            <a:r>
              <a:rPr lang="fr-CH" dirty="0"/>
              <a:t>T</a:t>
            </a:r>
            <a:r>
              <a:rPr lang="fr-CH" dirty="0" smtClean="0"/>
              <a:t>ransfert </a:t>
            </a:r>
            <a:r>
              <a:rPr lang="fr-CH" dirty="0"/>
              <a:t>des marchandises vers divers transformateurs européens sous le régime de la destination particulière ;</a:t>
            </a:r>
          </a:p>
          <a:p>
            <a:r>
              <a:rPr lang="fr-CH" dirty="0"/>
              <a:t>T</a:t>
            </a:r>
            <a:r>
              <a:rPr lang="fr-CH" dirty="0" smtClean="0"/>
              <a:t>ransfert </a:t>
            </a:r>
            <a:r>
              <a:rPr lang="fr-CH" dirty="0"/>
              <a:t>partiel des droits et obligations aux transformateurs européens pour assigner afin d’assigner la marchandise à sa destination particulière prévue.</a:t>
            </a:r>
          </a:p>
          <a:p>
            <a:r>
              <a:rPr lang="fr-CH" dirty="0" smtClean="0"/>
              <a:t>L’opérateur </a:t>
            </a:r>
            <a:r>
              <a:rPr lang="fr-CH" dirty="0"/>
              <a:t>devra en outre préciser le ou les lieux de transformation ou d’utilisation des marchandises.</a:t>
            </a:r>
          </a:p>
          <a:p>
            <a:endParaRPr lang="en-US" dirty="0"/>
          </a:p>
        </p:txBody>
      </p:sp>
    </p:spTree>
    <p:extLst>
      <p:ext uri="{BB962C8B-B14F-4D97-AF65-F5344CB8AC3E}">
        <p14:creationId xmlns:p14="http://schemas.microsoft.com/office/powerpoint/2010/main" val="5652210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err="1"/>
              <a:t>L’examen</a:t>
            </a:r>
            <a:r>
              <a:rPr lang="en-US" dirty="0"/>
              <a:t> des conditions</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486189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Le </a:t>
            </a:r>
            <a:r>
              <a:rPr lang="en-US" dirty="0"/>
              <a:t>transit</a:t>
            </a:r>
          </a:p>
        </p:txBody>
      </p:sp>
      <p:sp>
        <p:nvSpPr>
          <p:cNvPr id="3" name="Content Placeholder 2"/>
          <p:cNvSpPr>
            <a:spLocks noGrp="1"/>
          </p:cNvSpPr>
          <p:nvPr>
            <p:ph idx="1"/>
          </p:nvPr>
        </p:nvSpPr>
        <p:spPr/>
        <p:txBody>
          <a:bodyPr/>
          <a:lstStyle/>
          <a:p>
            <a:pPr marL="0" indent="0">
              <a:buNone/>
            </a:pPr>
            <a:r>
              <a:rPr lang="fr-CH" dirty="0" smtClean="0"/>
              <a:t>Ce régime comprend</a:t>
            </a:r>
          </a:p>
          <a:p>
            <a:pPr marL="0" indent="0">
              <a:buNone/>
            </a:pPr>
            <a:r>
              <a:rPr lang="fr-CH" dirty="0" smtClean="0"/>
              <a:t>le </a:t>
            </a:r>
            <a:r>
              <a:rPr lang="fr-CH" dirty="0"/>
              <a:t>destinataire </a:t>
            </a:r>
            <a:r>
              <a:rPr lang="fr-CH" dirty="0" smtClean="0"/>
              <a:t>agréé</a:t>
            </a:r>
          </a:p>
          <a:p>
            <a:pPr marL="0" indent="0">
              <a:buNone/>
            </a:pPr>
            <a:r>
              <a:rPr lang="fr-CH" dirty="0" smtClean="0"/>
              <a:t>l’expéditeur </a:t>
            </a:r>
            <a:r>
              <a:rPr lang="fr-CH" dirty="0"/>
              <a:t>agréé</a:t>
            </a:r>
            <a:r>
              <a:rPr lang="fr-CH" dirty="0" smtClean="0"/>
              <a:t>.</a:t>
            </a:r>
          </a:p>
        </p:txBody>
      </p:sp>
    </p:spTree>
    <p:extLst>
      <p:ext uri="{BB962C8B-B14F-4D97-AF65-F5344CB8AC3E}">
        <p14:creationId xmlns:p14="http://schemas.microsoft.com/office/powerpoint/2010/main" val="20417287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L’autorisation</a:t>
            </a:r>
            <a:r>
              <a:rPr lang="en-US" dirty="0"/>
              <a:t> du </a:t>
            </a:r>
            <a:r>
              <a:rPr lang="en-US" dirty="0" err="1"/>
              <a:t>destinataire</a:t>
            </a:r>
            <a:r>
              <a:rPr lang="en-US" dirty="0"/>
              <a:t> </a:t>
            </a:r>
            <a:r>
              <a:rPr lang="en-US" dirty="0" err="1"/>
              <a:t>agréé</a:t>
            </a:r>
            <a:endParaRPr lang="en-US" dirty="0"/>
          </a:p>
        </p:txBody>
      </p:sp>
      <p:sp>
        <p:nvSpPr>
          <p:cNvPr id="3" name="Content Placeholder 2"/>
          <p:cNvSpPr>
            <a:spLocks noGrp="1"/>
          </p:cNvSpPr>
          <p:nvPr>
            <p:ph idx="1"/>
          </p:nvPr>
        </p:nvSpPr>
        <p:spPr/>
        <p:txBody>
          <a:bodyPr>
            <a:normAutofit/>
          </a:bodyPr>
          <a:lstStyle/>
          <a:p>
            <a:pPr marL="0" indent="0">
              <a:buNone/>
            </a:pPr>
            <a:r>
              <a:rPr lang="fr-CH" dirty="0"/>
              <a:t>Comme son nom l’indique, il s’agit d’évaluer si l’opérateur remplit bien les conditions préalables pour pouvoir prétendre à l’autorisation demandée. Chaque autorisation, respectivement régime, a ses propres examens de condition</a:t>
            </a:r>
            <a:r>
              <a:rPr lang="fr-CH" dirty="0" smtClean="0"/>
              <a:t>.</a:t>
            </a:r>
          </a:p>
          <a:p>
            <a:pPr marL="0" indent="0">
              <a:buNone/>
            </a:pPr>
            <a:r>
              <a:rPr lang="fr-CH" dirty="0" smtClean="0"/>
              <a:t>Les conditions pour l’octroi d’un telle autorisation sont les suivantes :</a:t>
            </a:r>
          </a:p>
          <a:p>
            <a:endParaRPr lang="fr-CH" dirty="0" smtClean="0"/>
          </a:p>
        </p:txBody>
      </p:sp>
    </p:spTree>
    <p:extLst>
      <p:ext uri="{BB962C8B-B14F-4D97-AF65-F5344CB8AC3E}">
        <p14:creationId xmlns:p14="http://schemas.microsoft.com/office/powerpoint/2010/main" val="22266502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des conditions </a:t>
            </a:r>
            <a:r>
              <a:rPr lang="en-US" dirty="0" err="1" smtClean="0"/>
              <a:t>préalables</a:t>
            </a:r>
            <a:r>
              <a:rPr lang="en-US" dirty="0" smtClean="0"/>
              <a:t> pour </a:t>
            </a:r>
            <a:r>
              <a:rPr lang="en-US" dirty="0" err="1" smtClean="0"/>
              <a:t>l’autorisation</a:t>
            </a:r>
            <a:r>
              <a:rPr lang="en-US" dirty="0" smtClean="0"/>
              <a:t> du </a:t>
            </a:r>
            <a:r>
              <a:rPr lang="en-US" dirty="0" err="1" smtClean="0"/>
              <a:t>destinataire</a:t>
            </a:r>
            <a:r>
              <a:rPr lang="en-US" dirty="0" smtClean="0"/>
              <a:t> </a:t>
            </a:r>
            <a:r>
              <a:rPr lang="en-US" dirty="0" err="1" smtClean="0"/>
              <a:t>agréé</a:t>
            </a:r>
            <a:endParaRPr lang="en-US" dirty="0"/>
          </a:p>
        </p:txBody>
      </p:sp>
      <p:sp>
        <p:nvSpPr>
          <p:cNvPr id="3" name="Content Placeholder 2"/>
          <p:cNvSpPr>
            <a:spLocks noGrp="1"/>
          </p:cNvSpPr>
          <p:nvPr>
            <p:ph idx="1"/>
          </p:nvPr>
        </p:nvSpPr>
        <p:spPr/>
        <p:txBody>
          <a:bodyPr>
            <a:normAutofit fontScale="85000" lnSpcReduction="20000"/>
          </a:bodyPr>
          <a:lstStyle/>
          <a:p>
            <a:r>
              <a:rPr lang="fr-CH" dirty="0"/>
              <a:t>Une demande doit bien être introduite auprès des autorités douanières compétentes de l’Etat Membre où le demandeur est établi. Pour un opérateur économique situé au Luxembourg, une demande auprès des autorités douanières luxembourgeoises devra être effectuée pour que cette demande puisse être valide, dans le cas contraire, la demande sera nulle et non avenue</a:t>
            </a:r>
            <a:r>
              <a:rPr lang="fr-CH" dirty="0" smtClean="0"/>
              <a:t>.</a:t>
            </a:r>
          </a:p>
          <a:p>
            <a:r>
              <a:rPr lang="fr-CH" dirty="0"/>
              <a:t>Une des conditions pour pouvoir bénéficier de ce régime est que le demandeur doit prouver aux agents du service compétent qu’il </a:t>
            </a:r>
            <a:r>
              <a:rPr lang="fr-CH" b="1" dirty="0"/>
              <a:t>reçoit</a:t>
            </a:r>
            <a:r>
              <a:rPr lang="fr-CH" dirty="0"/>
              <a:t> de manière fréquente des documents de transit. Ce flux pourra être </a:t>
            </a:r>
            <a:r>
              <a:rPr lang="fr-CH" dirty="0" smtClean="0"/>
              <a:t>revu </a:t>
            </a:r>
            <a:r>
              <a:rPr lang="fr-CH" dirty="0"/>
              <a:t>en fonction de la nature de la marchandise importée</a:t>
            </a:r>
            <a:r>
              <a:rPr lang="fr-CH" dirty="0" smtClean="0"/>
              <a:t>. On entend par flux de manière fréquente un minimum de 50 documents de transit par an.</a:t>
            </a:r>
          </a:p>
          <a:p>
            <a:r>
              <a:rPr lang="fr-CH" dirty="0"/>
              <a:t>La Division de Coopération nationale et internationale informera le service compétent si le demandeur a commis ou non des infractions graves ou répétées à la législation douanière et aux dispositions fiscales ou d’infractions pénales graves liées à l’activité économique du demandeur</a:t>
            </a:r>
            <a:r>
              <a:rPr lang="fr-CH" dirty="0" smtClean="0"/>
              <a:t>. ( art 39 A du code des douanes )</a:t>
            </a:r>
            <a:endParaRPr lang="fr-CH" dirty="0"/>
          </a:p>
          <a:p>
            <a:endParaRPr lang="en-US" dirty="0"/>
          </a:p>
        </p:txBody>
      </p:sp>
    </p:spTree>
    <p:extLst>
      <p:ext uri="{BB962C8B-B14F-4D97-AF65-F5344CB8AC3E}">
        <p14:creationId xmlns:p14="http://schemas.microsoft.com/office/powerpoint/2010/main" val="2300828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Suite des conditions </a:t>
            </a:r>
            <a:r>
              <a:rPr lang="en-US" dirty="0" err="1"/>
              <a:t>préalables</a:t>
            </a:r>
            <a:r>
              <a:rPr lang="en-US" dirty="0"/>
              <a:t> pour </a:t>
            </a:r>
            <a:r>
              <a:rPr lang="en-US" dirty="0" err="1"/>
              <a:t>l’autorisation</a:t>
            </a:r>
            <a:r>
              <a:rPr lang="en-US" dirty="0"/>
              <a:t> du </a:t>
            </a:r>
            <a:r>
              <a:rPr lang="en-US" dirty="0" err="1"/>
              <a:t>destinataire</a:t>
            </a:r>
            <a:r>
              <a:rPr lang="en-US" dirty="0"/>
              <a:t> </a:t>
            </a:r>
            <a:r>
              <a:rPr lang="en-US" dirty="0" err="1"/>
              <a:t>agréé</a:t>
            </a:r>
            <a:endParaRPr lang="en-US" dirty="0"/>
          </a:p>
        </p:txBody>
      </p:sp>
      <p:sp>
        <p:nvSpPr>
          <p:cNvPr id="3" name="Content Placeholder 2"/>
          <p:cNvSpPr>
            <a:spLocks noGrp="1"/>
          </p:cNvSpPr>
          <p:nvPr>
            <p:ph idx="1"/>
          </p:nvPr>
        </p:nvSpPr>
        <p:spPr/>
        <p:txBody>
          <a:bodyPr>
            <a:normAutofit fontScale="92500" lnSpcReduction="10000"/>
          </a:bodyPr>
          <a:lstStyle/>
          <a:p>
            <a:r>
              <a:rPr lang="fr-CH" dirty="0"/>
              <a:t>Le demandeur doit démontrer aux autorités compétentes qu’il exerce un niveau élevé de contrôle sur ses opérations et les mouvements des marchandises au moyen d’un système de gestion des écritures commerciales. Le demandeur doit nous expliquer son système d’archivage au sein de sa société</a:t>
            </a:r>
            <a:r>
              <a:rPr lang="fr-CH" dirty="0" smtClean="0"/>
              <a:t>. ( art 39 B du code des douanes )</a:t>
            </a:r>
          </a:p>
          <a:p>
            <a:r>
              <a:rPr lang="fr-CH" dirty="0"/>
              <a:t>L’opérateur économique devra remettre aussi le ou les nom(s) des personnes en charge des questions douanières pour sa société. Cela se fait via la remise d’une attestation professionnelle comme quoi la personne aurait suivi avec succès une formation spécialisée en matière douanière ou si ce n’est pas le cas de nous remettre une sorte de « curriculum vitae » en mentionnant le parcours professionnel de la personne mentionnée</a:t>
            </a:r>
            <a:r>
              <a:rPr lang="fr-CH" dirty="0" smtClean="0"/>
              <a:t>. ( art 39 D du code des douanes )</a:t>
            </a:r>
            <a:endParaRPr lang="en-US" dirty="0"/>
          </a:p>
        </p:txBody>
      </p:sp>
    </p:spTree>
    <p:extLst>
      <p:ext uri="{BB962C8B-B14F-4D97-AF65-F5344CB8AC3E}">
        <p14:creationId xmlns:p14="http://schemas.microsoft.com/office/powerpoint/2010/main" val="2193934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et fin des conditions </a:t>
            </a:r>
            <a:r>
              <a:rPr lang="en-US" dirty="0" err="1" smtClean="0"/>
              <a:t>préalables</a:t>
            </a:r>
            <a:r>
              <a:rPr lang="en-US" dirty="0" smtClean="0"/>
              <a:t> pour l’ </a:t>
            </a:r>
            <a:r>
              <a:rPr lang="en-US" dirty="0" err="1" smtClean="0"/>
              <a:t>autorisation</a:t>
            </a:r>
            <a:r>
              <a:rPr lang="en-US" dirty="0" smtClean="0"/>
              <a:t> du </a:t>
            </a:r>
            <a:r>
              <a:rPr lang="en-US" dirty="0" err="1" smtClean="0"/>
              <a:t>destinataire</a:t>
            </a:r>
            <a:r>
              <a:rPr lang="en-US" dirty="0" smtClean="0"/>
              <a:t> </a:t>
            </a:r>
            <a:r>
              <a:rPr lang="en-US" dirty="0" err="1" smtClean="0"/>
              <a:t>agréé</a:t>
            </a:r>
            <a:endParaRPr lang="en-US" dirty="0"/>
          </a:p>
        </p:txBody>
      </p:sp>
      <p:sp>
        <p:nvSpPr>
          <p:cNvPr id="3" name="Content Placeholder 2"/>
          <p:cNvSpPr>
            <a:spLocks noGrp="1"/>
          </p:cNvSpPr>
          <p:nvPr>
            <p:ph idx="1"/>
          </p:nvPr>
        </p:nvSpPr>
        <p:spPr/>
        <p:txBody>
          <a:bodyPr/>
          <a:lstStyle/>
          <a:p>
            <a:r>
              <a:rPr lang="fr-CH" dirty="0"/>
              <a:t>Le demandeur devra donner l’assurance du bon déroulement des opérations de transit et devra tenir des écritures appropriées, dont l’accès aux autorités douanières devra être autorisé. (Voir annexe 1) En outre, il faudra aussi démontrer comment l’identification des marchandises est effectuée (par exemple : le code barre</a:t>
            </a:r>
            <a:r>
              <a:rPr lang="fr-CH" dirty="0" smtClean="0"/>
              <a:t>).</a:t>
            </a:r>
          </a:p>
          <a:p>
            <a:r>
              <a:rPr lang="fr-CH" dirty="0"/>
              <a:t>Pour couvrir les dettes qui risquent de naître des marchandises qui se trouvent en dépôt temporaire, une garantie globale doit être mise en place par l’opérateur économique demandeur. Cette garantie est fixée par le bureau de recette dont l’opérateur est dépendant.</a:t>
            </a:r>
            <a:endParaRPr lang="en-US" dirty="0"/>
          </a:p>
        </p:txBody>
      </p:sp>
    </p:spTree>
    <p:extLst>
      <p:ext uri="{BB962C8B-B14F-4D97-AF65-F5344CB8AC3E}">
        <p14:creationId xmlns:p14="http://schemas.microsoft.com/office/powerpoint/2010/main" val="15927611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 </a:t>
            </a:r>
            <a:r>
              <a:rPr lang="en-US" dirty="0" err="1" smtClean="0"/>
              <a:t>autorisation</a:t>
            </a:r>
            <a:r>
              <a:rPr lang="en-US" dirty="0" smtClean="0"/>
              <a:t> de l’ </a:t>
            </a:r>
            <a:r>
              <a:rPr lang="en-US" dirty="0" err="1" smtClean="0"/>
              <a:t>expéditeur</a:t>
            </a:r>
            <a:r>
              <a:rPr lang="en-US" dirty="0" smtClean="0"/>
              <a:t> </a:t>
            </a:r>
            <a:r>
              <a:rPr lang="en-US" dirty="0" err="1" smtClean="0"/>
              <a:t>agréé</a:t>
            </a:r>
            <a:endParaRPr lang="en-US" dirty="0"/>
          </a:p>
        </p:txBody>
      </p:sp>
      <p:sp>
        <p:nvSpPr>
          <p:cNvPr id="3" name="Content Placeholder 2"/>
          <p:cNvSpPr>
            <a:spLocks noGrp="1"/>
          </p:cNvSpPr>
          <p:nvPr>
            <p:ph idx="1"/>
          </p:nvPr>
        </p:nvSpPr>
        <p:spPr/>
        <p:txBody>
          <a:bodyPr>
            <a:normAutofit fontScale="77500" lnSpcReduction="20000"/>
          </a:bodyPr>
          <a:lstStyle/>
          <a:p>
            <a:r>
              <a:rPr lang="fr-CH" dirty="0" smtClean="0"/>
              <a:t>Le </a:t>
            </a:r>
            <a:r>
              <a:rPr lang="fr-CH" dirty="0"/>
              <a:t>demandeur de l’autorisation de l’exportateur agréé doit remplir à l’identique les mêmes conditions que le demandeur de l’autorisation du destinataire agrée, sous réserve que le titulaire de l’autorisation de l’exportateur agréé devra envoyer de manière fréquente des marchandises sous le régime de transit au lieu de les recevoir</a:t>
            </a:r>
            <a:r>
              <a:rPr lang="fr-CH" dirty="0" smtClean="0"/>
              <a:t>. On entend par manière fréquente un flux de 50 documents de transits par an.</a:t>
            </a:r>
          </a:p>
          <a:p>
            <a:r>
              <a:rPr lang="fr-CH" dirty="0" smtClean="0"/>
              <a:t>Article 299 du CDU doit être dorénavant pris en compte pour l’expéditeur agréé. Cet article prévoit que chaque envois qui est soumis au transit de l’Union  et expédié et soumis à un document de transit doit être scellé.</a:t>
            </a:r>
          </a:p>
          <a:p>
            <a:pPr marL="0" indent="0">
              <a:buNone/>
            </a:pPr>
            <a:r>
              <a:rPr lang="fr-CH" dirty="0" smtClean="0"/>
              <a:t>Les scellés qui seront utilisés devront répondre aux caractéristiques</a:t>
            </a:r>
            <a:r>
              <a:rPr lang="fr-CH" b="1" dirty="0" smtClean="0"/>
              <a:t> ISO </a:t>
            </a:r>
            <a:r>
              <a:rPr lang="fr-LU" b="1" dirty="0" smtClean="0"/>
              <a:t>17712:2013 </a:t>
            </a:r>
            <a:r>
              <a:rPr lang="fr-LU" dirty="0" smtClean="0"/>
              <a:t>. Ces scellés doivent permettent de</a:t>
            </a:r>
            <a:r>
              <a:rPr lang="fr-CH" dirty="0" smtClean="0"/>
              <a:t> </a:t>
            </a:r>
            <a:r>
              <a:rPr lang="fr-CH" dirty="0"/>
              <a:t>garantir la sécurité du container lors du transport, pour le commerce international.</a:t>
            </a:r>
            <a:endParaRPr lang="fr-CH" dirty="0" smtClean="0"/>
          </a:p>
          <a:p>
            <a:r>
              <a:rPr lang="fr-CH" dirty="0" smtClean="0"/>
              <a:t>Article 302 du CDU le bureau de départ peut  prévoir de ne pas procéder au scellement des marchandises placée sous le régime de l’Union ( T1 ) pour autant que la désignation est suffisamment détaillée pour permettre une reconnaissance aisée de celles-ci ( dispense de scellée ) Ex: en cas de groupage , la dispense de scellée peut être demandée.</a:t>
            </a:r>
          </a:p>
          <a:p>
            <a:endParaRPr lang="en-US" dirty="0"/>
          </a:p>
        </p:txBody>
      </p:sp>
    </p:spTree>
    <p:extLst>
      <p:ext uri="{BB962C8B-B14F-4D97-AF65-F5344CB8AC3E}">
        <p14:creationId xmlns:p14="http://schemas.microsoft.com/office/powerpoint/2010/main" val="23643753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Le </a:t>
            </a:r>
            <a:r>
              <a:rPr lang="en-US" dirty="0" err="1"/>
              <a:t>stockage</a:t>
            </a:r>
            <a:endParaRPr lang="en-US" dirty="0"/>
          </a:p>
        </p:txBody>
      </p:sp>
      <p:sp>
        <p:nvSpPr>
          <p:cNvPr id="3" name="Content Placeholder 2"/>
          <p:cNvSpPr>
            <a:spLocks noGrp="1"/>
          </p:cNvSpPr>
          <p:nvPr>
            <p:ph idx="1"/>
          </p:nvPr>
        </p:nvSpPr>
        <p:spPr/>
        <p:txBody>
          <a:bodyPr/>
          <a:lstStyle/>
          <a:p>
            <a:pPr marL="0" indent="0">
              <a:buNone/>
            </a:pPr>
            <a:r>
              <a:rPr lang="en-US" dirty="0" smtClean="0"/>
              <a:t>Ce régime </a:t>
            </a:r>
            <a:r>
              <a:rPr lang="en-US" dirty="0" err="1" smtClean="0"/>
              <a:t>comprend</a:t>
            </a:r>
            <a:r>
              <a:rPr lang="en-US" dirty="0" smtClean="0"/>
              <a:t>:</a:t>
            </a:r>
          </a:p>
          <a:p>
            <a:r>
              <a:rPr lang="en-US" dirty="0" err="1"/>
              <a:t>L’entrepôt</a:t>
            </a:r>
            <a:r>
              <a:rPr lang="en-US" dirty="0"/>
              <a:t> </a:t>
            </a:r>
            <a:r>
              <a:rPr lang="en-US" dirty="0" err="1" smtClean="0"/>
              <a:t>douanier</a:t>
            </a:r>
            <a:endParaRPr lang="en-US" dirty="0" smtClean="0"/>
          </a:p>
          <a:p>
            <a:r>
              <a:rPr lang="en-US" dirty="0" smtClean="0"/>
              <a:t>La zone </a:t>
            </a:r>
            <a:r>
              <a:rPr lang="en-US" dirty="0" err="1" smtClean="0"/>
              <a:t>franche</a:t>
            </a:r>
            <a:endParaRPr lang="en-US" dirty="0" smtClean="0"/>
          </a:p>
          <a:p>
            <a:pPr marL="0" indent="0">
              <a:buNone/>
            </a:pPr>
            <a:endParaRPr lang="en-US" dirty="0"/>
          </a:p>
        </p:txBody>
      </p:sp>
    </p:spTree>
    <p:extLst>
      <p:ext uri="{BB962C8B-B14F-4D97-AF65-F5344CB8AC3E}">
        <p14:creationId xmlns:p14="http://schemas.microsoft.com/office/powerpoint/2010/main" val="8058295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 </a:t>
            </a:r>
            <a:r>
              <a:rPr lang="en-US" dirty="0" err="1" smtClean="0"/>
              <a:t>entrepôt</a:t>
            </a:r>
            <a:r>
              <a:rPr lang="en-US" dirty="0" smtClean="0"/>
              <a:t> </a:t>
            </a:r>
            <a:r>
              <a:rPr lang="en-US" dirty="0" err="1" smtClean="0"/>
              <a:t>douanier</a:t>
            </a:r>
            <a:endParaRPr lang="en-US" dirty="0"/>
          </a:p>
        </p:txBody>
      </p:sp>
      <p:sp>
        <p:nvSpPr>
          <p:cNvPr id="3" name="Content Placeholder 2"/>
          <p:cNvSpPr>
            <a:spLocks noGrp="1"/>
          </p:cNvSpPr>
          <p:nvPr>
            <p:ph idx="1"/>
          </p:nvPr>
        </p:nvSpPr>
        <p:spPr/>
        <p:txBody>
          <a:bodyPr/>
          <a:lstStyle/>
          <a:p>
            <a:pPr marL="0" indent="0">
              <a:buNone/>
            </a:pPr>
            <a:r>
              <a:rPr lang="fr-CH" dirty="0"/>
              <a:t>Comme son nom l’indique, il s’agit d’évaluer si l’opérateur remplit bien les conditions préalables pour pouvoir prétendre à l’autorisation demandée. Chaque autorisation, respectivement régime, a ses propres examens de condition.</a:t>
            </a:r>
          </a:p>
          <a:p>
            <a:pPr marL="0" indent="0">
              <a:buNone/>
            </a:pPr>
            <a:r>
              <a:rPr lang="fr-CH" dirty="0"/>
              <a:t>Les conditions pour l’octroi d’un telle autorisation sont les suivantes :</a:t>
            </a:r>
          </a:p>
          <a:p>
            <a:endParaRPr lang="en-US" dirty="0"/>
          </a:p>
        </p:txBody>
      </p:sp>
    </p:spTree>
    <p:extLst>
      <p:ext uri="{BB962C8B-B14F-4D97-AF65-F5344CB8AC3E}">
        <p14:creationId xmlns:p14="http://schemas.microsoft.com/office/powerpoint/2010/main" val="13339740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 conditions </a:t>
            </a:r>
            <a:r>
              <a:rPr lang="en-US" dirty="0" err="1" smtClean="0"/>
              <a:t>préalables</a:t>
            </a:r>
            <a:r>
              <a:rPr lang="en-US" dirty="0" smtClean="0"/>
              <a:t> pour le régime de l’ </a:t>
            </a:r>
            <a:r>
              <a:rPr lang="en-US" dirty="0" err="1" smtClean="0"/>
              <a:t>entrepôt</a:t>
            </a:r>
            <a:r>
              <a:rPr lang="en-US" dirty="0" smtClean="0"/>
              <a:t> </a:t>
            </a:r>
            <a:r>
              <a:rPr lang="en-US" dirty="0" err="1" smtClean="0"/>
              <a:t>douanier</a:t>
            </a:r>
            <a:endParaRPr lang="en-US" dirty="0"/>
          </a:p>
        </p:txBody>
      </p:sp>
      <p:sp>
        <p:nvSpPr>
          <p:cNvPr id="3" name="Content Placeholder 2"/>
          <p:cNvSpPr>
            <a:spLocks noGrp="1"/>
          </p:cNvSpPr>
          <p:nvPr>
            <p:ph idx="1"/>
          </p:nvPr>
        </p:nvSpPr>
        <p:spPr/>
        <p:txBody>
          <a:bodyPr>
            <a:normAutofit fontScale="85000" lnSpcReduction="20000"/>
          </a:bodyPr>
          <a:lstStyle/>
          <a:p>
            <a:r>
              <a:rPr lang="fr-CH" dirty="0"/>
              <a:t>Comme pour le Transit, l’opérateur économique doit être enregistré auprès des autorités douanières (Art 9 du CDU) de l’Etat Membre où il est établi. Ces informations sont vérifiées par le service compétent</a:t>
            </a:r>
            <a:r>
              <a:rPr lang="fr-CH" dirty="0" smtClean="0"/>
              <a:t>.</a:t>
            </a:r>
          </a:p>
          <a:p>
            <a:r>
              <a:rPr lang="fr-CH" dirty="0"/>
              <a:t>Afin d’être éligible à l’autorisation d’un entrepôt douanier, l’opérateur doit prouver qu’il a un besoin économique réel afin d’obtenir l’autorisation. L’opérateur doit prouver cela à l’aide d’exemples concrets. Ainsi la conjoncture économique actuelle, l’ouverture de nouveaux marchés, ou bien d’autres exemples encore pourraient montrer l’effet bénéfique de l’acquisition de l’autorisation de l’entrepôt douanier pour cet opérateur</a:t>
            </a:r>
            <a:r>
              <a:rPr lang="fr-CH" dirty="0" smtClean="0"/>
              <a:t>.</a:t>
            </a:r>
          </a:p>
          <a:p>
            <a:r>
              <a:rPr lang="fr-CH" dirty="0"/>
              <a:t>L’opérateur doit préciser le lieu de conservation des écritures de l’autorisation ainsi que la nature du système utilisé pour la confection de ces écritures. En plus, l’opérateur demandeur devra tenir des écritures (comptabilité matière) avec les informations nécessaires (art 178 du règlement délégué 2015/2446). Ces écritures devront être mises à disposition des autorités douanières compétentes. (Voir annexe 1)</a:t>
            </a:r>
            <a:endParaRPr lang="en-US" dirty="0"/>
          </a:p>
        </p:txBody>
      </p:sp>
    </p:spTree>
    <p:extLst>
      <p:ext uri="{BB962C8B-B14F-4D97-AF65-F5344CB8AC3E}">
        <p14:creationId xmlns:p14="http://schemas.microsoft.com/office/powerpoint/2010/main" val="32350413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Les </a:t>
            </a:r>
            <a:r>
              <a:rPr lang="en-US" dirty="0"/>
              <a:t>conditions </a:t>
            </a:r>
            <a:r>
              <a:rPr lang="en-US" dirty="0" err="1"/>
              <a:t>préalables</a:t>
            </a:r>
            <a:r>
              <a:rPr lang="en-US" dirty="0"/>
              <a:t> pour le régime de l’ </a:t>
            </a:r>
            <a:r>
              <a:rPr lang="en-US" dirty="0" err="1"/>
              <a:t>entrepôt</a:t>
            </a:r>
            <a:r>
              <a:rPr lang="en-US" dirty="0"/>
              <a:t> </a:t>
            </a:r>
            <a:r>
              <a:rPr lang="en-US" dirty="0" err="1"/>
              <a:t>douanier</a:t>
            </a:r>
            <a:endParaRPr lang="en-US" dirty="0"/>
          </a:p>
        </p:txBody>
      </p:sp>
      <p:sp>
        <p:nvSpPr>
          <p:cNvPr id="3" name="Content Placeholder 2"/>
          <p:cNvSpPr>
            <a:spLocks noGrp="1"/>
          </p:cNvSpPr>
          <p:nvPr>
            <p:ph idx="1"/>
          </p:nvPr>
        </p:nvSpPr>
        <p:spPr/>
        <p:txBody>
          <a:bodyPr/>
          <a:lstStyle/>
          <a:p>
            <a:r>
              <a:rPr lang="fr-CH" dirty="0"/>
              <a:t>Le demandeur devra remettre aux agents compétents le ou les code(s) NC ainsi que la/les désignation(s) commerciale(s) des marchandises qui seront placées sous le régime de l’entrepôt douanier</a:t>
            </a:r>
            <a:r>
              <a:rPr lang="fr-CH" dirty="0" smtClean="0"/>
              <a:t>.</a:t>
            </a:r>
          </a:p>
          <a:p>
            <a:r>
              <a:rPr lang="fr-CH" dirty="0"/>
              <a:t>L’opérateur devra aussi préciser s’il compte stocker des marchandises de l’Union ou bien des marchandises non Union. Si l’opérateur compte stocker des marchandises de l’Union et non Union, il doit prévoir une séparation comptable entre ces 2 types de marchandises que ce soit au niveau de chaque type de marchandises, du statut douanier et, le cas échéant, de l’origine de la marchandise.</a:t>
            </a:r>
            <a:endParaRPr lang="en-US" dirty="0"/>
          </a:p>
        </p:txBody>
      </p:sp>
    </p:spTree>
    <p:extLst>
      <p:ext uri="{BB962C8B-B14F-4D97-AF65-F5344CB8AC3E}">
        <p14:creationId xmlns:p14="http://schemas.microsoft.com/office/powerpoint/2010/main" val="19516245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3626"/>
            <a:ext cx="10746607" cy="1325563"/>
          </a:xfrm>
        </p:spPr>
        <p:txBody>
          <a:bodyPr/>
          <a:lstStyle/>
          <a:p>
            <a:r>
              <a:rPr lang="en-US" dirty="0"/>
              <a:t>Suite Les conditions </a:t>
            </a:r>
            <a:r>
              <a:rPr lang="en-US" dirty="0" err="1"/>
              <a:t>préalables</a:t>
            </a:r>
            <a:r>
              <a:rPr lang="en-US" dirty="0"/>
              <a:t> pour le régime de l’ </a:t>
            </a:r>
            <a:r>
              <a:rPr lang="en-US" dirty="0" err="1"/>
              <a:t>entrepôt</a:t>
            </a:r>
            <a:r>
              <a:rPr lang="en-US" dirty="0"/>
              <a:t> </a:t>
            </a:r>
            <a:r>
              <a:rPr lang="en-US" dirty="0" err="1"/>
              <a:t>douanier</a:t>
            </a:r>
            <a:endParaRPr lang="en-US" dirty="0"/>
          </a:p>
        </p:txBody>
      </p:sp>
      <p:sp>
        <p:nvSpPr>
          <p:cNvPr id="3" name="Content Placeholder 2"/>
          <p:cNvSpPr>
            <a:spLocks noGrp="1"/>
          </p:cNvSpPr>
          <p:nvPr>
            <p:ph idx="1"/>
          </p:nvPr>
        </p:nvSpPr>
        <p:spPr/>
        <p:txBody>
          <a:bodyPr>
            <a:normAutofit fontScale="92500" lnSpcReduction="10000"/>
          </a:bodyPr>
          <a:lstStyle/>
          <a:p>
            <a:r>
              <a:rPr lang="fr-CH" dirty="0"/>
              <a:t>Le demandeur devra aussi préciser s’il y a ou non une circulation des marchandises entre différents lieux du territoire douanier de l’Union. La circulation des marchandises sous le régime de l’entrepôt douanier est </a:t>
            </a:r>
            <a:r>
              <a:rPr lang="fr-CH" dirty="0" smtClean="0"/>
              <a:t>prévue </a:t>
            </a:r>
            <a:r>
              <a:rPr lang="fr-CH" dirty="0"/>
              <a:t>(Art 179 alinéa 3 CDU DA) de façon suivante </a:t>
            </a:r>
            <a:r>
              <a:rPr lang="fr-CH" dirty="0" smtClean="0"/>
              <a:t>:</a:t>
            </a:r>
          </a:p>
          <a:p>
            <a:pPr marL="514350" indent="-514350">
              <a:buFont typeface="+mj-lt"/>
              <a:buAutoNum type="arabicPeriod"/>
            </a:pPr>
            <a:r>
              <a:rPr lang="fr-CH" dirty="0"/>
              <a:t>entre différentes installations de stockage désignées dans la même autorisation ; </a:t>
            </a:r>
            <a:endParaRPr lang="fr-CH" dirty="0" smtClean="0"/>
          </a:p>
          <a:p>
            <a:pPr marL="514350" indent="-514350">
              <a:buFont typeface="+mj-lt"/>
              <a:buAutoNum type="arabicPeriod"/>
            </a:pPr>
            <a:r>
              <a:rPr lang="fr-CH" dirty="0" smtClean="0"/>
              <a:t>du </a:t>
            </a:r>
            <a:r>
              <a:rPr lang="fr-CH" dirty="0"/>
              <a:t>bureau de douanes de placement aux installations de stockage </a:t>
            </a:r>
            <a:r>
              <a:rPr lang="fr-CH" dirty="0" smtClean="0"/>
              <a:t> </a:t>
            </a:r>
          </a:p>
          <a:p>
            <a:pPr marL="514350" indent="-514350">
              <a:buFont typeface="+mj-lt"/>
              <a:buAutoNum type="arabicPeriod"/>
            </a:pPr>
            <a:r>
              <a:rPr lang="fr-CH" dirty="0" smtClean="0"/>
              <a:t>des </a:t>
            </a:r>
            <a:r>
              <a:rPr lang="fr-CH" dirty="0"/>
              <a:t>installations de stockage au bureau de douanes de sortie ou à tout bureau de douanes indiqué dans l’autorisation relative à un régime particulier visé à l’article 211, paragraphe 1, du CDU, habilité à octroyer la mainlevée des marchandises sous un autre régime douanier ou à recevoir la déclaration de réexportation aux fins de l’apurement.</a:t>
            </a:r>
            <a:endParaRPr lang="en-US" dirty="0"/>
          </a:p>
        </p:txBody>
      </p:sp>
    </p:spTree>
    <p:extLst>
      <p:ext uri="{BB962C8B-B14F-4D97-AF65-F5344CB8AC3E}">
        <p14:creationId xmlns:p14="http://schemas.microsoft.com/office/powerpoint/2010/main" val="24619806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Suite Les conditions </a:t>
            </a:r>
            <a:r>
              <a:rPr lang="en-US" dirty="0" err="1"/>
              <a:t>préalables</a:t>
            </a:r>
            <a:r>
              <a:rPr lang="en-US" dirty="0"/>
              <a:t> pour le régime de l’ </a:t>
            </a:r>
            <a:r>
              <a:rPr lang="en-US" dirty="0" err="1"/>
              <a:t>entrepôt</a:t>
            </a:r>
            <a:r>
              <a:rPr lang="en-US" dirty="0"/>
              <a:t> </a:t>
            </a:r>
            <a:r>
              <a:rPr lang="en-US" dirty="0" err="1"/>
              <a:t>douanier</a:t>
            </a:r>
            <a:endParaRPr lang="en-US" dirty="0"/>
          </a:p>
        </p:txBody>
      </p:sp>
      <p:sp>
        <p:nvSpPr>
          <p:cNvPr id="3" name="Content Placeholder 2"/>
          <p:cNvSpPr>
            <a:spLocks noGrp="1"/>
          </p:cNvSpPr>
          <p:nvPr>
            <p:ph idx="1"/>
          </p:nvPr>
        </p:nvSpPr>
        <p:spPr/>
        <p:txBody>
          <a:bodyPr>
            <a:normAutofit fontScale="85000" lnSpcReduction="20000"/>
          </a:bodyPr>
          <a:lstStyle/>
          <a:p>
            <a:r>
              <a:rPr lang="fr-CH" dirty="0"/>
              <a:t>L’opérateur devra préciser quels sont les moyens utilisés pour permettre l’identification des marchandises sous le régime de l’entrepôt douanier. Ce dernier aura le choix entre plusieurs possibilités </a:t>
            </a:r>
            <a:r>
              <a:rPr lang="fr-CH" dirty="0" smtClean="0"/>
              <a:t>:</a:t>
            </a:r>
          </a:p>
          <a:p>
            <a:r>
              <a:rPr lang="fr-CH" dirty="0"/>
              <a:t>le numéro de séries ou de fabrication ; l’apposition de plombs, scellés, poinçons ou autres marques individuelles ; la prise d’échantillons, l’illustrations ou les descriptions techniques ; les analyses ; la fiche de renseignements pour faciliter l’exportation temporaire des marchandises envoyées d’un pays vers un autre pour transformation, ouvraison ou réparation (seulement dans le cas du régime du perfectionnement passif) ;</a:t>
            </a:r>
          </a:p>
          <a:p>
            <a:r>
              <a:rPr lang="fr-CH" dirty="0"/>
              <a:t>les autres moyens d’identification </a:t>
            </a:r>
            <a:r>
              <a:rPr lang="fr-CH" dirty="0" smtClean="0"/>
              <a:t>: dans </a:t>
            </a:r>
            <a:r>
              <a:rPr lang="fr-CH" dirty="0"/>
              <a:t>ce cas, il faudra fournir des précisions ainsi que des exemples concrets </a:t>
            </a:r>
          </a:p>
          <a:p>
            <a:r>
              <a:rPr lang="fr-CH" dirty="0"/>
              <a:t>l’absence de mesures d’identification en vertu de l’article 250 paragraphe 2 alinéa b du code qui prévoit que l’absence des mesures d’identification ne risque pas de conduire à des abus du régime ou lorsqu’il est possible de vérifier que les conditions prévues pour les marchandises équivalentes soient remplies.</a:t>
            </a:r>
          </a:p>
          <a:p>
            <a:endParaRPr lang="en-US" dirty="0"/>
          </a:p>
        </p:txBody>
      </p:sp>
    </p:spTree>
    <p:extLst>
      <p:ext uri="{BB962C8B-B14F-4D97-AF65-F5344CB8AC3E}">
        <p14:creationId xmlns:p14="http://schemas.microsoft.com/office/powerpoint/2010/main" val="1507374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Suite Les conditions </a:t>
            </a:r>
            <a:r>
              <a:rPr lang="en-US" dirty="0" err="1"/>
              <a:t>préalables</a:t>
            </a:r>
            <a:r>
              <a:rPr lang="en-US" dirty="0"/>
              <a:t> pour le régime de l’ </a:t>
            </a:r>
            <a:r>
              <a:rPr lang="en-US" dirty="0" err="1"/>
              <a:t>entrepôt</a:t>
            </a:r>
            <a:r>
              <a:rPr lang="en-US" dirty="0"/>
              <a:t> </a:t>
            </a:r>
            <a:r>
              <a:rPr lang="en-US" dirty="0" err="1"/>
              <a:t>douanier</a:t>
            </a:r>
            <a:endParaRPr lang="en-US" dirty="0"/>
          </a:p>
        </p:txBody>
      </p:sp>
      <p:sp>
        <p:nvSpPr>
          <p:cNvPr id="3" name="Content Placeholder 2"/>
          <p:cNvSpPr>
            <a:spLocks noGrp="1"/>
          </p:cNvSpPr>
          <p:nvPr>
            <p:ph idx="1"/>
          </p:nvPr>
        </p:nvSpPr>
        <p:spPr/>
        <p:txBody>
          <a:bodyPr>
            <a:normAutofit fontScale="92500" lnSpcReduction="20000"/>
          </a:bodyPr>
          <a:lstStyle/>
          <a:p>
            <a:r>
              <a:rPr lang="fr-CH" dirty="0"/>
              <a:t>L’opérateur devra aussi préciser s’il a recours ou non aux manipulations usuelles pour les marchandises qui seront placées sous le régime de l’entrepôt douanier. (Voir annexe 71-03 du CDU DA) Ces manipulations auront pour but d’assurer la conservation, d’améliorer la présentation, la qualité et à préparer sa distribution ou mise en vente.</a:t>
            </a:r>
          </a:p>
          <a:p>
            <a:r>
              <a:rPr lang="fr-CH" dirty="0"/>
              <a:t>En aucun cas elles pourront donner lieu à un code NC différent à huit chiffres et aucune des manipulations suivantes ne peut donner lieu à un avantage tarifaire injustifié à l’importation.</a:t>
            </a:r>
          </a:p>
          <a:p>
            <a:r>
              <a:rPr lang="fr-CH" dirty="0"/>
              <a:t>Pour couvrir les dettes qui risquent de naître, une garantie globale doit être mise en place par l’opérateur économique. Cette garantie est fixée par le bureau de recette dont l’opérateur est dépendant.</a:t>
            </a:r>
          </a:p>
          <a:p>
            <a:r>
              <a:rPr lang="fr-CH" dirty="0"/>
              <a:t>L’opérateur devra aussi ajouter en annexe le plan de masse de l’entrepôt visé.</a:t>
            </a:r>
          </a:p>
          <a:p>
            <a:endParaRPr lang="en-US" dirty="0"/>
          </a:p>
        </p:txBody>
      </p:sp>
    </p:spTree>
    <p:extLst>
      <p:ext uri="{BB962C8B-B14F-4D97-AF65-F5344CB8AC3E}">
        <p14:creationId xmlns:p14="http://schemas.microsoft.com/office/powerpoint/2010/main" val="16967677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 zone </a:t>
            </a:r>
            <a:r>
              <a:rPr lang="en-US" dirty="0" err="1" smtClean="0"/>
              <a:t>franche</a:t>
            </a:r>
            <a:r>
              <a:rPr lang="en-US" dirty="0" smtClean="0"/>
              <a:t> </a:t>
            </a:r>
            <a:endParaRPr lang="en-US" dirty="0"/>
          </a:p>
        </p:txBody>
      </p:sp>
      <p:sp>
        <p:nvSpPr>
          <p:cNvPr id="3" name="Content Placeholder 2"/>
          <p:cNvSpPr>
            <a:spLocks noGrp="1"/>
          </p:cNvSpPr>
          <p:nvPr>
            <p:ph idx="1"/>
          </p:nvPr>
        </p:nvSpPr>
        <p:spPr/>
        <p:txBody>
          <a:bodyPr>
            <a:normAutofit/>
          </a:bodyPr>
          <a:lstStyle/>
          <a:p>
            <a:pPr marL="0" indent="0">
              <a:buNone/>
            </a:pPr>
            <a:endParaRPr lang="en-US" dirty="0" smtClean="0"/>
          </a:p>
          <a:p>
            <a:r>
              <a:rPr lang="en-US" dirty="0" smtClean="0"/>
              <a:t>Le </a:t>
            </a:r>
            <a:r>
              <a:rPr lang="en-US" dirty="0" err="1" smtClean="0"/>
              <a:t>contrôle</a:t>
            </a:r>
            <a:r>
              <a:rPr lang="en-US" dirty="0" smtClean="0"/>
              <a:t> se </a:t>
            </a:r>
            <a:r>
              <a:rPr lang="en-US" dirty="0" err="1" smtClean="0"/>
              <a:t>fera</a:t>
            </a:r>
            <a:r>
              <a:rPr lang="en-US" dirty="0" smtClean="0"/>
              <a:t> </a:t>
            </a:r>
            <a:r>
              <a:rPr lang="en-US" dirty="0" err="1" smtClean="0"/>
              <a:t>essentiellement</a:t>
            </a:r>
            <a:r>
              <a:rPr lang="en-US" dirty="0" smtClean="0"/>
              <a:t> sur la </a:t>
            </a:r>
            <a:r>
              <a:rPr lang="en-US" dirty="0" err="1" smtClean="0"/>
              <a:t>comptabilité</a:t>
            </a:r>
            <a:r>
              <a:rPr lang="en-US" dirty="0" smtClean="0"/>
              <a:t> </a:t>
            </a:r>
            <a:r>
              <a:rPr lang="en-US" dirty="0" err="1" smtClean="0"/>
              <a:t>matière</a:t>
            </a:r>
            <a:r>
              <a:rPr lang="en-US" dirty="0" smtClean="0"/>
              <a:t> de l’ </a:t>
            </a:r>
            <a:r>
              <a:rPr lang="en-US" dirty="0" err="1" smtClean="0"/>
              <a:t>entreprise</a:t>
            </a:r>
            <a:endParaRPr lang="en-US" dirty="0" smtClean="0"/>
          </a:p>
          <a:p>
            <a:r>
              <a:rPr lang="en-US" dirty="0" err="1" smtClean="0"/>
              <a:t>Visite</a:t>
            </a:r>
            <a:r>
              <a:rPr lang="en-US" dirty="0" smtClean="0"/>
              <a:t> du Freeport avec </a:t>
            </a:r>
            <a:r>
              <a:rPr lang="en-US" dirty="0" err="1" smtClean="0"/>
              <a:t>une</a:t>
            </a:r>
            <a:r>
              <a:rPr lang="en-US" dirty="0" smtClean="0"/>
              <a:t> revue des </a:t>
            </a:r>
            <a:r>
              <a:rPr lang="en-US" dirty="0" err="1" smtClean="0"/>
              <a:t>marchandises</a:t>
            </a:r>
            <a:r>
              <a:rPr lang="en-US" dirty="0" smtClean="0"/>
              <a:t> qui </a:t>
            </a:r>
            <a:r>
              <a:rPr lang="en-US" dirty="0" err="1" smtClean="0"/>
              <a:t>sont</a:t>
            </a:r>
            <a:r>
              <a:rPr lang="en-US" dirty="0" smtClean="0"/>
              <a:t> </a:t>
            </a:r>
            <a:r>
              <a:rPr lang="en-US" dirty="0" err="1" smtClean="0"/>
              <a:t>entreposées</a:t>
            </a:r>
            <a:r>
              <a:rPr lang="en-US" dirty="0" smtClean="0"/>
              <a:t> ( </a:t>
            </a:r>
            <a:r>
              <a:rPr lang="en-US" dirty="0" err="1" smtClean="0"/>
              <a:t>inventaire</a:t>
            </a:r>
            <a:r>
              <a:rPr lang="en-US" dirty="0"/>
              <a:t> </a:t>
            </a:r>
            <a:r>
              <a:rPr lang="en-US" dirty="0" smtClean="0"/>
              <a:t>,  </a:t>
            </a:r>
            <a:r>
              <a:rPr lang="en-US" dirty="0" err="1" smtClean="0"/>
              <a:t>contrôle</a:t>
            </a:r>
            <a:r>
              <a:rPr lang="en-US" dirty="0" smtClean="0"/>
              <a:t> de </a:t>
            </a:r>
            <a:r>
              <a:rPr lang="en-US" dirty="0" err="1" smtClean="0"/>
              <a:t>certaines</a:t>
            </a:r>
            <a:r>
              <a:rPr lang="en-US" dirty="0" smtClean="0"/>
              <a:t> positions </a:t>
            </a:r>
            <a:r>
              <a:rPr lang="en-US" dirty="0" err="1" smtClean="0"/>
              <a:t>tarifaires</a:t>
            </a:r>
            <a:r>
              <a:rPr lang="en-US" dirty="0" smtClean="0"/>
              <a:t>  </a:t>
            </a:r>
            <a:r>
              <a:rPr lang="en-US" dirty="0"/>
              <a:t>des </a:t>
            </a:r>
            <a:r>
              <a:rPr lang="en-US" dirty="0" err="1"/>
              <a:t>marchandises</a:t>
            </a:r>
            <a:r>
              <a:rPr lang="en-US" dirty="0"/>
              <a:t> ) </a:t>
            </a:r>
            <a:endParaRPr lang="en-US" dirty="0" smtClean="0"/>
          </a:p>
          <a:p>
            <a:r>
              <a:rPr lang="en-US" dirty="0" err="1" smtClean="0"/>
              <a:t>Contrôle</a:t>
            </a:r>
            <a:r>
              <a:rPr lang="en-US" dirty="0" smtClean="0"/>
              <a:t> des sorties et entrées qui </a:t>
            </a:r>
            <a:r>
              <a:rPr lang="en-US" dirty="0" err="1" smtClean="0"/>
              <a:t>sont</a:t>
            </a:r>
            <a:r>
              <a:rPr lang="en-US" dirty="0" smtClean="0"/>
              <a:t> </a:t>
            </a:r>
            <a:r>
              <a:rPr lang="en-US" dirty="0" err="1" smtClean="0"/>
              <a:t>faites</a:t>
            </a:r>
            <a:r>
              <a:rPr lang="en-US" dirty="0" smtClean="0"/>
              <a:t> par </a:t>
            </a:r>
            <a:r>
              <a:rPr lang="en-US" dirty="0" err="1" smtClean="0"/>
              <a:t>l’opérateur</a:t>
            </a:r>
            <a:endParaRPr lang="en-US" dirty="0" smtClean="0"/>
          </a:p>
          <a:p>
            <a:r>
              <a:rPr lang="en-US" dirty="0" err="1" smtClean="0"/>
              <a:t>Contrairement</a:t>
            </a:r>
            <a:r>
              <a:rPr lang="en-US" dirty="0" smtClean="0"/>
              <a:t> aux </a:t>
            </a:r>
            <a:r>
              <a:rPr lang="en-US" dirty="0" err="1" smtClean="0"/>
              <a:t>autres</a:t>
            </a:r>
            <a:r>
              <a:rPr lang="en-US" dirty="0" smtClean="0"/>
              <a:t> régimes, </a:t>
            </a:r>
            <a:r>
              <a:rPr lang="en-US" dirty="0" err="1" smtClean="0"/>
              <a:t>il</a:t>
            </a:r>
            <a:r>
              <a:rPr lang="en-US" dirty="0" smtClean="0"/>
              <a:t> n’ y a pas de questionnaire à </a:t>
            </a:r>
            <a:r>
              <a:rPr lang="en-US" dirty="0" err="1" smtClean="0"/>
              <a:t>proprement</a:t>
            </a:r>
            <a:r>
              <a:rPr lang="en-US" dirty="0" smtClean="0"/>
              <a:t> </a:t>
            </a:r>
            <a:r>
              <a:rPr lang="en-US" dirty="0" err="1" smtClean="0"/>
              <a:t>dit</a:t>
            </a:r>
            <a:r>
              <a:rPr lang="en-US" dirty="0" smtClean="0"/>
              <a:t>.</a:t>
            </a:r>
          </a:p>
          <a:p>
            <a:endParaRPr lang="en-US" dirty="0"/>
          </a:p>
        </p:txBody>
      </p:sp>
    </p:spTree>
    <p:extLst>
      <p:ext uri="{BB962C8B-B14F-4D97-AF65-F5344CB8AC3E}">
        <p14:creationId xmlns:p14="http://schemas.microsoft.com/office/powerpoint/2010/main" val="26116835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Procédure</a:t>
            </a:r>
            <a:r>
              <a:rPr lang="en-US" dirty="0" smtClean="0"/>
              <a:t> :</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Notification </a:t>
            </a:r>
            <a:r>
              <a:rPr lang="en-US" dirty="0" err="1" smtClean="0"/>
              <a:t>d’arrivée</a:t>
            </a:r>
            <a:r>
              <a:rPr lang="en-US" dirty="0" smtClean="0"/>
              <a:t> </a:t>
            </a:r>
            <a:r>
              <a:rPr lang="en-US" dirty="0" smtClean="0"/>
              <a:t>/ de sortie </a:t>
            </a:r>
            <a:r>
              <a:rPr lang="en-US" dirty="0" err="1" smtClean="0"/>
              <a:t>doit</a:t>
            </a:r>
            <a:r>
              <a:rPr lang="en-US" dirty="0" smtClean="0"/>
              <a:t> </a:t>
            </a:r>
            <a:r>
              <a:rPr lang="en-US" dirty="0" err="1" smtClean="0"/>
              <a:t>être</a:t>
            </a:r>
            <a:r>
              <a:rPr lang="en-US" dirty="0" smtClean="0"/>
              <a:t> remise à l’ ADA, </a:t>
            </a:r>
            <a:r>
              <a:rPr lang="en-US" dirty="0" err="1" smtClean="0"/>
              <a:t>cette</a:t>
            </a:r>
            <a:r>
              <a:rPr lang="en-US" dirty="0" smtClean="0"/>
              <a:t> notification </a:t>
            </a:r>
            <a:r>
              <a:rPr lang="en-US" dirty="0" err="1" smtClean="0"/>
              <a:t>d’arrivée</a:t>
            </a:r>
            <a:r>
              <a:rPr lang="en-US" dirty="0" smtClean="0"/>
              <a:t> / de sortie  </a:t>
            </a:r>
            <a:r>
              <a:rPr lang="en-US" dirty="0" err="1" smtClean="0"/>
              <a:t>doit</a:t>
            </a:r>
            <a:r>
              <a:rPr lang="en-US" dirty="0" smtClean="0"/>
              <a:t> se faire le plus </a:t>
            </a:r>
            <a:r>
              <a:rPr lang="en-US" dirty="0" err="1" smtClean="0"/>
              <a:t>tôt</a:t>
            </a:r>
            <a:r>
              <a:rPr lang="en-US" dirty="0" smtClean="0"/>
              <a:t> possible ( max 8 </a:t>
            </a:r>
            <a:r>
              <a:rPr lang="en-US" dirty="0" err="1" smtClean="0"/>
              <a:t>jours</a:t>
            </a:r>
            <a:r>
              <a:rPr lang="en-US" dirty="0" smtClean="0"/>
              <a:t> </a:t>
            </a:r>
            <a:r>
              <a:rPr lang="en-US" dirty="0" err="1" smtClean="0"/>
              <a:t>avant</a:t>
            </a:r>
            <a:r>
              <a:rPr lang="en-US" dirty="0" smtClean="0"/>
              <a:t> </a:t>
            </a:r>
            <a:r>
              <a:rPr lang="en-US" dirty="0" err="1" smtClean="0"/>
              <a:t>l’arrivée</a:t>
            </a:r>
            <a:r>
              <a:rPr lang="en-US" dirty="0" smtClean="0"/>
              <a:t>/ la sortie de la </a:t>
            </a:r>
            <a:r>
              <a:rPr lang="en-US" dirty="0" err="1" smtClean="0"/>
              <a:t>marchandise</a:t>
            </a:r>
            <a:r>
              <a:rPr lang="en-US" dirty="0" smtClean="0"/>
              <a:t> )</a:t>
            </a:r>
          </a:p>
          <a:p>
            <a:r>
              <a:rPr lang="en-US" dirty="0" smtClean="0"/>
              <a:t>Remise des documents </a:t>
            </a:r>
            <a:r>
              <a:rPr lang="en-US" dirty="0" err="1" smtClean="0"/>
              <a:t>douaniers</a:t>
            </a:r>
            <a:r>
              <a:rPr lang="en-US" dirty="0" smtClean="0"/>
              <a:t> à l’ ADA </a:t>
            </a:r>
            <a:r>
              <a:rPr lang="en-US" dirty="0" err="1" smtClean="0"/>
              <a:t>en</a:t>
            </a:r>
            <a:r>
              <a:rPr lang="en-US" dirty="0" smtClean="0"/>
              <a:t> </a:t>
            </a:r>
            <a:r>
              <a:rPr lang="en-US" dirty="0" err="1" smtClean="0"/>
              <a:t>reférence</a:t>
            </a:r>
            <a:r>
              <a:rPr lang="en-US" dirty="0" smtClean="0"/>
              <a:t> à la </a:t>
            </a:r>
            <a:r>
              <a:rPr lang="en-US" dirty="0" err="1" smtClean="0"/>
              <a:t>marchandise</a:t>
            </a:r>
            <a:r>
              <a:rPr lang="en-US" dirty="0" smtClean="0"/>
              <a:t> </a:t>
            </a:r>
            <a:r>
              <a:rPr lang="en-US" dirty="0" err="1" smtClean="0"/>
              <a:t>visée</a:t>
            </a:r>
            <a:endParaRPr lang="en-US" dirty="0" smtClean="0"/>
          </a:p>
          <a:p>
            <a:r>
              <a:rPr lang="en-US" dirty="0" smtClean="0"/>
              <a:t>Inscription </a:t>
            </a:r>
            <a:r>
              <a:rPr lang="en-US" dirty="0" err="1" smtClean="0"/>
              <a:t>dans</a:t>
            </a:r>
            <a:r>
              <a:rPr lang="en-US" dirty="0" smtClean="0"/>
              <a:t> la Comptabilité </a:t>
            </a:r>
            <a:r>
              <a:rPr lang="en-US" dirty="0" err="1" smtClean="0"/>
              <a:t>matière</a:t>
            </a:r>
            <a:r>
              <a:rPr lang="en-US" dirty="0" smtClean="0"/>
              <a:t> d’un entrée </a:t>
            </a:r>
            <a:r>
              <a:rPr lang="en-US" dirty="0" err="1" smtClean="0"/>
              <a:t>ou</a:t>
            </a:r>
            <a:r>
              <a:rPr lang="en-US" dirty="0" smtClean="0"/>
              <a:t> sortie </a:t>
            </a:r>
            <a:r>
              <a:rPr lang="en-US" dirty="0" err="1" smtClean="0"/>
              <a:t>d’une</a:t>
            </a:r>
            <a:r>
              <a:rPr lang="en-US" dirty="0" smtClean="0"/>
              <a:t> </a:t>
            </a:r>
            <a:r>
              <a:rPr lang="en-US" dirty="0" err="1" smtClean="0"/>
              <a:t>marchandise</a:t>
            </a:r>
            <a:endParaRPr lang="en-US" dirty="0" smtClean="0"/>
          </a:p>
          <a:p>
            <a:r>
              <a:rPr lang="en-US" dirty="0" err="1" smtClean="0"/>
              <a:t>Prévoir</a:t>
            </a:r>
            <a:r>
              <a:rPr lang="en-US" dirty="0" smtClean="0"/>
              <a:t> un listing des codes </a:t>
            </a:r>
            <a:r>
              <a:rPr lang="en-US" dirty="0" err="1" smtClean="0"/>
              <a:t>tarifaires</a:t>
            </a:r>
            <a:r>
              <a:rPr lang="en-US" dirty="0" smtClean="0"/>
              <a:t> des </a:t>
            </a:r>
            <a:r>
              <a:rPr lang="en-US" dirty="0" err="1" smtClean="0"/>
              <a:t>marchandises</a:t>
            </a:r>
            <a:r>
              <a:rPr lang="en-US" dirty="0" smtClean="0"/>
              <a:t> qui </a:t>
            </a:r>
            <a:r>
              <a:rPr lang="en-US" dirty="0" err="1" smtClean="0"/>
              <a:t>seront</a:t>
            </a:r>
            <a:r>
              <a:rPr lang="en-US" dirty="0" smtClean="0"/>
              <a:t> reprises </a:t>
            </a:r>
            <a:r>
              <a:rPr lang="en-US" dirty="0" err="1" smtClean="0"/>
              <a:t>dans</a:t>
            </a:r>
            <a:r>
              <a:rPr lang="en-US" dirty="0" smtClean="0"/>
              <a:t> la zone </a:t>
            </a:r>
            <a:r>
              <a:rPr lang="en-US" dirty="0" err="1" smtClean="0"/>
              <a:t>franche</a:t>
            </a:r>
            <a:r>
              <a:rPr lang="en-US" dirty="0" smtClean="0"/>
              <a:t> de </a:t>
            </a:r>
            <a:r>
              <a:rPr lang="en-US" dirty="0" err="1" smtClean="0"/>
              <a:t>l’opérateur</a:t>
            </a:r>
            <a:endParaRPr lang="en-US" dirty="0" smtClean="0"/>
          </a:p>
          <a:p>
            <a:r>
              <a:rPr lang="en-US" dirty="0" smtClean="0"/>
              <a:t>La </a:t>
            </a:r>
            <a:r>
              <a:rPr lang="en-US" dirty="0" err="1" smtClean="0"/>
              <a:t>marchandise</a:t>
            </a:r>
            <a:r>
              <a:rPr lang="en-US" dirty="0" smtClean="0"/>
              <a:t> </a:t>
            </a:r>
            <a:r>
              <a:rPr lang="en-US" dirty="0" err="1" smtClean="0"/>
              <a:t>doit</a:t>
            </a:r>
            <a:r>
              <a:rPr lang="en-US" dirty="0" smtClean="0"/>
              <a:t> </a:t>
            </a:r>
            <a:r>
              <a:rPr lang="en-US" dirty="0" err="1" smtClean="0"/>
              <a:t>être</a:t>
            </a:r>
            <a:r>
              <a:rPr lang="en-US" dirty="0" smtClean="0"/>
              <a:t> </a:t>
            </a:r>
            <a:r>
              <a:rPr lang="en-US" dirty="0" err="1" smtClean="0"/>
              <a:t>étiquetée</a:t>
            </a:r>
            <a:r>
              <a:rPr lang="en-US" dirty="0" smtClean="0"/>
              <a:t> ( ex: code barre ) de </a:t>
            </a:r>
            <a:r>
              <a:rPr lang="en-US" dirty="0" err="1" smtClean="0"/>
              <a:t>manière</a:t>
            </a:r>
            <a:r>
              <a:rPr lang="en-US" dirty="0" smtClean="0"/>
              <a:t> à </a:t>
            </a:r>
            <a:r>
              <a:rPr lang="en-US" dirty="0" err="1" smtClean="0"/>
              <a:t>ce</a:t>
            </a:r>
            <a:r>
              <a:rPr lang="en-US" dirty="0" smtClean="0"/>
              <a:t> </a:t>
            </a:r>
            <a:r>
              <a:rPr lang="en-US" dirty="0" err="1" smtClean="0"/>
              <a:t>qu’elle</a:t>
            </a:r>
            <a:r>
              <a:rPr lang="en-US" dirty="0" smtClean="0"/>
              <a:t> </a:t>
            </a:r>
            <a:r>
              <a:rPr lang="en-US" dirty="0" err="1" smtClean="0"/>
              <a:t>puisse</a:t>
            </a:r>
            <a:r>
              <a:rPr lang="en-US" dirty="0" smtClean="0"/>
              <a:t> </a:t>
            </a:r>
            <a:r>
              <a:rPr lang="en-US" dirty="0" err="1" smtClean="0"/>
              <a:t>être</a:t>
            </a:r>
            <a:r>
              <a:rPr lang="en-US" dirty="0" smtClean="0"/>
              <a:t> </a:t>
            </a:r>
            <a:r>
              <a:rPr lang="en-US" dirty="0" err="1" smtClean="0"/>
              <a:t>reconnue</a:t>
            </a:r>
            <a:endParaRPr lang="en-US" dirty="0" smtClean="0"/>
          </a:p>
          <a:p>
            <a:r>
              <a:rPr lang="en-US" dirty="0" smtClean="0"/>
              <a:t>Le </a:t>
            </a:r>
            <a:r>
              <a:rPr lang="en-US" dirty="0" err="1" smtClean="0"/>
              <a:t>déballage</a:t>
            </a:r>
            <a:r>
              <a:rPr lang="en-US" dirty="0" smtClean="0"/>
              <a:t> / </a:t>
            </a:r>
            <a:r>
              <a:rPr lang="en-US" dirty="0" err="1" smtClean="0"/>
              <a:t>l’emballage</a:t>
            </a:r>
            <a:r>
              <a:rPr lang="en-US" dirty="0" smtClean="0"/>
              <a:t> de la </a:t>
            </a:r>
            <a:r>
              <a:rPr lang="en-US" dirty="0" err="1" smtClean="0"/>
              <a:t>marchandise</a:t>
            </a:r>
            <a:r>
              <a:rPr lang="en-US" dirty="0" smtClean="0"/>
              <a:t> pour </a:t>
            </a:r>
            <a:r>
              <a:rPr lang="en-US" dirty="0" err="1" smtClean="0"/>
              <a:t>contrôler</a:t>
            </a:r>
            <a:r>
              <a:rPr lang="en-US" dirty="0" smtClean="0"/>
              <a:t> le </a:t>
            </a:r>
            <a:r>
              <a:rPr lang="en-US" dirty="0" err="1" smtClean="0"/>
              <a:t>contenu</a:t>
            </a:r>
            <a:r>
              <a:rPr lang="en-US" dirty="0" smtClean="0"/>
              <a:t> de </a:t>
            </a:r>
            <a:r>
              <a:rPr lang="en-US" dirty="0" err="1" smtClean="0"/>
              <a:t>celle</a:t>
            </a:r>
            <a:r>
              <a:rPr lang="en-US" dirty="0" smtClean="0"/>
              <a:t>-ci </a:t>
            </a:r>
            <a:r>
              <a:rPr lang="en-US" dirty="0" err="1" smtClean="0"/>
              <a:t>doit</a:t>
            </a:r>
            <a:r>
              <a:rPr lang="en-US" dirty="0" smtClean="0"/>
              <a:t> </a:t>
            </a:r>
            <a:r>
              <a:rPr lang="en-US" dirty="0" err="1" smtClean="0"/>
              <a:t>être</a:t>
            </a:r>
            <a:r>
              <a:rPr lang="en-US" dirty="0" smtClean="0"/>
              <a:t> fait par </a:t>
            </a:r>
            <a:r>
              <a:rPr lang="en-US" dirty="0" err="1" smtClean="0"/>
              <a:t>l’opérateur</a:t>
            </a:r>
            <a:r>
              <a:rPr lang="en-US" dirty="0" smtClean="0"/>
              <a:t> </a:t>
            </a:r>
            <a:r>
              <a:rPr lang="en-US" dirty="0" err="1" smtClean="0"/>
              <a:t>en</a:t>
            </a:r>
            <a:r>
              <a:rPr lang="en-US" dirty="0" smtClean="0"/>
              <a:t> </a:t>
            </a:r>
            <a:r>
              <a:rPr lang="en-US" dirty="0" err="1" smtClean="0"/>
              <a:t>présence</a:t>
            </a:r>
            <a:r>
              <a:rPr lang="en-US" dirty="0" smtClean="0"/>
              <a:t> des agents de </a:t>
            </a:r>
            <a:r>
              <a:rPr lang="en-US" dirty="0" err="1" smtClean="0"/>
              <a:t>l’ADA</a:t>
            </a:r>
            <a:r>
              <a:rPr lang="en-US" dirty="0" smtClean="0"/>
              <a:t> pendant les </a:t>
            </a:r>
            <a:r>
              <a:rPr lang="en-US" dirty="0" err="1" smtClean="0"/>
              <a:t>heures</a:t>
            </a:r>
            <a:r>
              <a:rPr lang="en-US" dirty="0" smtClean="0"/>
              <a:t> </a:t>
            </a:r>
            <a:r>
              <a:rPr lang="en-US" dirty="0" err="1" smtClean="0"/>
              <a:t>d’ouverture</a:t>
            </a:r>
            <a:r>
              <a:rPr lang="en-US" dirty="0" smtClean="0"/>
              <a:t> du Freeport.</a:t>
            </a:r>
          </a:p>
          <a:p>
            <a:r>
              <a:rPr lang="en-US" dirty="0" smtClean="0"/>
              <a:t>Les </a:t>
            </a:r>
            <a:r>
              <a:rPr lang="en-US" dirty="0" err="1" smtClean="0"/>
              <a:t>marchandises</a:t>
            </a:r>
            <a:r>
              <a:rPr lang="en-US" dirty="0" smtClean="0"/>
              <a:t> Union </a:t>
            </a:r>
            <a:r>
              <a:rPr lang="en-US" dirty="0" err="1" smtClean="0"/>
              <a:t>doivent</a:t>
            </a:r>
            <a:r>
              <a:rPr lang="en-US" dirty="0" smtClean="0"/>
              <a:t> </a:t>
            </a:r>
            <a:r>
              <a:rPr lang="en-US" dirty="0" err="1" smtClean="0"/>
              <a:t>être</a:t>
            </a:r>
            <a:r>
              <a:rPr lang="en-US" dirty="0" smtClean="0"/>
              <a:t> </a:t>
            </a:r>
            <a:r>
              <a:rPr lang="en-US" dirty="0" err="1" smtClean="0"/>
              <a:t>différenciées</a:t>
            </a:r>
            <a:r>
              <a:rPr lang="en-US" dirty="0" smtClean="0"/>
              <a:t> des </a:t>
            </a:r>
            <a:r>
              <a:rPr lang="en-US" dirty="0" err="1" smtClean="0"/>
              <a:t>marchandises</a:t>
            </a:r>
            <a:r>
              <a:rPr lang="en-US" dirty="0" smtClean="0"/>
              <a:t> non Union ( Etiquette UE de </a:t>
            </a:r>
            <a:r>
              <a:rPr lang="en-US" dirty="0" err="1" smtClean="0"/>
              <a:t>couleur</a:t>
            </a:r>
            <a:r>
              <a:rPr lang="en-US" dirty="0" smtClean="0"/>
              <a:t> </a:t>
            </a:r>
            <a:r>
              <a:rPr lang="en-US" dirty="0" err="1" smtClean="0"/>
              <a:t>bleue</a:t>
            </a:r>
            <a:r>
              <a:rPr lang="en-US" dirty="0" smtClean="0"/>
              <a:t> et d’un </a:t>
            </a:r>
            <a:r>
              <a:rPr lang="en-US" dirty="0" err="1" smtClean="0"/>
              <a:t>diamètre</a:t>
            </a:r>
            <a:r>
              <a:rPr lang="en-US" dirty="0" smtClean="0"/>
              <a:t> minimum de 6 cm)</a:t>
            </a:r>
            <a:endParaRPr lang="en-US" dirty="0"/>
          </a:p>
        </p:txBody>
      </p:sp>
    </p:spTree>
    <p:extLst>
      <p:ext uri="{BB962C8B-B14F-4D97-AF65-F5344CB8AC3E}">
        <p14:creationId xmlns:p14="http://schemas.microsoft.com/office/powerpoint/2010/main" val="378805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a:t>
            </a:r>
            <a:r>
              <a:rPr lang="en-US" dirty="0" err="1" smtClean="0"/>
              <a:t>L’utilisation</a:t>
            </a:r>
            <a:r>
              <a:rPr lang="en-US" dirty="0" smtClean="0"/>
              <a:t> </a:t>
            </a:r>
            <a:r>
              <a:rPr lang="en-US" dirty="0" err="1" smtClean="0"/>
              <a:t>spécifique</a:t>
            </a:r>
            <a:r>
              <a:rPr lang="en-US" dirty="0" smtClean="0"/>
              <a:t> </a:t>
            </a:r>
            <a:endParaRPr lang="en-US" dirty="0"/>
          </a:p>
        </p:txBody>
      </p:sp>
      <p:sp>
        <p:nvSpPr>
          <p:cNvPr id="3" name="Content Placeholder 2"/>
          <p:cNvSpPr>
            <a:spLocks noGrp="1"/>
          </p:cNvSpPr>
          <p:nvPr>
            <p:ph idx="1"/>
          </p:nvPr>
        </p:nvSpPr>
        <p:spPr/>
        <p:txBody>
          <a:bodyPr/>
          <a:lstStyle/>
          <a:p>
            <a:pPr marL="0" indent="0">
              <a:buNone/>
            </a:pPr>
            <a:r>
              <a:rPr lang="en-US" dirty="0" smtClean="0"/>
              <a:t>Ce </a:t>
            </a:r>
            <a:r>
              <a:rPr lang="en-US" dirty="0" err="1" smtClean="0"/>
              <a:t>règime</a:t>
            </a:r>
            <a:r>
              <a:rPr lang="en-US" dirty="0" smtClean="0"/>
              <a:t> </a:t>
            </a:r>
            <a:r>
              <a:rPr lang="en-US" dirty="0" err="1" smtClean="0"/>
              <a:t>comprend</a:t>
            </a:r>
            <a:r>
              <a:rPr lang="en-US" dirty="0" smtClean="0"/>
              <a:t> à la </a:t>
            </a:r>
            <a:r>
              <a:rPr lang="en-US" dirty="0" err="1" smtClean="0"/>
              <a:t>fois</a:t>
            </a:r>
            <a:r>
              <a:rPr lang="en-US" dirty="0" smtClean="0"/>
              <a:t> :</a:t>
            </a:r>
          </a:p>
          <a:p>
            <a:r>
              <a:rPr lang="en-US" dirty="0" err="1" smtClean="0"/>
              <a:t>L’admission</a:t>
            </a:r>
            <a:r>
              <a:rPr lang="en-US" dirty="0" smtClean="0"/>
              <a:t> </a:t>
            </a:r>
            <a:r>
              <a:rPr lang="en-US" dirty="0" err="1" smtClean="0"/>
              <a:t>temporaire</a:t>
            </a:r>
            <a:endParaRPr lang="en-US" dirty="0" smtClean="0"/>
          </a:p>
          <a:p>
            <a:r>
              <a:rPr lang="en-US" dirty="0" smtClean="0"/>
              <a:t>La destination </a:t>
            </a:r>
            <a:r>
              <a:rPr lang="en-US" dirty="0" err="1" smtClean="0"/>
              <a:t>particulière</a:t>
            </a:r>
            <a:endParaRPr lang="en-US" dirty="0"/>
          </a:p>
        </p:txBody>
      </p:sp>
    </p:spTree>
    <p:extLst>
      <p:ext uri="{BB962C8B-B14F-4D97-AF65-F5344CB8AC3E}">
        <p14:creationId xmlns:p14="http://schemas.microsoft.com/office/powerpoint/2010/main" val="19699758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L’admission</a:t>
            </a:r>
            <a:r>
              <a:rPr lang="en-US" dirty="0" smtClean="0"/>
              <a:t> </a:t>
            </a:r>
            <a:r>
              <a:rPr lang="en-US" dirty="0" err="1" smtClean="0"/>
              <a:t>temporaire</a:t>
            </a:r>
            <a:endParaRPr lang="en-US" dirty="0"/>
          </a:p>
        </p:txBody>
      </p:sp>
      <p:sp>
        <p:nvSpPr>
          <p:cNvPr id="3" name="Content Placeholder 2"/>
          <p:cNvSpPr>
            <a:spLocks noGrp="1"/>
          </p:cNvSpPr>
          <p:nvPr>
            <p:ph idx="1"/>
          </p:nvPr>
        </p:nvSpPr>
        <p:spPr/>
        <p:txBody>
          <a:bodyPr>
            <a:normAutofit fontScale="77500" lnSpcReduction="20000"/>
          </a:bodyPr>
          <a:lstStyle/>
          <a:p>
            <a:r>
              <a:rPr lang="fr-CH" dirty="0"/>
              <a:t>Ce régime est très peu utilisé au Luxembourg, parce qu’il est substitué par le Carnet ATA dont l’utilisation est plus simple.</a:t>
            </a:r>
          </a:p>
          <a:p>
            <a:r>
              <a:rPr lang="fr-CH" dirty="0"/>
              <a:t>L’admission temporaire prévoit la mise en place d’une garantie et la tenue d’écritures. L’opérateur demandeur devra tenir une comptabilité-matières, qui devra être mise à disposition des autorités compétentes.</a:t>
            </a:r>
          </a:p>
          <a:p>
            <a:r>
              <a:rPr lang="fr-CH" dirty="0"/>
              <a:t>Pour couvrir les dettes qui risquent de naître, une garantie globale doit être mise en place par l’opérateur économique demandeur. Cette garantie est fixée par le bureau de recette dont l’opérateur est dépendant</a:t>
            </a:r>
            <a:r>
              <a:rPr lang="fr-CH" dirty="0" smtClean="0"/>
              <a:t>.</a:t>
            </a:r>
          </a:p>
          <a:p>
            <a:r>
              <a:rPr lang="fr-CH" dirty="0" smtClean="0"/>
              <a:t>Au contraire, pour le Carnet ATA, aucune de ces obligations doit être mises en place. </a:t>
            </a:r>
          </a:p>
          <a:p>
            <a:pPr marL="514350" indent="-514350">
              <a:buFont typeface="+mj-lt"/>
              <a:buAutoNum type="arabicPeriod"/>
            </a:pPr>
            <a:r>
              <a:rPr lang="fr-CH" dirty="0" smtClean="0"/>
              <a:t>La garantie est mise en place par la Chambre de Commerce</a:t>
            </a:r>
          </a:p>
          <a:p>
            <a:pPr marL="514350" indent="-514350">
              <a:buFont typeface="+mj-lt"/>
              <a:buAutoNum type="arabicPeriod"/>
            </a:pPr>
            <a:r>
              <a:rPr lang="fr-CH" dirty="0" smtClean="0"/>
              <a:t>Aucunement besoin de mettre en place d’une comptabilité matière.</a:t>
            </a:r>
          </a:p>
          <a:p>
            <a:pPr marL="0" indent="0">
              <a:buNone/>
            </a:pPr>
            <a:endParaRPr lang="fr-CH" dirty="0"/>
          </a:p>
          <a:p>
            <a:pPr marL="0" indent="0">
              <a:buNone/>
            </a:pPr>
            <a:r>
              <a:rPr lang="fr-CH" u="sng" dirty="0" smtClean="0"/>
              <a:t>Seul inconvénient</a:t>
            </a:r>
            <a:r>
              <a:rPr lang="fr-CH" dirty="0" smtClean="0"/>
              <a:t>: comme chaque service dû , cela est payant </a:t>
            </a:r>
            <a:endParaRPr lang="fr-CH" dirty="0"/>
          </a:p>
          <a:p>
            <a:endParaRPr lang="en-US" dirty="0"/>
          </a:p>
        </p:txBody>
      </p:sp>
    </p:spTree>
    <p:extLst>
      <p:ext uri="{BB962C8B-B14F-4D97-AF65-F5344CB8AC3E}">
        <p14:creationId xmlns:p14="http://schemas.microsoft.com/office/powerpoint/2010/main" val="36461665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 conditions </a:t>
            </a:r>
            <a:r>
              <a:rPr lang="en-US" dirty="0" err="1" smtClean="0"/>
              <a:t>préalables</a:t>
            </a:r>
            <a:r>
              <a:rPr lang="en-US" dirty="0" smtClean="0"/>
              <a:t> pour le régime de </a:t>
            </a:r>
            <a:r>
              <a:rPr lang="en-US" dirty="0" err="1" smtClean="0"/>
              <a:t>l’admission</a:t>
            </a:r>
            <a:r>
              <a:rPr lang="en-US" dirty="0" smtClean="0"/>
              <a:t> </a:t>
            </a:r>
            <a:r>
              <a:rPr lang="en-US" dirty="0" err="1" smtClean="0"/>
              <a:t>temporaire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Pour </a:t>
            </a:r>
            <a:r>
              <a:rPr lang="en-US" dirty="0" err="1" smtClean="0"/>
              <a:t>l’obtention</a:t>
            </a:r>
            <a:r>
              <a:rPr lang="en-US" dirty="0" smtClean="0"/>
              <a:t> de </a:t>
            </a:r>
            <a:r>
              <a:rPr lang="en-US" dirty="0" err="1" smtClean="0"/>
              <a:t>cette</a:t>
            </a:r>
            <a:r>
              <a:rPr lang="en-US" dirty="0" smtClean="0"/>
              <a:t> </a:t>
            </a:r>
            <a:r>
              <a:rPr lang="en-US" dirty="0" err="1" smtClean="0"/>
              <a:t>autorisation</a:t>
            </a:r>
            <a:r>
              <a:rPr lang="en-US" dirty="0" smtClean="0"/>
              <a:t>, </a:t>
            </a:r>
            <a:r>
              <a:rPr lang="en-US" dirty="0" err="1" smtClean="0"/>
              <a:t>l’opérateur</a:t>
            </a:r>
            <a:r>
              <a:rPr lang="en-US" dirty="0" smtClean="0"/>
              <a:t> </a:t>
            </a:r>
            <a:r>
              <a:rPr lang="en-US" dirty="0" err="1" smtClean="0"/>
              <a:t>doit</a:t>
            </a:r>
            <a:r>
              <a:rPr lang="en-US" dirty="0" smtClean="0"/>
              <a:t> </a:t>
            </a:r>
            <a:r>
              <a:rPr lang="en-US" dirty="0" err="1" smtClean="0"/>
              <a:t>prouver</a:t>
            </a:r>
            <a:r>
              <a:rPr lang="en-US" dirty="0" smtClean="0"/>
              <a:t> </a:t>
            </a:r>
            <a:r>
              <a:rPr lang="en-US" dirty="0" err="1" smtClean="0"/>
              <a:t>qu’il</a:t>
            </a:r>
            <a:r>
              <a:rPr lang="en-US" dirty="0" smtClean="0"/>
              <a:t> a un </a:t>
            </a:r>
            <a:r>
              <a:rPr lang="en-US" dirty="0" err="1" smtClean="0"/>
              <a:t>besoin</a:t>
            </a:r>
            <a:r>
              <a:rPr lang="en-US" dirty="0" smtClean="0"/>
              <a:t> </a:t>
            </a:r>
            <a:r>
              <a:rPr lang="en-US" dirty="0" err="1" smtClean="0"/>
              <a:t>économique</a:t>
            </a:r>
            <a:r>
              <a:rPr lang="en-US" dirty="0" smtClean="0"/>
              <a:t> </a:t>
            </a:r>
            <a:r>
              <a:rPr lang="en-US" dirty="0" err="1" smtClean="0"/>
              <a:t>réel</a:t>
            </a:r>
            <a:r>
              <a:rPr lang="en-US" dirty="0" smtClean="0"/>
              <a:t>.</a:t>
            </a:r>
          </a:p>
          <a:p>
            <a:r>
              <a:rPr lang="en-US" dirty="0" smtClean="0"/>
              <a:t>Un </a:t>
            </a:r>
            <a:r>
              <a:rPr lang="en-US" dirty="0" err="1" smtClean="0"/>
              <a:t>contrôle</a:t>
            </a:r>
            <a:r>
              <a:rPr lang="en-US" dirty="0" smtClean="0"/>
              <a:t> des </a:t>
            </a:r>
            <a:r>
              <a:rPr lang="en-US" dirty="0" err="1" smtClean="0"/>
              <a:t>antécédents</a:t>
            </a:r>
            <a:r>
              <a:rPr lang="en-US" dirty="0" smtClean="0"/>
              <a:t> </a:t>
            </a:r>
            <a:r>
              <a:rPr lang="en-US" dirty="0" err="1" smtClean="0"/>
              <a:t>auront</a:t>
            </a:r>
            <a:r>
              <a:rPr lang="en-US" dirty="0" smtClean="0"/>
              <a:t> lieu pour </a:t>
            </a:r>
            <a:r>
              <a:rPr lang="en-US" dirty="0" err="1" smtClean="0"/>
              <a:t>contrôler</a:t>
            </a:r>
            <a:r>
              <a:rPr lang="en-US" dirty="0" smtClean="0"/>
              <a:t> </a:t>
            </a:r>
            <a:r>
              <a:rPr lang="en-US" dirty="0" err="1" smtClean="0"/>
              <a:t>si</a:t>
            </a:r>
            <a:r>
              <a:rPr lang="en-US" dirty="0" smtClean="0"/>
              <a:t> </a:t>
            </a:r>
            <a:r>
              <a:rPr lang="en-US" dirty="0" err="1" smtClean="0"/>
              <a:t>aucune</a:t>
            </a:r>
            <a:r>
              <a:rPr lang="en-US" dirty="0" smtClean="0"/>
              <a:t> infraction </a:t>
            </a:r>
            <a:r>
              <a:rPr lang="en-US" dirty="0" err="1" smtClean="0"/>
              <a:t>en</a:t>
            </a:r>
            <a:r>
              <a:rPr lang="en-US" dirty="0" smtClean="0"/>
              <a:t> </a:t>
            </a:r>
            <a:r>
              <a:rPr lang="en-US" dirty="0" err="1" smtClean="0"/>
              <a:t>matière</a:t>
            </a:r>
            <a:r>
              <a:rPr lang="en-US" dirty="0" smtClean="0"/>
              <a:t> </a:t>
            </a:r>
            <a:r>
              <a:rPr lang="en-US" dirty="0" err="1" smtClean="0"/>
              <a:t>pénale</a:t>
            </a:r>
            <a:r>
              <a:rPr lang="en-US" dirty="0" smtClean="0"/>
              <a:t> </a:t>
            </a:r>
            <a:r>
              <a:rPr lang="en-US" dirty="0" err="1" smtClean="0"/>
              <a:t>ou</a:t>
            </a:r>
            <a:r>
              <a:rPr lang="en-US" dirty="0"/>
              <a:t> </a:t>
            </a:r>
            <a:r>
              <a:rPr lang="en-US" dirty="0" err="1" smtClean="0"/>
              <a:t>autres</a:t>
            </a:r>
            <a:r>
              <a:rPr lang="en-US" dirty="0" smtClean="0"/>
              <a:t> </a:t>
            </a:r>
            <a:r>
              <a:rPr lang="en-US" dirty="0" err="1" smtClean="0"/>
              <a:t>n’ont</a:t>
            </a:r>
            <a:r>
              <a:rPr lang="en-US" dirty="0" smtClean="0"/>
              <a:t> </a:t>
            </a:r>
            <a:r>
              <a:rPr lang="fr-CH" dirty="0" smtClean="0"/>
              <a:t>été</a:t>
            </a:r>
            <a:r>
              <a:rPr lang="en-US" dirty="0" smtClean="0"/>
              <a:t> </a:t>
            </a:r>
            <a:r>
              <a:rPr lang="en-US" dirty="0" err="1" smtClean="0"/>
              <a:t>commises</a:t>
            </a:r>
            <a:r>
              <a:rPr lang="en-US" dirty="0" smtClean="0"/>
              <a:t> par le </a:t>
            </a:r>
            <a:r>
              <a:rPr lang="en-US" dirty="0" err="1" smtClean="0"/>
              <a:t>demandeur</a:t>
            </a:r>
            <a:r>
              <a:rPr lang="en-US" dirty="0" smtClean="0"/>
              <a:t>.</a:t>
            </a:r>
          </a:p>
          <a:p>
            <a:r>
              <a:rPr lang="fr-FR" dirty="0"/>
              <a:t>L’opérateur devra tenir des écritures qui permettront aux autorités douanières compétentes de vérifier le bon déroulement des opérations par rapport au régime sollicité. Ses écritures devront se tenir sous la forme d’une comptabilité matière et devront être mises à jour de manière ponctuelle. ( voir annexe 1 </a:t>
            </a:r>
            <a:r>
              <a:rPr lang="fr-FR" dirty="0" smtClean="0"/>
              <a:t>)</a:t>
            </a:r>
          </a:p>
          <a:p>
            <a:r>
              <a:rPr lang="fr-FR" dirty="0" smtClean="0"/>
              <a:t>L’autorisation pourra faire l’objet d’un effet rétroactif de l’exemption des droits de douane, cet effet rétroactif sera accordé par l’IGDA</a:t>
            </a:r>
            <a:endParaRPr lang="en-US" dirty="0"/>
          </a:p>
          <a:p>
            <a:endParaRPr lang="en-US" dirty="0" smtClean="0"/>
          </a:p>
        </p:txBody>
      </p:sp>
    </p:spTree>
    <p:extLst>
      <p:ext uri="{BB962C8B-B14F-4D97-AF65-F5344CB8AC3E}">
        <p14:creationId xmlns:p14="http://schemas.microsoft.com/office/powerpoint/2010/main" val="311947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 conditions </a:t>
            </a:r>
            <a:r>
              <a:rPr lang="en-US" dirty="0" err="1" smtClean="0"/>
              <a:t>préalables</a:t>
            </a:r>
            <a:r>
              <a:rPr lang="en-US" dirty="0" smtClean="0"/>
              <a:t> pour le régime de </a:t>
            </a:r>
            <a:r>
              <a:rPr lang="en-US" dirty="0" err="1" smtClean="0"/>
              <a:t>l’admission</a:t>
            </a:r>
            <a:r>
              <a:rPr lang="en-US" dirty="0" smtClean="0"/>
              <a:t> </a:t>
            </a:r>
            <a:r>
              <a:rPr lang="en-US" dirty="0" err="1" smtClean="0"/>
              <a:t>temporaire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Le </a:t>
            </a:r>
            <a:r>
              <a:rPr lang="en-US" dirty="0" err="1" smtClean="0"/>
              <a:t>demandeur</a:t>
            </a:r>
            <a:r>
              <a:rPr lang="en-US" dirty="0" smtClean="0"/>
              <a:t> </a:t>
            </a:r>
            <a:r>
              <a:rPr lang="en-US" dirty="0" err="1" smtClean="0"/>
              <a:t>devra</a:t>
            </a:r>
            <a:r>
              <a:rPr lang="en-US" dirty="0" smtClean="0"/>
              <a:t> </a:t>
            </a:r>
            <a:r>
              <a:rPr lang="en-US" dirty="0" err="1" smtClean="0"/>
              <a:t>démontrer</a:t>
            </a:r>
            <a:r>
              <a:rPr lang="en-US" dirty="0" smtClean="0"/>
              <a:t> </a:t>
            </a:r>
            <a:r>
              <a:rPr lang="en-US" dirty="0" err="1" smtClean="0"/>
              <a:t>où</a:t>
            </a:r>
            <a:r>
              <a:rPr lang="en-US" dirty="0" smtClean="0"/>
              <a:t> </a:t>
            </a:r>
            <a:r>
              <a:rPr lang="en-US" dirty="0" err="1" smtClean="0"/>
              <a:t>il</a:t>
            </a:r>
            <a:r>
              <a:rPr lang="en-US" dirty="0" smtClean="0"/>
              <a:t> </a:t>
            </a:r>
            <a:r>
              <a:rPr lang="en-US" dirty="0" err="1" smtClean="0"/>
              <a:t>effectue</a:t>
            </a:r>
            <a:r>
              <a:rPr lang="en-US" dirty="0" smtClean="0"/>
              <a:t> </a:t>
            </a:r>
            <a:r>
              <a:rPr lang="en-US" dirty="0"/>
              <a:t>l</a:t>
            </a:r>
            <a:r>
              <a:rPr lang="en-US" dirty="0" smtClean="0"/>
              <a:t>es </a:t>
            </a:r>
            <a:r>
              <a:rPr lang="en-US" dirty="0" err="1" smtClean="0"/>
              <a:t>utilisations</a:t>
            </a:r>
            <a:r>
              <a:rPr lang="en-US" dirty="0" smtClean="0"/>
              <a:t> des </a:t>
            </a:r>
            <a:r>
              <a:rPr lang="en-US" dirty="0" err="1" smtClean="0"/>
              <a:t>marchandise</a:t>
            </a:r>
            <a:r>
              <a:rPr lang="en-US" dirty="0" smtClean="0"/>
              <a:t> sous le </a:t>
            </a:r>
            <a:r>
              <a:rPr lang="en-US" dirty="0" err="1" smtClean="0"/>
              <a:t>statut</a:t>
            </a:r>
            <a:r>
              <a:rPr lang="en-US" dirty="0" smtClean="0"/>
              <a:t> de </a:t>
            </a:r>
            <a:r>
              <a:rPr lang="en-US" dirty="0" err="1" smtClean="0"/>
              <a:t>l’admission</a:t>
            </a:r>
            <a:r>
              <a:rPr lang="en-US" dirty="0" smtClean="0"/>
              <a:t> </a:t>
            </a:r>
            <a:r>
              <a:rPr lang="en-US" dirty="0" err="1" smtClean="0"/>
              <a:t>temporaire</a:t>
            </a:r>
            <a:r>
              <a:rPr lang="en-US" dirty="0" smtClean="0"/>
              <a:t> ( </a:t>
            </a:r>
            <a:r>
              <a:rPr lang="en-US" dirty="0" err="1" smtClean="0"/>
              <a:t>l’endroit</a:t>
            </a:r>
            <a:r>
              <a:rPr lang="en-US" dirty="0" smtClean="0"/>
              <a:t> )</a:t>
            </a:r>
          </a:p>
          <a:p>
            <a:r>
              <a:rPr lang="en-US" dirty="0" err="1" smtClean="0"/>
              <a:t>L’opérateur</a:t>
            </a:r>
            <a:r>
              <a:rPr lang="en-US" dirty="0" smtClean="0"/>
              <a:t> </a:t>
            </a:r>
            <a:r>
              <a:rPr lang="en-US" dirty="0" err="1" smtClean="0"/>
              <a:t>devra</a:t>
            </a:r>
            <a:r>
              <a:rPr lang="en-US" dirty="0" smtClean="0"/>
              <a:t> </a:t>
            </a:r>
            <a:r>
              <a:rPr lang="en-US" dirty="0" err="1" smtClean="0"/>
              <a:t>remettre</a:t>
            </a:r>
            <a:r>
              <a:rPr lang="en-US" dirty="0" smtClean="0"/>
              <a:t> </a:t>
            </a:r>
            <a:r>
              <a:rPr lang="en-US" dirty="0" err="1" smtClean="0"/>
              <a:t>une</a:t>
            </a:r>
            <a:r>
              <a:rPr lang="en-US" dirty="0" smtClean="0"/>
              <a:t> </a:t>
            </a:r>
            <a:r>
              <a:rPr lang="en-US" dirty="0" err="1" smtClean="0"/>
              <a:t>liste</a:t>
            </a:r>
            <a:r>
              <a:rPr lang="en-US" dirty="0" smtClean="0"/>
              <a:t> des codes </a:t>
            </a:r>
            <a:r>
              <a:rPr lang="en-US" dirty="0" err="1" smtClean="0"/>
              <a:t>tarifaire</a:t>
            </a:r>
            <a:r>
              <a:rPr lang="en-US" dirty="0" smtClean="0"/>
              <a:t> des </a:t>
            </a:r>
            <a:r>
              <a:rPr lang="en-US" dirty="0" err="1" smtClean="0"/>
              <a:t>marchandises</a:t>
            </a:r>
            <a:r>
              <a:rPr lang="en-US" dirty="0" smtClean="0"/>
              <a:t> </a:t>
            </a:r>
            <a:r>
              <a:rPr lang="en-US" dirty="0" err="1" smtClean="0"/>
              <a:t>visées</a:t>
            </a:r>
            <a:r>
              <a:rPr lang="en-US" dirty="0" smtClean="0"/>
              <a:t> par le régime de </a:t>
            </a:r>
            <a:r>
              <a:rPr lang="en-US" dirty="0" err="1" smtClean="0"/>
              <a:t>l’admission</a:t>
            </a:r>
            <a:r>
              <a:rPr lang="en-US" dirty="0" smtClean="0"/>
              <a:t> </a:t>
            </a:r>
            <a:r>
              <a:rPr lang="en-US" dirty="0" err="1" smtClean="0"/>
              <a:t>temporaire</a:t>
            </a:r>
            <a:r>
              <a:rPr lang="en-US" dirty="0" smtClean="0"/>
              <a:t> ( code NC à 10 </a:t>
            </a:r>
            <a:r>
              <a:rPr lang="en-US" dirty="0" err="1" smtClean="0"/>
              <a:t>chiffres</a:t>
            </a:r>
            <a:r>
              <a:rPr lang="en-US" dirty="0" smtClean="0"/>
              <a:t> ). </a:t>
            </a:r>
            <a:r>
              <a:rPr lang="en-US" dirty="0" err="1" smtClean="0"/>
              <a:t>Cette</a:t>
            </a:r>
            <a:r>
              <a:rPr lang="en-US" dirty="0" smtClean="0"/>
              <a:t> </a:t>
            </a:r>
            <a:r>
              <a:rPr lang="en-US" dirty="0" err="1" smtClean="0"/>
              <a:t>liste</a:t>
            </a:r>
            <a:r>
              <a:rPr lang="en-US" dirty="0" smtClean="0"/>
              <a:t> </a:t>
            </a:r>
            <a:r>
              <a:rPr lang="en-US" dirty="0" err="1" smtClean="0"/>
              <a:t>devra</a:t>
            </a:r>
            <a:r>
              <a:rPr lang="en-US" dirty="0" smtClean="0"/>
              <a:t> </a:t>
            </a:r>
            <a:r>
              <a:rPr lang="en-US" dirty="0" err="1" smtClean="0"/>
              <a:t>être</a:t>
            </a:r>
            <a:r>
              <a:rPr lang="en-US" dirty="0" smtClean="0"/>
              <a:t> </a:t>
            </a:r>
            <a:r>
              <a:rPr lang="en-US" dirty="0" err="1" smtClean="0"/>
              <a:t>contrôlée</a:t>
            </a:r>
            <a:r>
              <a:rPr lang="en-US" dirty="0" smtClean="0"/>
              <a:t> par les agents de </a:t>
            </a:r>
            <a:r>
              <a:rPr lang="en-US" dirty="0" err="1" smtClean="0"/>
              <a:t>l’ADA</a:t>
            </a:r>
            <a:r>
              <a:rPr lang="en-US" dirty="0"/>
              <a:t> </a:t>
            </a:r>
            <a:r>
              <a:rPr lang="en-US" dirty="0" smtClean="0"/>
              <a:t>pour </a:t>
            </a:r>
            <a:r>
              <a:rPr lang="en-US" dirty="0" err="1" smtClean="0"/>
              <a:t>contrôler</a:t>
            </a:r>
            <a:r>
              <a:rPr lang="en-US" dirty="0" smtClean="0"/>
              <a:t> </a:t>
            </a:r>
            <a:r>
              <a:rPr lang="en-US" dirty="0" err="1" smtClean="0"/>
              <a:t>si</a:t>
            </a:r>
            <a:r>
              <a:rPr lang="en-US" dirty="0" smtClean="0"/>
              <a:t> </a:t>
            </a:r>
            <a:r>
              <a:rPr lang="en-US" dirty="0" err="1" smtClean="0"/>
              <a:t>ces</a:t>
            </a:r>
            <a:r>
              <a:rPr lang="en-US" dirty="0" smtClean="0"/>
              <a:t> </a:t>
            </a:r>
            <a:r>
              <a:rPr lang="en-US" dirty="0" err="1" smtClean="0"/>
              <a:t>marchandises</a:t>
            </a:r>
            <a:r>
              <a:rPr lang="en-US" dirty="0" smtClean="0"/>
              <a:t> se </a:t>
            </a:r>
            <a:r>
              <a:rPr lang="en-US" dirty="0" err="1" smtClean="0"/>
              <a:t>trouvent</a:t>
            </a:r>
            <a:r>
              <a:rPr lang="en-US" dirty="0" smtClean="0"/>
              <a:t> </a:t>
            </a:r>
            <a:r>
              <a:rPr lang="en-US" dirty="0" err="1" smtClean="0"/>
              <a:t>bien</a:t>
            </a:r>
            <a:r>
              <a:rPr lang="en-US" dirty="0" smtClean="0"/>
              <a:t> sous </a:t>
            </a:r>
            <a:r>
              <a:rPr lang="en-US" dirty="0" err="1" smtClean="0"/>
              <a:t>ce</a:t>
            </a:r>
            <a:r>
              <a:rPr lang="en-US" dirty="0" smtClean="0"/>
              <a:t> </a:t>
            </a:r>
            <a:r>
              <a:rPr lang="en-US" dirty="0" err="1" smtClean="0"/>
              <a:t>statut</a:t>
            </a:r>
            <a:r>
              <a:rPr lang="en-US" dirty="0" smtClean="0"/>
              <a:t> </a:t>
            </a:r>
            <a:r>
              <a:rPr lang="en-US" dirty="0" err="1" smtClean="0"/>
              <a:t>ou</a:t>
            </a:r>
            <a:r>
              <a:rPr lang="en-US" dirty="0" smtClean="0"/>
              <a:t> non.</a:t>
            </a:r>
          </a:p>
          <a:p>
            <a:r>
              <a:rPr lang="en-US" dirty="0" smtClean="0"/>
              <a:t>Il sera </a:t>
            </a:r>
            <a:r>
              <a:rPr lang="en-US" dirty="0" err="1" smtClean="0"/>
              <a:t>aussi</a:t>
            </a:r>
            <a:r>
              <a:rPr lang="en-US" dirty="0" smtClean="0"/>
              <a:t> question de </a:t>
            </a:r>
            <a:r>
              <a:rPr lang="en-US" dirty="0" err="1" smtClean="0"/>
              <a:t>remettre</a:t>
            </a:r>
            <a:r>
              <a:rPr lang="en-US" dirty="0" smtClean="0"/>
              <a:t> les </a:t>
            </a:r>
            <a:r>
              <a:rPr lang="en-US" dirty="0" err="1" smtClean="0"/>
              <a:t>différents</a:t>
            </a:r>
            <a:r>
              <a:rPr lang="en-US" dirty="0" smtClean="0"/>
              <a:t> </a:t>
            </a:r>
            <a:r>
              <a:rPr lang="en-US" dirty="0" err="1" smtClean="0"/>
              <a:t>moyens</a:t>
            </a:r>
            <a:r>
              <a:rPr lang="en-US" dirty="0" smtClean="0"/>
              <a:t> </a:t>
            </a:r>
            <a:r>
              <a:rPr lang="en-US" dirty="0" err="1" smtClean="0"/>
              <a:t>d’identification</a:t>
            </a:r>
            <a:r>
              <a:rPr lang="en-US" dirty="0" smtClean="0"/>
              <a:t> des </a:t>
            </a:r>
            <a:r>
              <a:rPr lang="en-US" dirty="0" err="1" smtClean="0"/>
              <a:t>marchandises</a:t>
            </a:r>
            <a:r>
              <a:rPr lang="en-US" dirty="0" smtClean="0"/>
              <a:t> qui se </a:t>
            </a:r>
            <a:r>
              <a:rPr lang="en-US" dirty="0" err="1" smtClean="0"/>
              <a:t>trouvent</a:t>
            </a:r>
            <a:r>
              <a:rPr lang="en-US" dirty="0" smtClean="0"/>
              <a:t> sous </a:t>
            </a:r>
            <a:r>
              <a:rPr lang="en-US" dirty="0" err="1" smtClean="0"/>
              <a:t>ce</a:t>
            </a:r>
            <a:r>
              <a:rPr lang="en-US" dirty="0" smtClean="0"/>
              <a:t> régime ( ex: code barre ) et </a:t>
            </a:r>
            <a:r>
              <a:rPr lang="en-US" dirty="0" err="1" smtClean="0"/>
              <a:t>aussi</a:t>
            </a:r>
            <a:r>
              <a:rPr lang="en-US" dirty="0" smtClean="0"/>
              <a:t> de </a:t>
            </a:r>
            <a:r>
              <a:rPr lang="en-US" dirty="0" err="1" smtClean="0"/>
              <a:t>mentionner</a:t>
            </a:r>
            <a:r>
              <a:rPr lang="en-US" dirty="0" smtClean="0"/>
              <a:t> la </a:t>
            </a:r>
            <a:r>
              <a:rPr lang="en-US" dirty="0" err="1" smtClean="0"/>
              <a:t>durée</a:t>
            </a:r>
            <a:r>
              <a:rPr lang="en-US" dirty="0" smtClean="0"/>
              <a:t> du </a:t>
            </a:r>
            <a:r>
              <a:rPr lang="en-US" dirty="0" err="1" smtClean="0"/>
              <a:t>séjour</a:t>
            </a:r>
            <a:r>
              <a:rPr lang="en-US" dirty="0" smtClean="0"/>
              <a:t> des </a:t>
            </a:r>
            <a:r>
              <a:rPr lang="en-US" dirty="0" err="1" smtClean="0"/>
              <a:t>marchandises</a:t>
            </a:r>
            <a:r>
              <a:rPr lang="en-US" dirty="0" smtClean="0"/>
              <a:t> sous </a:t>
            </a:r>
            <a:r>
              <a:rPr lang="en-US" dirty="0" err="1" smtClean="0"/>
              <a:t>ce</a:t>
            </a:r>
            <a:r>
              <a:rPr lang="en-US" dirty="0" smtClean="0"/>
              <a:t> </a:t>
            </a:r>
            <a:r>
              <a:rPr lang="en-US" dirty="0" err="1" smtClean="0"/>
              <a:t>statut</a:t>
            </a:r>
            <a:r>
              <a:rPr lang="en-US" dirty="0" smtClean="0"/>
              <a:t>. Un </a:t>
            </a:r>
            <a:r>
              <a:rPr lang="en-US" dirty="0" err="1" smtClean="0"/>
              <a:t>délais</a:t>
            </a:r>
            <a:r>
              <a:rPr lang="en-US" dirty="0" smtClean="0"/>
              <a:t> maximum de 6 </a:t>
            </a:r>
            <a:r>
              <a:rPr lang="en-US" dirty="0" err="1" smtClean="0"/>
              <a:t>mois</a:t>
            </a:r>
            <a:r>
              <a:rPr lang="en-US" dirty="0" smtClean="0"/>
              <a:t> </a:t>
            </a:r>
            <a:r>
              <a:rPr lang="en-US" dirty="0" err="1" smtClean="0"/>
              <a:t>peut</a:t>
            </a:r>
            <a:r>
              <a:rPr lang="en-US" dirty="0" smtClean="0"/>
              <a:t> </a:t>
            </a:r>
            <a:r>
              <a:rPr lang="en-US" dirty="0" err="1" smtClean="0"/>
              <a:t>être</a:t>
            </a:r>
            <a:r>
              <a:rPr lang="en-US" dirty="0" smtClean="0"/>
              <a:t> </a:t>
            </a:r>
            <a:r>
              <a:rPr lang="en-US" dirty="0" err="1" smtClean="0"/>
              <a:t>autorisé</a:t>
            </a:r>
            <a:r>
              <a:rPr lang="en-US" dirty="0" smtClean="0"/>
              <a:t> , </a:t>
            </a:r>
            <a:r>
              <a:rPr lang="en-US" dirty="0" err="1" smtClean="0"/>
              <a:t>si</a:t>
            </a:r>
            <a:r>
              <a:rPr lang="en-US" dirty="0" smtClean="0"/>
              <a:t> </a:t>
            </a:r>
            <a:r>
              <a:rPr lang="en-US" dirty="0" err="1" smtClean="0"/>
              <a:t>ce</a:t>
            </a:r>
            <a:r>
              <a:rPr lang="en-US" dirty="0" smtClean="0"/>
              <a:t> </a:t>
            </a:r>
            <a:r>
              <a:rPr lang="en-US" dirty="0" err="1" smtClean="0"/>
              <a:t>délais</a:t>
            </a:r>
            <a:r>
              <a:rPr lang="en-US" dirty="0" smtClean="0"/>
              <a:t> </a:t>
            </a:r>
            <a:r>
              <a:rPr lang="en-US" dirty="0" err="1" smtClean="0"/>
              <a:t>n’est</a:t>
            </a:r>
            <a:r>
              <a:rPr lang="en-US" dirty="0" smtClean="0"/>
              <a:t> pas </a:t>
            </a:r>
            <a:r>
              <a:rPr lang="en-US" dirty="0" err="1" smtClean="0"/>
              <a:t>respecté</a:t>
            </a:r>
            <a:r>
              <a:rPr lang="en-US" dirty="0" smtClean="0"/>
              <a:t> </a:t>
            </a:r>
            <a:r>
              <a:rPr lang="en-US" dirty="0" err="1" smtClean="0"/>
              <a:t>une</a:t>
            </a:r>
            <a:r>
              <a:rPr lang="en-US" dirty="0" smtClean="0"/>
              <a:t> prolongation </a:t>
            </a:r>
            <a:r>
              <a:rPr lang="en-US" dirty="0" err="1" smtClean="0"/>
              <a:t>dûment</a:t>
            </a:r>
            <a:r>
              <a:rPr lang="en-US" dirty="0" smtClean="0"/>
              <a:t> </a:t>
            </a:r>
            <a:r>
              <a:rPr lang="en-US" dirty="0" err="1" smtClean="0"/>
              <a:t>motivée</a:t>
            </a:r>
            <a:r>
              <a:rPr lang="en-US" dirty="0" smtClean="0"/>
              <a:t> </a:t>
            </a:r>
            <a:r>
              <a:rPr lang="en-US" dirty="0" err="1" smtClean="0"/>
              <a:t>devra</a:t>
            </a:r>
            <a:r>
              <a:rPr lang="en-US" dirty="0" smtClean="0"/>
              <a:t> </a:t>
            </a:r>
            <a:r>
              <a:rPr lang="en-US" dirty="0" err="1" smtClean="0"/>
              <a:t>être</a:t>
            </a:r>
            <a:r>
              <a:rPr lang="en-US" dirty="0" smtClean="0"/>
              <a:t> remise.</a:t>
            </a:r>
          </a:p>
          <a:p>
            <a:r>
              <a:rPr lang="en-US" dirty="0" smtClean="0"/>
              <a:t>Les agents de l’ ADA </a:t>
            </a:r>
            <a:r>
              <a:rPr lang="en-US" dirty="0" err="1" smtClean="0"/>
              <a:t>devront</a:t>
            </a:r>
            <a:r>
              <a:rPr lang="en-US" dirty="0" smtClean="0"/>
              <a:t> </a:t>
            </a:r>
            <a:r>
              <a:rPr lang="en-US" dirty="0" err="1" smtClean="0"/>
              <a:t>aussi</a:t>
            </a:r>
            <a:r>
              <a:rPr lang="en-US" dirty="0" smtClean="0"/>
              <a:t> </a:t>
            </a:r>
            <a:r>
              <a:rPr lang="en-US" dirty="0" err="1" smtClean="0"/>
              <a:t>indiquer</a:t>
            </a:r>
            <a:r>
              <a:rPr lang="en-US" dirty="0" smtClean="0"/>
              <a:t> </a:t>
            </a:r>
            <a:r>
              <a:rPr lang="en-US" dirty="0" err="1" smtClean="0"/>
              <a:t>si</a:t>
            </a:r>
            <a:r>
              <a:rPr lang="en-US" dirty="0" smtClean="0"/>
              <a:t> des </a:t>
            </a:r>
            <a:r>
              <a:rPr lang="en-US" dirty="0" err="1" smtClean="0"/>
              <a:t>mesures</a:t>
            </a:r>
            <a:r>
              <a:rPr lang="en-US" dirty="0" smtClean="0"/>
              <a:t> de </a:t>
            </a:r>
            <a:r>
              <a:rPr lang="en-US" dirty="0" err="1" smtClean="0"/>
              <a:t>contrôles</a:t>
            </a:r>
            <a:r>
              <a:rPr lang="en-US" dirty="0" smtClean="0"/>
              <a:t> </a:t>
            </a:r>
            <a:r>
              <a:rPr lang="en-US" dirty="0" err="1" smtClean="0"/>
              <a:t>spéciales</a:t>
            </a:r>
            <a:r>
              <a:rPr lang="en-US" dirty="0" smtClean="0"/>
              <a:t> </a:t>
            </a:r>
            <a:r>
              <a:rPr lang="en-US" dirty="0" err="1" smtClean="0"/>
              <a:t>devront</a:t>
            </a:r>
            <a:r>
              <a:rPr lang="en-US" dirty="0" smtClean="0"/>
              <a:t> </a:t>
            </a:r>
            <a:r>
              <a:rPr lang="en-US" dirty="0" err="1" smtClean="0"/>
              <a:t>être</a:t>
            </a:r>
            <a:r>
              <a:rPr lang="en-US" dirty="0" smtClean="0"/>
              <a:t> </a:t>
            </a:r>
            <a:r>
              <a:rPr lang="en-US" dirty="0" err="1" smtClean="0"/>
              <a:t>mis</a:t>
            </a:r>
            <a:r>
              <a:rPr lang="en-US" dirty="0" smtClean="0"/>
              <a:t> </a:t>
            </a:r>
            <a:r>
              <a:rPr lang="en-US" dirty="0" err="1" smtClean="0"/>
              <a:t>en</a:t>
            </a:r>
            <a:r>
              <a:rPr lang="en-US" dirty="0" smtClean="0"/>
              <a:t> place pour assurer la surveillance des </a:t>
            </a:r>
            <a:r>
              <a:rPr lang="en-US" dirty="0" err="1" smtClean="0"/>
              <a:t>marchandises</a:t>
            </a:r>
            <a:r>
              <a:rPr lang="en-US" dirty="0" smtClean="0"/>
              <a:t> sous </a:t>
            </a:r>
            <a:r>
              <a:rPr lang="en-US" dirty="0" err="1" smtClean="0"/>
              <a:t>ce</a:t>
            </a:r>
            <a:r>
              <a:rPr lang="en-US" dirty="0" smtClean="0"/>
              <a:t> régime</a:t>
            </a:r>
          </a:p>
          <a:p>
            <a:r>
              <a:rPr lang="en-US" dirty="0" err="1" smtClean="0"/>
              <a:t>Une</a:t>
            </a:r>
            <a:r>
              <a:rPr lang="en-US" dirty="0" smtClean="0"/>
              <a:t> </a:t>
            </a:r>
            <a:r>
              <a:rPr lang="en-US" dirty="0" err="1" smtClean="0"/>
              <a:t>garantie</a:t>
            </a:r>
            <a:r>
              <a:rPr lang="en-US" dirty="0" smtClean="0"/>
              <a:t> </a:t>
            </a:r>
            <a:r>
              <a:rPr lang="en-US" dirty="0" err="1" smtClean="0"/>
              <a:t>devra</a:t>
            </a:r>
            <a:r>
              <a:rPr lang="en-US" dirty="0" smtClean="0"/>
              <a:t> </a:t>
            </a:r>
            <a:r>
              <a:rPr lang="en-US" dirty="0" err="1" smtClean="0"/>
              <a:t>être</a:t>
            </a:r>
            <a:r>
              <a:rPr lang="en-US" dirty="0" smtClean="0"/>
              <a:t> </a:t>
            </a:r>
            <a:r>
              <a:rPr lang="en-US" dirty="0" err="1" smtClean="0"/>
              <a:t>mise</a:t>
            </a:r>
            <a:r>
              <a:rPr lang="en-US" dirty="0" smtClean="0"/>
              <a:t> </a:t>
            </a:r>
            <a:r>
              <a:rPr lang="en-US" dirty="0" err="1" smtClean="0"/>
              <a:t>en</a:t>
            </a:r>
            <a:r>
              <a:rPr lang="en-US" dirty="0" smtClean="0"/>
              <a:t> place pour </a:t>
            </a:r>
            <a:r>
              <a:rPr lang="en-US" dirty="0" err="1" smtClean="0"/>
              <a:t>pouvoir</a:t>
            </a:r>
            <a:r>
              <a:rPr lang="en-US" dirty="0" smtClean="0"/>
              <a:t> </a:t>
            </a:r>
            <a:r>
              <a:rPr lang="en-US" dirty="0" err="1" smtClean="0"/>
              <a:t>couvrir</a:t>
            </a:r>
            <a:r>
              <a:rPr lang="en-US" dirty="0" smtClean="0"/>
              <a:t> les droits qui </a:t>
            </a:r>
            <a:r>
              <a:rPr lang="en-US" dirty="0" err="1" smtClean="0"/>
              <a:t>risquent</a:t>
            </a:r>
            <a:r>
              <a:rPr lang="en-US" dirty="0" smtClean="0"/>
              <a:t> de </a:t>
            </a:r>
            <a:r>
              <a:rPr lang="en-US" dirty="0" err="1" smtClean="0"/>
              <a:t>naître</a:t>
            </a:r>
            <a:r>
              <a:rPr lang="en-US" dirty="0" smtClean="0"/>
              <a:t> au </a:t>
            </a:r>
            <a:r>
              <a:rPr lang="en-US" dirty="0" err="1" smtClean="0"/>
              <a:t>cas</a:t>
            </a:r>
            <a:r>
              <a:rPr lang="en-US" dirty="0" smtClean="0"/>
              <a:t> </a:t>
            </a:r>
            <a:r>
              <a:rPr lang="en-US" dirty="0" err="1" smtClean="0"/>
              <a:t>où</a:t>
            </a:r>
            <a:r>
              <a:rPr lang="en-US" dirty="0" smtClean="0"/>
              <a:t> les </a:t>
            </a:r>
            <a:r>
              <a:rPr lang="en-US" dirty="0" err="1" smtClean="0"/>
              <a:t>marchandises</a:t>
            </a:r>
            <a:r>
              <a:rPr lang="en-US" dirty="0" smtClean="0"/>
              <a:t> </a:t>
            </a:r>
            <a:r>
              <a:rPr lang="en-US" dirty="0" err="1" smtClean="0"/>
              <a:t>n’auront</a:t>
            </a:r>
            <a:r>
              <a:rPr lang="en-US" dirty="0" smtClean="0"/>
              <a:t> pas </a:t>
            </a:r>
            <a:r>
              <a:rPr lang="en-US" dirty="0" err="1" smtClean="0"/>
              <a:t>pu</a:t>
            </a:r>
            <a:r>
              <a:rPr lang="en-US" dirty="0" smtClean="0"/>
              <a:t> </a:t>
            </a:r>
            <a:r>
              <a:rPr lang="en-US" dirty="0" err="1" smtClean="0"/>
              <a:t>être</a:t>
            </a:r>
            <a:r>
              <a:rPr lang="en-US" dirty="0" smtClean="0"/>
              <a:t> </a:t>
            </a:r>
            <a:r>
              <a:rPr lang="en-US" dirty="0" err="1" smtClean="0"/>
              <a:t>réexportés</a:t>
            </a:r>
            <a:r>
              <a:rPr lang="en-US" dirty="0" smtClean="0"/>
              <a:t> </a:t>
            </a:r>
            <a:r>
              <a:rPr lang="en-US" dirty="0" err="1" smtClean="0"/>
              <a:t>dans</a:t>
            </a:r>
            <a:r>
              <a:rPr lang="en-US" dirty="0" smtClean="0"/>
              <a:t> les </a:t>
            </a:r>
            <a:r>
              <a:rPr lang="en-US" dirty="0" err="1" smtClean="0"/>
              <a:t>délais</a:t>
            </a:r>
            <a:r>
              <a:rPr lang="en-US" dirty="0" smtClean="0"/>
              <a:t>.</a:t>
            </a:r>
          </a:p>
          <a:p>
            <a:endParaRPr lang="en-US" dirty="0"/>
          </a:p>
        </p:txBody>
      </p:sp>
    </p:spTree>
    <p:extLst>
      <p:ext uri="{BB962C8B-B14F-4D97-AF65-F5344CB8AC3E}">
        <p14:creationId xmlns:p14="http://schemas.microsoft.com/office/powerpoint/2010/main" val="3886492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 destination </a:t>
            </a:r>
            <a:r>
              <a:rPr lang="en-US" dirty="0" err="1" smtClean="0"/>
              <a:t>particulière</a:t>
            </a:r>
            <a:endParaRPr lang="en-US" dirty="0"/>
          </a:p>
        </p:txBody>
      </p:sp>
      <p:sp>
        <p:nvSpPr>
          <p:cNvPr id="3" name="Content Placeholder 2"/>
          <p:cNvSpPr>
            <a:spLocks noGrp="1"/>
          </p:cNvSpPr>
          <p:nvPr>
            <p:ph idx="1"/>
          </p:nvPr>
        </p:nvSpPr>
        <p:spPr/>
        <p:txBody>
          <a:bodyPr/>
          <a:lstStyle/>
          <a:p>
            <a:pPr marL="0" indent="0">
              <a:buNone/>
            </a:pPr>
            <a:r>
              <a:rPr lang="fr-CH" dirty="0"/>
              <a:t>Comme son nom l’indique, il s’agit d’évaluer si l’opérateur remplit bien les conditions préalables pour pouvoir prétendre à l’autorisation demandée. Chaque autorisation, respectivement régime, a ses propres examens de condition.</a:t>
            </a:r>
          </a:p>
          <a:p>
            <a:pPr marL="0" indent="0">
              <a:buNone/>
            </a:pPr>
            <a:r>
              <a:rPr lang="fr-CH" dirty="0"/>
              <a:t>Les conditions pour l’octroi d’un telle autorisation sont les suivantes :</a:t>
            </a:r>
          </a:p>
          <a:p>
            <a:endParaRPr lang="en-US" dirty="0"/>
          </a:p>
        </p:txBody>
      </p:sp>
    </p:spTree>
    <p:extLst>
      <p:ext uri="{BB962C8B-B14F-4D97-AF65-F5344CB8AC3E}">
        <p14:creationId xmlns:p14="http://schemas.microsoft.com/office/powerpoint/2010/main" val="1268446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 conditions </a:t>
            </a:r>
            <a:r>
              <a:rPr lang="en-US" dirty="0" err="1" smtClean="0"/>
              <a:t>préalables</a:t>
            </a:r>
            <a:r>
              <a:rPr lang="en-US" dirty="0" smtClean="0"/>
              <a:t> pour le régime de la destination </a:t>
            </a:r>
            <a:r>
              <a:rPr lang="en-US" dirty="0" err="1" smtClean="0"/>
              <a:t>particulière</a:t>
            </a:r>
            <a:endParaRPr lang="en-US" dirty="0"/>
          </a:p>
        </p:txBody>
      </p:sp>
      <p:sp>
        <p:nvSpPr>
          <p:cNvPr id="3" name="Content Placeholder 2"/>
          <p:cNvSpPr>
            <a:spLocks noGrp="1"/>
          </p:cNvSpPr>
          <p:nvPr>
            <p:ph idx="1"/>
          </p:nvPr>
        </p:nvSpPr>
        <p:spPr/>
        <p:txBody>
          <a:bodyPr>
            <a:normAutofit fontScale="92500" lnSpcReduction="10000"/>
          </a:bodyPr>
          <a:lstStyle/>
          <a:p>
            <a:r>
              <a:rPr lang="fr-CH" dirty="0"/>
              <a:t>Afin d’obtenir l’autorisation, l’opérateur doit prouver qu’il a un besoin économique réel d’obtenir l’autorisation de la destination particulière</a:t>
            </a:r>
            <a:r>
              <a:rPr lang="fr-CH" dirty="0" smtClean="0"/>
              <a:t>.</a:t>
            </a:r>
          </a:p>
          <a:p>
            <a:r>
              <a:rPr lang="fr-CH" dirty="0" smtClean="0"/>
              <a:t> </a:t>
            </a:r>
            <a:r>
              <a:rPr lang="fr-CH" dirty="0"/>
              <a:t>Le service compétent est informé par la Division de Coopération nationale et internationale afin de savoir si le demandeur a commis ou non des infractions graves ou répétées à la législation douanière et aux dispositions fiscales ou bien des infractions pénales graves liées à l’activité économique du demandeur</a:t>
            </a:r>
            <a:r>
              <a:rPr lang="fr-CH" dirty="0" smtClean="0"/>
              <a:t>.</a:t>
            </a:r>
          </a:p>
          <a:p>
            <a:r>
              <a:rPr lang="fr-FR" dirty="0"/>
              <a:t>L’opérateur devra tenir des écritures qui permettront aux autorités douanières compétentes de vérifier le bon déroulement des opérations par rapport au régime sollicité. Ses écritures devront se tenir sous la forme d’une comptabilité matière et devront être mises à jour de manière ponctuelle. ( voir annexe 1 )</a:t>
            </a:r>
            <a:endParaRPr lang="en-US" dirty="0"/>
          </a:p>
          <a:p>
            <a:endParaRPr lang="en-US" dirty="0"/>
          </a:p>
        </p:txBody>
      </p:sp>
    </p:spTree>
    <p:extLst>
      <p:ext uri="{BB962C8B-B14F-4D97-AF65-F5344CB8AC3E}">
        <p14:creationId xmlns:p14="http://schemas.microsoft.com/office/powerpoint/2010/main" val="21122911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de la destination </a:t>
            </a:r>
            <a:r>
              <a:rPr lang="en-US" dirty="0" err="1"/>
              <a:t>particulière</a:t>
            </a:r>
            <a:endParaRPr lang="en-US" dirty="0"/>
          </a:p>
        </p:txBody>
      </p:sp>
      <p:sp>
        <p:nvSpPr>
          <p:cNvPr id="3" name="Content Placeholder 2"/>
          <p:cNvSpPr>
            <a:spLocks noGrp="1"/>
          </p:cNvSpPr>
          <p:nvPr>
            <p:ph idx="1"/>
          </p:nvPr>
        </p:nvSpPr>
        <p:spPr/>
        <p:txBody>
          <a:bodyPr>
            <a:normAutofit fontScale="92500" lnSpcReduction="10000"/>
          </a:bodyPr>
          <a:lstStyle/>
          <a:p>
            <a:pPr lvl="0"/>
            <a:r>
              <a:rPr lang="fr-FR" dirty="0"/>
              <a:t>Il sera aussi question de savoir sur le bureau de destination doit être en place ou non des moyens disproportionnés pour permettre d’ exécuter une surveillance douanière par rapport aux besoins en question. Il devra faire mention du bureau de recette qui est responsable de cette surveillance douanière et de demander à ce dernier si de telles mesures disproportionnées  ont dû être mises en place pour pouvoir exercé cette surveillance </a:t>
            </a:r>
            <a:r>
              <a:rPr lang="fr-FR" dirty="0" smtClean="0"/>
              <a:t>douanière</a:t>
            </a:r>
            <a:endParaRPr lang="en-US" dirty="0"/>
          </a:p>
          <a:p>
            <a:pPr lvl="0"/>
            <a:r>
              <a:rPr lang="fr-FR" dirty="0"/>
              <a:t>En cas de mouvement des marchandises, l’ opérateur devra préciser comment s’ effectue cette circulation et de préciser aussi de quelle manière. On entend par cela que l’ opérateur devra remettre aux autorités compétentes la localisation des marchandises visées par l’ autorisation mais aussi toutes les informations relatives aux mouvements de ces marchandises.</a:t>
            </a:r>
            <a:endParaRPr lang="en-US" dirty="0"/>
          </a:p>
          <a:p>
            <a:endParaRPr lang="en-US" dirty="0"/>
          </a:p>
        </p:txBody>
      </p:sp>
    </p:spTree>
    <p:extLst>
      <p:ext uri="{BB962C8B-B14F-4D97-AF65-F5344CB8AC3E}">
        <p14:creationId xmlns:p14="http://schemas.microsoft.com/office/powerpoint/2010/main" val="17658372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de la destination </a:t>
            </a:r>
            <a:r>
              <a:rPr lang="en-US" dirty="0" err="1"/>
              <a:t>particulière</a:t>
            </a:r>
            <a:endParaRPr lang="en-US" dirty="0"/>
          </a:p>
        </p:txBody>
      </p:sp>
      <p:sp>
        <p:nvSpPr>
          <p:cNvPr id="3" name="Content Placeholder 2"/>
          <p:cNvSpPr>
            <a:spLocks noGrp="1"/>
          </p:cNvSpPr>
          <p:nvPr>
            <p:ph idx="1"/>
          </p:nvPr>
        </p:nvSpPr>
        <p:spPr/>
        <p:txBody>
          <a:bodyPr>
            <a:normAutofit fontScale="70000" lnSpcReduction="20000"/>
          </a:bodyPr>
          <a:lstStyle/>
          <a:p>
            <a:pPr lvl="0"/>
            <a:r>
              <a:rPr lang="fr-FR" dirty="0"/>
              <a:t>Une fois l’autorisation remise à l’opérateur demandeur, ce dernier aura le droit de demander une autorisation de perfectionnement actif avec effet rétroactif. Cette rétroactivité aura pour effet de restituer les droits qui auront été perçu par ce dernier pendant la période de l’ enregistrement de la demande dans le système CDS jusqu’à l’obtention de celle-ci.  </a:t>
            </a:r>
            <a:endParaRPr lang="en-US" dirty="0"/>
          </a:p>
          <a:p>
            <a:pPr lvl="0"/>
            <a:r>
              <a:rPr lang="fr-FR" dirty="0"/>
              <a:t>Dans certains cas, l’opérateur peut demander à introduire des marchandises équivalentes à celles prévues initialement et qui auront les même qualités commerciales et techniques que les marchandises qu’elles remplacent. Il faudrait indiquer par la même occasion le code NC à huit chiffres. A noter aussi que l’ équivalence n’ est pas autorisée pour les marchandises non-Union importées si elles sont  soumises à une mesure de politique commerciale ( on entend par cela, si les marchandises sont soumises à des droits anti-dumping provisoires ou définitifs, des droits compensateurs, des droits de sauvegarde , des droits additionnels résultant d’une suspension de concessions si elles avaient été déclarées pour la mise en libre pratique)</a:t>
            </a:r>
            <a:endParaRPr lang="en-US" dirty="0"/>
          </a:p>
          <a:p>
            <a:r>
              <a:rPr lang="fr-FR" dirty="0"/>
              <a:t>L’opérateur devra remettre aux agents </a:t>
            </a:r>
            <a:r>
              <a:rPr lang="fr-FR" dirty="0" smtClean="0"/>
              <a:t>compétents </a:t>
            </a:r>
            <a:r>
              <a:rPr lang="fr-FR" dirty="0"/>
              <a:t>un code NC à 10 chiffres des marchandises qui seront placées sous le régime de la destination particulière, ainsi qu’ une désignation de la marchandise. Ce code NC devra être contrôlé par les auditeurs pour vérifier la véracité de celle-ci .Il en va de même pour la marchandise et ou les marchandises  qui  résultera voir résulteront de la transformation ( en d’ autre terme le produit fini ) du régime du perfectionnement actif. En cas de doute, il pourra toujours être effectué une soumission tarifaire envoyé à la division TAXUD.</a:t>
            </a:r>
            <a:endParaRPr lang="en-US" dirty="0"/>
          </a:p>
          <a:p>
            <a:endParaRPr lang="en-US" dirty="0"/>
          </a:p>
        </p:txBody>
      </p:sp>
    </p:spTree>
    <p:extLst>
      <p:ext uri="{BB962C8B-B14F-4D97-AF65-F5344CB8AC3E}">
        <p14:creationId xmlns:p14="http://schemas.microsoft.com/office/powerpoint/2010/main" val="32085744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de la destination </a:t>
            </a:r>
            <a:r>
              <a:rPr lang="en-US" dirty="0" err="1"/>
              <a:t>particulière</a:t>
            </a:r>
            <a:endParaRPr lang="en-US" dirty="0"/>
          </a:p>
        </p:txBody>
      </p:sp>
      <p:sp>
        <p:nvSpPr>
          <p:cNvPr id="3" name="Content Placeholder 2"/>
          <p:cNvSpPr>
            <a:spLocks noGrp="1"/>
          </p:cNvSpPr>
          <p:nvPr>
            <p:ph idx="1"/>
          </p:nvPr>
        </p:nvSpPr>
        <p:spPr/>
        <p:txBody>
          <a:bodyPr>
            <a:normAutofit fontScale="62500" lnSpcReduction="20000"/>
          </a:bodyPr>
          <a:lstStyle/>
          <a:p>
            <a:pPr marL="0" lvl="0" indent="0">
              <a:buNone/>
            </a:pPr>
            <a:r>
              <a:rPr lang="fr-FR" dirty="0"/>
              <a:t>L’opérateur devra préciser quels sont les moyens utilisés pour permettre l’identification des marchandises sous le régime de l’entrepôt douanier. Ce dernier aura le choix entre plusieurs possibilités :</a:t>
            </a:r>
            <a:endParaRPr lang="en-US" dirty="0"/>
          </a:p>
          <a:p>
            <a:pPr marL="0" indent="0">
              <a:buNone/>
            </a:pPr>
            <a:r>
              <a:rPr lang="fr-FR" dirty="0"/>
              <a:t> </a:t>
            </a:r>
            <a:endParaRPr lang="en-US" dirty="0"/>
          </a:p>
          <a:p>
            <a:pPr lvl="0"/>
            <a:r>
              <a:rPr lang="fr-FR" dirty="0"/>
              <a:t>Numéro de séries ou de fabrication</a:t>
            </a:r>
            <a:endParaRPr lang="en-US" dirty="0"/>
          </a:p>
          <a:p>
            <a:pPr lvl="0"/>
            <a:r>
              <a:rPr lang="fr-FR" dirty="0"/>
              <a:t>Apposition de plombs, scellés, poinçons ou autres marques individuelles.</a:t>
            </a:r>
            <a:endParaRPr lang="en-US" dirty="0"/>
          </a:p>
          <a:p>
            <a:pPr lvl="0"/>
            <a:r>
              <a:rPr lang="fr-FR" dirty="0"/>
              <a:t>Prise d’échantillons, illustrations ou descriptions techniques</a:t>
            </a:r>
            <a:endParaRPr lang="en-US" dirty="0"/>
          </a:p>
          <a:p>
            <a:pPr lvl="0"/>
            <a:r>
              <a:rPr lang="fr-FR" dirty="0"/>
              <a:t>Analyses</a:t>
            </a:r>
            <a:endParaRPr lang="en-US" dirty="0"/>
          </a:p>
          <a:p>
            <a:pPr lvl="0"/>
            <a:r>
              <a:rPr lang="fr-FR" dirty="0"/>
              <a:t>Fiche de renseignements pour faciliter l’exportation temporaire des marchandises envoyées d’un pays dans un autre pour transformation, ouvraison ou réparation ( seulement dans le cas du régime du perfectionnement passif)</a:t>
            </a:r>
            <a:endParaRPr lang="en-US" dirty="0"/>
          </a:p>
          <a:p>
            <a:pPr lvl="0"/>
            <a:r>
              <a:rPr lang="fr-FR" dirty="0"/>
              <a:t>Autres moyens d’identification : dans ce cas, il faudra fournir des précisions ainsi que des exemples concret.</a:t>
            </a:r>
            <a:endParaRPr lang="en-US" dirty="0"/>
          </a:p>
          <a:p>
            <a:pPr lvl="0"/>
            <a:r>
              <a:rPr lang="fr-FR" dirty="0"/>
              <a:t>Absence de mesures d’identification en vertu de l’article 250 paragraphe 2 alinéa b du code qui prévoit que l’absence des mesures d’identification ne risquent pas de conduire à des abus du régime ou lorsqu’il est possible de vérifier que les conditions prévues pour les marchandises équivalentes soient remplies.</a:t>
            </a:r>
            <a:endParaRPr lang="en-US" dirty="0"/>
          </a:p>
          <a:p>
            <a:endParaRPr lang="en-US" dirty="0"/>
          </a:p>
        </p:txBody>
      </p:sp>
    </p:spTree>
    <p:extLst>
      <p:ext uri="{BB962C8B-B14F-4D97-AF65-F5344CB8AC3E}">
        <p14:creationId xmlns:p14="http://schemas.microsoft.com/office/powerpoint/2010/main" val="347500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de la destination </a:t>
            </a:r>
            <a:r>
              <a:rPr lang="en-US" dirty="0" err="1"/>
              <a:t>particulière</a:t>
            </a:r>
            <a:endParaRPr lang="en-US" dirty="0"/>
          </a:p>
        </p:txBody>
      </p:sp>
      <p:sp>
        <p:nvSpPr>
          <p:cNvPr id="3" name="Content Placeholder 2"/>
          <p:cNvSpPr>
            <a:spLocks noGrp="1"/>
          </p:cNvSpPr>
          <p:nvPr>
            <p:ph idx="1"/>
          </p:nvPr>
        </p:nvSpPr>
        <p:spPr/>
        <p:txBody>
          <a:bodyPr>
            <a:normAutofit fontScale="85000" lnSpcReduction="20000"/>
          </a:bodyPr>
          <a:lstStyle/>
          <a:p>
            <a:pPr lvl="0"/>
            <a:r>
              <a:rPr lang="fr-FR" dirty="0"/>
              <a:t>Le taux de rendement de la transformation devra aussi être approuvé par les auditeurs. On entend par rendement, la partie de la marchandise qui résulte de la transformation mais aussi celle qui peut être réinjectée dans la production. La perte sèche ( celle qui ne peut plus être réutilisée ) ne peut pas rentrer en compte pour le rendement. Elle doit être soustraite à ce taux de rendement et ensuite dédouanée lors de la mise en libre pratique.</a:t>
            </a:r>
            <a:endParaRPr lang="en-US" dirty="0"/>
          </a:p>
          <a:p>
            <a:pPr marL="0" indent="0">
              <a:buNone/>
            </a:pPr>
            <a:r>
              <a:rPr lang="fr-FR" dirty="0"/>
              <a:t> </a:t>
            </a:r>
            <a:endParaRPr lang="en-US" dirty="0"/>
          </a:p>
          <a:p>
            <a:r>
              <a:rPr lang="fr-FR" dirty="0"/>
              <a:t>Le demandeur devra aussi fixé son délais d’apurement. En règle générales un délais maximale de 6 mois est préconiser pour réaliser l’apurement des marchandises sous le régime du perfectionnement actif. Cependant ce délais peut être réduit ( très rarement) voir prolongé. En cas de prolongation, une demande écrite doit être faire par l’opérateur en étayant sa justification. Dans tous les cas, le délais d’apurement ne peut dépasser le délais de 12 mois. ( voir annexe 2 )</a:t>
            </a:r>
            <a:endParaRPr lang="en-US" dirty="0"/>
          </a:p>
        </p:txBody>
      </p:sp>
    </p:spTree>
    <p:extLst>
      <p:ext uri="{BB962C8B-B14F-4D97-AF65-F5344CB8AC3E}">
        <p14:creationId xmlns:p14="http://schemas.microsoft.com/office/powerpoint/2010/main" val="24099704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de la destination </a:t>
            </a:r>
            <a:r>
              <a:rPr lang="en-US" dirty="0" err="1"/>
              <a:t>particulière</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fr-FR" dirty="0"/>
              <a:t>L’ opérateur devra préciser si le transfert de droits et d’obligations est prévu, si oui dans ce cas il devra être préciser quels droits et quelles obligations sont transférés :</a:t>
            </a:r>
            <a:endParaRPr lang="en-US" dirty="0"/>
          </a:p>
          <a:p>
            <a:pPr lvl="0"/>
            <a:r>
              <a:rPr lang="fr-FR" dirty="0"/>
              <a:t>Au niveau des Droits : </a:t>
            </a:r>
            <a:endParaRPr lang="en-US" dirty="0"/>
          </a:p>
          <a:p>
            <a:pPr marL="514350" lvl="0" indent="-514350">
              <a:buFont typeface="+mj-lt"/>
              <a:buAutoNum type="arabicPeriod"/>
            </a:pPr>
            <a:r>
              <a:rPr lang="fr-FR" dirty="0"/>
              <a:t>Le droit d’utiliser les marchandises</a:t>
            </a:r>
            <a:endParaRPr lang="en-US" dirty="0"/>
          </a:p>
          <a:p>
            <a:pPr marL="514350" lvl="0" indent="-514350">
              <a:buFont typeface="+mj-lt"/>
              <a:buAutoNum type="arabicPeriod"/>
            </a:pPr>
            <a:r>
              <a:rPr lang="fr-FR" dirty="0"/>
              <a:t>Le droit de déplacer les marchandises</a:t>
            </a:r>
            <a:endParaRPr lang="en-US" dirty="0"/>
          </a:p>
          <a:p>
            <a:pPr marL="514350" lvl="0" indent="-514350">
              <a:buFont typeface="+mj-lt"/>
              <a:buAutoNum type="arabicPeriod"/>
            </a:pPr>
            <a:r>
              <a:rPr lang="fr-FR" dirty="0"/>
              <a:t>Le droit d’exporter avec l’autorisation des autorités douanières et de bénéficier ainsi de l’extinction de la dette douanière[art 124(1) du CDU]</a:t>
            </a:r>
            <a:endParaRPr lang="en-US" dirty="0"/>
          </a:p>
          <a:p>
            <a:pPr marL="0" indent="0">
              <a:buNone/>
            </a:pPr>
            <a:r>
              <a:rPr lang="fr-FR" dirty="0"/>
              <a:t> </a:t>
            </a:r>
            <a:endParaRPr lang="en-US" dirty="0"/>
          </a:p>
          <a:p>
            <a:pPr lvl="0"/>
            <a:r>
              <a:rPr lang="fr-FR" dirty="0"/>
              <a:t>Au niveau des obligations :</a:t>
            </a:r>
            <a:endParaRPr lang="en-US" dirty="0"/>
          </a:p>
          <a:p>
            <a:pPr marL="514350" lvl="0" indent="-514350">
              <a:buFont typeface="+mj-lt"/>
              <a:buAutoNum type="arabicPeriod"/>
            </a:pPr>
            <a:r>
              <a:rPr lang="fr-FR" dirty="0"/>
              <a:t>L’obligation d’assigner les marchandises à leur destination prescrite endéans le délai d’apurement</a:t>
            </a:r>
            <a:endParaRPr lang="en-US" dirty="0"/>
          </a:p>
          <a:p>
            <a:pPr marL="514350" lvl="0" indent="-514350">
              <a:buFont typeface="+mj-lt"/>
              <a:buAutoNum type="arabicPeriod"/>
            </a:pPr>
            <a:r>
              <a:rPr lang="en-US" dirty="0" err="1"/>
              <a:t>L’obligation</a:t>
            </a:r>
            <a:r>
              <a:rPr lang="en-US" dirty="0"/>
              <a:t> de </a:t>
            </a:r>
            <a:r>
              <a:rPr lang="en-US" dirty="0" err="1"/>
              <a:t>tenir</a:t>
            </a:r>
            <a:r>
              <a:rPr lang="en-US" dirty="0"/>
              <a:t> des </a:t>
            </a:r>
            <a:r>
              <a:rPr lang="en-US" dirty="0" err="1"/>
              <a:t>écritures</a:t>
            </a:r>
            <a:endParaRPr lang="en-US" dirty="0"/>
          </a:p>
          <a:p>
            <a:pPr marL="514350" lvl="0" indent="-514350">
              <a:buFont typeface="+mj-lt"/>
              <a:buAutoNum type="arabicPeriod"/>
            </a:pPr>
            <a:r>
              <a:rPr lang="fr-FR" dirty="0"/>
              <a:t>L’obligation de garder les marchandises disponibles pour la surveillance douanière</a:t>
            </a:r>
            <a:endParaRPr lang="en-US" dirty="0"/>
          </a:p>
          <a:p>
            <a:pPr marL="514350" lvl="0" indent="-514350">
              <a:buFont typeface="+mj-lt"/>
              <a:buAutoNum type="arabicPeriod"/>
            </a:pPr>
            <a:r>
              <a:rPr lang="fr-FR" dirty="0"/>
              <a:t>L’obligation de payer les droits à l’importation encas de dette douanières née en raison d’une inobservation[art 79 du CDU]</a:t>
            </a:r>
            <a:endParaRPr lang="en-US" dirty="0"/>
          </a:p>
          <a:p>
            <a:endParaRPr lang="en-US" dirty="0"/>
          </a:p>
        </p:txBody>
      </p:sp>
    </p:spTree>
    <p:extLst>
      <p:ext uri="{BB962C8B-B14F-4D97-AF65-F5344CB8AC3E}">
        <p14:creationId xmlns:p14="http://schemas.microsoft.com/office/powerpoint/2010/main" val="4528659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de la destination </a:t>
            </a:r>
            <a:r>
              <a:rPr lang="en-US" dirty="0" err="1"/>
              <a:t>particulière</a:t>
            </a:r>
            <a:endParaRPr lang="en-US" dirty="0"/>
          </a:p>
        </p:txBody>
      </p:sp>
      <p:sp>
        <p:nvSpPr>
          <p:cNvPr id="3" name="Content Placeholder 2"/>
          <p:cNvSpPr>
            <a:spLocks noGrp="1"/>
          </p:cNvSpPr>
          <p:nvPr>
            <p:ph idx="1"/>
          </p:nvPr>
        </p:nvSpPr>
        <p:spPr/>
        <p:txBody>
          <a:bodyPr>
            <a:normAutofit fontScale="92500" lnSpcReduction="10000"/>
          </a:bodyPr>
          <a:lstStyle/>
          <a:p>
            <a:pPr lvl="0"/>
            <a:r>
              <a:rPr lang="fr-FR" dirty="0"/>
              <a:t>L’ opérateur devra aussi spécifier s’ il existe des contrôles prévus pour contrôler si les marchandises importées recevront  la destination douanière prescrite par le tarif douanier entre :</a:t>
            </a:r>
            <a:endParaRPr lang="en-US" dirty="0"/>
          </a:p>
          <a:p>
            <a:pPr marL="514350" lvl="0" indent="-514350">
              <a:buFont typeface="+mj-lt"/>
              <a:buAutoNum type="arabicPeriod"/>
            </a:pPr>
            <a:r>
              <a:rPr lang="fr-FR" dirty="0"/>
              <a:t>Entre le demandeur et les transformateurs européens  </a:t>
            </a:r>
            <a:endParaRPr lang="en-US" dirty="0"/>
          </a:p>
          <a:p>
            <a:pPr marL="514350" lvl="0" indent="-514350">
              <a:buFont typeface="+mj-lt"/>
              <a:buAutoNum type="arabicPeriod"/>
            </a:pPr>
            <a:r>
              <a:rPr lang="fr-FR" dirty="0"/>
              <a:t>Entre le bureau de placement et le demandeur </a:t>
            </a:r>
            <a:endParaRPr lang="en-US" dirty="0"/>
          </a:p>
          <a:p>
            <a:pPr marL="514350" lvl="0" indent="-514350">
              <a:buFont typeface="+mj-lt"/>
              <a:buAutoNum type="arabicPeriod"/>
            </a:pPr>
            <a:r>
              <a:rPr lang="fr-FR" dirty="0"/>
              <a:t>Entre le bureau de placement et les autorités douanières des autres Etats Membres </a:t>
            </a:r>
            <a:r>
              <a:rPr lang="fr-FR" dirty="0" smtClean="0"/>
              <a:t>concernés</a:t>
            </a:r>
          </a:p>
          <a:p>
            <a:r>
              <a:rPr lang="fr-FR" dirty="0"/>
              <a:t>Pour couvrir les dettes qui risquent de naître, une garantie globale doit être mise en place par l’opérateur économique demandeur. Cette garantie est fixée par le bureau de recette dont l’ opérateur est dépendant. Cette garantie sera variable selon le flux et la nature de la marchandise</a:t>
            </a:r>
            <a:endParaRPr lang="en-US" dirty="0"/>
          </a:p>
          <a:p>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9233613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smtClean="0"/>
              <a:t>4. La transformation</a:t>
            </a:r>
            <a:endParaRPr lang="en-US" dirty="0"/>
          </a:p>
        </p:txBody>
      </p:sp>
      <p:sp>
        <p:nvSpPr>
          <p:cNvPr id="3" name="Content Placeholder 2"/>
          <p:cNvSpPr>
            <a:spLocks noGrp="1"/>
          </p:cNvSpPr>
          <p:nvPr>
            <p:ph idx="1"/>
          </p:nvPr>
        </p:nvSpPr>
        <p:spPr/>
        <p:txBody>
          <a:bodyPr/>
          <a:lstStyle/>
          <a:p>
            <a:pPr marL="0" indent="0">
              <a:buNone/>
            </a:pPr>
            <a:r>
              <a:rPr lang="en-US" dirty="0" smtClean="0"/>
              <a:t>Ce régime </a:t>
            </a:r>
            <a:r>
              <a:rPr lang="en-US" dirty="0" err="1" smtClean="0"/>
              <a:t>comprend</a:t>
            </a:r>
            <a:r>
              <a:rPr lang="en-US" dirty="0" smtClean="0"/>
              <a:t> à la </a:t>
            </a:r>
            <a:r>
              <a:rPr lang="en-US" dirty="0" err="1" smtClean="0"/>
              <a:t>fois</a:t>
            </a:r>
            <a:r>
              <a:rPr lang="en-US" dirty="0" smtClean="0"/>
              <a:t> </a:t>
            </a:r>
          </a:p>
          <a:p>
            <a:r>
              <a:rPr lang="en-US" dirty="0" smtClean="0"/>
              <a:t>Le </a:t>
            </a:r>
            <a:r>
              <a:rPr lang="en-US" dirty="0" err="1" smtClean="0"/>
              <a:t>perfectionnement</a:t>
            </a:r>
            <a:r>
              <a:rPr lang="en-US" dirty="0" smtClean="0"/>
              <a:t> </a:t>
            </a:r>
            <a:r>
              <a:rPr lang="en-US" dirty="0" err="1" smtClean="0"/>
              <a:t>actif</a:t>
            </a:r>
            <a:endParaRPr lang="en-US" dirty="0" smtClean="0"/>
          </a:p>
          <a:p>
            <a:r>
              <a:rPr lang="en-US" dirty="0" smtClean="0"/>
              <a:t>Le </a:t>
            </a:r>
            <a:r>
              <a:rPr lang="en-US" dirty="0" err="1" smtClean="0"/>
              <a:t>perfectionnement</a:t>
            </a:r>
            <a:r>
              <a:rPr lang="en-US" dirty="0" smtClean="0"/>
              <a:t> </a:t>
            </a:r>
            <a:r>
              <a:rPr lang="en-US" dirty="0" err="1" smtClean="0"/>
              <a:t>passif</a:t>
            </a:r>
            <a:endParaRPr lang="en-US" dirty="0"/>
          </a:p>
        </p:txBody>
      </p:sp>
    </p:spTree>
    <p:extLst>
      <p:ext uri="{BB962C8B-B14F-4D97-AF65-F5344CB8AC3E}">
        <p14:creationId xmlns:p14="http://schemas.microsoft.com/office/powerpoint/2010/main" val="12210622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 </a:t>
            </a:r>
            <a:r>
              <a:rPr lang="en-US" dirty="0" err="1" smtClean="0"/>
              <a:t>perfectionnement</a:t>
            </a:r>
            <a:r>
              <a:rPr lang="en-US" dirty="0" smtClean="0"/>
              <a:t> </a:t>
            </a:r>
            <a:r>
              <a:rPr lang="en-US" dirty="0" err="1" smtClean="0"/>
              <a:t>actif</a:t>
            </a:r>
            <a:endParaRPr lang="en-US" dirty="0"/>
          </a:p>
        </p:txBody>
      </p:sp>
      <p:sp>
        <p:nvSpPr>
          <p:cNvPr id="3" name="Content Placeholder 2"/>
          <p:cNvSpPr>
            <a:spLocks noGrp="1"/>
          </p:cNvSpPr>
          <p:nvPr>
            <p:ph idx="1"/>
          </p:nvPr>
        </p:nvSpPr>
        <p:spPr/>
        <p:txBody>
          <a:bodyPr/>
          <a:lstStyle/>
          <a:p>
            <a:pPr marL="0" indent="0">
              <a:buNone/>
            </a:pPr>
            <a:r>
              <a:rPr lang="fr-CH" dirty="0"/>
              <a:t>Comme son nom l’indique, il s’agit d’évaluer si l’opérateur remplit bien les conditions préalables pour pouvoir prétendre à l’autorisation demandée. Chaque autorisation, respectivement régime, a ses propres examens de condition.</a:t>
            </a:r>
          </a:p>
          <a:p>
            <a:pPr marL="0" indent="0">
              <a:buNone/>
            </a:pPr>
            <a:r>
              <a:rPr lang="fr-CH" dirty="0"/>
              <a:t>Les conditions pour l’octroi d’un telle autorisation sont les suivantes :</a:t>
            </a:r>
          </a:p>
          <a:p>
            <a:endParaRPr lang="en-US" dirty="0"/>
          </a:p>
        </p:txBody>
      </p:sp>
    </p:spTree>
    <p:extLst>
      <p:ext uri="{BB962C8B-B14F-4D97-AF65-F5344CB8AC3E}">
        <p14:creationId xmlns:p14="http://schemas.microsoft.com/office/powerpoint/2010/main" val="21971012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a:t>
            </a:r>
            <a:r>
              <a:rPr lang="en-US" dirty="0" smtClean="0"/>
              <a:t>du </a:t>
            </a:r>
            <a:r>
              <a:rPr lang="en-US" dirty="0" err="1" smtClean="0"/>
              <a:t>perfectionnement</a:t>
            </a:r>
            <a:r>
              <a:rPr lang="en-US" dirty="0" smtClean="0"/>
              <a:t> </a:t>
            </a:r>
            <a:r>
              <a:rPr lang="en-US" dirty="0" err="1" smtClean="0"/>
              <a:t>actif</a:t>
            </a:r>
            <a:endParaRPr lang="en-US" dirty="0"/>
          </a:p>
        </p:txBody>
      </p:sp>
      <p:sp>
        <p:nvSpPr>
          <p:cNvPr id="3" name="Content Placeholder 2"/>
          <p:cNvSpPr>
            <a:spLocks noGrp="1"/>
          </p:cNvSpPr>
          <p:nvPr>
            <p:ph idx="1"/>
          </p:nvPr>
        </p:nvSpPr>
        <p:spPr/>
        <p:txBody>
          <a:bodyPr>
            <a:normAutofit fontScale="92500" lnSpcReduction="10000"/>
          </a:bodyPr>
          <a:lstStyle/>
          <a:p>
            <a:r>
              <a:rPr lang="fr-CH" dirty="0"/>
              <a:t>Afin d’être éligible au perfectionnement actif, l’opérateur doit prouver qu’il a un besoin économique réel d’obtenir l’autorisation du perfectionnement </a:t>
            </a:r>
            <a:r>
              <a:rPr lang="fr-CH" dirty="0" smtClean="0"/>
              <a:t>actif</a:t>
            </a:r>
          </a:p>
          <a:p>
            <a:r>
              <a:rPr lang="fr-CH" dirty="0" smtClean="0"/>
              <a:t>Il </a:t>
            </a:r>
            <a:r>
              <a:rPr lang="fr-CH" dirty="0"/>
              <a:t>est contacté par la DCNI pour savoir si le demandeur a commis ou non des infractions graves ou répétées à la législation douanière et aux dispositions fiscales ou encore des infractions pénales graves liées à l’activité économique du demandeur</a:t>
            </a:r>
            <a:r>
              <a:rPr lang="fr-CH" dirty="0" smtClean="0"/>
              <a:t>.</a:t>
            </a:r>
          </a:p>
          <a:p>
            <a:r>
              <a:rPr lang="fr-CH" dirty="0"/>
              <a:t>L’opérateur doit tenir des écritures qui permettront aux autorités douanières compétentes de vérifier le bon déroulement des opérations par rapport au régime sollicité. Ses écritures devront se tenir sous la forme d’une comptabilité-matières et devront être mises à jour de manière ponctuelle. (Voir annexe 1)</a:t>
            </a:r>
            <a:endParaRPr lang="en-US" dirty="0"/>
          </a:p>
        </p:txBody>
      </p:sp>
    </p:spTree>
    <p:extLst>
      <p:ext uri="{BB962C8B-B14F-4D97-AF65-F5344CB8AC3E}">
        <p14:creationId xmlns:p14="http://schemas.microsoft.com/office/powerpoint/2010/main" val="355435810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Les </a:t>
            </a:r>
            <a:r>
              <a:rPr lang="en-US" dirty="0"/>
              <a:t>conditions </a:t>
            </a:r>
            <a:r>
              <a:rPr lang="en-US" dirty="0" err="1"/>
              <a:t>préalables</a:t>
            </a:r>
            <a:r>
              <a:rPr lang="en-US" dirty="0"/>
              <a:t> pour le régime </a:t>
            </a:r>
            <a:r>
              <a:rPr lang="en-US" dirty="0" smtClean="0"/>
              <a:t>du </a:t>
            </a:r>
            <a:r>
              <a:rPr lang="en-US" dirty="0" err="1" smtClean="0"/>
              <a:t>perfectionnement</a:t>
            </a:r>
            <a:r>
              <a:rPr lang="en-US" dirty="0" smtClean="0"/>
              <a:t> </a:t>
            </a:r>
            <a:r>
              <a:rPr lang="en-US" dirty="0" err="1" smtClean="0"/>
              <a:t>actif</a:t>
            </a:r>
            <a:r>
              <a:rPr lang="en-US" dirty="0" smtClean="0"/>
              <a:t> </a:t>
            </a:r>
            <a:endParaRPr lang="en-US" dirty="0"/>
          </a:p>
        </p:txBody>
      </p:sp>
      <p:sp>
        <p:nvSpPr>
          <p:cNvPr id="3" name="Content Placeholder 2"/>
          <p:cNvSpPr>
            <a:spLocks noGrp="1"/>
          </p:cNvSpPr>
          <p:nvPr>
            <p:ph idx="1"/>
          </p:nvPr>
        </p:nvSpPr>
        <p:spPr/>
        <p:txBody>
          <a:bodyPr>
            <a:normAutofit lnSpcReduction="10000"/>
          </a:bodyPr>
          <a:lstStyle/>
          <a:p>
            <a:r>
              <a:rPr lang="fr-CH" dirty="0"/>
              <a:t>Une fois l’autorisation remise à l’opérateur demandeur, ce dernier a le droit de demander une autorisation de perfectionnement actif avec effet rétroactif. Cette rétroactivité a pour effet de </a:t>
            </a:r>
            <a:r>
              <a:rPr lang="fr-CH" dirty="0" smtClean="0"/>
              <a:t>restituer </a:t>
            </a:r>
            <a:r>
              <a:rPr lang="fr-CH" dirty="0"/>
              <a:t>les droits qui ont été perçus par ce dernier pendant la période de l’enregistrement de la demande dans le système CDS jusqu’à l’obtention de celle-ci</a:t>
            </a:r>
            <a:r>
              <a:rPr lang="fr-CH" dirty="0" smtClean="0"/>
              <a:t>.</a:t>
            </a:r>
          </a:p>
          <a:p>
            <a:r>
              <a:rPr lang="fr-CH" dirty="0"/>
              <a:t>Les marchandises qui sont obtenues à partir de la transformation du perfectionnement actif, il est opportun d’effectuer des limitations physiques pour éviter tout malentendu concernant la réexportation de ces marchandises et de pouvoir reconnaître ces marchandises. Si de telles modification sont réalisées, il faut en préciser les modalités qui sont prévues aux autorités douanières compétentes.</a:t>
            </a:r>
            <a:endParaRPr lang="en-US" dirty="0"/>
          </a:p>
        </p:txBody>
      </p:sp>
    </p:spTree>
    <p:extLst>
      <p:ext uri="{BB962C8B-B14F-4D97-AF65-F5344CB8AC3E}">
        <p14:creationId xmlns:p14="http://schemas.microsoft.com/office/powerpoint/2010/main" val="19251709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:Les </a:t>
            </a:r>
            <a:r>
              <a:rPr lang="en-US" dirty="0"/>
              <a:t>conditions </a:t>
            </a:r>
            <a:r>
              <a:rPr lang="en-US" dirty="0" err="1"/>
              <a:t>préalables</a:t>
            </a:r>
            <a:r>
              <a:rPr lang="en-US" dirty="0"/>
              <a:t> pour le régime </a:t>
            </a:r>
            <a:r>
              <a:rPr lang="en-US" dirty="0" smtClean="0"/>
              <a:t>du </a:t>
            </a:r>
            <a:r>
              <a:rPr lang="en-US" dirty="0" err="1" smtClean="0"/>
              <a:t>perfectionnement</a:t>
            </a:r>
            <a:r>
              <a:rPr lang="en-US" dirty="0" smtClean="0"/>
              <a:t> </a:t>
            </a:r>
            <a:r>
              <a:rPr lang="en-US" dirty="0" err="1" smtClean="0"/>
              <a:t>actif</a:t>
            </a:r>
            <a:endParaRPr lang="en-US" dirty="0"/>
          </a:p>
        </p:txBody>
      </p:sp>
      <p:sp>
        <p:nvSpPr>
          <p:cNvPr id="3" name="Content Placeholder 2"/>
          <p:cNvSpPr>
            <a:spLocks noGrp="1"/>
          </p:cNvSpPr>
          <p:nvPr>
            <p:ph idx="1"/>
          </p:nvPr>
        </p:nvSpPr>
        <p:spPr/>
        <p:txBody>
          <a:bodyPr>
            <a:normAutofit fontScale="85000" lnSpcReduction="20000"/>
          </a:bodyPr>
          <a:lstStyle/>
          <a:p>
            <a:r>
              <a:rPr lang="fr-CH" dirty="0"/>
              <a:t>Dans certains cas, l’opérateur peut demander à introduire des marchandises équivalentes à celles prévues initialement et qui auront les mêmes qualités commerciales et techniques que les marchandises qu’elles remplacent. Il faudrait indiquer par la même occasion le code NC à huit chiffres.</a:t>
            </a:r>
          </a:p>
          <a:p>
            <a:pPr marL="0" indent="0">
              <a:buNone/>
            </a:pPr>
            <a:r>
              <a:rPr lang="fr-CH" dirty="0"/>
              <a:t>A noter aussi que l’équivalence n’est pas autorisée pour les marchandises non-Union importées si elles sont soumises à une mesure de politique commerciale</a:t>
            </a:r>
            <a:r>
              <a:rPr lang="fr-CH" dirty="0" smtClean="0"/>
              <a:t>.</a:t>
            </a:r>
          </a:p>
          <a:p>
            <a:r>
              <a:rPr lang="fr-CH" dirty="0"/>
              <a:t>L’opérateur devra remettre aux agents du service compétents un code NC à 10 chiffres des marchandises qui seront placées sous le régime du perfectionnement actif, ainsi qu’une désignation de la marchandise. Ce code NC doit être contrôlé par les auditeurs pour vérifier la véracité de celle-ci. Il en va de même pour la/les marchandise(s) qui résultera/ont de la transformation (en d’autres termes le produit fini) du régime du perfectionnement actif. En cas de doute, une soumission tarifaire pourra toujours être effectuée, qui sera envoyée à la division Taxation &amp; Union Douanière (TAXUD).</a:t>
            </a:r>
          </a:p>
          <a:p>
            <a:endParaRPr lang="en-US" dirty="0"/>
          </a:p>
        </p:txBody>
      </p:sp>
    </p:spTree>
    <p:extLst>
      <p:ext uri="{BB962C8B-B14F-4D97-AF65-F5344CB8AC3E}">
        <p14:creationId xmlns:p14="http://schemas.microsoft.com/office/powerpoint/2010/main" val="42614172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:Les </a:t>
            </a:r>
            <a:r>
              <a:rPr lang="en-US" dirty="0"/>
              <a:t>conditions </a:t>
            </a:r>
            <a:r>
              <a:rPr lang="en-US" dirty="0" err="1"/>
              <a:t>préalables</a:t>
            </a:r>
            <a:r>
              <a:rPr lang="en-US" dirty="0"/>
              <a:t> pour le régime </a:t>
            </a:r>
            <a:r>
              <a:rPr lang="en-US" dirty="0" smtClean="0"/>
              <a:t>du </a:t>
            </a:r>
            <a:r>
              <a:rPr lang="en-US" dirty="0" err="1" smtClean="0"/>
              <a:t>perfectionnement</a:t>
            </a:r>
            <a:r>
              <a:rPr lang="en-US" dirty="0" smtClean="0"/>
              <a:t> </a:t>
            </a:r>
            <a:r>
              <a:rPr lang="en-US" dirty="0" err="1" smtClean="0"/>
              <a:t>actif</a:t>
            </a:r>
            <a:endParaRPr lang="en-US" dirty="0"/>
          </a:p>
        </p:txBody>
      </p:sp>
      <p:sp>
        <p:nvSpPr>
          <p:cNvPr id="3" name="Content Placeholder 2"/>
          <p:cNvSpPr>
            <a:spLocks noGrp="1"/>
          </p:cNvSpPr>
          <p:nvPr>
            <p:ph idx="1"/>
          </p:nvPr>
        </p:nvSpPr>
        <p:spPr/>
        <p:txBody>
          <a:bodyPr>
            <a:normAutofit fontScale="92500" lnSpcReduction="10000"/>
          </a:bodyPr>
          <a:lstStyle/>
          <a:p>
            <a:r>
              <a:rPr lang="fr-CH" dirty="0"/>
              <a:t>Il faut aussi que le demandeur puisse démontrer les mesures qui ont été mises en place pour prouver que le produit transformé résulte bien de la transformation des marchandises placées sous le régime du perfectionnement actif. L’opérateur doit mettre en exergue les mesures qui sont prises pour pouvoir identifier la marchandise résultant de la transformation. Le moyen le plus souvent utilisé à l’heure actuelle est le code barre</a:t>
            </a:r>
            <a:r>
              <a:rPr lang="fr-CH" dirty="0" smtClean="0"/>
              <a:t>.</a:t>
            </a:r>
          </a:p>
          <a:p>
            <a:r>
              <a:rPr lang="fr-CH" dirty="0"/>
              <a:t>Le taux de rendement de la transformation devra aussi être approuvé par les auditeurs. On entend par rendement, la partie de la marchandise qui résulte de la transformation mais aussi celle qui peut être réinjectée dans la production. La perte sèche (celle qui ne peut plus être réutilisée) ne peut pas rentrer en compte pour le rendement. Elle doit être soustraite à ce taux de rendement et ensuite dédouanée lors de la mise en libre pratique.</a:t>
            </a:r>
            <a:endParaRPr lang="en-US" dirty="0"/>
          </a:p>
        </p:txBody>
      </p:sp>
    </p:spTree>
    <p:extLst>
      <p:ext uri="{BB962C8B-B14F-4D97-AF65-F5344CB8AC3E}">
        <p14:creationId xmlns:p14="http://schemas.microsoft.com/office/powerpoint/2010/main" val="20716764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Les </a:t>
            </a:r>
            <a:r>
              <a:rPr lang="en-US" dirty="0"/>
              <a:t>conditions </a:t>
            </a:r>
            <a:r>
              <a:rPr lang="en-US" dirty="0" err="1"/>
              <a:t>préalables</a:t>
            </a:r>
            <a:r>
              <a:rPr lang="en-US" dirty="0"/>
              <a:t> pour le régime </a:t>
            </a:r>
            <a:r>
              <a:rPr lang="en-US" dirty="0" smtClean="0"/>
              <a:t>du </a:t>
            </a:r>
            <a:r>
              <a:rPr lang="en-US" dirty="0" err="1" smtClean="0"/>
              <a:t>perfectionnement</a:t>
            </a:r>
            <a:r>
              <a:rPr lang="en-US" dirty="0" smtClean="0"/>
              <a:t> </a:t>
            </a:r>
            <a:r>
              <a:rPr lang="en-US" dirty="0" err="1" smtClean="0"/>
              <a:t>actif</a:t>
            </a:r>
            <a:endParaRPr lang="en-US" dirty="0"/>
          </a:p>
        </p:txBody>
      </p:sp>
      <p:sp>
        <p:nvSpPr>
          <p:cNvPr id="3" name="Content Placeholder 2"/>
          <p:cNvSpPr>
            <a:spLocks noGrp="1"/>
          </p:cNvSpPr>
          <p:nvPr>
            <p:ph idx="1"/>
          </p:nvPr>
        </p:nvSpPr>
        <p:spPr/>
        <p:txBody>
          <a:bodyPr>
            <a:normAutofit fontScale="85000" lnSpcReduction="10000"/>
          </a:bodyPr>
          <a:lstStyle/>
          <a:p>
            <a:r>
              <a:rPr lang="fr-CH" dirty="0"/>
              <a:t>Le demandeur devra aussi fixer son délai d’apurement. En règle générale, un délai maximal de 6 mois est préconisé pour réaliser l’apurement des marchandises sous le régime du perfectionnement actif. Cependant, ces délais peuvent être réduits (très rarement) voir prolongés. En cas de prolongation, une demande écrite doit être faite par l’opérateur en étayant sa justification. Dans tous les cas, le délai d’apurement ne peut dépasser le délai de 12 mois. A noter aussi que le délai d’apurement sert à couvrir uniquement les opérations de transformation et non pas le stockage de la marchandise</a:t>
            </a:r>
            <a:r>
              <a:rPr lang="fr-CH" dirty="0" smtClean="0"/>
              <a:t>.</a:t>
            </a:r>
          </a:p>
          <a:p>
            <a:r>
              <a:rPr lang="fr-CH" dirty="0"/>
              <a:t>Concernant le délai du décompte d’apurement, il peut être effectué aussi bien de manière trimestrielle que de manière semestrielle, et très rarement de manière annuelle. Cela consiste à envoyer un tableau recensant l’apurement des marchandises visées dans l’autorisation aux autorités douanières compétentes pour approbation. Ce tableau est envoyé selon la fréquence prévue précédemment. (Voir annexe 2)</a:t>
            </a:r>
            <a:endParaRPr lang="en-US" dirty="0"/>
          </a:p>
        </p:txBody>
      </p:sp>
    </p:spTree>
    <p:extLst>
      <p:ext uri="{BB962C8B-B14F-4D97-AF65-F5344CB8AC3E}">
        <p14:creationId xmlns:p14="http://schemas.microsoft.com/office/powerpoint/2010/main" val="25866092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Les </a:t>
            </a:r>
            <a:r>
              <a:rPr lang="en-US" dirty="0"/>
              <a:t>conditions </a:t>
            </a:r>
            <a:r>
              <a:rPr lang="en-US" dirty="0" err="1"/>
              <a:t>préalables</a:t>
            </a:r>
            <a:r>
              <a:rPr lang="en-US" dirty="0"/>
              <a:t> pour le régime </a:t>
            </a:r>
            <a:r>
              <a:rPr lang="en-US" dirty="0" smtClean="0"/>
              <a:t>du </a:t>
            </a:r>
            <a:r>
              <a:rPr lang="en-US" dirty="0" err="1" smtClean="0"/>
              <a:t>perfectionnement</a:t>
            </a:r>
            <a:r>
              <a:rPr lang="en-US" dirty="0" smtClean="0"/>
              <a:t> </a:t>
            </a:r>
            <a:r>
              <a:rPr lang="en-US" dirty="0" err="1" smtClean="0"/>
              <a:t>actif</a:t>
            </a:r>
            <a:endParaRPr lang="en-US" dirty="0"/>
          </a:p>
        </p:txBody>
      </p:sp>
      <p:sp>
        <p:nvSpPr>
          <p:cNvPr id="3" name="Content Placeholder 2"/>
          <p:cNvSpPr>
            <a:spLocks noGrp="1"/>
          </p:cNvSpPr>
          <p:nvPr>
            <p:ph idx="1"/>
          </p:nvPr>
        </p:nvSpPr>
        <p:spPr/>
        <p:txBody>
          <a:bodyPr/>
          <a:lstStyle/>
          <a:p>
            <a:r>
              <a:rPr lang="fr-CH" dirty="0"/>
              <a:t>Il doit aussi être précisé si le bureau de recette dont l’opérateur est dépendant doit déployer des mesures spéciales ou non pour permettre le contrôle de ce régime.</a:t>
            </a:r>
          </a:p>
          <a:p>
            <a:r>
              <a:rPr lang="fr-CH" dirty="0"/>
              <a:t>Si le demandeur sollicite la mise en libre pratique des marchandises transformées, il lui sera loisible de choisir entre deux méthodes de </a:t>
            </a:r>
            <a:r>
              <a:rPr lang="fr-CH" dirty="0" smtClean="0"/>
              <a:t>calcul</a:t>
            </a:r>
          </a:p>
          <a:p>
            <a:pPr marL="514350" indent="-514350">
              <a:buFont typeface="+mj-lt"/>
              <a:buAutoNum type="arabicPeriod"/>
            </a:pPr>
            <a:r>
              <a:rPr lang="fr-CH" dirty="0"/>
              <a:t>soit celle qui se rapporte aux produits transformés mis en libre pratique (art 85 alinéa 1 du CDU) </a:t>
            </a:r>
            <a:r>
              <a:rPr lang="fr-CH" dirty="0" smtClean="0"/>
              <a:t>;</a:t>
            </a:r>
          </a:p>
          <a:p>
            <a:pPr marL="514350" indent="-514350">
              <a:buFont typeface="+mj-lt"/>
              <a:buAutoNum type="arabicPeriod"/>
            </a:pPr>
            <a:r>
              <a:rPr lang="fr-CH" dirty="0" smtClean="0"/>
              <a:t>soit </a:t>
            </a:r>
            <a:r>
              <a:rPr lang="fr-CH" dirty="0"/>
              <a:t>celle qui se réfère aux matières premières importées mises en libre pratique (art 86 alinéa 3 du CDU).</a:t>
            </a:r>
          </a:p>
          <a:p>
            <a:endParaRPr lang="en-US" dirty="0"/>
          </a:p>
        </p:txBody>
      </p:sp>
    </p:spTree>
    <p:extLst>
      <p:ext uri="{BB962C8B-B14F-4D97-AF65-F5344CB8AC3E}">
        <p14:creationId xmlns:p14="http://schemas.microsoft.com/office/powerpoint/2010/main" val="40422004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Suite Les conditions </a:t>
            </a:r>
            <a:r>
              <a:rPr lang="en-US" dirty="0" err="1"/>
              <a:t>préalables</a:t>
            </a:r>
            <a:r>
              <a:rPr lang="en-US" dirty="0"/>
              <a:t> pour le régime du </a:t>
            </a:r>
            <a:r>
              <a:rPr lang="en-US" dirty="0" err="1"/>
              <a:t>perfectionnement</a:t>
            </a:r>
            <a:r>
              <a:rPr lang="en-US" dirty="0"/>
              <a:t> </a:t>
            </a:r>
            <a:r>
              <a:rPr lang="en-US" dirty="0" err="1"/>
              <a:t>actif</a:t>
            </a:r>
            <a:endParaRPr lang="en-US" dirty="0"/>
          </a:p>
        </p:txBody>
      </p:sp>
      <p:sp>
        <p:nvSpPr>
          <p:cNvPr id="3" name="Content Placeholder 2"/>
          <p:cNvSpPr>
            <a:spLocks noGrp="1"/>
          </p:cNvSpPr>
          <p:nvPr>
            <p:ph idx="1"/>
          </p:nvPr>
        </p:nvSpPr>
        <p:spPr/>
        <p:txBody>
          <a:bodyPr>
            <a:normAutofit fontScale="77500" lnSpcReduction="20000"/>
          </a:bodyPr>
          <a:lstStyle/>
          <a:p>
            <a:r>
              <a:rPr lang="fr-CH" dirty="0"/>
              <a:t>Une garantie globale doit être déposée pour couvrir ces éventuelles dettes. Le numéro de référence de cette garantie globale devra le cas échéant y être mentionné. Cette garantie est fixée par le bureau de recette dont l’opérateur est dépendant. Cette garantie sera variable selon le flux et la nature de la marchandise. L'objectif de la garantie est de garantir une dette douanière potentielle qui pourrait prendre naissance pour des marchandises placées sous le régime du perfectionnement actif.</a:t>
            </a:r>
          </a:p>
          <a:p>
            <a:r>
              <a:rPr lang="fr-CH" dirty="0"/>
              <a:t>Pour cette raison, un numéro de référence de la garantie doit être fourni au plus tard au moment du dépôt de la première déclaration en douane de placement des marchandises sous ce régime. Aucune déclaration de placement sous le régime du perfectionnement actif ne peut être acceptée sans ce numéro de référence.</a:t>
            </a:r>
          </a:p>
          <a:p>
            <a:r>
              <a:rPr lang="fr-CH" dirty="0"/>
              <a:t>Dans les cas normaux, à savoir dans les cas où le perfectionnement actif est régi de la manière IM/EX, une garantie sera due pour le régime du perfectionnement actif. Toutefois, dans le cas où le perfectionnement actif est régi de la façon EX/IM, aucune garantie ne doit être mise en place.</a:t>
            </a:r>
          </a:p>
          <a:p>
            <a:endParaRPr lang="en-US" dirty="0"/>
          </a:p>
        </p:txBody>
      </p:sp>
    </p:spTree>
    <p:extLst>
      <p:ext uri="{BB962C8B-B14F-4D97-AF65-F5344CB8AC3E}">
        <p14:creationId xmlns:p14="http://schemas.microsoft.com/office/powerpoint/2010/main" val="35164297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 </a:t>
            </a:r>
            <a:r>
              <a:rPr lang="en-US" dirty="0" err="1" smtClean="0"/>
              <a:t>perfectionnement</a:t>
            </a:r>
            <a:r>
              <a:rPr lang="en-US" dirty="0" smtClean="0"/>
              <a:t> </a:t>
            </a:r>
            <a:r>
              <a:rPr lang="en-US" dirty="0" err="1" smtClean="0"/>
              <a:t>passif</a:t>
            </a:r>
            <a:endParaRPr lang="en-US" dirty="0"/>
          </a:p>
        </p:txBody>
      </p:sp>
      <p:sp>
        <p:nvSpPr>
          <p:cNvPr id="3" name="Content Placeholder 2"/>
          <p:cNvSpPr>
            <a:spLocks noGrp="1"/>
          </p:cNvSpPr>
          <p:nvPr>
            <p:ph idx="1"/>
          </p:nvPr>
        </p:nvSpPr>
        <p:spPr/>
        <p:txBody>
          <a:bodyPr/>
          <a:lstStyle/>
          <a:p>
            <a:pPr marL="0" indent="0">
              <a:buNone/>
            </a:pPr>
            <a:r>
              <a:rPr lang="fr-CH" dirty="0"/>
              <a:t>Comme son nom l’indique, il s’agit d’évaluer si l’opérateur remplit bien les conditions préalables pour pouvoir prétendre à l’autorisation demandée. Chaque autorisation, respectivement régime, a ses propres examens de condition.</a:t>
            </a:r>
          </a:p>
          <a:p>
            <a:pPr marL="0" indent="0">
              <a:buNone/>
            </a:pPr>
            <a:r>
              <a:rPr lang="fr-CH" dirty="0"/>
              <a:t>Les conditions pour l’octroi d’un telle autorisation sont les </a:t>
            </a:r>
            <a:r>
              <a:rPr lang="fr-CH" dirty="0" smtClean="0"/>
              <a:t>suivantes :</a:t>
            </a:r>
            <a:endParaRPr lang="en-US" dirty="0"/>
          </a:p>
        </p:txBody>
      </p:sp>
    </p:spTree>
    <p:extLst>
      <p:ext uri="{BB962C8B-B14F-4D97-AF65-F5344CB8AC3E}">
        <p14:creationId xmlns:p14="http://schemas.microsoft.com/office/powerpoint/2010/main" val="7498836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 </a:t>
            </a:r>
            <a:r>
              <a:rPr lang="en-US" dirty="0"/>
              <a:t>conditions </a:t>
            </a:r>
            <a:r>
              <a:rPr lang="en-US" dirty="0" err="1"/>
              <a:t>préalables</a:t>
            </a:r>
            <a:r>
              <a:rPr lang="en-US" dirty="0"/>
              <a:t> pour le régime du </a:t>
            </a:r>
            <a:r>
              <a:rPr lang="en-US" dirty="0" err="1" smtClean="0"/>
              <a:t>perfectionnement</a:t>
            </a:r>
            <a:r>
              <a:rPr lang="en-US" dirty="0" smtClean="0"/>
              <a:t> </a:t>
            </a:r>
            <a:r>
              <a:rPr lang="en-US" dirty="0" err="1" smtClean="0"/>
              <a:t>passif</a:t>
            </a:r>
            <a:endParaRPr lang="en-US" dirty="0"/>
          </a:p>
        </p:txBody>
      </p:sp>
      <p:sp>
        <p:nvSpPr>
          <p:cNvPr id="3" name="Content Placeholder 2"/>
          <p:cNvSpPr>
            <a:spLocks noGrp="1"/>
          </p:cNvSpPr>
          <p:nvPr>
            <p:ph idx="1"/>
          </p:nvPr>
        </p:nvSpPr>
        <p:spPr/>
        <p:txBody>
          <a:bodyPr>
            <a:normAutofit fontScale="92500" lnSpcReduction="10000"/>
          </a:bodyPr>
          <a:lstStyle/>
          <a:p>
            <a:r>
              <a:rPr lang="fr-CH" dirty="0"/>
              <a:t>Pour le perfectionnement passif, de même que pour le perfectionnement actif, l’opérateur doit prouver qu’il a un besoin économique réel d’obtenir l’autorisation du perfectionnement </a:t>
            </a:r>
            <a:r>
              <a:rPr lang="fr-CH" dirty="0" smtClean="0"/>
              <a:t>actif</a:t>
            </a:r>
          </a:p>
          <a:p>
            <a:r>
              <a:rPr lang="fr-CH" dirty="0"/>
              <a:t>L</a:t>
            </a:r>
            <a:r>
              <a:rPr lang="fr-CH" dirty="0" smtClean="0"/>
              <a:t>e </a:t>
            </a:r>
            <a:r>
              <a:rPr lang="fr-CH" dirty="0"/>
              <a:t>service compétent est contacté par la DCNI pour savoir si le demandeur a commis ou non des infractions graves ou répétées à la législation douanière et aux dispositions fiscales ou encore des infractions pénales graves liées à l’activité économique du demandeur</a:t>
            </a:r>
            <a:r>
              <a:rPr lang="fr-CH" dirty="0" smtClean="0"/>
              <a:t>.</a:t>
            </a:r>
          </a:p>
          <a:p>
            <a:r>
              <a:rPr lang="fr-CH" dirty="0"/>
              <a:t>De même, l’opérateur doit tenir des écritures qui permettront aux autorités douanières compétentes de vérifier le bon déroulement des opérations par rapport au régime sollicité. Ses écritures doivent se tenir sous la forme d’une comptabilité matière et doivent être mises à jour de manière ponctuelle.</a:t>
            </a:r>
            <a:endParaRPr lang="en-US" dirty="0"/>
          </a:p>
        </p:txBody>
      </p:sp>
    </p:spTree>
    <p:extLst>
      <p:ext uri="{BB962C8B-B14F-4D97-AF65-F5344CB8AC3E}">
        <p14:creationId xmlns:p14="http://schemas.microsoft.com/office/powerpoint/2010/main" val="28471558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du </a:t>
            </a:r>
            <a:r>
              <a:rPr lang="en-US" dirty="0" err="1"/>
              <a:t>perfectionnement</a:t>
            </a:r>
            <a:r>
              <a:rPr lang="en-US" dirty="0"/>
              <a:t> </a:t>
            </a:r>
            <a:r>
              <a:rPr lang="en-US" dirty="0" err="1"/>
              <a:t>passif</a:t>
            </a:r>
            <a:endParaRPr lang="en-US" dirty="0"/>
          </a:p>
        </p:txBody>
      </p:sp>
      <p:sp>
        <p:nvSpPr>
          <p:cNvPr id="3" name="Content Placeholder 2"/>
          <p:cNvSpPr>
            <a:spLocks noGrp="1"/>
          </p:cNvSpPr>
          <p:nvPr>
            <p:ph idx="1"/>
          </p:nvPr>
        </p:nvSpPr>
        <p:spPr/>
        <p:txBody>
          <a:bodyPr>
            <a:normAutofit lnSpcReduction="10000"/>
          </a:bodyPr>
          <a:lstStyle/>
          <a:p>
            <a:r>
              <a:rPr lang="fr-CH" dirty="0"/>
              <a:t>L’opérateur doit remettre aux autorités compétentes un code NC à 10 chiffres des marchandises qui sont placées sous le régime du perfectionnement passif, ainsi qu’une désignation de la </a:t>
            </a:r>
            <a:r>
              <a:rPr lang="fr-CH" dirty="0" smtClean="0"/>
              <a:t>marchandise. En </a:t>
            </a:r>
            <a:r>
              <a:rPr lang="fr-CH" dirty="0"/>
              <a:t>cas de doute, une soumission tarifaire pourra toujours être effectuée, qui sera envoyée à la division TAXUD</a:t>
            </a:r>
            <a:r>
              <a:rPr lang="fr-CH" dirty="0" smtClean="0"/>
              <a:t>.</a:t>
            </a:r>
          </a:p>
          <a:p>
            <a:r>
              <a:rPr lang="fr-CH" dirty="0"/>
              <a:t>Il faut aussi que le demandeur puisse démontrer les mesures qui ont été mises en place pour prouver que le produit transformé résulte bien de la transformation des marchandises placées sous le régime du perfectionnement passif</a:t>
            </a:r>
            <a:r>
              <a:rPr lang="fr-CH" dirty="0" smtClean="0"/>
              <a:t>. </a:t>
            </a:r>
            <a:r>
              <a:rPr lang="fr-CH" dirty="0"/>
              <a:t>L’opérateur doit mettre en exergue les mesures qui sont prises pour pouvoir identifier la marchandise résultant de la transformation.</a:t>
            </a:r>
            <a:endParaRPr lang="fr-CH" dirty="0" smtClean="0"/>
          </a:p>
          <a:p>
            <a:endParaRPr lang="fr-CH" dirty="0" smtClean="0"/>
          </a:p>
          <a:p>
            <a:endParaRPr lang="en-US" dirty="0"/>
          </a:p>
        </p:txBody>
      </p:sp>
    </p:spTree>
    <p:extLst>
      <p:ext uri="{BB962C8B-B14F-4D97-AF65-F5344CB8AC3E}">
        <p14:creationId xmlns:p14="http://schemas.microsoft.com/office/powerpoint/2010/main" val="12287419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du </a:t>
            </a:r>
            <a:r>
              <a:rPr lang="en-US" dirty="0" err="1"/>
              <a:t>perfectionnement</a:t>
            </a:r>
            <a:r>
              <a:rPr lang="en-US" dirty="0"/>
              <a:t> </a:t>
            </a:r>
            <a:r>
              <a:rPr lang="en-US" dirty="0" err="1"/>
              <a:t>passif</a:t>
            </a:r>
            <a:endParaRPr lang="en-US" dirty="0"/>
          </a:p>
        </p:txBody>
      </p:sp>
      <p:sp>
        <p:nvSpPr>
          <p:cNvPr id="3" name="Content Placeholder 2"/>
          <p:cNvSpPr>
            <a:spLocks noGrp="1"/>
          </p:cNvSpPr>
          <p:nvPr>
            <p:ph idx="1"/>
          </p:nvPr>
        </p:nvSpPr>
        <p:spPr/>
        <p:txBody>
          <a:bodyPr>
            <a:normAutofit lnSpcReduction="10000"/>
          </a:bodyPr>
          <a:lstStyle/>
          <a:p>
            <a:r>
              <a:rPr lang="fr-CH" dirty="0"/>
              <a:t>Le taux de rendement est la quantité de marchandises d'exportation nécessaire pour produire une quantité donnée de produit compensateur. Ce taux ou son mode de fixation doit être prévu dans l'autorisation</a:t>
            </a:r>
            <a:r>
              <a:rPr lang="fr-CH" dirty="0" smtClean="0"/>
              <a:t>.</a:t>
            </a:r>
          </a:p>
          <a:p>
            <a:r>
              <a:rPr lang="fr-CH" dirty="0"/>
              <a:t>Le délai d’apurement est fixé compte tenu du temps nécessaire à l'ouvraison et au transport des marchandises. Il peut être prolongé sur demande justifiée du titulaire de l'autorisation, même après l'expiration du délai initialement accordé</a:t>
            </a:r>
            <a:r>
              <a:rPr lang="fr-CH" dirty="0" smtClean="0"/>
              <a:t>.</a:t>
            </a:r>
          </a:p>
          <a:p>
            <a:r>
              <a:rPr lang="fr-CH" dirty="0"/>
              <a:t>Toutefois, si la réimportation est effectuée au-delà du délai prévu, en l’absence de demande de prolongation, l'opérateur perd le bénéfice de l’exonération, totale ou partielle, des droits à l’importation.</a:t>
            </a:r>
            <a:endParaRPr lang="en-US" dirty="0"/>
          </a:p>
        </p:txBody>
      </p:sp>
    </p:spTree>
    <p:extLst>
      <p:ext uri="{BB962C8B-B14F-4D97-AF65-F5344CB8AC3E}">
        <p14:creationId xmlns:p14="http://schemas.microsoft.com/office/powerpoint/2010/main" val="26257976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conditions </a:t>
            </a:r>
            <a:r>
              <a:rPr lang="en-US" dirty="0" err="1"/>
              <a:t>préalables</a:t>
            </a:r>
            <a:r>
              <a:rPr lang="en-US" dirty="0"/>
              <a:t> pour le régime du </a:t>
            </a:r>
            <a:r>
              <a:rPr lang="en-US" dirty="0" err="1"/>
              <a:t>perfectionnement</a:t>
            </a:r>
            <a:r>
              <a:rPr lang="en-US" dirty="0"/>
              <a:t> </a:t>
            </a:r>
            <a:r>
              <a:rPr lang="en-US" dirty="0" err="1"/>
              <a:t>passif</a:t>
            </a:r>
            <a:endParaRPr lang="en-US" dirty="0"/>
          </a:p>
        </p:txBody>
      </p:sp>
      <p:sp>
        <p:nvSpPr>
          <p:cNvPr id="3" name="Content Placeholder 2"/>
          <p:cNvSpPr>
            <a:spLocks noGrp="1"/>
          </p:cNvSpPr>
          <p:nvPr>
            <p:ph idx="1"/>
          </p:nvPr>
        </p:nvSpPr>
        <p:spPr/>
        <p:txBody>
          <a:bodyPr>
            <a:normAutofit fontScale="92500" lnSpcReduction="10000"/>
          </a:bodyPr>
          <a:lstStyle/>
          <a:p>
            <a:r>
              <a:rPr lang="fr-CH" dirty="0"/>
              <a:t>Concernant le délai du décompte d’apurement, il peut être effectué aussi bien de manière trimestrielle que de manière semestrielle, et très rarement de manière annuelle. Cela consiste à envoyer le tableau recensant un décompte d’apurement des marchandises qui sont visées par l’autorisation aux autorités douanières compétentes pour approbation. Ce tableau sera envoyé selon la fréquence prévue précédemment. (voir annexe 2</a:t>
            </a:r>
            <a:r>
              <a:rPr lang="fr-CH" dirty="0" smtClean="0"/>
              <a:t>)</a:t>
            </a:r>
          </a:p>
          <a:p>
            <a:r>
              <a:rPr lang="fr-CH" dirty="0"/>
              <a:t>Dans les cas normaux, à savoir dans le cas du perfectionnement passif régi de la manière EX/IM, une garantie n’est pas due pour le régime du perfectionnement passif. Toutefois dans les cas où le perfectionnement passif est régi de la façon IM/EX, une garantie doit être mise en place pour couvrir une dette douanière qui risquerait de naître lors du perfectionnement passif.</a:t>
            </a:r>
            <a:endParaRPr lang="en-US" dirty="0"/>
          </a:p>
        </p:txBody>
      </p:sp>
    </p:spTree>
    <p:extLst>
      <p:ext uri="{BB962C8B-B14F-4D97-AF65-F5344CB8AC3E}">
        <p14:creationId xmlns:p14="http://schemas.microsoft.com/office/powerpoint/2010/main" val="14774492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 </a:t>
            </a:r>
            <a:r>
              <a:rPr lang="en-US" dirty="0" err="1" smtClean="0"/>
              <a:t>écritures</a:t>
            </a:r>
            <a:endParaRPr lang="en-US" dirty="0"/>
          </a:p>
        </p:txBody>
      </p:sp>
      <p:sp>
        <p:nvSpPr>
          <p:cNvPr id="3" name="Content Placeholder 2"/>
          <p:cNvSpPr>
            <a:spLocks noGrp="1"/>
          </p:cNvSpPr>
          <p:nvPr>
            <p:ph idx="1"/>
          </p:nvPr>
        </p:nvSpPr>
        <p:spPr/>
        <p:txBody>
          <a:bodyPr/>
          <a:lstStyle/>
          <a:p>
            <a:r>
              <a:rPr lang="fr-CH" dirty="0"/>
              <a:t>Pour bénéficier d’une autorisation d’un régime particulier, l’opérateur est tenu de tenir des écritures appropriées et doit autoriser l’accès à ses informations aux autorités douanières.</a:t>
            </a:r>
          </a:p>
          <a:p>
            <a:r>
              <a:rPr lang="fr-CH" dirty="0"/>
              <a:t>Ces écritures sont appelées « comptabilité-matières ». Elles doivent être remises </a:t>
            </a:r>
            <a:r>
              <a:rPr lang="fr-CH" dirty="0" smtClean="0"/>
              <a:t>sur demande aux </a:t>
            </a:r>
            <a:r>
              <a:rPr lang="fr-CH" dirty="0"/>
              <a:t>autorités douanières compétentes et doivent comporter différentes informations.</a:t>
            </a:r>
          </a:p>
          <a:p>
            <a:r>
              <a:rPr lang="fr-CH" dirty="0"/>
              <a:t>Ces éléments sont communs à tous les régimes respectivement à toutes les autorisations. Certaines d’entre elles devront toutefois disposer d’informations supplémentaires bien spécifiques.</a:t>
            </a:r>
          </a:p>
          <a:p>
            <a:endParaRPr lang="en-US" dirty="0"/>
          </a:p>
        </p:txBody>
      </p:sp>
    </p:spTree>
    <p:extLst>
      <p:ext uri="{BB962C8B-B14F-4D97-AF65-F5344CB8AC3E}">
        <p14:creationId xmlns:p14="http://schemas.microsoft.com/office/powerpoint/2010/main" val="4826436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communes à tous les régimes/à toutes les autorisations</a:t>
            </a:r>
            <a:endParaRPr lang="en-US" dirty="0"/>
          </a:p>
        </p:txBody>
      </p:sp>
      <p:sp>
        <p:nvSpPr>
          <p:cNvPr id="3" name="Content Placeholder 2"/>
          <p:cNvSpPr>
            <a:spLocks noGrp="1"/>
          </p:cNvSpPr>
          <p:nvPr>
            <p:ph idx="1"/>
          </p:nvPr>
        </p:nvSpPr>
        <p:spPr/>
        <p:txBody>
          <a:bodyPr>
            <a:normAutofit fontScale="55000" lnSpcReduction="20000"/>
          </a:bodyPr>
          <a:lstStyle/>
          <a:p>
            <a:r>
              <a:rPr lang="fr-CH" dirty="0"/>
              <a:t>Les informations énumérées ci-dessous sont communes à tous les régimes, respectivement toutes les autorisations. Elles sont prévues à </a:t>
            </a:r>
            <a:r>
              <a:rPr lang="fr-CH" dirty="0" smtClean="0"/>
              <a:t>l’article </a:t>
            </a:r>
            <a:r>
              <a:rPr lang="fr-CH" dirty="0"/>
              <a:t>178, alinéa 1 du règlement délégué 2015/2446</a:t>
            </a:r>
            <a:r>
              <a:rPr lang="fr-CH" dirty="0" smtClean="0"/>
              <a:t>.</a:t>
            </a:r>
          </a:p>
          <a:p>
            <a:r>
              <a:rPr lang="fr-CH" dirty="0"/>
              <a:t>la référence de l’autorisation nécessaire pour placer les marchandises sous un régime particulier;</a:t>
            </a:r>
          </a:p>
          <a:p>
            <a:r>
              <a:rPr lang="fr-CH" dirty="0" smtClean="0"/>
              <a:t>le </a:t>
            </a:r>
            <a:r>
              <a:rPr lang="fr-CH" dirty="0"/>
              <a:t>MRN (numéro de référence maître) ou, lorsqu’il n’existe pas, tout autre numéro ou code identifiant les déclarations en douane au moyen desquelles les marchandises sont placées sous le régime particulier et, lorsque le régime est apuré conformément à l’article 215, paragraphe 1 du CDU, des informations sur la manière dont le régime a été apuré ;</a:t>
            </a:r>
          </a:p>
          <a:p>
            <a:r>
              <a:rPr lang="fr-CH" dirty="0" smtClean="0"/>
              <a:t>les </a:t>
            </a:r>
            <a:r>
              <a:rPr lang="fr-CH" dirty="0"/>
              <a:t>données qui permettent d’identifier, sans équivoque, les documents douaniers autres que les déclarations en douane, tout autre document relatif au placement des marchandises sous un régime particulier et tout autre document relatif à l’apurement correspondant du </a:t>
            </a:r>
            <a:r>
              <a:rPr lang="fr-CH" dirty="0" smtClean="0"/>
              <a:t>régime</a:t>
            </a:r>
            <a:endParaRPr lang="fr-CH" dirty="0"/>
          </a:p>
          <a:p>
            <a:r>
              <a:rPr lang="fr-CH" dirty="0" smtClean="0"/>
              <a:t>les </a:t>
            </a:r>
            <a:r>
              <a:rPr lang="fr-CH" dirty="0"/>
              <a:t>énonciations relatives aux marques, les numéros d’identification, le nombre et la nature des colis, la quantité et la désignation des marchandises selon leur appellation commerciale ou technique usuelle, ainsi que, le cas échéant, les marques d’identification du conteneur nécessaires à l’identification des marchandises ;</a:t>
            </a:r>
          </a:p>
          <a:p>
            <a:r>
              <a:rPr lang="fr-CH" dirty="0" smtClean="0"/>
              <a:t>la </a:t>
            </a:r>
            <a:r>
              <a:rPr lang="fr-CH" dirty="0"/>
              <a:t>localisation des marchandises, ainsi que les informations relatives à tout mouvement de ces marchandises ;</a:t>
            </a:r>
          </a:p>
          <a:p>
            <a:r>
              <a:rPr lang="fr-CH" dirty="0" smtClean="0"/>
              <a:t>le </a:t>
            </a:r>
            <a:r>
              <a:rPr lang="fr-CH" dirty="0"/>
              <a:t>statut douanier des marchandises (marchandises de l’Union ou non Union) ;</a:t>
            </a:r>
          </a:p>
          <a:p>
            <a:r>
              <a:rPr lang="fr-CH" dirty="0" smtClean="0"/>
              <a:t>lorsque </a:t>
            </a:r>
            <a:r>
              <a:rPr lang="fr-CH" dirty="0"/>
              <a:t>les écritures ne font pas partie de la comptabilité principale à des fins douanières, une référence à cette comptabilité principale à des fins douanières </a:t>
            </a:r>
            <a:r>
              <a:rPr lang="fr-CH" dirty="0" smtClean="0"/>
              <a:t>;</a:t>
            </a:r>
          </a:p>
          <a:p>
            <a:r>
              <a:rPr lang="fr-CH" dirty="0"/>
              <a:t>lorsqu’une séparation comptable est exigée, les informations relatives au type de marchandises, au statut douanier et, le cas échéant, à l’origine des marchandises ;</a:t>
            </a:r>
          </a:p>
          <a:p>
            <a:r>
              <a:rPr lang="fr-CH" dirty="0" smtClean="0"/>
              <a:t>des </a:t>
            </a:r>
            <a:r>
              <a:rPr lang="fr-CH" dirty="0"/>
              <a:t>informations supplémentaires pour les cas particuliers, à la demande des autorités douanières pour des raisons justifiées ;</a:t>
            </a:r>
          </a:p>
          <a:p>
            <a:endParaRPr lang="fr-CH" dirty="0"/>
          </a:p>
          <a:p>
            <a:endParaRPr lang="en-US" dirty="0"/>
          </a:p>
        </p:txBody>
      </p:sp>
    </p:spTree>
    <p:extLst>
      <p:ext uri="{BB962C8B-B14F-4D97-AF65-F5344CB8AC3E}">
        <p14:creationId xmlns:p14="http://schemas.microsoft.com/office/powerpoint/2010/main" val="3513119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communes à tous les régimes/à toutes les autorisations</a:t>
            </a:r>
            <a:endParaRPr lang="en-US" dirty="0"/>
          </a:p>
        </p:txBody>
      </p:sp>
      <p:sp>
        <p:nvSpPr>
          <p:cNvPr id="3" name="Content Placeholder 2"/>
          <p:cNvSpPr>
            <a:spLocks noGrp="1"/>
          </p:cNvSpPr>
          <p:nvPr>
            <p:ph idx="1"/>
          </p:nvPr>
        </p:nvSpPr>
        <p:spPr/>
        <p:txBody>
          <a:bodyPr/>
          <a:lstStyle/>
          <a:p>
            <a:r>
              <a:rPr lang="fr-CH" dirty="0"/>
              <a:t>Les autorités douanières peuvent lever l’obligation de fournir certaines des informations prévues précédemment lorsque cela ne porte pas préjudice à la surveillance et aux contrôles douaniers de l’utilisation d’un régime particulier.</a:t>
            </a:r>
          </a:p>
          <a:p>
            <a:r>
              <a:rPr lang="fr-CH" dirty="0"/>
              <a:t>Certains régimes, respectivement certaines autorisations devront toutefois disposer d’informations supplémentaires bien spécifiques.</a:t>
            </a:r>
          </a:p>
          <a:p>
            <a:endParaRPr lang="en-US" dirty="0"/>
          </a:p>
        </p:txBody>
      </p:sp>
    </p:spTree>
    <p:extLst>
      <p:ext uri="{BB962C8B-B14F-4D97-AF65-F5344CB8AC3E}">
        <p14:creationId xmlns:p14="http://schemas.microsoft.com/office/powerpoint/2010/main" val="10058089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supplémentaires dans le cadre de l’entrepôt douanier</a:t>
            </a:r>
            <a:endParaRPr lang="en-US" dirty="0"/>
          </a:p>
        </p:txBody>
      </p:sp>
      <p:sp>
        <p:nvSpPr>
          <p:cNvPr id="3" name="Content Placeholder 2"/>
          <p:cNvSpPr>
            <a:spLocks noGrp="1"/>
          </p:cNvSpPr>
          <p:nvPr>
            <p:ph idx="1"/>
          </p:nvPr>
        </p:nvSpPr>
        <p:spPr/>
        <p:txBody>
          <a:bodyPr>
            <a:normAutofit fontScale="92500" lnSpcReduction="10000"/>
          </a:bodyPr>
          <a:lstStyle/>
          <a:p>
            <a:r>
              <a:rPr lang="fr-CH" dirty="0" smtClean="0"/>
              <a:t>les </a:t>
            </a:r>
            <a:r>
              <a:rPr lang="fr-CH" dirty="0"/>
              <a:t>énonciations relatives aux manipulations usuelles et, le cas échéant, le nouveau classement tarifaire résultant de ces manipulations usuelles ;</a:t>
            </a:r>
          </a:p>
          <a:p>
            <a:r>
              <a:rPr lang="fr-CH" dirty="0" smtClean="0"/>
              <a:t>lorsque </a:t>
            </a:r>
            <a:r>
              <a:rPr lang="fr-CH" dirty="0"/>
              <a:t>l’article 86, paragraphe 1 du CDU s’applique, les coûts du stockage ou des manipulations usuelles ;</a:t>
            </a:r>
          </a:p>
          <a:p>
            <a:r>
              <a:rPr lang="fr-CH" dirty="0" smtClean="0"/>
              <a:t>le </a:t>
            </a:r>
            <a:r>
              <a:rPr lang="fr-CH" dirty="0"/>
              <a:t>taux de rendement ou, le cas échéant, son mode de calcul et</a:t>
            </a:r>
          </a:p>
          <a:p>
            <a:r>
              <a:rPr lang="fr-CH" dirty="0" smtClean="0"/>
              <a:t>le </a:t>
            </a:r>
            <a:r>
              <a:rPr lang="fr-CH" dirty="0"/>
              <a:t>cas échéant, les énonciations relatives à tout transfert de droits et obligations conformément à l’article 218 du code; les droits et obligations pourront entièrement ou partiellement être transférés pour les marchandises qui seront placées sous le couvert d’ un régime particulier, sauf sous un régime de transit (expéditeur agréé, destinataire agréé) ( voir cours partie théorique régime particulier).</a:t>
            </a:r>
          </a:p>
          <a:p>
            <a:endParaRPr lang="en-US" dirty="0"/>
          </a:p>
        </p:txBody>
      </p:sp>
    </p:spTree>
    <p:extLst>
      <p:ext uri="{BB962C8B-B14F-4D97-AF65-F5344CB8AC3E}">
        <p14:creationId xmlns:p14="http://schemas.microsoft.com/office/powerpoint/2010/main" val="3976465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supplémentaires dans le cadre de la zone Franche</a:t>
            </a:r>
            <a:endParaRPr lang="en-US" dirty="0"/>
          </a:p>
        </p:txBody>
      </p:sp>
      <p:sp>
        <p:nvSpPr>
          <p:cNvPr id="3" name="Content Placeholder 2"/>
          <p:cNvSpPr>
            <a:spLocks noGrp="1"/>
          </p:cNvSpPr>
          <p:nvPr>
            <p:ph idx="1"/>
          </p:nvPr>
        </p:nvSpPr>
        <p:spPr/>
        <p:txBody>
          <a:bodyPr/>
          <a:lstStyle/>
          <a:p>
            <a:r>
              <a:rPr lang="fr-CH" dirty="0"/>
              <a:t>les énonciations permettant d’identifier les documents de transport pour les marchandises qui entrent dans des zones franches ou qui en sortent et</a:t>
            </a:r>
          </a:p>
          <a:p>
            <a:r>
              <a:rPr lang="fr-CH" dirty="0" smtClean="0"/>
              <a:t>les </a:t>
            </a:r>
            <a:r>
              <a:rPr lang="fr-CH" dirty="0"/>
              <a:t>énonciations concernant l’utilisation ou la consommation des marchandises qui, en cas de mise en libre pratique ou d’admission temporaire, ne seraient pas soumises à l’application de droits à l’importation ou à des mesures arrêtées dans le cadre de la politique agricole commune ou de la politique commerciale commune.</a:t>
            </a:r>
          </a:p>
          <a:p>
            <a:endParaRPr lang="en-US" dirty="0"/>
          </a:p>
        </p:txBody>
      </p:sp>
    </p:spTree>
    <p:extLst>
      <p:ext uri="{BB962C8B-B14F-4D97-AF65-F5344CB8AC3E}">
        <p14:creationId xmlns:p14="http://schemas.microsoft.com/office/powerpoint/2010/main" val="2000917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supplémentaires dans le cadre de l’admission temporaire</a:t>
            </a:r>
            <a:endParaRPr lang="en-US" dirty="0"/>
          </a:p>
        </p:txBody>
      </p:sp>
      <p:sp>
        <p:nvSpPr>
          <p:cNvPr id="3" name="Content Placeholder 2"/>
          <p:cNvSpPr>
            <a:spLocks noGrp="1"/>
          </p:cNvSpPr>
          <p:nvPr>
            <p:ph idx="1"/>
          </p:nvPr>
        </p:nvSpPr>
        <p:spPr/>
        <p:txBody>
          <a:bodyPr>
            <a:normAutofit lnSpcReduction="10000"/>
          </a:bodyPr>
          <a:lstStyle/>
          <a:p>
            <a:r>
              <a:rPr lang="fr-CH" dirty="0"/>
              <a:t>le cas échéant, les énonciations relatives à tout transfert de droits et obligations conformément à l’article 218 du code; les droits et obligations pourront entièrement ou partiellement être transférés pour les marchandises qui seront placées sous le couvert d’un régime particulier sauf sous un régime de transit (expéditeur agréé, destinataire agréé) ;</a:t>
            </a:r>
          </a:p>
          <a:p>
            <a:r>
              <a:rPr lang="fr-CH" dirty="0" smtClean="0"/>
              <a:t>dans </a:t>
            </a:r>
            <a:r>
              <a:rPr lang="fr-CH" dirty="0"/>
              <a:t>le cas de l’admission temporaire, les écritures ne sont tenues que si les autorités douanières l’exigent ;</a:t>
            </a:r>
          </a:p>
          <a:p>
            <a:r>
              <a:rPr lang="fr-CH" dirty="0" smtClean="0"/>
              <a:t>dans </a:t>
            </a:r>
            <a:r>
              <a:rPr lang="fr-CH" dirty="0"/>
              <a:t>les cas d’admission temporaire visés à l’article 238, les énonciations requises par ledit article et</a:t>
            </a:r>
          </a:p>
          <a:p>
            <a:r>
              <a:rPr lang="fr-CH" dirty="0" smtClean="0"/>
              <a:t>la </a:t>
            </a:r>
            <a:r>
              <a:rPr lang="fr-CH" dirty="0"/>
              <a:t>durée du régime de stockage.</a:t>
            </a:r>
          </a:p>
          <a:p>
            <a:endParaRPr lang="en-US" dirty="0"/>
          </a:p>
        </p:txBody>
      </p:sp>
    </p:spTree>
    <p:extLst>
      <p:ext uri="{BB962C8B-B14F-4D97-AF65-F5344CB8AC3E}">
        <p14:creationId xmlns:p14="http://schemas.microsoft.com/office/powerpoint/2010/main" val="40558572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supplémentaires dans le cadre de la destination particulière</a:t>
            </a:r>
            <a:endParaRPr lang="en-US" dirty="0"/>
          </a:p>
        </p:txBody>
      </p:sp>
      <p:sp>
        <p:nvSpPr>
          <p:cNvPr id="3" name="Content Placeholder 2"/>
          <p:cNvSpPr>
            <a:spLocks noGrp="1"/>
          </p:cNvSpPr>
          <p:nvPr>
            <p:ph idx="1"/>
          </p:nvPr>
        </p:nvSpPr>
        <p:spPr/>
        <p:txBody>
          <a:bodyPr>
            <a:normAutofit fontScale="92500" lnSpcReduction="10000"/>
          </a:bodyPr>
          <a:lstStyle/>
          <a:p>
            <a:r>
              <a:rPr lang="fr-CH" dirty="0"/>
              <a:t>les énonciations permettant la surveillance et le contrôle douaniers de l’utilisation de marchandises équivalentes conformément à l’article 223 du CDU (voir cours partie théorique régime particulier) ;</a:t>
            </a:r>
          </a:p>
          <a:p>
            <a:r>
              <a:rPr lang="fr-CH" dirty="0" smtClean="0"/>
              <a:t>le </a:t>
            </a:r>
            <a:r>
              <a:rPr lang="fr-CH" dirty="0"/>
              <a:t>taux de rendement ou, le cas échéant, son mode de calcul ;</a:t>
            </a:r>
          </a:p>
          <a:p>
            <a:r>
              <a:rPr lang="fr-CH" dirty="0" smtClean="0"/>
              <a:t>les </a:t>
            </a:r>
            <a:r>
              <a:rPr lang="fr-CH" dirty="0"/>
              <a:t>énonciations relatives aux manipulations usuelles et, le cas échéant, le nouveau classement tarifaire résultant de ces manipulations usuelles (voir cours partie théorique régime particulier) et</a:t>
            </a:r>
          </a:p>
          <a:p>
            <a:r>
              <a:rPr lang="fr-CH" dirty="0" smtClean="0"/>
              <a:t>le </a:t>
            </a:r>
            <a:r>
              <a:rPr lang="fr-CH" dirty="0"/>
              <a:t>cas échéant, les énonciations relatives à tout transfert de droits et obligations conformément à l’article 218 du CDU ; les droits et obligations pourront entièrement ou partiellement être transférés pour les marchandises qui seront placées sous le couvert d’ un régime particulier.</a:t>
            </a:r>
          </a:p>
          <a:p>
            <a:endParaRPr lang="en-US" dirty="0"/>
          </a:p>
        </p:txBody>
      </p:sp>
    </p:spTree>
    <p:extLst>
      <p:ext uri="{BB962C8B-B14F-4D97-AF65-F5344CB8AC3E}">
        <p14:creationId xmlns:p14="http://schemas.microsoft.com/office/powerpoint/2010/main" val="6093358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supplémentaires dans le cadre du perfectionnement actif</a:t>
            </a:r>
            <a:endParaRPr lang="en-US" dirty="0"/>
          </a:p>
        </p:txBody>
      </p:sp>
      <p:sp>
        <p:nvSpPr>
          <p:cNvPr id="3" name="Content Placeholder 2"/>
          <p:cNvSpPr>
            <a:spLocks noGrp="1"/>
          </p:cNvSpPr>
          <p:nvPr>
            <p:ph idx="1"/>
          </p:nvPr>
        </p:nvSpPr>
        <p:spPr/>
        <p:txBody>
          <a:bodyPr>
            <a:normAutofit fontScale="70000" lnSpcReduction="20000"/>
          </a:bodyPr>
          <a:lstStyle/>
          <a:p>
            <a:r>
              <a:rPr lang="fr-CH" dirty="0"/>
              <a:t>les énonciations relatives aux manipulations usuelles et, le cas échéant, le nouveau classement tarifaire résultant de ces manipulations usuelles ;</a:t>
            </a:r>
          </a:p>
          <a:p>
            <a:r>
              <a:rPr lang="fr-CH" dirty="0" smtClean="0"/>
              <a:t>les </a:t>
            </a:r>
            <a:r>
              <a:rPr lang="fr-CH" dirty="0"/>
              <a:t>énonciations relatives au perfectionnement actif ou passif, y compris des informations sur la nature de la transformation ;</a:t>
            </a:r>
          </a:p>
          <a:p>
            <a:r>
              <a:rPr lang="fr-CH" dirty="0" smtClean="0"/>
              <a:t>le </a:t>
            </a:r>
            <a:r>
              <a:rPr lang="fr-CH" dirty="0"/>
              <a:t>taux de rendement ou, le cas échéant, son mode de calcul ;</a:t>
            </a:r>
          </a:p>
          <a:p>
            <a:r>
              <a:rPr lang="fr-CH" dirty="0" smtClean="0"/>
              <a:t>les </a:t>
            </a:r>
            <a:r>
              <a:rPr lang="fr-CH" dirty="0"/>
              <a:t>énonciations permettant la surveillance et le contrôle douaniers de l’utilisation de marchandises équivalentes conformément à l’article 223 du CDU (voir cours partie théorique) ;</a:t>
            </a:r>
          </a:p>
          <a:p>
            <a:r>
              <a:rPr lang="fr-CH" dirty="0" smtClean="0"/>
              <a:t>dans </a:t>
            </a:r>
            <a:r>
              <a:rPr lang="fr-CH" dirty="0"/>
              <a:t>les cas de perfectionnement actif visés à l’article 241 du CDU, les énonciations requises par ledit article ;</a:t>
            </a:r>
          </a:p>
          <a:p>
            <a:r>
              <a:rPr lang="fr-CH" dirty="0" smtClean="0"/>
              <a:t>si </a:t>
            </a:r>
            <a:r>
              <a:rPr lang="fr-CH" dirty="0"/>
              <a:t>la surveillance douanière n’est pas compromise, de permettre dans un entrepôt douanier, de transformer une marchandises sous le régime du perfectionnement actif ou de la destination particulière et</a:t>
            </a:r>
          </a:p>
          <a:p>
            <a:r>
              <a:rPr lang="fr-CH" dirty="0" smtClean="0"/>
              <a:t>le </a:t>
            </a:r>
            <a:r>
              <a:rPr lang="fr-CH" dirty="0"/>
              <a:t>cas échéant, les énonciations relatives à tout transfert de droits et obligations conformément à l’article 218 du code; les droits et obligations pourront entièrement ou partiellement être transférés pour les marchandises qui seront placées sous le couvert d’un régime particulier.</a:t>
            </a:r>
          </a:p>
          <a:p>
            <a:endParaRPr lang="en-US" dirty="0"/>
          </a:p>
        </p:txBody>
      </p:sp>
    </p:spTree>
    <p:extLst>
      <p:ext uri="{BB962C8B-B14F-4D97-AF65-F5344CB8AC3E}">
        <p14:creationId xmlns:p14="http://schemas.microsoft.com/office/powerpoint/2010/main" val="40733220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informations supplémentaires dans le cadre du perfectionnement passif</a:t>
            </a:r>
            <a:endParaRPr lang="en-US" dirty="0"/>
          </a:p>
        </p:txBody>
      </p:sp>
      <p:sp>
        <p:nvSpPr>
          <p:cNvPr id="3" name="Content Placeholder 2"/>
          <p:cNvSpPr>
            <a:spLocks noGrp="1"/>
          </p:cNvSpPr>
          <p:nvPr>
            <p:ph idx="1"/>
          </p:nvPr>
        </p:nvSpPr>
        <p:spPr/>
        <p:txBody>
          <a:bodyPr>
            <a:normAutofit fontScale="92500" lnSpcReduction="20000"/>
          </a:bodyPr>
          <a:lstStyle/>
          <a:p>
            <a:r>
              <a:rPr lang="fr-CH" dirty="0" smtClean="0"/>
              <a:t>les </a:t>
            </a:r>
            <a:r>
              <a:rPr lang="fr-CH" dirty="0"/>
              <a:t>énonciations relatives aux manipulations usuelles et, le cas échéant, le nouveau classement tarifaire résultant de ces manipulations usuelles ;</a:t>
            </a:r>
          </a:p>
          <a:p>
            <a:r>
              <a:rPr lang="fr-CH" dirty="0" smtClean="0"/>
              <a:t>les </a:t>
            </a:r>
            <a:r>
              <a:rPr lang="fr-CH" dirty="0"/>
              <a:t>énonciations relatives au perfectionnement actif ou passif, y compris des informations sur la nature de la transformation </a:t>
            </a:r>
            <a:r>
              <a:rPr lang="fr-CH" dirty="0" smtClean="0"/>
              <a:t>;</a:t>
            </a:r>
          </a:p>
          <a:p>
            <a:r>
              <a:rPr lang="fr-CH" dirty="0"/>
              <a:t>le taux de rendement ou, le cas échéant, son mode de calcul ;</a:t>
            </a:r>
          </a:p>
          <a:p>
            <a:r>
              <a:rPr lang="fr-CH" dirty="0" smtClean="0"/>
              <a:t>les </a:t>
            </a:r>
            <a:r>
              <a:rPr lang="fr-CH" dirty="0"/>
              <a:t>énonciations permettant la surveillance et le contrôle douaniers de l’utilisation de marchandises équivalentes conformément à l’article 223 du CDU (voir cours partie théorique Régime particulier)et ;</a:t>
            </a:r>
          </a:p>
          <a:p>
            <a:r>
              <a:rPr lang="fr-CH" dirty="0" smtClean="0"/>
              <a:t>le </a:t>
            </a:r>
            <a:r>
              <a:rPr lang="fr-CH" dirty="0"/>
              <a:t>cas échéant, les énonciations relatives à tout transfert de droits et obligations conformément à l’article 218 du CDU ; les droits et obligations pourront entièrement ou partiellement être transférés pour les marchandises qui seront placés sous le couvert d’ un régime particulier.</a:t>
            </a:r>
          </a:p>
          <a:p>
            <a:endParaRPr lang="fr-CH" dirty="0"/>
          </a:p>
          <a:p>
            <a:endParaRPr lang="en-US" dirty="0"/>
          </a:p>
        </p:txBody>
      </p:sp>
    </p:spTree>
    <p:extLst>
      <p:ext uri="{BB962C8B-B14F-4D97-AF65-F5344CB8AC3E}">
        <p14:creationId xmlns:p14="http://schemas.microsoft.com/office/powerpoint/2010/main" val="3138246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 </a:t>
            </a:r>
            <a:r>
              <a:rPr lang="en-US" dirty="0" err="1"/>
              <a:t>décompte</a:t>
            </a:r>
            <a:r>
              <a:rPr lang="en-US" dirty="0"/>
              <a:t> </a:t>
            </a:r>
            <a:r>
              <a:rPr lang="en-US" dirty="0" err="1"/>
              <a:t>d’apurement</a:t>
            </a:r>
            <a:endParaRPr lang="en-US" dirty="0"/>
          </a:p>
        </p:txBody>
      </p:sp>
      <p:sp>
        <p:nvSpPr>
          <p:cNvPr id="3" name="Content Placeholder 2"/>
          <p:cNvSpPr>
            <a:spLocks noGrp="1"/>
          </p:cNvSpPr>
          <p:nvPr>
            <p:ph idx="1"/>
          </p:nvPr>
        </p:nvSpPr>
        <p:spPr/>
        <p:txBody>
          <a:bodyPr>
            <a:normAutofit fontScale="47500" lnSpcReduction="20000"/>
          </a:bodyPr>
          <a:lstStyle/>
          <a:p>
            <a:pPr marL="0" indent="0">
              <a:buNone/>
            </a:pPr>
            <a:r>
              <a:rPr lang="fr-CH" dirty="0"/>
              <a:t>Tous les opérateurs, qui auront demandé un régime, tel que le perfectionnement actif, le perfectionnement passif et la destination particulière, seront dans l’obligation de tenir un décompte d’apurement. (Règlement délégué 2015/2446 annexe 71-06</a:t>
            </a:r>
            <a:r>
              <a:rPr lang="fr-CH" dirty="0" smtClean="0"/>
              <a:t>)</a:t>
            </a:r>
          </a:p>
          <a:p>
            <a:pPr marL="0" indent="0">
              <a:buNone/>
            </a:pPr>
            <a:r>
              <a:rPr lang="fr-CH" dirty="0"/>
              <a:t>Celui-ci devra comprendre les éléments suivants </a:t>
            </a:r>
            <a:r>
              <a:rPr lang="fr-CH" dirty="0" smtClean="0"/>
              <a:t>:</a:t>
            </a:r>
          </a:p>
          <a:p>
            <a:r>
              <a:rPr lang="fr-CH" dirty="0"/>
              <a:t>L’énonciation de l’autorisation : l’opérateur devra préciser pour quelle autorisation il effectue le décompte d’apurement (p. ex. perfectionnement actif) ;</a:t>
            </a:r>
          </a:p>
          <a:p>
            <a:r>
              <a:rPr lang="fr-CH" dirty="0"/>
              <a:t>la quantité par espèce de marchandises placées sous le régime particulier pour lesquelles</a:t>
            </a:r>
          </a:p>
          <a:p>
            <a:r>
              <a:rPr lang="fr-CH" dirty="0"/>
              <a:t>l’apurement est sollicité ;</a:t>
            </a:r>
          </a:p>
          <a:p>
            <a:r>
              <a:rPr lang="fr-CH" dirty="0"/>
              <a:t>Le code NC des marchandises placées sous le régime particulier ;</a:t>
            </a:r>
          </a:p>
          <a:p>
            <a:r>
              <a:rPr lang="fr-CH" dirty="0"/>
              <a:t>taux des droits à l’importation afférents aux marchandises placées sous le régime particulier et, le cas échéant, leur valeur en douane ;</a:t>
            </a:r>
          </a:p>
          <a:p>
            <a:r>
              <a:rPr lang="fr-CH" dirty="0"/>
              <a:t>les énonciations des déclarations en douane sous le couvert desquelles les marchandises ont été placées sous le régime particulier ;</a:t>
            </a:r>
          </a:p>
          <a:p>
            <a:r>
              <a:rPr lang="fr-CH" dirty="0"/>
              <a:t>les types et quantités des produits transformés ou des marchandises placées sous le régime et énonciations de la déclaration en douane ultérieure ou tout autre document relatif à l’apurement du régime ;</a:t>
            </a:r>
          </a:p>
          <a:p>
            <a:r>
              <a:rPr lang="fr-CH" dirty="0"/>
              <a:t>le code NC et valeur en douane des produits transformés, si l’apurement se fait sur la base de la clé de la valeur ;</a:t>
            </a:r>
          </a:p>
          <a:p>
            <a:r>
              <a:rPr lang="fr-CH" dirty="0"/>
              <a:t>le taux de rendement : il faudra dans cette colonne distinguer la perte sèche qui ne peut plus être réinjectée dans le circuit de la production et la perte dite </a:t>
            </a:r>
            <a:r>
              <a:rPr lang="fr-CH" dirty="0" err="1"/>
              <a:t>rework</a:t>
            </a:r>
            <a:r>
              <a:rPr lang="fr-CH" dirty="0"/>
              <a:t> qui, quant à elle, peut être réinjectée dans la production et</a:t>
            </a:r>
          </a:p>
          <a:p>
            <a:r>
              <a:rPr lang="fr-CH" dirty="0"/>
              <a:t>les montants des droits à l’importation à acquitter.</a:t>
            </a:r>
          </a:p>
          <a:p>
            <a:pPr marL="0" indent="0">
              <a:buNone/>
            </a:pPr>
            <a:endParaRPr lang="en-US" dirty="0"/>
          </a:p>
        </p:txBody>
      </p:sp>
    </p:spTree>
    <p:extLst>
      <p:ext uri="{BB962C8B-B14F-4D97-AF65-F5344CB8AC3E}">
        <p14:creationId xmlns:p14="http://schemas.microsoft.com/office/powerpoint/2010/main" val="14619861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 conclusion</a:t>
            </a:r>
          </a:p>
        </p:txBody>
      </p:sp>
      <p:sp>
        <p:nvSpPr>
          <p:cNvPr id="3" name="Content Placeholder 2"/>
          <p:cNvSpPr>
            <a:spLocks noGrp="1"/>
          </p:cNvSpPr>
          <p:nvPr>
            <p:ph idx="1"/>
          </p:nvPr>
        </p:nvSpPr>
        <p:spPr/>
        <p:txBody>
          <a:bodyPr>
            <a:normAutofit fontScale="92500" lnSpcReduction="10000"/>
          </a:bodyPr>
          <a:lstStyle/>
          <a:p>
            <a:pPr marL="0" indent="0">
              <a:buNone/>
            </a:pPr>
            <a:r>
              <a:rPr lang="fr-CH" dirty="0"/>
              <a:t>A la fin de l’enquête préliminaire, une conclusion dûment motivée devra être établie pour chaque régime demandé</a:t>
            </a:r>
            <a:r>
              <a:rPr lang="fr-CH" dirty="0" smtClean="0"/>
              <a:t>.</a:t>
            </a:r>
          </a:p>
          <a:p>
            <a:r>
              <a:rPr lang="fr-CH" dirty="0"/>
              <a:t>La conclusion devra reprendre point par point si l’opérateur répond aux exigences demandées ou non pour obtenir l’autorisation du régime en question.</a:t>
            </a:r>
          </a:p>
          <a:p>
            <a:r>
              <a:rPr lang="fr-CH" dirty="0"/>
              <a:t>Un avis consultatif, sur lequel l’administration des Douanes et Accises pourra s’appuyer pour établir ou non l’autorisation en question, devra être rédigé</a:t>
            </a:r>
            <a:r>
              <a:rPr lang="fr-CH" dirty="0" smtClean="0"/>
              <a:t>.</a:t>
            </a:r>
          </a:p>
          <a:p>
            <a:r>
              <a:rPr lang="fr-CH" dirty="0"/>
              <a:t>En cas d’avis défavorable, une conclusion plus explicite et circonstanciée sera rédigée en y mettant en exergue les arguments pour lesquels l’Administration des douanes et accises prônera un avis défavorable.</a:t>
            </a:r>
          </a:p>
          <a:p>
            <a:pPr marL="0" indent="0">
              <a:buNone/>
            </a:pPr>
            <a:endParaRPr lang="en-US" dirty="0"/>
          </a:p>
        </p:txBody>
      </p:sp>
    </p:spTree>
    <p:extLst>
      <p:ext uri="{BB962C8B-B14F-4D97-AF65-F5344CB8AC3E}">
        <p14:creationId xmlns:p14="http://schemas.microsoft.com/office/powerpoint/2010/main" val="13757428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Périodicité</a:t>
            </a:r>
            <a:r>
              <a:rPr lang="en-US" dirty="0" smtClean="0"/>
              <a:t> des </a:t>
            </a:r>
            <a:r>
              <a:rPr lang="en-US" dirty="0" err="1" smtClean="0"/>
              <a:t>contrôles</a:t>
            </a:r>
            <a:r>
              <a:rPr lang="en-US" dirty="0" smtClean="0"/>
              <a:t> </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smtClean="0"/>
              <a:t>L’ </a:t>
            </a:r>
            <a:r>
              <a:rPr lang="en-US" dirty="0" err="1" smtClean="0"/>
              <a:t>enquête</a:t>
            </a:r>
            <a:r>
              <a:rPr lang="en-US" dirty="0" smtClean="0"/>
              <a:t> </a:t>
            </a:r>
            <a:r>
              <a:rPr lang="en-US" dirty="0" err="1" smtClean="0"/>
              <a:t>préliminaire</a:t>
            </a:r>
            <a:r>
              <a:rPr lang="en-US" dirty="0" smtClean="0"/>
              <a:t> </a:t>
            </a:r>
            <a:r>
              <a:rPr lang="en-US" dirty="0" err="1" smtClean="0"/>
              <a:t>est</a:t>
            </a:r>
            <a:r>
              <a:rPr lang="en-US" dirty="0" smtClean="0"/>
              <a:t> </a:t>
            </a:r>
            <a:r>
              <a:rPr lang="en-US" dirty="0" err="1" smtClean="0"/>
              <a:t>effectuée</a:t>
            </a:r>
            <a:r>
              <a:rPr lang="en-US" dirty="0" smtClean="0"/>
              <a:t> </a:t>
            </a:r>
            <a:r>
              <a:rPr lang="en-US" dirty="0" err="1" smtClean="0"/>
              <a:t>soit</a:t>
            </a:r>
            <a:r>
              <a:rPr lang="en-US" dirty="0" smtClean="0"/>
              <a:t>:</a:t>
            </a:r>
          </a:p>
          <a:p>
            <a:endParaRPr lang="en-US" dirty="0"/>
          </a:p>
          <a:p>
            <a:r>
              <a:rPr lang="en-US" dirty="0" err="1" smtClean="0"/>
              <a:t>Lors</a:t>
            </a:r>
            <a:r>
              <a:rPr lang="en-US" dirty="0" smtClean="0"/>
              <a:t> de </a:t>
            </a:r>
            <a:r>
              <a:rPr lang="en-US" dirty="0" err="1" smtClean="0"/>
              <a:t>l’introduction</a:t>
            </a:r>
            <a:r>
              <a:rPr lang="en-US" dirty="0" smtClean="0"/>
              <a:t> </a:t>
            </a:r>
            <a:r>
              <a:rPr lang="en-US" dirty="0" err="1" smtClean="0"/>
              <a:t>d’une</a:t>
            </a:r>
            <a:r>
              <a:rPr lang="en-US" dirty="0" smtClean="0"/>
              <a:t> nouvelle </a:t>
            </a:r>
            <a:r>
              <a:rPr lang="en-US" dirty="0" err="1" smtClean="0"/>
              <a:t>demande</a:t>
            </a:r>
            <a:r>
              <a:rPr lang="en-US" dirty="0" smtClean="0"/>
              <a:t>.</a:t>
            </a:r>
          </a:p>
          <a:p>
            <a:r>
              <a:rPr lang="en-US" dirty="0" err="1" smtClean="0"/>
              <a:t>Lors</a:t>
            </a:r>
            <a:r>
              <a:rPr lang="en-US" dirty="0" smtClean="0"/>
              <a:t> d’un monitoring tout les 3 ans. ( destination </a:t>
            </a:r>
            <a:r>
              <a:rPr lang="en-US" dirty="0" err="1" smtClean="0"/>
              <a:t>particulière</a:t>
            </a:r>
            <a:r>
              <a:rPr lang="en-US" dirty="0" smtClean="0"/>
              <a:t>, </a:t>
            </a:r>
            <a:r>
              <a:rPr lang="en-US" dirty="0" err="1" smtClean="0"/>
              <a:t>perfectionnement</a:t>
            </a:r>
            <a:r>
              <a:rPr lang="en-US" dirty="0" smtClean="0"/>
              <a:t> </a:t>
            </a:r>
            <a:r>
              <a:rPr lang="en-US" dirty="0" err="1" smtClean="0"/>
              <a:t>actif</a:t>
            </a:r>
            <a:r>
              <a:rPr lang="en-US" dirty="0" smtClean="0"/>
              <a:t> / </a:t>
            </a:r>
            <a:r>
              <a:rPr lang="en-US" dirty="0" err="1" smtClean="0"/>
              <a:t>passif</a:t>
            </a:r>
            <a:r>
              <a:rPr lang="en-US" dirty="0" smtClean="0"/>
              <a:t> ) le </a:t>
            </a:r>
            <a:r>
              <a:rPr lang="en-US" dirty="0" err="1" smtClean="0"/>
              <a:t>délais</a:t>
            </a:r>
            <a:r>
              <a:rPr lang="en-US" dirty="0" smtClean="0"/>
              <a:t> </a:t>
            </a:r>
            <a:r>
              <a:rPr lang="en-US" dirty="0" err="1" smtClean="0"/>
              <a:t>est</a:t>
            </a:r>
            <a:r>
              <a:rPr lang="en-US" dirty="0" smtClean="0"/>
              <a:t> de 5 </a:t>
            </a:r>
            <a:r>
              <a:rPr lang="en-US" dirty="0" err="1" smtClean="0"/>
              <a:t>ans</a:t>
            </a:r>
            <a:r>
              <a:rPr lang="en-US" dirty="0" smtClean="0"/>
              <a:t> </a:t>
            </a:r>
            <a:r>
              <a:rPr lang="en-US" dirty="0" err="1" smtClean="0"/>
              <a:t>sauf</a:t>
            </a:r>
            <a:r>
              <a:rPr lang="en-US" dirty="0" smtClean="0"/>
              <a:t> </a:t>
            </a:r>
            <a:r>
              <a:rPr lang="en-US" dirty="0" err="1" smtClean="0"/>
              <a:t>en</a:t>
            </a:r>
            <a:r>
              <a:rPr lang="en-US" dirty="0" smtClean="0"/>
              <a:t> </a:t>
            </a:r>
            <a:r>
              <a:rPr lang="en-US" dirty="0" err="1" smtClean="0"/>
              <a:t>cas</a:t>
            </a:r>
            <a:r>
              <a:rPr lang="en-US" dirty="0" smtClean="0"/>
              <a:t> de </a:t>
            </a:r>
            <a:r>
              <a:rPr lang="en-US" dirty="0" err="1" smtClean="0"/>
              <a:t>marchandises</a:t>
            </a:r>
            <a:r>
              <a:rPr lang="en-US" dirty="0" smtClean="0"/>
              <a:t> </a:t>
            </a:r>
            <a:r>
              <a:rPr lang="en-US" dirty="0" err="1" smtClean="0"/>
              <a:t>sensibles</a:t>
            </a:r>
            <a:r>
              <a:rPr lang="en-US" dirty="0" smtClean="0"/>
              <a:t>, </a:t>
            </a:r>
            <a:r>
              <a:rPr lang="en-US" dirty="0" err="1" smtClean="0"/>
              <a:t>alors</a:t>
            </a:r>
            <a:r>
              <a:rPr lang="en-US" dirty="0" smtClean="0"/>
              <a:t> </a:t>
            </a:r>
            <a:r>
              <a:rPr lang="en-US" dirty="0" err="1" smtClean="0"/>
              <a:t>il</a:t>
            </a:r>
            <a:r>
              <a:rPr lang="en-US" dirty="0" smtClean="0"/>
              <a:t> sera fixer </a:t>
            </a:r>
            <a:r>
              <a:rPr lang="en-US" dirty="0" err="1" smtClean="0"/>
              <a:t>comme</a:t>
            </a:r>
            <a:r>
              <a:rPr lang="en-US" dirty="0" smtClean="0"/>
              <a:t> les </a:t>
            </a:r>
            <a:r>
              <a:rPr lang="en-US" dirty="0" err="1" smtClean="0"/>
              <a:t>autres</a:t>
            </a:r>
            <a:r>
              <a:rPr lang="en-US" dirty="0" smtClean="0"/>
              <a:t> </a:t>
            </a:r>
            <a:r>
              <a:rPr lang="en-US" dirty="0" err="1" smtClean="0"/>
              <a:t>autorisations</a:t>
            </a:r>
            <a:r>
              <a:rPr lang="en-US" dirty="0" smtClean="0"/>
              <a:t> à 3 </a:t>
            </a:r>
            <a:r>
              <a:rPr lang="en-US" dirty="0" err="1" smtClean="0"/>
              <a:t>ans</a:t>
            </a:r>
            <a:r>
              <a:rPr lang="en-US" dirty="0" smtClean="0"/>
              <a:t> </a:t>
            </a:r>
          </a:p>
          <a:p>
            <a:endParaRPr lang="en-US" dirty="0"/>
          </a:p>
          <a:p>
            <a:pPr marL="0" indent="0">
              <a:buNone/>
            </a:pPr>
            <a:r>
              <a:rPr lang="en-US" b="1" dirty="0" smtClean="0"/>
              <a:t>NB</a:t>
            </a:r>
            <a:r>
              <a:rPr lang="en-US" dirty="0" smtClean="0"/>
              <a:t>: </a:t>
            </a:r>
            <a:r>
              <a:rPr lang="en-US" dirty="0" err="1" smtClean="0"/>
              <a:t>Lors</a:t>
            </a:r>
            <a:r>
              <a:rPr lang="en-US" dirty="0" smtClean="0"/>
              <a:t> de l’ expiration </a:t>
            </a:r>
            <a:r>
              <a:rPr lang="en-US" dirty="0" err="1" smtClean="0"/>
              <a:t>d’une</a:t>
            </a:r>
            <a:r>
              <a:rPr lang="en-US" dirty="0" smtClean="0"/>
              <a:t> </a:t>
            </a:r>
            <a:r>
              <a:rPr lang="en-US" dirty="0" err="1" smtClean="0"/>
              <a:t>autorisation</a:t>
            </a:r>
            <a:r>
              <a:rPr lang="en-US" dirty="0" smtClean="0"/>
              <a:t> de la destination </a:t>
            </a:r>
            <a:r>
              <a:rPr lang="en-US" dirty="0" err="1" smtClean="0"/>
              <a:t>particulière</a:t>
            </a:r>
            <a:r>
              <a:rPr lang="en-US" dirty="0" smtClean="0"/>
              <a:t>,  d’un </a:t>
            </a:r>
            <a:r>
              <a:rPr lang="en-US" dirty="0" err="1" smtClean="0"/>
              <a:t>perfectionnement</a:t>
            </a:r>
            <a:r>
              <a:rPr lang="en-US" dirty="0" smtClean="0"/>
              <a:t> </a:t>
            </a:r>
            <a:r>
              <a:rPr lang="en-US" dirty="0" err="1" smtClean="0"/>
              <a:t>actif</a:t>
            </a:r>
            <a:r>
              <a:rPr lang="en-US" dirty="0" smtClean="0"/>
              <a:t> </a:t>
            </a:r>
            <a:r>
              <a:rPr lang="en-US" dirty="0" err="1" smtClean="0"/>
              <a:t>ou</a:t>
            </a:r>
            <a:r>
              <a:rPr lang="en-US" dirty="0" smtClean="0"/>
              <a:t> </a:t>
            </a:r>
            <a:r>
              <a:rPr lang="en-US" dirty="0" err="1" smtClean="0"/>
              <a:t>passif</a:t>
            </a:r>
            <a:r>
              <a:rPr lang="en-US" dirty="0" smtClean="0"/>
              <a:t>, le </a:t>
            </a:r>
            <a:r>
              <a:rPr lang="en-US" dirty="0" err="1" smtClean="0"/>
              <a:t>demandeur</a:t>
            </a:r>
            <a:r>
              <a:rPr lang="en-US" dirty="0" smtClean="0"/>
              <a:t> a le </a:t>
            </a:r>
            <a:r>
              <a:rPr lang="en-US" dirty="0" err="1" smtClean="0"/>
              <a:t>choix</a:t>
            </a:r>
            <a:r>
              <a:rPr lang="en-US" dirty="0" smtClean="0"/>
              <a:t> entre </a:t>
            </a:r>
            <a:r>
              <a:rPr lang="en-US" dirty="0" err="1" smtClean="0"/>
              <a:t>soit</a:t>
            </a:r>
            <a:r>
              <a:rPr lang="en-US" dirty="0" smtClean="0"/>
              <a:t> prolonger son </a:t>
            </a:r>
            <a:r>
              <a:rPr lang="en-US" dirty="0" err="1" smtClean="0"/>
              <a:t>autorisation</a:t>
            </a:r>
            <a:r>
              <a:rPr lang="en-US" dirty="0" smtClean="0"/>
              <a:t> </a:t>
            </a:r>
            <a:r>
              <a:rPr lang="en-US" dirty="0" err="1" smtClean="0"/>
              <a:t>ou</a:t>
            </a:r>
            <a:r>
              <a:rPr lang="en-US" dirty="0" smtClean="0"/>
              <a:t> </a:t>
            </a:r>
            <a:r>
              <a:rPr lang="en-US" dirty="0" err="1" smtClean="0"/>
              <a:t>bien</a:t>
            </a:r>
            <a:r>
              <a:rPr lang="en-US" dirty="0" smtClean="0"/>
              <a:t> </a:t>
            </a:r>
            <a:r>
              <a:rPr lang="en-US" dirty="0" err="1" smtClean="0"/>
              <a:t>cesser</a:t>
            </a:r>
            <a:r>
              <a:rPr lang="en-US" dirty="0" smtClean="0"/>
              <a:t> son </a:t>
            </a:r>
            <a:r>
              <a:rPr lang="en-US" dirty="0" err="1" smtClean="0"/>
              <a:t>autorisation</a:t>
            </a:r>
            <a:r>
              <a:rPr lang="en-US" dirty="0" smtClean="0"/>
              <a:t> :</a:t>
            </a:r>
          </a:p>
          <a:p>
            <a:r>
              <a:rPr lang="en-US" dirty="0" err="1" smtClean="0"/>
              <a:t>Dans</a:t>
            </a:r>
            <a:r>
              <a:rPr lang="en-US" dirty="0" smtClean="0"/>
              <a:t> le </a:t>
            </a:r>
            <a:r>
              <a:rPr lang="en-US" dirty="0" err="1" smtClean="0"/>
              <a:t>cas</a:t>
            </a:r>
            <a:r>
              <a:rPr lang="en-US" dirty="0" smtClean="0"/>
              <a:t> </a:t>
            </a:r>
            <a:r>
              <a:rPr lang="en-US" dirty="0" err="1" smtClean="0"/>
              <a:t>d’une</a:t>
            </a:r>
            <a:r>
              <a:rPr lang="en-US" dirty="0" smtClean="0"/>
              <a:t> prolongation de l’ </a:t>
            </a:r>
            <a:r>
              <a:rPr lang="en-US" dirty="0" err="1" smtClean="0"/>
              <a:t>autorisation</a:t>
            </a:r>
            <a:r>
              <a:rPr lang="en-US" dirty="0" smtClean="0"/>
              <a:t> du </a:t>
            </a:r>
            <a:r>
              <a:rPr lang="en-US" dirty="0" err="1" smtClean="0"/>
              <a:t>demandeur</a:t>
            </a:r>
            <a:r>
              <a:rPr lang="en-US" dirty="0" smtClean="0"/>
              <a:t> , </a:t>
            </a:r>
            <a:r>
              <a:rPr lang="en-US" dirty="0" err="1" smtClean="0"/>
              <a:t>une</a:t>
            </a:r>
            <a:r>
              <a:rPr lang="en-US" dirty="0" smtClean="0"/>
              <a:t> nouvelle </a:t>
            </a:r>
            <a:r>
              <a:rPr lang="en-US" dirty="0" err="1" smtClean="0"/>
              <a:t>enquête</a:t>
            </a:r>
            <a:r>
              <a:rPr lang="en-US" dirty="0" smtClean="0"/>
              <a:t> </a:t>
            </a:r>
            <a:r>
              <a:rPr lang="en-US" dirty="0" err="1" smtClean="0"/>
              <a:t>devra</a:t>
            </a:r>
            <a:r>
              <a:rPr lang="en-US" dirty="0" smtClean="0"/>
              <a:t> </a:t>
            </a:r>
            <a:r>
              <a:rPr lang="en-US" dirty="0" err="1" smtClean="0"/>
              <a:t>avoir</a:t>
            </a:r>
            <a:r>
              <a:rPr lang="en-US" dirty="0" smtClean="0"/>
              <a:t> lieu.</a:t>
            </a:r>
          </a:p>
          <a:p>
            <a:r>
              <a:rPr lang="en-US" dirty="0" err="1" smtClean="0"/>
              <a:t>Dans</a:t>
            </a:r>
            <a:r>
              <a:rPr lang="en-US" dirty="0" smtClean="0"/>
              <a:t> le </a:t>
            </a:r>
            <a:r>
              <a:rPr lang="en-US" dirty="0" err="1" smtClean="0"/>
              <a:t>cas</a:t>
            </a:r>
            <a:r>
              <a:rPr lang="en-US" dirty="0" smtClean="0"/>
              <a:t> de la cessation de l’ </a:t>
            </a:r>
            <a:r>
              <a:rPr lang="en-US" dirty="0" err="1" smtClean="0"/>
              <a:t>autorisation</a:t>
            </a:r>
            <a:r>
              <a:rPr lang="en-US" dirty="0" smtClean="0"/>
              <a:t> du </a:t>
            </a:r>
            <a:r>
              <a:rPr lang="en-US" dirty="0" err="1" smtClean="0"/>
              <a:t>demandeur</a:t>
            </a:r>
            <a:r>
              <a:rPr lang="en-US" dirty="0" smtClean="0"/>
              <a:t>, un </a:t>
            </a:r>
            <a:r>
              <a:rPr lang="en-US" dirty="0" err="1" smtClean="0"/>
              <a:t>inventaire</a:t>
            </a:r>
            <a:r>
              <a:rPr lang="en-US" dirty="0" smtClean="0"/>
              <a:t> </a:t>
            </a:r>
            <a:r>
              <a:rPr lang="en-US" dirty="0" err="1" smtClean="0"/>
              <a:t>devra</a:t>
            </a:r>
            <a:r>
              <a:rPr lang="en-US" dirty="0" smtClean="0"/>
              <a:t> </a:t>
            </a:r>
            <a:r>
              <a:rPr lang="en-US" dirty="0" err="1" smtClean="0"/>
              <a:t>être</a:t>
            </a:r>
            <a:r>
              <a:rPr lang="en-US" dirty="0" smtClean="0"/>
              <a:t> </a:t>
            </a:r>
            <a:r>
              <a:rPr lang="en-US" dirty="0" err="1" smtClean="0"/>
              <a:t>effectué</a:t>
            </a:r>
            <a:r>
              <a:rPr lang="en-US" dirty="0" smtClean="0"/>
              <a:t> par les agents </a:t>
            </a:r>
            <a:r>
              <a:rPr lang="en-US" dirty="0" err="1" smtClean="0"/>
              <a:t>compétents</a:t>
            </a:r>
            <a:r>
              <a:rPr lang="en-US" dirty="0" smtClean="0"/>
              <a:t> de la </a:t>
            </a:r>
            <a:r>
              <a:rPr lang="en-US" dirty="0" err="1" smtClean="0"/>
              <a:t>matière</a:t>
            </a:r>
            <a:r>
              <a:rPr lang="en-US" dirty="0" smtClean="0"/>
              <a:t> première restante, </a:t>
            </a:r>
            <a:r>
              <a:rPr lang="en-US" dirty="0" err="1" smtClean="0"/>
              <a:t>celle</a:t>
            </a:r>
            <a:r>
              <a:rPr lang="en-US" dirty="0" smtClean="0"/>
              <a:t>-ci </a:t>
            </a:r>
            <a:r>
              <a:rPr lang="en-US" dirty="0" err="1" smtClean="0"/>
              <a:t>devra</a:t>
            </a:r>
            <a:r>
              <a:rPr lang="en-US" dirty="0" smtClean="0"/>
              <a:t> </a:t>
            </a:r>
            <a:r>
              <a:rPr lang="en-US" dirty="0" err="1" smtClean="0"/>
              <a:t>être</a:t>
            </a:r>
            <a:r>
              <a:rPr lang="en-US" dirty="0" smtClean="0"/>
              <a:t> </a:t>
            </a:r>
            <a:r>
              <a:rPr lang="en-US" dirty="0" err="1" smtClean="0"/>
              <a:t>mise</a:t>
            </a:r>
            <a:r>
              <a:rPr lang="en-US" dirty="0" smtClean="0"/>
              <a:t> </a:t>
            </a:r>
            <a:r>
              <a:rPr lang="en-US" dirty="0" err="1" smtClean="0"/>
              <a:t>en</a:t>
            </a:r>
            <a:r>
              <a:rPr lang="en-US" dirty="0" smtClean="0"/>
              <a:t> </a:t>
            </a:r>
            <a:r>
              <a:rPr lang="en-US" dirty="0" err="1" smtClean="0"/>
              <a:t>libre</a:t>
            </a:r>
            <a:r>
              <a:rPr lang="en-US" dirty="0" smtClean="0"/>
              <a:t> </a:t>
            </a:r>
            <a:r>
              <a:rPr lang="en-US" dirty="0" err="1" smtClean="0"/>
              <a:t>pratique</a:t>
            </a:r>
            <a:r>
              <a:rPr lang="en-US" dirty="0" smtClean="0"/>
              <a:t> sans </a:t>
            </a:r>
            <a:r>
              <a:rPr lang="en-US" dirty="0" err="1" smtClean="0"/>
              <a:t>exonération</a:t>
            </a:r>
            <a:r>
              <a:rPr lang="en-US" dirty="0" smtClean="0"/>
              <a:t> des droits de </a:t>
            </a:r>
            <a:r>
              <a:rPr lang="en-US" dirty="0" err="1" smtClean="0"/>
              <a:t>douanes</a:t>
            </a:r>
            <a:r>
              <a:rPr lang="en-US" dirty="0" smtClean="0"/>
              <a:t>.</a:t>
            </a:r>
            <a:endParaRPr lang="en-US" dirty="0"/>
          </a:p>
        </p:txBody>
      </p:sp>
    </p:spTree>
    <p:extLst>
      <p:ext uri="{BB962C8B-B14F-4D97-AF65-F5344CB8AC3E}">
        <p14:creationId xmlns:p14="http://schemas.microsoft.com/office/powerpoint/2010/main" val="30482603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Conseils</a:t>
            </a:r>
            <a:r>
              <a:rPr lang="en-US" dirty="0" smtClean="0"/>
              <a:t> </a:t>
            </a:r>
            <a:r>
              <a:rPr lang="en-US" dirty="0" err="1" smtClean="0"/>
              <a:t>utiles</a:t>
            </a:r>
            <a:endParaRPr lang="en-US" dirty="0"/>
          </a:p>
        </p:txBody>
      </p:sp>
      <p:sp>
        <p:nvSpPr>
          <p:cNvPr id="3" name="Content Placeholder 2"/>
          <p:cNvSpPr>
            <a:spLocks noGrp="1"/>
          </p:cNvSpPr>
          <p:nvPr>
            <p:ph idx="1"/>
          </p:nvPr>
        </p:nvSpPr>
        <p:spPr/>
        <p:txBody>
          <a:bodyPr>
            <a:normAutofit/>
          </a:bodyPr>
          <a:lstStyle/>
          <a:p>
            <a:r>
              <a:rPr lang="en-US" dirty="0" err="1" smtClean="0"/>
              <a:t>Lorsqu</a:t>
            </a:r>
            <a:r>
              <a:rPr lang="en-US" dirty="0" smtClean="0"/>
              <a:t>’ un </a:t>
            </a:r>
            <a:r>
              <a:rPr lang="en-US" dirty="0" err="1" smtClean="0"/>
              <a:t>opérateur</a:t>
            </a:r>
            <a:r>
              <a:rPr lang="en-US" dirty="0" smtClean="0"/>
              <a:t> </a:t>
            </a:r>
            <a:r>
              <a:rPr lang="en-US" dirty="0" err="1" smtClean="0"/>
              <a:t>demande</a:t>
            </a:r>
            <a:r>
              <a:rPr lang="en-US" dirty="0" smtClean="0"/>
              <a:t> </a:t>
            </a:r>
            <a:r>
              <a:rPr lang="en-US" dirty="0" err="1" smtClean="0"/>
              <a:t>une</a:t>
            </a:r>
            <a:r>
              <a:rPr lang="en-US" dirty="0" smtClean="0"/>
              <a:t> </a:t>
            </a:r>
            <a:r>
              <a:rPr lang="en-US" dirty="0" err="1" smtClean="0"/>
              <a:t>autorisation</a:t>
            </a:r>
            <a:r>
              <a:rPr lang="en-US" dirty="0" smtClean="0"/>
              <a:t> du </a:t>
            </a:r>
            <a:r>
              <a:rPr lang="en-US" dirty="0" err="1" smtClean="0"/>
              <a:t>perfectionnement</a:t>
            </a:r>
            <a:r>
              <a:rPr lang="en-US" dirty="0" smtClean="0"/>
              <a:t> </a:t>
            </a:r>
            <a:r>
              <a:rPr lang="en-US" dirty="0" err="1" smtClean="0"/>
              <a:t>actif</a:t>
            </a:r>
            <a:r>
              <a:rPr lang="en-US" dirty="0" smtClean="0"/>
              <a:t>, </a:t>
            </a:r>
            <a:r>
              <a:rPr lang="en-US" dirty="0" err="1" smtClean="0"/>
              <a:t>passif</a:t>
            </a:r>
            <a:r>
              <a:rPr lang="en-US" dirty="0" smtClean="0"/>
              <a:t> </a:t>
            </a:r>
            <a:r>
              <a:rPr lang="en-US" dirty="0" err="1" smtClean="0"/>
              <a:t>ou</a:t>
            </a:r>
            <a:r>
              <a:rPr lang="en-US" dirty="0" smtClean="0"/>
              <a:t> de </a:t>
            </a:r>
            <a:r>
              <a:rPr lang="en-US" dirty="0" err="1" smtClean="0"/>
              <a:t>l’entrepôt</a:t>
            </a:r>
            <a:r>
              <a:rPr lang="en-US" dirty="0" smtClean="0"/>
              <a:t> </a:t>
            </a:r>
            <a:r>
              <a:rPr lang="en-US" dirty="0" err="1" smtClean="0"/>
              <a:t>douanier</a:t>
            </a:r>
            <a:r>
              <a:rPr lang="en-US" dirty="0" smtClean="0"/>
              <a:t>,  </a:t>
            </a:r>
            <a:r>
              <a:rPr lang="en-US" dirty="0" err="1" smtClean="0"/>
              <a:t>l’Inspection</a:t>
            </a:r>
            <a:r>
              <a:rPr lang="en-US" dirty="0" smtClean="0"/>
              <a:t> Douanes et </a:t>
            </a:r>
            <a:r>
              <a:rPr lang="en-US" dirty="0" err="1" smtClean="0"/>
              <a:t>Accises</a:t>
            </a:r>
            <a:r>
              <a:rPr lang="en-US" dirty="0" smtClean="0"/>
              <a:t> </a:t>
            </a:r>
            <a:r>
              <a:rPr lang="en-US" dirty="0" err="1" smtClean="0"/>
              <a:t>demande</a:t>
            </a:r>
            <a:r>
              <a:rPr lang="en-US" dirty="0" smtClean="0"/>
              <a:t> au service de l’ Audit d’ </a:t>
            </a:r>
            <a:r>
              <a:rPr lang="en-US" dirty="0" err="1" smtClean="0"/>
              <a:t>effectuer</a:t>
            </a:r>
            <a:r>
              <a:rPr lang="en-US" dirty="0" smtClean="0"/>
              <a:t> </a:t>
            </a:r>
            <a:r>
              <a:rPr lang="en-US" dirty="0" err="1" smtClean="0"/>
              <a:t>une</a:t>
            </a:r>
            <a:r>
              <a:rPr lang="en-US" dirty="0" smtClean="0"/>
              <a:t> </a:t>
            </a:r>
            <a:r>
              <a:rPr lang="en-US" dirty="0" err="1" smtClean="0"/>
              <a:t>enquête</a:t>
            </a:r>
            <a:r>
              <a:rPr lang="en-US" dirty="0" smtClean="0"/>
              <a:t> </a:t>
            </a:r>
            <a:r>
              <a:rPr lang="en-US" dirty="0" err="1" smtClean="0"/>
              <a:t>dénommèe</a:t>
            </a:r>
            <a:r>
              <a:rPr lang="en-US" dirty="0" smtClean="0"/>
              <a:t> </a:t>
            </a:r>
            <a:r>
              <a:rPr lang="en-US" dirty="0" err="1" smtClean="0"/>
              <a:t>Pré</a:t>
            </a:r>
            <a:r>
              <a:rPr lang="en-US" dirty="0" smtClean="0"/>
              <a:t> Audit, </a:t>
            </a:r>
            <a:r>
              <a:rPr lang="en-US" dirty="0" err="1" smtClean="0"/>
              <a:t>cette</a:t>
            </a:r>
            <a:r>
              <a:rPr lang="en-US" dirty="0" smtClean="0"/>
              <a:t> </a:t>
            </a:r>
            <a:r>
              <a:rPr lang="en-US" dirty="0" err="1" smtClean="0"/>
              <a:t>enquête</a:t>
            </a:r>
            <a:r>
              <a:rPr lang="en-US" dirty="0" smtClean="0"/>
              <a:t> a pour but:</a:t>
            </a:r>
          </a:p>
          <a:p>
            <a:pPr marL="514350" indent="-514350">
              <a:buFont typeface="+mj-lt"/>
              <a:buAutoNum type="arabicPeriod"/>
            </a:pPr>
            <a:r>
              <a:rPr lang="en-US" dirty="0" err="1" smtClean="0"/>
              <a:t>D’effectuer</a:t>
            </a:r>
            <a:r>
              <a:rPr lang="en-US" dirty="0" smtClean="0"/>
              <a:t> </a:t>
            </a:r>
            <a:r>
              <a:rPr lang="en-US" dirty="0" err="1" smtClean="0"/>
              <a:t>une</a:t>
            </a:r>
            <a:r>
              <a:rPr lang="en-US" dirty="0" smtClean="0"/>
              <a:t> </a:t>
            </a:r>
            <a:r>
              <a:rPr lang="en-US" dirty="0" err="1" smtClean="0"/>
              <a:t>réunion</a:t>
            </a:r>
            <a:r>
              <a:rPr lang="en-US" dirty="0" smtClean="0"/>
              <a:t> avec le </a:t>
            </a:r>
            <a:r>
              <a:rPr lang="en-US" dirty="0" err="1" smtClean="0"/>
              <a:t>demandeur</a:t>
            </a:r>
            <a:r>
              <a:rPr lang="en-US" dirty="0" smtClean="0"/>
              <a:t> pour </a:t>
            </a:r>
            <a:r>
              <a:rPr lang="en-US" dirty="0" err="1" smtClean="0"/>
              <a:t>comprendre</a:t>
            </a:r>
            <a:r>
              <a:rPr lang="en-US" dirty="0" smtClean="0"/>
              <a:t> les raisons de </a:t>
            </a:r>
            <a:r>
              <a:rPr lang="en-US" dirty="0" err="1" smtClean="0"/>
              <a:t>sa</a:t>
            </a:r>
            <a:r>
              <a:rPr lang="en-US" dirty="0" smtClean="0"/>
              <a:t> </a:t>
            </a:r>
            <a:r>
              <a:rPr lang="en-US" dirty="0" err="1" smtClean="0"/>
              <a:t>demande</a:t>
            </a:r>
            <a:r>
              <a:rPr lang="en-US" dirty="0" smtClean="0"/>
              <a:t> </a:t>
            </a:r>
            <a:r>
              <a:rPr lang="en-US" dirty="0" err="1" smtClean="0"/>
              <a:t>mais</a:t>
            </a:r>
            <a:r>
              <a:rPr lang="en-US" dirty="0" smtClean="0"/>
              <a:t> </a:t>
            </a:r>
            <a:r>
              <a:rPr lang="en-US" dirty="0" err="1" smtClean="0"/>
              <a:t>aussi</a:t>
            </a:r>
            <a:r>
              <a:rPr lang="en-US" dirty="0" smtClean="0"/>
              <a:t> le mode </a:t>
            </a:r>
            <a:r>
              <a:rPr lang="en-US" dirty="0" err="1" smtClean="0"/>
              <a:t>opératoire</a:t>
            </a:r>
            <a:r>
              <a:rPr lang="en-US" dirty="0" smtClean="0"/>
              <a:t> </a:t>
            </a:r>
            <a:r>
              <a:rPr lang="en-US" dirty="0" err="1" smtClean="0"/>
              <a:t>prévu</a:t>
            </a:r>
            <a:r>
              <a:rPr lang="en-US" dirty="0" smtClean="0"/>
              <a:t> . ( divers </a:t>
            </a:r>
            <a:r>
              <a:rPr lang="en-US" dirty="0" err="1" smtClean="0"/>
              <a:t>informations</a:t>
            </a:r>
            <a:r>
              <a:rPr lang="en-US" dirty="0" smtClean="0"/>
              <a:t> sur le business </a:t>
            </a:r>
            <a:r>
              <a:rPr lang="en-US" dirty="0" err="1" smtClean="0"/>
              <a:t>prévu</a:t>
            </a:r>
            <a:r>
              <a:rPr lang="en-US" dirty="0" smtClean="0"/>
              <a:t> )</a:t>
            </a:r>
          </a:p>
          <a:p>
            <a:pPr marL="514350" indent="-514350">
              <a:buFont typeface="+mj-lt"/>
              <a:buAutoNum type="arabicPeriod"/>
            </a:pPr>
            <a:r>
              <a:rPr lang="en-US" dirty="0" err="1" smtClean="0"/>
              <a:t>Mais</a:t>
            </a:r>
            <a:r>
              <a:rPr lang="en-US" dirty="0" smtClean="0"/>
              <a:t> </a:t>
            </a:r>
            <a:r>
              <a:rPr lang="en-US" dirty="0" err="1" smtClean="0"/>
              <a:t>aussi</a:t>
            </a:r>
            <a:r>
              <a:rPr lang="en-US" dirty="0" smtClean="0"/>
              <a:t> de donner son accord au service de </a:t>
            </a:r>
            <a:r>
              <a:rPr lang="en-US" dirty="0" err="1" smtClean="0"/>
              <a:t>l’inspection</a:t>
            </a:r>
            <a:r>
              <a:rPr lang="en-US" dirty="0" smtClean="0"/>
              <a:t> Douanes et </a:t>
            </a:r>
            <a:r>
              <a:rPr lang="en-US" dirty="0" err="1" smtClean="0"/>
              <a:t>Accises</a:t>
            </a:r>
            <a:r>
              <a:rPr lang="en-US" dirty="0" smtClean="0"/>
              <a:t> </a:t>
            </a:r>
            <a:r>
              <a:rPr lang="en-US" dirty="0" err="1" smtClean="0"/>
              <a:t>concernant</a:t>
            </a:r>
            <a:r>
              <a:rPr lang="en-US" dirty="0" smtClean="0"/>
              <a:t> la </a:t>
            </a:r>
            <a:r>
              <a:rPr lang="en-US" dirty="0" err="1" smtClean="0"/>
              <a:t>faisabilité</a:t>
            </a:r>
            <a:r>
              <a:rPr lang="en-US" dirty="0" smtClean="0"/>
              <a:t> de </a:t>
            </a:r>
            <a:r>
              <a:rPr lang="en-US" dirty="0" err="1" smtClean="0"/>
              <a:t>cette</a:t>
            </a:r>
            <a:r>
              <a:rPr lang="en-US" dirty="0" smtClean="0"/>
              <a:t> </a:t>
            </a:r>
            <a:r>
              <a:rPr lang="en-US" dirty="0" err="1" smtClean="0"/>
              <a:t>autorisation</a:t>
            </a:r>
            <a:r>
              <a:rPr lang="en-US" dirty="0" smtClean="0"/>
              <a:t>.</a:t>
            </a:r>
          </a:p>
          <a:p>
            <a:endParaRPr lang="en-US" dirty="0"/>
          </a:p>
        </p:txBody>
      </p:sp>
    </p:spTree>
    <p:extLst>
      <p:ext uri="{BB962C8B-B14F-4D97-AF65-F5344CB8AC3E}">
        <p14:creationId xmlns:p14="http://schemas.microsoft.com/office/powerpoint/2010/main" val="157300341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7780</Words>
  <Application>Microsoft Office PowerPoint</Application>
  <PresentationFormat>Widescreen</PresentationFormat>
  <Paragraphs>325</Paragraphs>
  <Slides>61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Calibri</vt:lpstr>
      <vt:lpstr>Calibri Light</vt:lpstr>
      <vt:lpstr>Office</vt:lpstr>
      <vt:lpstr> </vt:lpstr>
      <vt:lpstr>Il existe 4 différents types de régime particuliers</vt:lpstr>
      <vt:lpstr>L’enquête préliminaire est articulée en 3 parties, à savoir :</vt:lpstr>
      <vt:lpstr>Les informations générales de l’opérateur</vt:lpstr>
      <vt:lpstr>Suite les informations générales de l’opérateur </vt:lpstr>
      <vt:lpstr>Suite information générale de l’ opérateur ( destination particulière )</vt:lpstr>
      <vt:lpstr>L’examen des conditions</vt:lpstr>
      <vt:lpstr>1. Le transit</vt:lpstr>
      <vt:lpstr>L’autorisation du destinataire agréé</vt:lpstr>
      <vt:lpstr>Suite des conditions préalables pour l’autorisation du destinataire agréé</vt:lpstr>
      <vt:lpstr>Suite des conditions préalables pour l’autorisation du destinataire agréé</vt:lpstr>
      <vt:lpstr>Suite et fin des conditions préalables pour l’ autorisation du destinataire agréé</vt:lpstr>
      <vt:lpstr>L’ autorisation de l’ expéditeur agréé</vt:lpstr>
      <vt:lpstr>2. Le stockage</vt:lpstr>
      <vt:lpstr>L’ entrepôt douanier</vt:lpstr>
      <vt:lpstr>Les conditions préalables pour le régime de l’ entrepôt douanier</vt:lpstr>
      <vt:lpstr>Suite Les conditions préalables pour le régime de l’ entrepôt douanier</vt:lpstr>
      <vt:lpstr>Suite Les conditions préalables pour le régime de l’ entrepôt douanier</vt:lpstr>
      <vt:lpstr>Suite Les conditions préalables pour le régime de l’ entrepôt douanier</vt:lpstr>
      <vt:lpstr>Suite Les conditions préalables pour le régime de l’ entrepôt douanier</vt:lpstr>
      <vt:lpstr>La zone franche </vt:lpstr>
      <vt:lpstr>Procédure :</vt:lpstr>
      <vt:lpstr>3. L’utilisation spécifique </vt:lpstr>
      <vt:lpstr>L’admission temporaire</vt:lpstr>
      <vt:lpstr>Les conditions préalables pour le régime de l’admission temporaire</vt:lpstr>
      <vt:lpstr>Les conditions préalables pour le régime de l’admission temporaire</vt:lpstr>
      <vt:lpstr>La destination particulière</vt:lpstr>
      <vt:lpstr>Les conditions préalables pour le régime de la destination particulière</vt:lpstr>
      <vt:lpstr>Les conditions préalables pour le régime de la destination particulière</vt:lpstr>
      <vt:lpstr>Les conditions préalables pour le régime de la destination particulière</vt:lpstr>
      <vt:lpstr>Les conditions préalables pour le régime de la destination particulière</vt:lpstr>
      <vt:lpstr>Les conditions préalables pour le régime de la destination particulière</vt:lpstr>
      <vt:lpstr>Les conditions préalables pour le régime de la destination particulière</vt:lpstr>
      <vt:lpstr>Les conditions préalables pour le régime de la destination particulière</vt:lpstr>
      <vt:lpstr> 4. La transformation</vt:lpstr>
      <vt:lpstr>Le perfectionnement actif</vt:lpstr>
      <vt:lpstr>Les conditions préalables pour le régime du perfectionnement actif</vt:lpstr>
      <vt:lpstr>Suite Les conditions préalables pour le régime du perfectionnement actif </vt:lpstr>
      <vt:lpstr>Suite :Les conditions préalables pour le régime du perfectionnement actif</vt:lpstr>
      <vt:lpstr>Suite :Les conditions préalables pour le régime du perfectionnement actif</vt:lpstr>
      <vt:lpstr>Suite Les conditions préalables pour le régime du perfectionnement actif</vt:lpstr>
      <vt:lpstr>Suite Les conditions préalables pour le régime du perfectionnement actif</vt:lpstr>
      <vt:lpstr>Suite Les conditions préalables pour le régime du perfectionnement actif</vt:lpstr>
      <vt:lpstr>Le perfectionnement passif</vt:lpstr>
      <vt:lpstr>Les conditions préalables pour le régime du perfectionnement passif</vt:lpstr>
      <vt:lpstr>Les conditions préalables pour le régime du perfectionnement passif</vt:lpstr>
      <vt:lpstr>Les conditions préalables pour le régime du perfectionnement passif</vt:lpstr>
      <vt:lpstr>Les conditions préalables pour le régime du perfectionnement passif</vt:lpstr>
      <vt:lpstr>Les écritures</vt:lpstr>
      <vt:lpstr>Les informations communes à tous les régimes/à toutes les autorisations</vt:lpstr>
      <vt:lpstr>Les informations communes à tous les régimes/à toutes les autorisations</vt:lpstr>
      <vt:lpstr>Les informations supplémentaires dans le cadre de l’entrepôt douanier</vt:lpstr>
      <vt:lpstr>Les informations supplémentaires dans le cadre de la zone Franche</vt:lpstr>
      <vt:lpstr>Les informations supplémentaires dans le cadre de l’admission temporaire</vt:lpstr>
      <vt:lpstr>Les informations supplémentaires dans le cadre de la destination particulière</vt:lpstr>
      <vt:lpstr>Les informations supplémentaires dans le cadre du perfectionnement actif</vt:lpstr>
      <vt:lpstr>Les informations supplémentaires dans le cadre du perfectionnement passif</vt:lpstr>
      <vt:lpstr>Le décompte d’apurement</vt:lpstr>
      <vt:lpstr>La conclusion</vt:lpstr>
      <vt:lpstr>Périodicité des contrôles </vt:lpstr>
      <vt:lpstr>Conseils utiles</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Taxe sur les boissons non alcoolisées sucrées</dc:title>
  <dc:creator>mschlink</dc:creator>
  <cp:lastModifiedBy>stucchi</cp:lastModifiedBy>
  <cp:revision>322</cp:revision>
  <cp:lastPrinted>2017-07-12T12:12:41Z</cp:lastPrinted>
  <dcterms:created xsi:type="dcterms:W3CDTF">2017-07-11T09:59:41Z</dcterms:created>
  <dcterms:modified xsi:type="dcterms:W3CDTF">2024-10-24T10:00:23Z</dcterms:modified>
</cp:coreProperties>
</file>