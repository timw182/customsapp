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chlink" initials="m" lastIdx="2" clrIdx="0">
    <p:extLst>
      <p:ext uri="{19B8F6BF-5375-455C-9EA6-DF929625EA0E}">
        <p15:presenceInfo xmlns:p15="http://schemas.microsoft.com/office/powerpoint/2012/main" userId="msch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039E8-4792-4DE3-AA83-F7516F3B65D7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7A034-ED28-44E1-8859-77E415D3450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6911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07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06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38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81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72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235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2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200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77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1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25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C1B58-A5CB-4888-98D1-673EE0D4D308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513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fr-LU" sz="5400" b="1" dirty="0" smtClean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Section XV</a:t>
            </a:r>
            <a:endParaRPr lang="fr-CH" sz="54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Chapitres 72 - 83</a:t>
            </a:r>
          </a:p>
          <a:p>
            <a:r>
              <a:rPr lang="fr-CH" dirty="0" smtClean="0"/>
              <a:t>Métaux communs et ouvrages en ces métaux</a:t>
            </a:r>
            <a:endParaRPr lang="fr-CH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4" y="219138"/>
            <a:ext cx="3031402" cy="818232"/>
          </a:xfrm>
          <a:prstGeom prst="rect">
            <a:avLst/>
          </a:prstGeom>
        </p:spPr>
      </p:pic>
      <p:sp>
        <p:nvSpPr>
          <p:cNvPr id="7" name="Titel 3"/>
          <p:cNvSpPr txBox="1">
            <a:spLocks/>
          </p:cNvSpPr>
          <p:nvPr/>
        </p:nvSpPr>
        <p:spPr>
          <a:xfrm>
            <a:off x="644770" y="5003800"/>
            <a:ext cx="11547230" cy="1295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fr-CH" sz="2800" b="1" dirty="0"/>
          </a:p>
        </p:txBody>
      </p:sp>
    </p:spTree>
    <p:extLst>
      <p:ext uri="{BB962C8B-B14F-4D97-AF65-F5344CB8AC3E}">
        <p14:creationId xmlns:p14="http://schemas.microsoft.com/office/powerpoint/2010/main" val="41203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de la Section: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fr-CH" dirty="0" smtClean="0"/>
          </a:p>
          <a:p>
            <a:endParaRPr lang="fr-CH" dirty="0"/>
          </a:p>
          <a:p>
            <a:endParaRPr lang="fr-CH" dirty="0" smtClean="0"/>
          </a:p>
          <a:p>
            <a:endParaRPr lang="fr-CH" dirty="0"/>
          </a:p>
          <a:p>
            <a:endParaRPr lang="fr-CH" dirty="0" smtClean="0"/>
          </a:p>
          <a:p>
            <a:pPr marL="0" indent="0">
              <a:buNone/>
            </a:pPr>
            <a:endParaRPr lang="fr-CH" dirty="0" smtClean="0"/>
          </a:p>
          <a:p>
            <a:pPr marL="0" indent="0">
              <a:buNone/>
            </a:pPr>
            <a:r>
              <a:rPr lang="fr-CH" u="sng" dirty="0" smtClean="0"/>
              <a:t>Note 2 Section XV: </a:t>
            </a:r>
          </a:p>
          <a:p>
            <a:pPr marL="0" indent="0">
              <a:buNone/>
            </a:pPr>
            <a:r>
              <a:rPr lang="fr-CH" dirty="0" smtClean="0"/>
              <a:t>«..</a:t>
            </a:r>
            <a:r>
              <a:rPr lang="fr-FR" dirty="0" smtClean="0"/>
              <a:t>les </a:t>
            </a:r>
            <a:r>
              <a:rPr lang="fr-FR" dirty="0"/>
              <a:t>ouvrages des chapitres 82 ou 83 sont exclus</a:t>
            </a:r>
          </a:p>
          <a:p>
            <a:pPr marL="0" indent="0">
              <a:buNone/>
            </a:pPr>
            <a:r>
              <a:rPr lang="fr-FR" dirty="0"/>
              <a:t>des chapitres 72 à 76 et 78 à </a:t>
            </a:r>
            <a:r>
              <a:rPr lang="fr-FR" dirty="0" smtClean="0"/>
              <a:t>81 »</a:t>
            </a:r>
            <a:endParaRPr lang="fr-CH" dirty="0"/>
          </a:p>
        </p:txBody>
      </p:sp>
      <p:sp>
        <p:nvSpPr>
          <p:cNvPr id="5" name="Rounded Rectangle 4"/>
          <p:cNvSpPr/>
          <p:nvPr/>
        </p:nvSpPr>
        <p:spPr>
          <a:xfrm>
            <a:off x="1007225" y="2369126"/>
            <a:ext cx="3207327" cy="17622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2800" dirty="0" smtClean="0"/>
              <a:t> Chapitres </a:t>
            </a:r>
            <a:r>
              <a:rPr lang="fr-CH" sz="2800" dirty="0"/>
              <a:t>72 et 73</a:t>
            </a:r>
          </a:p>
          <a:p>
            <a:r>
              <a:rPr lang="fr-CH" sz="2800" dirty="0" smtClean="0"/>
              <a:t> Fonte</a:t>
            </a:r>
            <a:r>
              <a:rPr lang="fr-CH" sz="2800" dirty="0"/>
              <a:t>, Fer et Acier</a:t>
            </a:r>
          </a:p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04112" y="2369126"/>
            <a:ext cx="3183775" cy="17622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/>
              <a:t>Chapitres 74 – 81</a:t>
            </a:r>
          </a:p>
          <a:p>
            <a:pPr algn="ctr"/>
            <a:r>
              <a:rPr lang="fr-FR" sz="2800" dirty="0" smtClean="0"/>
              <a:t>Autres métaux communs</a:t>
            </a:r>
            <a:endParaRPr lang="en-US"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7977447" y="2369126"/>
            <a:ext cx="3225337" cy="17622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Chapitres 82 et 83</a:t>
            </a:r>
          </a:p>
          <a:p>
            <a:pPr algn="ctr"/>
            <a:r>
              <a:rPr lang="fr-FR" sz="2400" dirty="0" smtClean="0"/>
              <a:t>« Certains » ouvrages en fonte, fer, acier ou en autres métaux communs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66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Définition: Métaux « communs »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u="sng" dirty="0" smtClean="0"/>
              <a:t>Voir Note 3 Section XV:</a:t>
            </a:r>
          </a:p>
          <a:p>
            <a:pPr marL="0" indent="0">
              <a:buNone/>
            </a:pPr>
            <a:endParaRPr lang="fr-CH" u="sng" dirty="0" smtClean="0"/>
          </a:p>
          <a:p>
            <a:pPr marL="0" indent="0">
              <a:buNone/>
            </a:pPr>
            <a:r>
              <a:rPr lang="fr-CH" dirty="0"/>
              <a:t>la fonte, le fer et l'acier, le cuivre, le nickel, l'aluminium, le plomb, le </a:t>
            </a:r>
            <a:r>
              <a:rPr lang="fr-CH" dirty="0" smtClean="0"/>
              <a:t>zinc</a:t>
            </a:r>
            <a:r>
              <a:rPr lang="fr-CH" dirty="0" smtClean="0"/>
              <a:t>, l'étain</a:t>
            </a:r>
            <a:r>
              <a:rPr lang="fr-CH" dirty="0"/>
              <a:t>, le tungstène (wolfram), le molybdène, le tantale, le magnésium, le cobalt, le bismuth, le cadmium, le titane, le </a:t>
            </a:r>
            <a:r>
              <a:rPr lang="fr-CH" dirty="0" smtClean="0"/>
              <a:t>zirconium, l'antimoine</a:t>
            </a:r>
            <a:r>
              <a:rPr lang="fr-CH" dirty="0"/>
              <a:t>, le manganèse, le béryllium, le chrome, le germanium, le vanadium, le gallium, le hafnium (celtium), l'indium, le </a:t>
            </a:r>
            <a:r>
              <a:rPr lang="fr-CH" dirty="0" smtClean="0"/>
              <a:t>niobium (columbium</a:t>
            </a:r>
            <a:r>
              <a:rPr lang="fr-CH" dirty="0"/>
              <a:t>), le rhénium et le thallium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967" y="5960225"/>
            <a:ext cx="113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2391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Alliages</a:t>
            </a:r>
            <a:r>
              <a:rPr lang="en-US" dirty="0" smtClean="0"/>
              <a:t>: qui </a:t>
            </a:r>
            <a:r>
              <a:rPr lang="en-US" dirty="0" err="1" smtClean="0"/>
              <a:t>prédomine</a:t>
            </a:r>
            <a:r>
              <a:rPr lang="en-US" dirty="0" smtClean="0"/>
              <a:t>?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/>
              <a:t>Consulter Note 5 Section XV:</a:t>
            </a:r>
          </a:p>
          <a:p>
            <a:endParaRPr lang="fr-FR" dirty="0"/>
          </a:p>
          <a:p>
            <a:r>
              <a:rPr lang="fr-FR" dirty="0" smtClean="0"/>
              <a:t>Alliages de métaux communs (qui prédomine en poids?)</a:t>
            </a:r>
          </a:p>
          <a:p>
            <a:r>
              <a:rPr lang="fr-FR" dirty="0" smtClean="0"/>
              <a:t>Alliages de métaux communs et d’éléments ne relevant pas de cette section</a:t>
            </a:r>
          </a:p>
          <a:p>
            <a:r>
              <a:rPr lang="fr-FR" dirty="0"/>
              <a:t>Alliages de métaux communs </a:t>
            </a:r>
            <a:r>
              <a:rPr lang="fr-FR" dirty="0" smtClean="0"/>
              <a:t>et de métaux précieux  (si supérieur ou égal à 2% </a:t>
            </a:r>
            <a:r>
              <a:rPr lang="fr-FR" dirty="0" smtClean="0">
                <a:sym typeface="Wingdings" panose="05000000000000000000" pitchFamily="2" charset="2"/>
              </a:rPr>
              <a:t> chapitre 71)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168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2 Section XV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417"/>
            <a:ext cx="10515600" cy="4597545"/>
          </a:xfrm>
        </p:spPr>
        <p:txBody>
          <a:bodyPr>
            <a:normAutofit/>
          </a:bodyPr>
          <a:lstStyle/>
          <a:p>
            <a:r>
              <a:rPr lang="fr-FR" u="sng" dirty="0" smtClean="0"/>
              <a:t>Parties </a:t>
            </a:r>
            <a:r>
              <a:rPr lang="fr-FR" u="sng" dirty="0"/>
              <a:t>et fournitures d'emploi </a:t>
            </a:r>
            <a:r>
              <a:rPr lang="fr-FR" u="sng" dirty="0" smtClean="0"/>
              <a:t>général:</a:t>
            </a:r>
          </a:p>
          <a:p>
            <a:endParaRPr lang="fr-FR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5" y="2686744"/>
            <a:ext cx="1543050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46" y="2746985"/>
            <a:ext cx="1980248" cy="1317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585" y="2509622"/>
            <a:ext cx="1592494" cy="1592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187" y="2504238"/>
            <a:ext cx="2416711" cy="1593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171" y="2458328"/>
            <a:ext cx="1639629" cy="16396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05" y="4611334"/>
            <a:ext cx="1672244" cy="16722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4446" y="4663451"/>
            <a:ext cx="1909715" cy="16201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8585" y="4656123"/>
            <a:ext cx="1542780" cy="16347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2939" y="4611334"/>
            <a:ext cx="1790115" cy="16492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171" y="4591160"/>
            <a:ext cx="1585802" cy="158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1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Chapitre</a:t>
            </a:r>
            <a:r>
              <a:rPr lang="en-US" dirty="0" smtClean="0"/>
              <a:t> 72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u="sng" dirty="0" smtClean="0"/>
              <a:t> 4 Sous-Chapitres:</a:t>
            </a:r>
          </a:p>
          <a:p>
            <a:pPr marL="0" indent="0">
              <a:buNone/>
            </a:pPr>
            <a:endParaRPr lang="fr-FR" u="sng" dirty="0" smtClean="0"/>
          </a:p>
          <a:p>
            <a:pPr marL="266700" indent="-266700">
              <a:lnSpc>
                <a:spcPct val="120000"/>
              </a:lnSpc>
            </a:pPr>
            <a:r>
              <a:rPr lang="fr-FR" dirty="0"/>
              <a:t>I. PRODUITS DE BASE; PRODUITS PRÉSENTÉS SOUS FORME </a:t>
            </a:r>
            <a:r>
              <a:rPr lang="fr-FR" dirty="0" smtClean="0"/>
              <a:t>DE   GRENAILLES OU DE POUDRES</a:t>
            </a:r>
          </a:p>
          <a:p>
            <a:pPr marL="266700" indent="-266700">
              <a:lnSpc>
                <a:spcPct val="170000"/>
              </a:lnSpc>
            </a:pPr>
            <a:r>
              <a:rPr lang="fr-FR" dirty="0"/>
              <a:t>II. FER ET ACIERS NON </a:t>
            </a:r>
            <a:r>
              <a:rPr lang="fr-FR" dirty="0" smtClean="0"/>
              <a:t>ALLIÉS</a:t>
            </a:r>
          </a:p>
          <a:p>
            <a:pPr marL="266700" indent="-266700">
              <a:lnSpc>
                <a:spcPct val="170000"/>
              </a:lnSpc>
            </a:pPr>
            <a:r>
              <a:rPr lang="fr-FR" dirty="0"/>
              <a:t>III. ACIERS INOXYDABLES</a:t>
            </a:r>
            <a:endParaRPr lang="fr-FR" dirty="0" smtClean="0"/>
          </a:p>
          <a:p>
            <a:pPr marL="266700" indent="-266700">
              <a:lnSpc>
                <a:spcPct val="110000"/>
              </a:lnSpc>
            </a:pPr>
            <a:r>
              <a:rPr lang="fr-FR" dirty="0" smtClean="0"/>
              <a:t>IV</a:t>
            </a:r>
            <a:r>
              <a:rPr lang="fr-FR" dirty="0"/>
              <a:t>. AUTRES ACIERS ALLIÉS, BARRES CREUSES POUR LE FORAGE, </a:t>
            </a:r>
            <a:r>
              <a:rPr lang="fr-FR" dirty="0" smtClean="0"/>
              <a:t>EN ACIERS </a:t>
            </a:r>
            <a:r>
              <a:rPr lang="fr-FR" dirty="0"/>
              <a:t>ALLIÉS OU NON ALLIÉS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7494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Chapitre</a:t>
            </a:r>
            <a:r>
              <a:rPr lang="en-US" dirty="0" smtClean="0"/>
              <a:t> 72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u="sng" dirty="0" smtClean="0"/>
              <a:t> 4 Sous-Chapitres:</a:t>
            </a:r>
            <a:endParaRPr lang="fr-CH" dirty="0"/>
          </a:p>
          <a:p>
            <a:pPr marL="0" indent="0">
              <a:buNone/>
            </a:pPr>
            <a:endParaRPr lang="fr-CH" u="sng" dirty="0"/>
          </a:p>
          <a:p>
            <a:pPr marL="0" indent="0">
              <a:buNone/>
            </a:pPr>
            <a:r>
              <a:rPr lang="fr-CH" dirty="0" smtClean="0"/>
              <a:t>Définitions: Voir Note 1 du Chapitre 72 !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24642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Chapitre</a:t>
            </a:r>
            <a:r>
              <a:rPr lang="en-US" dirty="0" smtClean="0"/>
              <a:t> 72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u="sng" dirty="0" smtClean="0"/>
              <a:t>Différence:</a:t>
            </a:r>
          </a:p>
          <a:p>
            <a:pPr marL="0" indent="0">
              <a:buNone/>
            </a:pPr>
            <a:endParaRPr lang="fr-FR" u="sng" dirty="0"/>
          </a:p>
          <a:p>
            <a:pPr marL="0" indent="0">
              <a:buNone/>
            </a:pPr>
            <a:r>
              <a:rPr lang="fr-FR" sz="3600" dirty="0" smtClean="0"/>
              <a:t>fil machine &lt;-&gt; fil</a:t>
            </a:r>
          </a:p>
        </p:txBody>
      </p:sp>
    </p:spTree>
    <p:extLst>
      <p:ext uri="{BB962C8B-B14F-4D97-AF65-F5344CB8AC3E}">
        <p14:creationId xmlns:p14="http://schemas.microsoft.com/office/powerpoint/2010/main" val="399912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</vt:lpstr>
      <vt:lpstr>Section XV</vt:lpstr>
      <vt:lpstr>Structure de la Section:</vt:lpstr>
      <vt:lpstr>Définition: Métaux « communs »</vt:lpstr>
      <vt:lpstr>Alliages: qui prédomine?</vt:lpstr>
      <vt:lpstr>Note 2 Section XV</vt:lpstr>
      <vt:lpstr>Chapitre 72</vt:lpstr>
      <vt:lpstr>Chapitre 72</vt:lpstr>
      <vt:lpstr>Chapitre 72</vt:lpstr>
    </vt:vector>
  </TitlesOfParts>
  <Company>DOUANES ET ACCISES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Taxe sur les boissons non alcoolisées sucrées</dc:title>
  <dc:creator>mschlink</dc:creator>
  <cp:lastModifiedBy>bofferdingd</cp:lastModifiedBy>
  <cp:revision>71</cp:revision>
  <cp:lastPrinted>2017-07-12T12:12:41Z</cp:lastPrinted>
  <dcterms:created xsi:type="dcterms:W3CDTF">2017-07-11T09:59:41Z</dcterms:created>
  <dcterms:modified xsi:type="dcterms:W3CDTF">2024-11-11T15:54:06Z</dcterms:modified>
</cp:coreProperties>
</file>